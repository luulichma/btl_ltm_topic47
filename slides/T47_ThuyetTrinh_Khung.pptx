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notesSlide+xml" PartName="/ppt/notesSlides/notesSlide21.xml"/>
  <Override ContentType="application/vnd.openxmlformats-officedocument.presentationml.notesSlide+xml" PartName="/ppt/notesSlides/notesSlide22.xml"/>
  <Override ContentType="application/vnd.openxmlformats-officedocument.presentationml.notesSlide+xml" PartName="/ppt/notesSlides/notesSlide23.xml"/>
  <Override ContentType="application/vnd.openxmlformats-officedocument.presentationml.notesSlide+xml" PartName="/ppt/notesSlides/notesSlide24.xml"/>
  <Override ContentType="application/vnd.openxmlformats-officedocument.presentationml.notesSlide+xml" PartName="/ppt/notesSlides/notesSlide25.xml"/>
  <Override ContentType="application/vnd.openxmlformats-officedocument.presentationml.notesSlide+xml" PartName="/ppt/notesSlides/notesSlide26.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Slides/notesSlide30.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56" r:id="rId6"/>
    <p:sldId id="285" r:id="rId70"/>
    <p:sldId id="282" r:id="rId67"/>
    <p:sldId id="286" r:id="rId71"/>
    <p:sldId id="257" r:id="rId7"/>
    <p:sldId id="258" r:id="rId8"/>
    <p:sldId id="283" r:id="rId68"/>
    <p:sldId id="260" r:id="rId10"/>
    <p:sldId id="261" r:id="rId11"/>
    <p:sldId id="262" r:id="rId12"/>
    <p:sldId id="263" r:id="rId13"/>
    <p:sldId id="264" r:id="rId14"/>
    <p:sldId id="265" r:id="rId15"/>
    <p:sldId id="266" r:id="rId16"/>
    <p:sldId id="284" r:id="rId69"/>
    <p:sldId id="268" r:id="rId18"/>
    <p:sldId id="269" r:id="rId19"/>
    <p:sldId id="270" r:id="rId20"/>
    <p:sldId id="271" r:id="rId21"/>
    <p:sldId id="259" r:id="rId9"/>
    <p:sldId id="267" r:id="rId17"/>
    <p:sldId id="272" r:id="rId22"/>
    <p:sldId id="273" r:id="rId23"/>
    <p:sldId id="274" r:id="rId24"/>
    <p:sldId id="275" r:id="rId25"/>
    <p:sldId id="276" r:id="rId26"/>
    <p:sldId id="277" r:id="rId27"/>
    <p:sldId id="278" r:id="rId28"/>
    <p:sldId id="279" r:id="rId29"/>
    <p:sldId id="280" r:id="rId30"/>
    <p:sldId id="281" r:id="rId31"/>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notesMasters/notesMaster1.xml" Type="http://schemas.openxmlformats.org/officeDocument/2006/relationships/notesMaster"/><Relationship Id="rId33" Target="theme/theme2.xml" Type="http://schemas.openxmlformats.org/officeDocument/2006/relationships/theme"/><Relationship Id="rId34" Target="notesSlides/notesSlide1.xml" Type="http://schemas.openxmlformats.org/officeDocument/2006/relationships/notesSlide"/><Relationship Id="rId39" Target="notesSlides/notesSlide2.xml" Type="http://schemas.openxmlformats.org/officeDocument/2006/relationships/notesSlide"/><Relationship Id="rId4" Target="theme/theme1.xml" Type="http://schemas.openxmlformats.org/officeDocument/2006/relationships/theme"/><Relationship Id="rId40" Target="notesSlides/notesSlide3.xml" Type="http://schemas.openxmlformats.org/officeDocument/2006/relationships/notesSlide"/><Relationship Id="rId43" Target="notesSlides/notesSlide4.xml" Type="http://schemas.openxmlformats.org/officeDocument/2006/relationships/notesSlide"/><Relationship Id="rId44" Target="notesSlides/notesSlide5.xml" Type="http://schemas.openxmlformats.org/officeDocument/2006/relationships/notesSlide"/><Relationship Id="rId45" Target="notesSlides/notesSlide6.xml" Type="http://schemas.openxmlformats.org/officeDocument/2006/relationships/notesSlide"/><Relationship Id="rId46" Target="notesSlides/notesSlide7.xml" Type="http://schemas.openxmlformats.org/officeDocument/2006/relationships/notesSlide"/><Relationship Id="rId47" Target="notesSlides/notesSlide8.xml" Type="http://schemas.openxmlformats.org/officeDocument/2006/relationships/notesSlide"/><Relationship Id="rId49" Target="notesSlides/notesSlide9.xml" Type="http://schemas.openxmlformats.org/officeDocument/2006/relationships/notesSlide"/><Relationship Id="rId5" Target="tableStyles.xml" Type="http://schemas.openxmlformats.org/officeDocument/2006/relationships/tableStyles"/><Relationship Id="rId50" Target="notesSlides/notesSlide10.xml" Type="http://schemas.openxmlformats.org/officeDocument/2006/relationships/notesSlide"/><Relationship Id="rId51" Target="notesSlides/notesSlide11.xml" Type="http://schemas.openxmlformats.org/officeDocument/2006/relationships/notesSlide"/><Relationship Id="rId52" Target="notesSlides/notesSlide12.xml" Type="http://schemas.openxmlformats.org/officeDocument/2006/relationships/notesSlide"/><Relationship Id="rId53" Target="notesSlides/notesSlide13.xml" Type="http://schemas.openxmlformats.org/officeDocument/2006/relationships/notesSlide"/><Relationship Id="rId54" Target="notesSlides/notesSlide14.xml" Type="http://schemas.openxmlformats.org/officeDocument/2006/relationships/notesSlide"/><Relationship Id="rId55" Target="notesSlides/notesSlide15.xml" Type="http://schemas.openxmlformats.org/officeDocument/2006/relationships/notesSlide"/><Relationship Id="rId56" Target="notesSlides/notesSlide16.xml" Type="http://schemas.openxmlformats.org/officeDocument/2006/relationships/notesSlide"/><Relationship Id="rId57" Target="notesSlides/notesSlide17.xml" Type="http://schemas.openxmlformats.org/officeDocument/2006/relationships/notesSlide"/><Relationship Id="rId58" Target="notesSlides/notesSlide18.xml" Type="http://schemas.openxmlformats.org/officeDocument/2006/relationships/notesSlide"/><Relationship Id="rId59" Target="notesSlides/notesSlide19.xml" Type="http://schemas.openxmlformats.org/officeDocument/2006/relationships/notesSlide"/><Relationship Id="rId6" Target="slides/slide1.xml" Type="http://schemas.openxmlformats.org/officeDocument/2006/relationships/slide"/><Relationship Id="rId60" Target="notesSlides/notesSlide20.xml" Type="http://schemas.openxmlformats.org/officeDocument/2006/relationships/notesSlide"/><Relationship Id="rId61" Target="notesSlides/notesSlide21.xml" Type="http://schemas.openxmlformats.org/officeDocument/2006/relationships/notesSlide"/><Relationship Id="rId62" Target="notesSlides/notesSlide22.xml" Type="http://schemas.openxmlformats.org/officeDocument/2006/relationships/notesSlide"/><Relationship Id="rId63" Target="notesSlides/notesSlide23.xml" Type="http://schemas.openxmlformats.org/officeDocument/2006/relationships/notesSlide"/><Relationship Id="rId64" Target="notesSlides/notesSlide24.xml" Type="http://schemas.openxmlformats.org/officeDocument/2006/relationships/notesSlide"/><Relationship Id="rId65" Target="notesSlides/notesSlide25.xml" Type="http://schemas.openxmlformats.org/officeDocument/2006/relationships/notesSlide"/><Relationship Id="rId66" Target="notesSlides/notesSlide26.xml" Type="http://schemas.openxmlformats.org/officeDocument/2006/relationships/note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  <Relationship Id="rId67" Type="http://schemas.openxmlformats.org/officeDocument/2006/relationships/slide" Target="slides/slide27.xml"/>
  <Relationship Id="rId68" Type="http://schemas.openxmlformats.org/officeDocument/2006/relationships/slide" Target="slides/slide28.xml"/>
  <Relationship Id="rId69" Type="http://schemas.openxmlformats.org/officeDocument/2006/relationships/slide" Target="slides/slide29.xml"/>
  <Relationship Id="rId70" Type="http://schemas.openxmlformats.org/officeDocument/2006/relationships/slide" Target="slides/slide30.xml"/>
  <Relationship Id="rId71" Type="http://schemas.openxmlformats.org/officeDocument/2006/relationships/slide" Target="slides/slide31.xml"/>
</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_rels/notesSlide2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1.xml" Type="http://schemas.openxmlformats.org/officeDocument/2006/relationships/slide"/></Relationships>
</file>

<file path=ppt/notesSlides/_rels/notesSlide2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2.xml" Type="http://schemas.openxmlformats.org/officeDocument/2006/relationships/slide"/></Relationships>
</file>

<file path=ppt/notesSlides/_rels/notesSlide2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3.xml" Type="http://schemas.openxmlformats.org/officeDocument/2006/relationships/slide"/></Relationships>
</file>

<file path=ppt/notesSlides/_rels/notesSlide2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4.xml" Type="http://schemas.openxmlformats.org/officeDocument/2006/relationships/slide"/></Relationships>
</file>

<file path=ppt/notesSlides/_rels/notesSlide2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5.xml" Type="http://schemas.openxmlformats.org/officeDocument/2006/relationships/slide"/></Relationships>
</file>

<file path=ppt/notesSlides/_rels/notesSlide2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6.xml" Type="http://schemas.openxmlformats.org/officeDocument/2006/relationships/slide"/></Relationships>
</file>

<file path=ppt/notesSlides/_rels/notesSlide2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7.xml" Type="http://schemas.openxmlformats.org/officeDocument/2006/relationships/slide"/></Relationships>
</file>

<file path=ppt/notesSlides/_rels/notesSlide2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8.xml" Type="http://schemas.openxmlformats.org/officeDocument/2006/relationships/slide"/></Relationships>
</file>

<file path=ppt/notesSlides/_rels/notesSlide2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9.xml" Type="http://schemas.openxmlformats.org/officeDocument/2006/relationships/slide"/></Relationships>
</file>

<file path=ppt/notesSlides/_rels/notesSlide3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0.xml" Type="http://schemas.openxmlformats.org/officeDocument/2006/relationships/slide"/></Relationships>
</file>

<file path=ppt/notesSlides/_rels/notesSlide3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1.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0,25' · Cộng dồn: 0,25'</a:t>
            </a:r>
          </a:p>
          <a:p>
            <a:endParaRPr lang="vi-VN"/>
          </a:p>
          <a:p>
            <a:r>
              <a:rPr lang="vi-VN"/>
              <a:t>Chào thầy và các bạn. Nhóm em trình bày đề tài T47 về kỹ thuật mạng cho game nhiều người chơi thời gian thực. Câu hỏi nhóm em muốn trả lời là: làm sao để chơi game qua mạng mà vẫn có cảm giác như chơi trên máy mình, khi mỗi gói tin mất cả trăm mili giây mới tới server.</a:t>
            </a:r>
          </a:p>
          <a:p>
            <a:endParaRPr lang="vi-VN"/>
          </a:p>
          <a:p>
            <a:r>
              <a:rPr lang="vi-VN"/>
              <a:t>— Ghi chú tập luyện:</a:t>
            </a:r>
          </a:p>
          <a:p>
            <a:r>
              <a:rPr lang="vi-VN"/>
              <a:t>• Vai: #1 mục lục, phần 1 và VĐ1 (slide 1–9) · #2 VĐ2, VĐ3 (slide 10–12) · #3 VĐ4, VĐ5, phần 3 và demo (slide 13–17).</a:t>
            </a:r>
          </a:p>
          <a:p>
            <a:r>
              <a:rPr lang="vi-VN"/>
              <a:t>• Chuyển người nói ở cuối slide 9 (#1 → #2) và cuối slide 12 (#2 → #3).</a:t>
            </a:r>
          </a:p>
          <a:p>
            <a:r>
              <a:rPr lang="vi-VN"/>
              <a:t>• Mục tiêu: kỹ thuật ~11' (kể cả 3 slide chuyển phần, mỗi slide ~5 giây), demo 5', Q&amp;A 3–5'. Bấm giờ theo cột cộng dồn; đến slide 12 mà quá 8' thì nói nhanh slide 13–14.</a:t>
            </a:r>
          </a:p>
          <a:p>
            <a:r>
              <a:rPr lang="vi-VN"/>
              <a:t>• Nhãn trên slide chỉ ghi người nói (#1/#2/#3); thời gian từng slide xem ở dòng đầu ghi chú.</a:t>
            </a:r>
          </a:p>
          <a:p>
            <a:r>
              <a:rPr lang="vi-VN"/>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0,5' · Cộng dồn: 1,5'</a:t>
            </a:r>
          </a:p>
          <a:p>
            <a:endParaRPr lang="vi-VN"/>
          </a:p>
          <a:p>
            <a:r>
              <a:rPr lang="vi-VN"/>
              <a:t>Muốn vậy, game phải thoả hai yêu cầu cùng lúc. Một là độ phản hồi: bấm phím là nhân vật chạy ngay; trễ khoảng 100 mili giây là người chơi đã thấy ì. Hai là tính nhất quán: mọi người phải thấy cùng một thế giới, và không ai được tự ý sửa nó.</a:t>
            </a:r>
          </a:p>
          <a:p>
            <a:endParaRPr lang="vi-VN"/>
          </a:p>
          <a:p>
            <a:r>
              <a:rPr lang="vi-VN"/>
              <a:t>Trên một máy thì hai yêu cầu này không mâu thuẫn. Nhưng khi có mạng ở giữa, muốn nhất quán thì phải chờ thông tin đi hết đường, còn muốn phản hồi ngay thì không được chờ. Toàn bộ đề tài là cách dung hoà hai yêu cầu đó.</a:t>
            </a:r>
          </a:p>
          <a:p>
            <a:endParaRPr lang="vi-VN"/>
          </a:p>
          <a:p>
            <a:r>
              <a:rPr lang="vi-VN"/>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1' · Cộng dồn: 2,5'</a:t>
            </a:r>
          </a:p>
          <a:p>
            <a:endParaRPr lang="vi-VN"/>
          </a:p>
          <a:p>
            <a:r>
              <a:rPr lang="vi-VN"/>
              <a:t>Vấn đề gốc nằm ở mạng. Thứ nhất là độ trễ: nó có giới hạn vật lý nên không bao giờ về 0; từ Việt Nam sang Singapore đo thực tế khoảng 30 đến 60 mili giây. Thứ hai, độ trễ không đều: gói gửi đều đặn nhưng đến lúc nhanh lúc chậm, gọi là dao động độ trễ. Thứ ba, gói có thể mất hoặc đến sai thứ tự.</a:t>
            </a:r>
          </a:p>
          <a:p>
            <a:endParaRPr lang="vi-VN"/>
          </a:p>
          <a:p>
            <a:r>
              <a:rPr lang="vi-VN"/>
              <a:t>Hai giao thức xử lý chuyện này khác nhau. TCP đảm bảo thứ tự, nên khi mất một gói nó giữ lại mọi gói phía sau để chờ gửi lại; hiện tượng này gọi là nghẽn đầu hàng. UDP thì gói nào mất là mất, các gói sau vẫn đến bình thường.</a:t>
            </a:r>
          </a:p>
          <a:p>
            <a:endParaRPr lang="vi-VN"/>
          </a:p>
          <a:p>
            <a:r>
              <a:rPr lang="vi-VN"/>
              <a:t>Những hiện tượng này không thể loại bỏ, chỉ có thể che giấu. Nhóm em chia bài toán thành 5 vấn đề con nối thành chuỗi: giải quyết vấn đề trước thì lộ ra vấn đề sau. Với mỗi vấn đề, nhóm em so sánh vài hướng theo hai tiêu chí chính là độ phản hồi và tính nhất quán, rồi chọn.</a:t>
            </a:r>
          </a:p>
          <a:p>
            <a:endParaRPr lang="vi-VN"/>
          </a:p>
          <a:p>
            <a:r>
              <a:rPr lang="vi-VN"/>
              <a:t>— VIỆC CẦN LÀM: thay số liệu mất gói "(cần đo lại)" bằng số đo thật trước buổi trình bày.</a:t>
            </a:r>
          </a:p>
          <a:p>
            <a:r>
              <a:rPr lang="vi-VN"/>
              <a:t>3</a:t>
            </a:r>
          </a:p>
          <a:p>
            <a:r>
              <a:rPr lang="vi-VN"/>
              <a:t>— Bị hỏi phép tính giới hạn vật lý: Hà Nội – Singapore ≈ 2.200 km, cáp quang ≈ 200.000 km/s → RTT tối thiểu ≈ 22 ms (slide dự phòng D1).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SLIDE DỰ PHÒNG (không trình bày). Ý chính đã gộp vào slide 3. Mở khi cần giải thích lại mạch 5 vấn đề con hoặc tiêu chí chọn giải pháp.</a:t>
            </a:r>
          </a:p>
          <a:p>
            <a:endParaRPr lang="vi-VN"/>
          </a:p>
          <a:p>
            <a:r>
              <a:rPr lang="vi-VN"/>
              <a:t>Nhóm em chia vấn đề gốc thành 5 vấn đề con, nối thành chuỗi: giải quyết xong vấn đề trước thì lộ ra vấn đề sau. Với mỗi vấn đề, nhóm em xét vài hướng giải pháp, so sánh, rồi chọn. Hai tiêu chí quan trọng nhất là độ phản hồi và tính nhất quán, đúng hai yêu cầu vừa nói. Ngoài ra còn xét khả năng chịu mạng xấu, độ phức tạp và độ phù hợp với loại game.</a:t>
            </a:r>
          </a:p>
          <a:p>
            <a:r>
              <a:rPr lang="vi-VN"/>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0,75' · Cộng dồn: 3,25'</a:t>
            </a:r>
          </a:p>
          <a:p>
            <a:endParaRPr lang="vi-VN"/>
          </a:p>
          <a:p>
            <a:r>
              <a:rPr lang="vi-VN"/>
              <a:t>Vấn đề đầu tiên: khi mỗi máy giữ một bản sao thế giới, ai được quyền quyết định bản nào đúng?</a:t>
            </a:r>
          </a:p>
          <a:p>
            <a:endParaRPr lang="vi-VN"/>
          </a:p>
          <a:p>
            <a:r>
              <a:rPr lang="vi-VN"/>
              <a:t>Cho client tự quyết thì phản hồi rất tốt, nhưng client chạy trên máy người chơi: sửa gói tin là dịch chuyển được, chạy nhanh gấp đôi được, tự cộng điểm được. Đồng bộ theo bước kiểu game chiến thuật thì phải chờ người chậm nhất.</a:t>
            </a:r>
          </a:p>
          <a:p>
            <a:endParaRPr lang="vi-VN"/>
          </a:p>
          <a:p>
            <a:endParaRPr lang="vi-VN"/>
          </a:p>
          <a:p>
            <a:r>
              <a:rPr lang="vi-VN"/>
              <a:t>Nhóm em chọn server quyết định: client chỉ được nói "tôi bấm phím gì", còn kết quả do server tính.</a:t>
            </a:r>
          </a:p>
          <a:p>
            <a:r>
              <a:rPr lang="vi-VN"/>
              <a:t>5</a:t>
            </a:r>
          </a:p>
          <a:p>
            <a:endParaRPr lang="vi-VN"/>
          </a:p>
          <a:p>
            <a:r>
              <a:rPr lang="vi-VN"/>
              <a:t>— Bị hỏi sâu về đồng bộ theo bước / ngang hàng, tính tất định: mở slide dự phòng D9.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0,75' · Cộng dồn: 4'</a:t>
            </a:r>
          </a:p>
          <a:p>
            <a:endParaRPr lang="vi-VN"/>
          </a:p>
          <a:p>
            <a:r>
              <a:rPr lang="vi-VN"/>
              <a:t>Server chạy mô phỏng theo nhịp cố định, 30 nhịp mỗi giây, nên mô phỏng lặp lại được và hai bên có chung một đồng hồ là số nhịp. Mỗi nhịp server chỉ xử lý tối đa một lệnh cho mỗi người, nên gửi dồn dập cũng không chạy nhanh hơn.</a:t>
            </a:r>
          </a:p>
          <a:p>
            <a:endParaRPr lang="vi-VN"/>
          </a:p>
          <a:p>
            <a:r>
              <a:rPr lang="vi-VN"/>
              <a:t>Dữ liệu chuyển động đi bằng UDP, vì vị trí cũ 200 mili giây thì gửi lại cũng vô ích. Đăng nhập và kết quả quan trọng đi bằng TCP, vì bắt buộc phải tới nơi.</a:t>
            </a:r>
          </a:p>
          <a:p>
            <a:endParaRPr lang="vi-VN"/>
          </a:p>
          <a:p>
            <a:r>
              <a:rPr lang="vi-VN"/>
              <a:t>Nhưng có một cái giá: nhìn dòng thời gian thì thấy, bấm phím xong phải chờ khoảng một RTT mới thấy nhân vật chạy. Phần này bạn [#2] trình bày tiếp.</a:t>
            </a:r>
          </a:p>
          <a:p>
            <a:endParaRPr lang="vi-VN"/>
          </a:p>
          <a:p>
            <a:r>
              <a:rPr lang="vi-VN"/>
              <a:t>— Bị hỏi cơ chế bổ sung trên UDP (số thứ tự, xác nhận lastProcessedSeq, gửi dư 2–3 lệnh trước): mở D4, D5.</a:t>
            </a:r>
          </a:p>
          <a:p>
            <a:r>
              <a:rPr lang="vi-VN"/>
              <a:t>6</a:t>
            </a:r>
          </a:p>
          <a:p>
            <a:r>
              <a:rPr lang="vi-VN"/>
              <a:t>— CHUYỂN NGƯỜI NÓI: #1 → #2.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1,25' · Cộng dồn: 5,25'</a:t>
            </a:r>
          </a:p>
          <a:p>
            <a:endParaRPr lang="vi-VN"/>
          </a:p>
          <a:p>
            <a:r>
              <a:rPr lang="vi-VN"/>
              <a:t>Với RTT 200 mili giây, mỗi lần bấm phím phải chờ 200 đến gần 300 mili giây. Gian lận đã bị chặn, nhưng game không chơi được.</a:t>
            </a:r>
          </a:p>
          <a:p>
            <a:endParaRPr lang="vi-VN"/>
          </a:p>
          <a:p>
            <a:r>
              <a:rPr lang="vi-VN"/>
              <a:t>Có thể chấp nhận chờ, hoặc che bằng hoạt ảnh lấy đà, nhưng di chuyển bằng WASD cần phản hồi ngay. Nhóm em chọn dự đoán phía client. Hầu như lúc nào server cũng đồng ý với lệnh của mình, nên client cứ tự áp lệnh luôn, không chờ. Điều kiện là client phải tính ra đúng kết quả như server, nên hai bên dùng chung một hàm mô phỏng. Trong demo, đó là file simulation.js chạy chung cho server Node.js và trình duyệt; bản cuối dùng chung C# cho Unity và .NET.</a:t>
            </a:r>
          </a:p>
          <a:p>
            <a:endParaRPr lang="vi-VN"/>
          </a:p>
          <a:p>
            <a:r>
              <a:rPr lang="vi-VN"/>
              <a:t>Nhưng nếu chỉ dự đoán thì có vấn đề. Ảnh trạng thái từ server phản ánh quá khứ. Client đang ở x bằng 2, server báo 0,8; ghi đè vào thì nhân vật bị kéo giật lùi. Hiện tượng này gọi là giật ngược.</a:t>
            </a:r>
          </a:p>
          <a:p>
            <a:r>
              <a:rPr lang="vi-VN"/>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1,25' · Cộng dồn: 6,5'</a:t>
            </a:r>
          </a:p>
          <a:p>
            <a:endParaRPr lang="vi-VN"/>
          </a:p>
          <a:p>
            <a:r>
              <a:rPr lang="vi-VN"/>
              <a:t>Cách sửa là đối chiếu với server. Client giữ lại mọi lệnh đã gửi mà server chưa xác nhận. Server gửi ảnh trạng thái kèm số thứ tự lệnh cuối cùng nó đã xử lý.</a:t>
            </a:r>
          </a:p>
          <a:p>
            <a:endParaRPr lang="vi-VN"/>
          </a:p>
          <a:p>
            <a:r>
              <a:rPr lang="vi-VN"/>
              <a:t>Ví dụ: client đã gửi 10 lệnh, mỗi lệnh đi 0,2 đơn vị, đang dự đoán ở x bằng 2. Server báo "x bằng 0,8, đã xử lý tới lệnh 4". Client đặt lại x bằng 0,8, bỏ lệnh 1 đến 4, chạy lại 6 lệnh còn lại, và được đúng 2,0. Người chơi không thấy gì.</a:t>
            </a:r>
          </a:p>
          <a:p>
            <a:endParaRPr lang="vi-VN"/>
          </a:p>
          <a:p>
            <a:r>
              <a:rPr lang="vi-VN"/>
              <a:t>Chỉ khi dự đoán thật sự sai, ví dụ server thấy có va chạm mà client không biết, thì vị trí mới thay đổi; lệch nhỏ thì làm mượt trong vài khung hình. Trong demo, các bạn sẽ thấy số lệnh trong bộ đệm luôn xấp xỉ RTT chia độ dài một nhịp.</a:t>
            </a:r>
          </a:p>
          <a:p>
            <a:r>
              <a:rPr lang="vi-VN"/>
              <a:t>8</a:t>
            </a:r>
          </a:p>
          <a:p>
            <a:endParaRPr lang="vi-VN"/>
          </a:p>
          <a:p>
            <a:r>
              <a:rPr lang="vi-VN"/>
              <a:t>— Đoạn code trên slide là code thật của demo (hàm xử lý ảnh trạng thái ở client).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1,5' · Cộng dồn: 8'</a:t>
            </a:r>
          </a:p>
          <a:p>
            <a:endParaRPr lang="vi-VN"/>
          </a:p>
          <a:p>
            <a:r>
              <a:rPr lang="vi-VN"/>
              <a:t>Dự đoán chỉ dùng được cho chính mình, vì mình không biết đối thủ sắp bấm gì. Thông tin về đối thủ chỉ đến qua ảnh trạng thái, mà ảnh thì thưa, không đều và có thể mất. Vẽ theo ảnh mới nhất thì đối thủ đứng yên rồi nhảy cóc. Ngoại suy theo vận tốc thì sai mỗi khi đối thủ đổi hướng.</a:t>
            </a:r>
          </a:p>
          <a:p>
            <a:endParaRPr lang="vi-VN"/>
          </a:p>
          <a:p>
            <a:r>
              <a:rPr lang="vi-VN"/>
              <a:t>Nhóm em chọn nội suy: cố ý vẽ đối thủ lùi lại một khoảng, ví dụ 100 mili giây. Nhờ lùi lại, ta luôn có hai ảnh trạng thái kẹp hai bên thời điểm vẽ, và chỉ cần nội suy đường thẳng giữa chúng. Khoảng lùi phải ít nhất bằng hai chu kỳ gửi ảnh cộng dao động độ trễ, để mất một gói vẫn còn dữ liệu.</a:t>
            </a:r>
          </a:p>
          <a:p>
            <a:endParaRPr lang="vi-VN"/>
          </a:p>
          <a:p>
            <a:r>
              <a:rPr lang="vi-VN"/>
              <a:t>Cái giá là ta luôn thấy đối thủ ở quá khứ. Như vậy trên màn hình mỗi người có hai mốc thời gian: mình ở hiện tại, đối thủ ở quá khứ. Khi hai người tranh cùng một thứ thì sao? Bạn [#3] trình bày tiếp.</a:t>
            </a:r>
          </a:p>
          <a:p>
            <a:endParaRPr lang="vi-VN"/>
          </a:p>
          <a:p>
            <a:r>
              <a:rPr lang="vi-VN"/>
              <a:t>— CHUYỂN NGƯỜI NÓI: #2 → #3.</a:t>
            </a:r>
          </a:p>
          <a:p>
            <a:r>
              <a:rPr lang="vi-VN"/>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1,5' · Cộng dồn: 9,5'</a:t>
            </a:r>
          </a:p>
          <a:p>
            <a:endParaRPr lang="vi-VN"/>
          </a:p>
          <a:p>
            <a:r>
              <a:rPr lang="vi-VN"/>
              <a:t>Ví dụ kinh điển là game bắn súng: trên màn hình tôi ngắm trúng đầu, nhưng thứ tôi thấy là đối thủ của 200 mili giây trước. Lệnh bắn tới server thì đối thủ đã đi chỗ khác.</a:t>
            </a:r>
          </a:p>
          <a:p>
            <a:endParaRPr lang="vi-VN"/>
          </a:p>
          <a:p>
            <a:r>
              <a:rPr lang="vi-VN"/>
              <a:t>Với vật dùng chung cũng vậy. A ping 40, B ping 200, trên màn hình B chạm vật trước. Nhưng gói của A tới server nhanh hơn, nên nếu xử theo thứ tự gói đến thì A luôn thắng. Để client tự quyết thì quay lại chuyện gian lận.</a:t>
            </a:r>
          </a:p>
          <a:p>
            <a:endParaRPr lang="vi-VN"/>
          </a:p>
          <a:p>
            <a:r>
              <a:rPr lang="vi-VN"/>
              <a:t>Giải pháp là bù trễ. Server lưu lịch sử trạng thái khoảng một giây. Mỗi hành động gửi kèm thời điểm người chơi đang nhìn thấy. Server tua lại về đúng lúc đó, kiểm tra, rồi mới phân xử. Để chống gửi thời điểm giả, server giới hạn chỉ tua tối đa khoảng 200 mili giây.</a:t>
            </a:r>
          </a:p>
          <a:p>
            <a:endParaRPr lang="vi-VN"/>
          </a:p>
          <a:p>
            <a:r>
              <a:rPr lang="vi-VN"/>
              <a:t>Đánh đổi là công bằng cho người hành động thì người kia chịu thiệt: trên màn hình mình đã chạy đi rồi, vẫn bị tính là bị bắt. Không cách nào làm cả hai cùng thấy công bằng.</a:t>
            </a:r>
          </a:p>
          <a:p>
            <a:r>
              <a:rPr lang="vi-VN"/>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0,75' · Cộng dồn: 10,25'</a:t>
            </a:r>
          </a:p>
          <a:p>
            <a:endParaRPr lang="vi-VN"/>
          </a:p>
          <a:p>
            <a:r>
              <a:rPr lang="vi-VN"/>
              <a:t>Kết quả phân xử về muộn, mà client đã cho người chơi cầm vật từ trước, vì không muốn bắt họ chờ. Nếu thua thì sao? Client quay về trạng thái đã được xác nhận, mô phỏng lại với thông tin đúng, và người chơi thấy vật bật ra khỏi tay. Đó là quay lui.</a:t>
            </a:r>
          </a:p>
          <a:p>
            <a:endParaRPr lang="vi-VN"/>
          </a:p>
          <a:p>
            <a:r>
              <a:rPr lang="vi-VN"/>
              <a:t>Đối chiếu ở VĐ2 thực chất là trường hợp riêng của quay lui, chỉ áp cho di chuyển của chính mình.</a:t>
            </a:r>
          </a:p>
          <a:p>
            <a:r>
              <a:rPr lang="vi-VN"/>
              <a:t>11</a:t>
            </a:r>
          </a:p>
          <a:p>
            <a:endParaRPr lang="vi-VN"/>
          </a:p>
          <a:p>
            <a:r>
              <a:rPr lang="vi-VN"/>
              <a:t>— Bị hỏi GGPO / tính tất định: mở D8, D9. Ý chính: quay lui ngang hàng cần mô phỏng giống nhau đến từng bit giữa các máy; nhóm em có server sửa định kỳ nên chỉ cần gần giống.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SLIDE DỰ PHÒNG (không trình bày). Câu chốt đã chuyển lên slide 11. Mở khi thầy hỏi tóm tắt các đánh đổi.</a:t>
            </a:r>
          </a:p>
          <a:p>
            <a:endParaRPr lang="vi-VN"/>
          </a:p>
          <a:p>
            <a:r>
              <a:rPr lang="vi-VN"/>
              <a:t>Tóm lại, không có kỹ thuật nào xoá được độ trễ. Mỗi kỹ thuật chuyển độ trễ sang chỗ người chơi ít để ý hơn: mình đi trước nhờ dự đoán, đối thủ đi sau nhờ nội suy, và server bù lại sự lệch thời gian khi hai bên tương tác.</a:t>
            </a:r>
          </a:p>
          <a:p>
            <a:endParaRPr lang="vi-VN"/>
          </a:p>
          <a:p>
            <a:r>
              <a:rPr lang="vi-VN"/>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0,5' · Cộng dồn: 10,75'</a:t>
            </a:r>
          </a:p>
          <a:p>
            <a:endParaRPr lang="vi-VN"/>
          </a:p>
          <a:p>
            <a:r>
              <a:rPr lang="vi-VN"/>
              <a:t>Nhóm em sẽ áp dụng các kỹ thuật này vào game xếp đơn hàng siêu thị cho 2 người. Game có di chuyển liên tục, nên cần dự đoán và nội suy. Món hàng hiếm chỉ có một cái, hai người phải tranh nhau, nên cần bù trễ và quay lui.</a:t>
            </a:r>
          </a:p>
          <a:p>
            <a:endParaRPr lang="vi-VN"/>
          </a:p>
          <a:p>
            <a:r>
              <a:rPr lang="vi-VN"/>
              <a:t>Tóm lại, không kỹ thuật nào xoá được độ trễ, chỉ chuyển nó sang chỗ ít bị để ý hơn: mình đi trước nhờ dự đoán, đối thủ đi sau nhờ nội suy, và server bù lại sự lệch thời gian khi hai bên tương tác.</a:t>
            </a:r>
          </a:p>
          <a:p>
            <a:endParaRPr lang="vi-VN"/>
          </a:p>
          <a:p>
            <a:r>
              <a:rPr lang="vi-VN"/>
              <a:t>Hôm nay nhóm em demo bản chứng minh ý tưởng cho phần di chuyển: server Node.js thật, trình duyệt kết nối qua WebSocket, còn mạng xấu được giả lập để thấy rõ hiệu ứng.</a:t>
            </a:r>
          </a:p>
          <a:p>
            <a:endParaRPr lang="vi-VN"/>
          </a:p>
          <a:p>
            <a:r>
              <a:rPr lang="vi-VN"/>
              <a:t>— Bị hỏi vì sao demo dùng JavaScript mà bản cuối dùng C#: demo cần làm nhanh và chạy ngay trên trình duyệt. Kỹ thuật netcode không phụ thuộc ngôn ngữ, và ý tưởng dùng chung code mô phỏng vẫn giữ nguyên (simulation.js ↔ Simulation.Step).</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dẫn, #2 điều khiển client B · Thời gian: 5' · Cộng dồn: ~16'</a:t>
            </a:r>
          </a:p>
          <a:p>
            <a:endParaRPr lang="vi-VN"/>
          </a:p>
          <a:p>
            <a:r>
              <a:rPr lang="vi-VN"/>
              <a:t>Màn hình chia 3 khung: Client A · Server · Client B. Thanh trượt chỉnh RTT, dao động độ trễ, mất gói, tần số gửi ảnh. Phím 0–5 chuyển ngay sang cấu hình của từng cảnh, không kéo thanh trượt trên sân khấu. Mỗi cảnh khoảng 45 giây.</a:t>
            </a:r>
          </a:p>
          <a:p>
            <a:endParaRPr lang="vi-VN"/>
          </a:p>
          <a:p>
            <a:r>
              <a:rPr lang="vi-VN"/>
              <a:t>Cảnh 0 — Client tự quyết, RTT 100 ms. Thao tác: bấm nút "dịch chuyển".</a:t>
            </a:r>
          </a:p>
          <a:p>
            <a:r>
              <a:rPr lang="vi-VN"/>
              <a:t>"Đây là cách client tự quyết. Em giả lập sửa gói tin, ô của A nhảy sang đây, và server lẫn B đều chấp nhận."</a:t>
            </a:r>
          </a:p>
          <a:p>
            <a:endParaRPr lang="vi-VN"/>
          </a:p>
          <a:p>
            <a:r>
              <a:rPr lang="vi-VN"/>
              <a:t>Cảnh 1 — Server quyết định, RTT 200 ms, tắt hết. Thao tác: A chạy qua lại; bấm lại "dịch chuyển".</a:t>
            </a:r>
          </a:p>
          <a:p>
            <a:r>
              <a:rPr lang="vi-VN"/>
              <a:t>"Chuyển sang server quyết định: dịch chuyển hết tác dụng, khung server đếm số gói bị từ chối. Nhưng thầy để ý, em bấm phím khoảng 0,2 giây sau ô mới chạy."</a:t>
            </a:r>
          </a:p>
          <a:p>
            <a:endParaRPr lang="vi-VN"/>
          </a:p>
          <a:p>
            <a:r>
              <a:rPr lang="vi-VN"/>
              <a:t>Cảnh 2 — Bật dự đoán. Thao tác: chạy rồi dừng đột ngột.</a:t>
            </a:r>
          </a:p>
          <a:p>
            <a:r>
              <a:rPr lang="vi-VN"/>
              <a:t>"Bật dự đoán: phản hồi ngay. Nhưng khi dừng lại, ô bị kéo giật lùi, đó là giật ngược."</a:t>
            </a:r>
          </a:p>
          <a:p>
            <a:endParaRPr lang="vi-VN"/>
          </a:p>
          <a:p>
            <a:r>
              <a:rPr lang="vi-VN"/>
              <a:t>Cảnh 3 — Bật đối chiếu. Thao tác: lặp lại.</a:t>
            </a:r>
          </a:p>
          <a:p>
            <a:r>
              <a:rPr lang="vi-VN"/>
              <a:t>"Bật đối chiếu: mượt và khớp với bóng xám là vị trí theo server. Bộ đệm đang có khoảng 6 lệnh, đúng bằng RTT chia nhịp."</a:t>
            </a:r>
          </a:p>
          <a:p>
            <a:endParaRPr lang="vi-VN"/>
          </a:p>
          <a:p>
            <a:r>
              <a:rPr lang="vi-VN"/>
              <a:t>Cảnh 4 — Nhìn khung B; gửi ảnh 10 lần/giây, dao động 50 ms. Thao tác: A chạy vòng tròn.</a:t>
            </a:r>
          </a:p>
          <a:p>
            <a:r>
              <a:rPr lang="vi-VN"/>
              <a:t>"Giờ nhìn sang màn hình của B: ô của A giật từng nấc vì ảnh trạng thái đến thưa và không đều."</a:t>
            </a:r>
          </a:p>
          <a:p>
            <a:endParaRPr lang="vi-VN"/>
          </a:p>
          <a:p>
            <a:r>
              <a:rPr lang="vi-VN"/>
              <a:t>Cảnh 5 — Bật nội suy (độ trễ nội suy tự tính ≈ 250 ms); sau đó tăng lên 20 lần/giây. Thao tác: lặp lại.</a:t>
            </a:r>
          </a:p>
          <a:p>
            <a:r>
              <a:rPr lang="vi-VN"/>
              <a:t>"Bật nội suy: mượt, nhưng so với khung server thì ô của A trễ hơn, đó là đánh đổi. Tăng tần số gửi ảnh lên 20 thì độ trễ giảm còn khoảng 150 mili giây."</a:t>
            </a:r>
          </a:p>
          <a:p>
            <a:endParaRPr lang="vi-VN"/>
          </a:p>
          <a:p>
            <a:r>
              <a:rPr lang="vi-VN"/>
              <a:t>PHƯƠNG ÁN DỰ PHÒNG: quay sẵn video toàn bộ 6 cảnh. Demo lỗi thì chuyển sang video ngay, không sửa lỗi trên sân khấu.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cả nhóm · Thời gian: 3–5' · Cộng dồn: 19–21'</a:t>
            </a:r>
          </a:p>
          <a:p>
            <a:endParaRPr lang="vi-VN"/>
          </a:p>
          <a:p>
            <a:r>
              <a:rPr lang="vi-VN"/>
              <a:t>Bị hỏi sâu thì mở slide dự phòng D1–D10 (phía sau slide này). Câu trả lời mẫu: NoiDung_ChiTiet.md, phụ lục A. Bảng thuật ngữ Việt – Anh: phụ lục B.</a:t>
            </a:r>
          </a:p>
          <a:p>
            <a:r>
              <a:rPr lang="vi-VN"/>
              <a:t>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Các slide D1–D10 là khung: điền nội dung từ NoiDung_ChiTiet.md theo mục ghi trên từng slide.</a:t>
            </a:r>
          </a:p>
          <a:p>
            <a:r>
              <a:rPr lang="vi-VN"/>
              <a:t>16</a:t>
            </a:r>
          </a:p>
          <a:p>
            <a:r>
              <a:rPr lang="vi-VN"/>
              <a:t>Thứ tự phần dự phòng: “Chuỗi 5 vấn đề con”, “Tổng kết”, rồi D1–D10.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D1: chỉ mở khi bị hỏi “Độ trễ đến từ đâu, giảm được không?”. Nguồn: NoiDung_ChiTiet.md, Mục 2.1; câu trả lời mẫu ở phụ lục A.</a:t>
            </a:r>
          </a:p>
          <a:p>
            <a:r>
              <a:rPr lang="en-US"/>
              <a:t>17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D2: chỉ mở khi bị hỏi “Sao không dùng TCP cho tất cả, tắt Nagle là xong?”. Nguồn: NoiDung_ChiTiet.md, Mục 2.3; câu trả lời mẫu ở phụ lục A.</a:t>
            </a:r>
          </a:p>
          <a:p>
            <a:r>
              <a:rPr lang="en-US"/>
              <a:t>18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D3: chỉ mở khi bị hỏi “Chọn 30 nhịp/giây thế nào? Client 144 Hz thì sao?”. Nguồn: NoiDung_ChiTiet.md, VĐ1; câu trả lời mẫu ở phụ lục A.</a:t>
            </a:r>
          </a:p>
          <a:p>
            <a:r>
              <a:rPr lang="en-US"/>
              <a:t>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D4: chỉ mở khi bị hỏi “Lệnh đến không đều thì server làm gì?”. Nguồn: NoiDung_ChiTiet.md, VĐ1; câu trả lời mẫu ở phụ lục A.</a:t>
            </a:r>
          </a:p>
          <a:p>
            <a:r>
              <a:rPr lang="en-US"/>
              <a:t>20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D5: chỉ mở khi bị hỏi “Định dạng gói tin thế nào?”. Nguồn: NoiDung_ChiTiet.md, Mục 5; câu trả lời mẫu ở phụ lục A.</a:t>
            </a:r>
          </a:p>
          <a:p>
            <a:r>
              <a:rPr lang="en-US"/>
              <a:t>21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D6: chỉ mở khi bị hỏi “Độ trễ nội suy chọn bao nhiêu? Mất nhiều gói thì sao?”. Nguồn: NoiDung_ChiTiet.md, VĐ3; câu trả lời mẫu ở phụ lục A.</a:t>
            </a:r>
          </a:p>
          <a:p>
            <a:r>
              <a:rPr lang="en-US"/>
              <a:t>22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D7: chỉ mở khi bị hỏi “Hai người cùng nhặt thì xử thế nào? Gửi nhịp giả thì sao?”. Nguồn: NoiDung_ChiTiet.md, VĐ4; câu trả lời mẫu ở phụ lục A.</a:t>
            </a:r>
          </a:p>
          <a:p>
            <a:r>
              <a:rPr lang="en-US"/>
              <a:t>23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D8: chỉ mở khi bị hỏi “Tính tất định ảnh hưởng thế nào?”. Nguồn: NoiDung_ChiTiet.md, VĐ5; câu trả lời mẫu ở phụ lục A.</a:t>
            </a:r>
          </a:p>
          <a:p>
            <a:r>
              <a:rPr lang="en-US"/>
              <a:t>24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D9: chỉ mở khi bị hỏi “Sao không làm ngang hàng?”. Nguồn: NoiDung_ChiTiet.md, VĐ1, VĐ5; câu trả lời mẫu ở phụ lục A.</a:t>
            </a:r>
          </a:p>
          <a:p>
            <a:r>
              <a:rPr lang="en-US"/>
              <a:t>25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Slide dự phòng D10: chỉ mở khi bị hỏi “Demo có phản ánh mạng thật không?”.</a:t>
            </a:r>
          </a:p>
          <a:p>
            <a:endParaRPr lang="vi-VN"/>
          </a:p>
          <a:p>
            <a:r>
              <a:rPr lang="vi-VN"/>
              <a:t>Ý chính: demo dùng server Node.js và WebSocket thật. Trình duyệt không mở được socket UDP, nên kênh là TCP; độ trễ, dao động độ trễ và mất gói được giả lập ở server (netsim.js) cho từng chiều của từng kết nối, mỗi gói trễ ngẫu nhiên nên có thể đến sai thứ tự giống UDP.</a:t>
            </a:r>
          </a:p>
          <a:p>
            <a:endParaRPr lang="vi-VN"/>
          </a:p>
          <a:p>
            <a:r>
              <a:rPr lang="vi-VN"/>
              <a:t>Chạy trên cùng một máy thì RTT ≈ 0, nên dù dùng socket nào cũng phải giả lập thì mới thấy được hiệu ứng. Bản cuối thay bằng UDP thật; code kỹ thuật netcode không đổi.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Slide chuyển phần (~5 giây)</a:t>
            </a:r>
          </a:p>
          <a:p>
            <a:endParaRPr lang="vi-VN"/>
          </a:p>
          <a:p>
            <a:r>
              <a:rPr lang="vi-VN"/>
              <a:t>Đầu tiên là vấn đề gốc: bài toán đường truyền mạng.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Slide chuyển phần (~5 giây)</a:t>
            </a:r>
          </a:p>
          <a:p>
            <a:endParaRPr lang="vi-VN"/>
          </a:p>
          <a:p>
            <a:r>
              <a:rPr lang="vi-VN"/>
              <a:t>Phần hai: các vấn đề con và giải pháp. Với mỗi vấn đề, nhóm em đi theo thứ tự: vấn đề, các hướng giải pháp, so sánh, rồi chọn.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Slide chuyển phần (~5 giây)</a:t>
            </a:r>
          </a:p>
          <a:p>
            <a:endParaRPr lang="vi-VN"/>
          </a:p>
          <a:p>
            <a:r>
              <a:rPr lang="vi-VN"/>
              <a:t>Phần ba: nhóm em áp dụng các kỹ thuật này vào một game cụ thể, rồi demo.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0,25' · Cộng dồn: 0,5'</a:t>
            </a:r>
          </a:p>
          <a:p>
            <a:endParaRPr lang="vi-VN"/>
          </a:p>
          <a:p>
            <a:r>
              <a:rPr lang="vi-VN"/>
              <a:t>Bài trình bày của nhóm em gồm 4 phần: vấn đề gốc là bài toán đường truyền mạng; các vấn đề con và giải pháp; áp dụng và demo; cuối cùng là phần hỏi đáp.</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0,5' · Cộng dồn: 1'</a:t>
            </a:r>
          </a:p>
          <a:p>
            <a:endParaRPr lang="vi-VN"/>
          </a:p>
          <a:p>
            <a:r>
              <a:rPr lang="vi-VN"/>
              <a:t>Game nhiều người chơi thời gian thực là game có nhiều người cùng chơi trong một thế giới chung, và trạng thái thay đổi liên tục theo thao tác của họ: bắn súng, đối kháng, đua xe. Khác với cờ vua trực tuyến, ở đây từng phần trăm giây đều có ý nghĩa.</a:t>
            </a:r>
          </a:p>
          <a:p>
            <a:endParaRPr lang="vi-VN"/>
          </a:p>
          <a:p>
            <a:r>
              <a:rPr lang="vi-VN"/>
              <a:t>Nếu mọi người chơi trên cùng một máy thì bấm phím là thấy ngay. Nhưng qua mạng, mỗi thao tác mất 100 đến 200 mili giây mới tới máy khác, có lúc đến trễ, sai thứ tự hoặc mất hẳn. Bài toán của nhóm em là: làm sao chơi qua mạng mà vẫn có cảm giác như chơi trên cùng một máy.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Times New Roman"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Times New Roman"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Times New Roman"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Times New Roman"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Times New Roman"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Times New Roman"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Times New Roman"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Times New Roman"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Times New Roman"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1.jpeg" Type="http://schemas.openxmlformats.org/officeDocument/2006/relationships/image"/><Relationship Id="rId4" Target="../media/image3.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1.jpeg" Type="http://schemas.openxmlformats.org/officeDocument/2006/relationships/image"/><Relationship Id="rId4" Target="../media/image4.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jpeg" Type="http://schemas.openxmlformats.org/officeDocument/2006/relationships/image"/><Relationship Id="rId4" Target="../media/image5.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1.jpeg" Type="http://schemas.openxmlformats.org/officeDocument/2006/relationships/image"/><Relationship Id="rId4" Target="../media/image6.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1.jpeg" Type="http://schemas.openxmlformats.org/officeDocument/2006/relationships/image"/><Relationship Id="rId4" Target="../media/image7.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1.jpeg" Type="http://schemas.openxmlformats.org/officeDocument/2006/relationships/image"/><Relationship Id="rId4" Target="../media/image8.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1.jpeg" Type="http://schemas.openxmlformats.org/officeDocument/2006/relationships/image"/><Relationship Id="rId4" Target="../media/image9.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1.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1.jpeg" Type="http://schemas.openxmlformats.org/officeDocument/2006/relationships/image"/><Relationship Id="rId4" Target="../media/image10.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1.jpe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1.jpe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 Id="rId3" Target="../media/image1.jpe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 Id="rId3" Target="../media/image1.jpe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 Id="rId3" Target="../media/image1.jpe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9.xml" Type="http://schemas.openxmlformats.org/officeDocument/2006/relationships/notesSlide"/><Relationship Id="rId3" Target="../media/image1.jpe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0.xml" Type="http://schemas.openxmlformats.org/officeDocument/2006/relationships/notesSlide"/><Relationship Id="rId3" Target="../media/image1.jpe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1.xml" Type="http://schemas.openxmlformats.org/officeDocument/2006/relationships/notesSlide"/><Relationship Id="rId3" Target="../media/image1.jpe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2.xml" Type="http://schemas.openxmlformats.org/officeDocument/2006/relationships/notesSlide"/><Relationship Id="rId3" Target="../media/image1.jpe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3.xml" Type="http://schemas.openxmlformats.org/officeDocument/2006/relationships/notesSlide"/><Relationship Id="rId3" Target="../media/image1.jpe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4.xml" Type="http://schemas.openxmlformats.org/officeDocument/2006/relationships/notesSlide"/><Relationship Id="rId3" Target="../media/image1.jpe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5.xml" Type="http://schemas.openxmlformats.org/officeDocument/2006/relationships/notesSlide"/><Relationship Id="rId3" Target="../media/image1.jpe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6.xml" Type="http://schemas.openxmlformats.org/officeDocument/2006/relationships/notesSlide"/><Relationship Id="rId3" Target="../media/image1.jpeg" Type="http://schemas.openxmlformats.org/officeDocument/2006/relationships/imag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N1" Target="../notesSlides/notesSlide27.xml" Type="http://schemas.openxmlformats.org/officeDocument/2006/relationships/notesSlid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N1" Target="../notesSlides/notesSlide28.xml" Type="http://schemas.openxmlformats.org/officeDocument/2006/relationships/notesSlid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N1" Target="../notesSlides/notesSlide29.xml" Type="http://schemas.openxmlformats.org/officeDocument/2006/relationships/notesSlid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N1" Target="../notesSlides/notesSlide30.xml" Type="http://schemas.openxmlformats.org/officeDocument/2006/relationships/notesSlid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N1" Target="../notesSlides/notesSlide31.xml" Type="http://schemas.openxmlformats.org/officeDocument/2006/relationships/notesSlid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B1626"/>
        </a:solidFill>
      </p:bgPr>
    </p:bg>
    <p:spTree>
      <p:nvGrpSpPr>
        <p:cNvPr id="1" name=""/>
        <p:cNvGrpSpPr/>
        <p:nvPr/>
      </p:nvGrpSpPr>
      <p:grpSpPr>
        <a:xfrm>
          <a:off x="0" y="0"/>
          <a:ext cx="0" cy="0"/>
          <a:chOff x="0" y="0"/>
          <a:chExt cx="0" cy="0"/>
        </a:xfrm>
      </p:grpSpPr>
      <p:sp>
        <p:nvSpPr>
          <p:cNvPr name="TextBox 2" id="2"/>
          <p:cNvSpPr txBox="true"/>
          <p:nvPr/>
        </p:nvSpPr>
        <p:spPr>
          <a:xfrm rot="0">
            <a:off x="1097280" y="2247900"/>
            <a:ext cx="10607040" cy="586740"/>
          </a:xfrm>
          <a:prstGeom prst="rect">
            <a:avLst/>
          </a:prstGeom>
        </p:spPr>
        <p:txBody>
          <a:bodyPr anchor="t" rtlCol="false" tIns="0" lIns="0" bIns="0" rIns="0">
            <a:spAutoFit/>
          </a:bodyPr>
          <a:lstStyle/>
          <a:p>
            <a:pPr algn="l">
              <a:lnSpc>
                <a:spcPts val="2879"/>
              </a:lnSpc>
            </a:pPr>
            <a:r>
              <a:rPr lang="en-US" b="true" sz="2400" spc="400">
                <a:solidFill>
                  <a:srgbClr val="BFE8E3"/>
                </a:solidFill>
                <a:latin typeface="Times New Roman"/>
                <a:ea typeface="Times New Roman"/>
                <a:cs typeface="Times New Roman"/>
                <a:sym typeface="Times New Roman"/>
              </a:rPr>
              <a:t>ĐỀ TÀI T47 · MÔN LẬP TRÌNH MẠNG</a:t>
            </a:r>
          </a:p>
        </p:txBody>
      </p:sp>
      <p:sp>
        <p:nvSpPr>
          <p:cNvPr name="TextBox 3" id="3"/>
          <p:cNvSpPr txBox="true"/>
          <p:nvPr/>
        </p:nvSpPr>
        <p:spPr>
          <a:xfrm rot="0">
            <a:off x="1097280" y="2916555"/>
            <a:ext cx="10607040" cy="2661285"/>
          </a:xfrm>
          <a:prstGeom prst="rect">
            <a:avLst/>
          </a:prstGeom>
        </p:spPr>
        <p:txBody>
          <a:bodyPr anchor="t" rtlCol="false" tIns="0" lIns="0" bIns="0" rIns="0">
            <a:spAutoFit/>
          </a:bodyPr>
          <a:lstStyle/>
          <a:p>
            <a:pPr algn="l">
              <a:lnSpc>
                <a:spcPts val="6720"/>
              </a:lnSpc>
            </a:pPr>
            <a:r>
              <a:rPr lang="en-US" sz="5600" b="true">
                <a:solidFill>
                  <a:srgbClr val="FFFFFF"/>
                </a:solidFill>
                <a:latin typeface="Times New Roman"/>
                <a:ea typeface="Times New Roman"/>
                <a:cs typeface="Times New Roman"/>
                <a:sym typeface="Times New Roman"/>
              </a:rPr>
              <a:t>Kỹ thuật mạng cho game nhiều người chơi thời gian thực</a:t>
            </a:r>
          </a:p>
        </p:txBody>
      </p:sp>
      <p:sp>
        <p:nvSpPr>
          <p:cNvPr name="TextBox 4" id="4"/>
          <p:cNvSpPr txBox="true"/>
          <p:nvPr/>
        </p:nvSpPr>
        <p:spPr>
          <a:xfrm rot="0">
            <a:off x="1097280" y="5583555"/>
            <a:ext cx="10607040" cy="1000125"/>
          </a:xfrm>
          <a:prstGeom prst="rect">
            <a:avLst/>
          </a:prstGeom>
        </p:spPr>
        <p:txBody>
          <a:bodyPr anchor="t" rtlCol="false" tIns="0" lIns="0" bIns="0" rIns="0">
            <a:spAutoFit/>
          </a:bodyPr>
          <a:lstStyle/>
          <a:p>
            <a:pPr algn="l">
              <a:lnSpc>
                <a:spcPts val="4799"/>
              </a:lnSpc>
            </a:pPr>
            <a:r>
              <a:rPr lang="en-US" sz="3999" b="true">
                <a:solidFill>
                  <a:srgbClr val="BFE8E3"/>
                </a:solidFill>
                <a:latin typeface="Times New Roman"/>
                <a:ea typeface="Times New Roman"/>
                <a:cs typeface="Times New Roman"/>
                <a:sym typeface="Times New Roman"/>
              </a:rPr>
              <a:t>Dự đoán phía client</a:t>
            </a:r>
          </a:p>
        </p:txBody>
      </p:sp>
      <p:sp>
        <p:nvSpPr>
          <p:cNvPr name="TextBox 5" id="5"/>
          <p:cNvSpPr txBox="true"/>
          <p:nvPr/>
        </p:nvSpPr>
        <p:spPr>
          <a:xfrm rot="0">
            <a:off x="890620" y="6767189"/>
            <a:ext cx="10607040" cy="2162175"/>
          </a:xfrm>
          <a:prstGeom prst="rect">
            <a:avLst/>
          </a:prstGeom>
        </p:spPr>
        <p:txBody>
          <a:bodyPr anchor="t" rtlCol="false" tIns="0" lIns="0" bIns="0" rIns="0">
            <a:spAutoFit/>
          </a:bodyPr>
          <a:lstStyle/>
          <a:p>
            <a:pPr algn="l">
              <a:lnSpc>
                <a:spcPts val="4199"/>
              </a:lnSpc>
            </a:pPr>
            <a:r>
              <a:rPr lang="en-US" sz="3499" b="true">
                <a:solidFill>
                  <a:srgbClr val="FFFFFF"/>
                </a:solidFill>
                <a:latin typeface="Times New Roman"/>
                <a:ea typeface="Times New Roman"/>
                <a:cs typeface="Times New Roman"/>
                <a:sym typeface="Times New Roman"/>
              </a:rPr>
              <a:t>GV: TS. Đặng Ngọc Hùng</a:t>
            </a:r>
          </a:p>
          <a:p>
            <a:pPr algn="l">
              <a:lnSpc>
                <a:spcPts val="4199"/>
              </a:lnSpc>
            </a:pPr>
            <a:r>
              <a:rPr lang="en-US" sz="3499">
                <a:solidFill>
                  <a:srgbClr val="FFFFFF"/>
                </a:solidFill>
                <a:latin typeface="Times New Roman"/>
                <a:ea typeface="Times New Roman"/>
                <a:cs typeface="Times New Roman"/>
                <a:sym typeface="Times New Roman"/>
              </a:rPr>
              <a:t>Nguyễn Thế Chiến (B23DCCN095) </a:t>
            </a:r>
          </a:p>
          <a:p>
            <a:pPr algn="l">
              <a:lnSpc>
                <a:spcPts val="4199"/>
              </a:lnSpc>
            </a:pPr>
            <a:r>
              <a:rPr lang="en-US" sz="3499">
                <a:solidFill>
                  <a:srgbClr val="FFFFFF"/>
                </a:solidFill>
                <a:latin typeface="Times New Roman"/>
                <a:ea typeface="Times New Roman"/>
                <a:cs typeface="Times New Roman"/>
                <a:sym typeface="Times New Roman"/>
              </a:rPr>
              <a:t>Phạm Quang Anh (B23DCCN044) </a:t>
            </a:r>
          </a:p>
          <a:p>
            <a:pPr algn="l">
              <a:lnSpc>
                <a:spcPts val="4199"/>
              </a:lnSpc>
            </a:pPr>
            <a:r>
              <a:rPr lang="en-US" sz="3499">
                <a:solidFill>
                  <a:srgbClr val="FFFFFF"/>
                </a:solidFill>
                <a:latin typeface="Times New Roman"/>
                <a:ea typeface="Times New Roman"/>
                <a:cs typeface="Times New Roman"/>
                <a:sym typeface="Times New Roman"/>
              </a:rPr>
              <a:t>Nguyễn Đức Anh (B23DCCN031)</a:t>
            </a:r>
          </a:p>
        </p:txBody>
      </p:sp>
      <p:sp>
        <p:nvSpPr>
          <p:cNvPr name="AutoShape 6" id="6"/>
          <p:cNvSpPr/>
          <p:nvPr/>
        </p:nvSpPr>
        <p:spPr>
          <a:xfrm rot="-3820860">
            <a:off x="11596345" y="4882515"/>
            <a:ext cx="4239301" cy="0"/>
          </a:xfrm>
          <a:prstGeom prst="line">
            <a:avLst/>
          </a:prstGeom>
          <a:ln cap="rnd" w="19050">
            <a:solidFill>
              <a:srgbClr val="BFE8E3"/>
            </a:solidFill>
            <a:prstDash val="solid"/>
            <a:headEnd type="none" len="sm" w="sm"/>
            <a:tailEnd type="none" len="sm" w="sm"/>
          </a:ln>
        </p:spPr>
      </p:sp>
      <p:sp>
        <p:nvSpPr>
          <p:cNvPr name="AutoShape 7" id="7"/>
          <p:cNvSpPr/>
          <p:nvPr/>
        </p:nvSpPr>
        <p:spPr>
          <a:xfrm rot="3820860">
            <a:off x="13425145" y="4882515"/>
            <a:ext cx="4239301" cy="0"/>
          </a:xfrm>
          <a:prstGeom prst="line">
            <a:avLst/>
          </a:prstGeom>
          <a:ln cap="rnd" w="19050">
            <a:solidFill>
              <a:srgbClr val="BFE8E3"/>
            </a:solidFill>
            <a:prstDash val="solid"/>
            <a:headEnd type="none" len="sm" w="sm"/>
            <a:tailEnd type="none" len="sm" w="sm"/>
          </a:ln>
        </p:spPr>
      </p:sp>
      <p:grpSp>
        <p:nvGrpSpPr>
          <p:cNvPr name="Group 8" id="8"/>
          <p:cNvGrpSpPr/>
          <p:nvPr/>
        </p:nvGrpSpPr>
        <p:grpSpPr>
          <a:xfrm rot="0">
            <a:off x="13282679" y="5295395"/>
            <a:ext cx="318011" cy="318011"/>
            <a:chOff x="0" y="0"/>
            <a:chExt cx="424015" cy="424015"/>
          </a:xfrm>
        </p:grpSpPr>
        <p:sp>
          <p:nvSpPr>
            <p:cNvPr name="Freeform 9" id="9"/>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name="Group 10" id="10"/>
          <p:cNvGrpSpPr/>
          <p:nvPr/>
        </p:nvGrpSpPr>
        <p:grpSpPr>
          <a:xfrm rot="0">
            <a:off x="13831319" y="4170683"/>
            <a:ext cx="318011" cy="318011"/>
            <a:chOff x="0" y="0"/>
            <a:chExt cx="424015" cy="424015"/>
          </a:xfrm>
        </p:grpSpPr>
        <p:sp>
          <p:nvSpPr>
            <p:cNvPr name="Freeform 11" id="11"/>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name="Group 12" id="12"/>
          <p:cNvGrpSpPr/>
          <p:nvPr/>
        </p:nvGrpSpPr>
        <p:grpSpPr>
          <a:xfrm rot="0">
            <a:off x="15568679" y="5107943"/>
            <a:ext cx="318011" cy="318011"/>
            <a:chOff x="0" y="0"/>
            <a:chExt cx="424015" cy="424015"/>
          </a:xfrm>
        </p:grpSpPr>
        <p:sp>
          <p:nvSpPr>
            <p:cNvPr name="Freeform 13" id="13"/>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name="Group 14" id="14"/>
          <p:cNvGrpSpPr/>
          <p:nvPr/>
        </p:nvGrpSpPr>
        <p:grpSpPr>
          <a:xfrm rot="0">
            <a:off x="15020039" y="3983231"/>
            <a:ext cx="318011" cy="318011"/>
            <a:chOff x="0" y="0"/>
            <a:chExt cx="424015" cy="424015"/>
          </a:xfrm>
        </p:grpSpPr>
        <p:sp>
          <p:nvSpPr>
            <p:cNvPr name="Freeform 15" id="15"/>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name="Group 16" id="16"/>
          <p:cNvGrpSpPr/>
          <p:nvPr/>
        </p:nvGrpSpPr>
        <p:grpSpPr>
          <a:xfrm rot="0">
            <a:off x="13690597" y="2077717"/>
            <a:ext cx="1879597" cy="1879597"/>
            <a:chOff x="0" y="0"/>
            <a:chExt cx="2506129" cy="2506129"/>
          </a:xfrm>
        </p:grpSpPr>
        <p:sp>
          <p:nvSpPr>
            <p:cNvPr name="Freeform 17" id="17"/>
            <p:cNvSpPr/>
            <p:nvPr/>
          </p:nvSpPr>
          <p:spPr>
            <a:xfrm flipH="false" flipV="false" rot="0">
              <a:off x="0" y="0"/>
              <a:ext cx="2506218" cy="2506218"/>
            </a:xfrm>
            <a:custGeom>
              <a:avLst/>
              <a:gdLst/>
              <a:ahLst/>
              <a:cxnLst/>
              <a:rect r="r" b="b" t="t" l="l"/>
              <a:pathLst>
                <a:path h="2506218" w="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name="Group 18" id="18"/>
          <p:cNvGrpSpPr/>
          <p:nvPr/>
        </p:nvGrpSpPr>
        <p:grpSpPr>
          <a:xfrm rot="0">
            <a:off x="13716000" y="2103120"/>
            <a:ext cx="1828800" cy="1828800"/>
            <a:chOff x="0" y="0"/>
            <a:chExt cx="2438400" cy="2438400"/>
          </a:xfrm>
        </p:grpSpPr>
        <p:sp>
          <p:nvSpPr>
            <p:cNvPr name="Freeform 19" id="19"/>
            <p:cNvSpPr/>
            <p:nvPr/>
          </p:nvSpPr>
          <p:spPr>
            <a:xfrm flipH="false" flipV="false" rot="0">
              <a:off x="0" y="0"/>
              <a:ext cx="2438400" cy="2438400"/>
            </a:xfrm>
            <a:custGeom>
              <a:avLst/>
              <a:gdLst/>
              <a:ahLst/>
              <a:cxnLst/>
              <a:rect r="r" b="b" t="t" l="l"/>
              <a:pathLst>
                <a:path h="2438400" w="2438400">
                  <a:moveTo>
                    <a:pt x="0" y="0"/>
                  </a:moveTo>
                  <a:lnTo>
                    <a:pt x="2438400" y="0"/>
                  </a:lnTo>
                  <a:lnTo>
                    <a:pt x="2438400" y="2438400"/>
                  </a:lnTo>
                  <a:lnTo>
                    <a:pt x="0" y="2438400"/>
                  </a:lnTo>
                  <a:close/>
                </a:path>
              </a:pathLst>
            </a:custGeom>
            <a:blipFill>
              <a:blip r:embed="rId3">
                <a:alphaModFix amt="0"/>
              </a:blip>
              <a:stretch>
                <a:fillRect l="-78303" t="0" r="-78303" b="0"/>
              </a:stretch>
            </a:blipFill>
          </p:spPr>
        </p:sp>
        <p:sp>
          <p:nvSpPr>
            <p:cNvPr name="TextBox 20" id="20"/>
            <p:cNvSpPr txBox="true"/>
            <p:nvPr/>
          </p:nvSpPr>
          <p:spPr>
            <a:xfrm>
              <a:off x="0" y="-57150"/>
              <a:ext cx="2438400" cy="2495550"/>
            </a:xfrm>
            <a:prstGeom prst="rect">
              <a:avLst/>
            </a:prstGeom>
          </p:spPr>
          <p:txBody>
            <a:bodyPr anchor="ctr" rtlCol="false" tIns="0" lIns="0" bIns="0" rIns="0"/>
            <a:lstStyle/>
            <a:p>
              <a:pPr algn="ctr">
                <a:lnSpc>
                  <a:spcPts val="3120"/>
                </a:lnSpc>
              </a:pPr>
              <a:r>
                <a:rPr lang="en-US" sz="2600" b="true">
                  <a:solidFill>
                    <a:srgbClr val="FFFFFF"/>
                  </a:solidFill>
                  <a:latin typeface="Times New Roman"/>
                  <a:ea typeface="Times New Roman"/>
                  <a:cs typeface="Times New Roman"/>
                  <a:sym typeface="Times New Roman"/>
                </a:rPr>
                <a:t>Server</a:t>
              </a:r>
            </a:p>
          </p:txBody>
        </p:sp>
      </p:grpSp>
      <p:grpSp>
        <p:nvGrpSpPr>
          <p:cNvPr name="Group 21" id="21"/>
          <p:cNvGrpSpPr/>
          <p:nvPr/>
        </p:nvGrpSpPr>
        <p:grpSpPr>
          <a:xfrm rot="0">
            <a:off x="11953237" y="5918197"/>
            <a:ext cx="1696717" cy="1696717"/>
            <a:chOff x="0" y="0"/>
            <a:chExt cx="2262289" cy="2262289"/>
          </a:xfrm>
        </p:grpSpPr>
        <p:sp>
          <p:nvSpPr>
            <p:cNvPr name="Freeform 22" id="22"/>
            <p:cNvSpPr/>
            <p:nvPr/>
          </p:nvSpPr>
          <p:spPr>
            <a:xfrm flipH="false" flipV="false" rot="0">
              <a:off x="0" y="0"/>
              <a:ext cx="2262378" cy="2262378"/>
            </a:xfrm>
            <a:custGeom>
              <a:avLst/>
              <a:gdLst/>
              <a:ahLst/>
              <a:cxnLst/>
              <a:rect r="r" b="b" t="t" l="l"/>
              <a:pathLst>
                <a:path h="2262378" w="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name="Group 23" id="23"/>
          <p:cNvGrpSpPr/>
          <p:nvPr/>
        </p:nvGrpSpPr>
        <p:grpSpPr>
          <a:xfrm rot="0">
            <a:off x="11978640" y="5943600"/>
            <a:ext cx="1645920" cy="1645920"/>
            <a:chOff x="0" y="0"/>
            <a:chExt cx="2194560" cy="2194560"/>
          </a:xfrm>
        </p:grpSpPr>
        <p:sp>
          <p:nvSpPr>
            <p:cNvPr name="Freeform 24" id="24"/>
            <p:cNvSpPr/>
            <p:nvPr/>
          </p:nvSpPr>
          <p:spPr>
            <a:xfrm flipH="false" flipV="false" rot="0">
              <a:off x="0" y="0"/>
              <a:ext cx="2194560" cy="2194560"/>
            </a:xfrm>
            <a:custGeom>
              <a:avLst/>
              <a:gdLst/>
              <a:ahLst/>
              <a:cxnLst/>
              <a:rect r="r" b="b" t="t" l="l"/>
              <a:pathLst>
                <a:path h="2194560" w="2194560">
                  <a:moveTo>
                    <a:pt x="0" y="0"/>
                  </a:moveTo>
                  <a:lnTo>
                    <a:pt x="2194560" y="0"/>
                  </a:lnTo>
                  <a:lnTo>
                    <a:pt x="2194560" y="2194560"/>
                  </a:lnTo>
                  <a:lnTo>
                    <a:pt x="0" y="2194560"/>
                  </a:lnTo>
                  <a:close/>
                </a:path>
              </a:pathLst>
            </a:custGeom>
            <a:blipFill>
              <a:blip r:embed="rId3">
                <a:alphaModFix amt="0"/>
              </a:blip>
              <a:stretch>
                <a:fillRect l="-78303" t="0" r="-78303" b="0"/>
              </a:stretch>
            </a:blipFill>
          </p:spPr>
        </p:sp>
        <p:sp>
          <p:nvSpPr>
            <p:cNvPr name="TextBox 25" id="25"/>
            <p:cNvSpPr txBox="true"/>
            <p:nvPr/>
          </p:nvSpPr>
          <p:spPr>
            <a:xfrm>
              <a:off x="0" y="-47625"/>
              <a:ext cx="2194560" cy="2242185"/>
            </a:xfrm>
            <a:prstGeom prst="rect">
              <a:avLst/>
            </a:prstGeom>
          </p:spPr>
          <p:txBody>
            <a:bodyPr anchor="ctr" rtlCol="false" tIns="0" lIns="0" bIns="0" rIns="0"/>
            <a:lstStyle/>
            <a:p>
              <a:pPr algn="ctr">
                <a:lnSpc>
                  <a:spcPts val="2639"/>
                </a:lnSpc>
              </a:pPr>
              <a:r>
                <a:rPr lang="en-US" sz="2199" b="true">
                  <a:solidFill>
                    <a:srgbClr val="BFE8E3"/>
                  </a:solidFill>
                  <a:latin typeface="Times New Roman"/>
                  <a:ea typeface="Times New Roman"/>
                  <a:cs typeface="Times New Roman"/>
                  <a:sym typeface="Times New Roman"/>
                </a:rPr>
                <a:t>Client</a:t>
              </a:r>
            </a:p>
            <a:p>
              <a:pPr algn="ctr">
                <a:lnSpc>
                  <a:spcPts val="2639"/>
                </a:lnSpc>
              </a:pPr>
              <a:r>
                <a:rPr lang="en-US" sz="2199" b="true">
                  <a:solidFill>
                    <a:srgbClr val="BFE8E3"/>
                  </a:solidFill>
                  <a:latin typeface="Times New Roman"/>
                  <a:ea typeface="Times New Roman"/>
                  <a:cs typeface="Times New Roman"/>
                  <a:sym typeface="Times New Roman"/>
                </a:rPr>
                <a:t>A</a:t>
              </a:r>
            </a:p>
          </p:txBody>
        </p:sp>
      </p:grpSp>
      <p:grpSp>
        <p:nvGrpSpPr>
          <p:cNvPr name="Group 26" id="26"/>
          <p:cNvGrpSpPr/>
          <p:nvPr/>
        </p:nvGrpSpPr>
        <p:grpSpPr>
          <a:xfrm rot="0">
            <a:off x="15610837" y="5918197"/>
            <a:ext cx="1696717" cy="1696717"/>
            <a:chOff x="0" y="0"/>
            <a:chExt cx="2262289" cy="2262289"/>
          </a:xfrm>
        </p:grpSpPr>
        <p:sp>
          <p:nvSpPr>
            <p:cNvPr name="Freeform 27" id="27"/>
            <p:cNvSpPr/>
            <p:nvPr/>
          </p:nvSpPr>
          <p:spPr>
            <a:xfrm flipH="false" flipV="false" rot="0">
              <a:off x="0" y="0"/>
              <a:ext cx="2262378" cy="2262378"/>
            </a:xfrm>
            <a:custGeom>
              <a:avLst/>
              <a:gdLst/>
              <a:ahLst/>
              <a:cxnLst/>
              <a:rect r="r" b="b" t="t" l="l"/>
              <a:pathLst>
                <a:path h="2262378" w="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name="Group 28" id="28"/>
          <p:cNvGrpSpPr/>
          <p:nvPr/>
        </p:nvGrpSpPr>
        <p:grpSpPr>
          <a:xfrm rot="0">
            <a:off x="15636240" y="5943600"/>
            <a:ext cx="1645920" cy="1645920"/>
            <a:chOff x="0" y="0"/>
            <a:chExt cx="2194560" cy="2194560"/>
          </a:xfrm>
        </p:grpSpPr>
        <p:sp>
          <p:nvSpPr>
            <p:cNvPr name="Freeform 29" id="29"/>
            <p:cNvSpPr/>
            <p:nvPr/>
          </p:nvSpPr>
          <p:spPr>
            <a:xfrm flipH="false" flipV="false" rot="0">
              <a:off x="0" y="0"/>
              <a:ext cx="2194560" cy="2194560"/>
            </a:xfrm>
            <a:custGeom>
              <a:avLst/>
              <a:gdLst/>
              <a:ahLst/>
              <a:cxnLst/>
              <a:rect r="r" b="b" t="t" l="l"/>
              <a:pathLst>
                <a:path h="2194560" w="2194560">
                  <a:moveTo>
                    <a:pt x="0" y="0"/>
                  </a:moveTo>
                  <a:lnTo>
                    <a:pt x="2194560" y="0"/>
                  </a:lnTo>
                  <a:lnTo>
                    <a:pt x="2194560" y="2194560"/>
                  </a:lnTo>
                  <a:lnTo>
                    <a:pt x="0" y="2194560"/>
                  </a:lnTo>
                  <a:close/>
                </a:path>
              </a:pathLst>
            </a:custGeom>
            <a:blipFill>
              <a:blip r:embed="rId3">
                <a:alphaModFix amt="0"/>
              </a:blip>
              <a:stretch>
                <a:fillRect l="-78303" t="0" r="-78303" b="0"/>
              </a:stretch>
            </a:blipFill>
          </p:spPr>
        </p:sp>
        <p:sp>
          <p:nvSpPr>
            <p:cNvPr name="TextBox 30" id="30"/>
            <p:cNvSpPr txBox="true"/>
            <p:nvPr/>
          </p:nvSpPr>
          <p:spPr>
            <a:xfrm>
              <a:off x="0" y="-47625"/>
              <a:ext cx="2194560" cy="2242185"/>
            </a:xfrm>
            <a:prstGeom prst="rect">
              <a:avLst/>
            </a:prstGeom>
          </p:spPr>
          <p:txBody>
            <a:bodyPr anchor="ctr" rtlCol="false" tIns="0" lIns="0" bIns="0" rIns="0"/>
            <a:lstStyle/>
            <a:p>
              <a:pPr algn="ctr">
                <a:lnSpc>
                  <a:spcPts val="2639"/>
                </a:lnSpc>
              </a:pPr>
              <a:r>
                <a:rPr lang="en-US" sz="2199" b="true">
                  <a:solidFill>
                    <a:srgbClr val="BFE8E3"/>
                  </a:solidFill>
                  <a:latin typeface="Times New Roman"/>
                  <a:ea typeface="Times New Roman"/>
                  <a:cs typeface="Times New Roman"/>
                  <a:sym typeface="Times New Roman"/>
                </a:rPr>
                <a:t>Client</a:t>
              </a:r>
            </a:p>
            <a:p>
              <a:pPr algn="ctr">
                <a:lnSpc>
                  <a:spcPts val="2639"/>
                </a:lnSpc>
              </a:pPr>
              <a:r>
                <a:rPr lang="en-US" sz="2199" b="true">
                  <a:solidFill>
                    <a:srgbClr val="BFE8E3"/>
                  </a:solidFill>
                  <a:latin typeface="Times New Roman"/>
                  <a:ea typeface="Times New Roman"/>
                  <a:cs typeface="Times New Roman"/>
                  <a:sym typeface="Times New Roman"/>
                </a:rPr>
                <a:t>B</a:t>
              </a:r>
            </a:p>
          </p:txBody>
        </p:sp>
      </p:grpSp>
      <p:grpSp>
        <p:nvGrpSpPr>
          <p:cNvPr name="Group 31" id="31"/>
          <p:cNvGrpSpPr/>
          <p:nvPr/>
        </p:nvGrpSpPr>
        <p:grpSpPr>
          <a:xfrm rot="0">
            <a:off x="12801600" y="7808976"/>
            <a:ext cx="3657600" cy="548640"/>
            <a:chOff x="0" y="0"/>
            <a:chExt cx="4876800" cy="731520"/>
          </a:xfrm>
        </p:grpSpPr>
        <p:sp>
          <p:nvSpPr>
            <p:cNvPr name="Freeform 32" id="32"/>
            <p:cNvSpPr/>
            <p:nvPr/>
          </p:nvSpPr>
          <p:spPr>
            <a:xfrm flipH="false" flipV="false" rot="0">
              <a:off x="0" y="0"/>
              <a:ext cx="4876800" cy="731520"/>
            </a:xfrm>
            <a:custGeom>
              <a:avLst/>
              <a:gdLst/>
              <a:ahLst/>
              <a:cxnLst/>
              <a:rect r="r" b="b" t="t" l="l"/>
              <a:pathLst>
                <a:path h="731520" w="4876800">
                  <a:moveTo>
                    <a:pt x="0" y="0"/>
                  </a:moveTo>
                  <a:lnTo>
                    <a:pt x="4876800" y="0"/>
                  </a:lnTo>
                  <a:lnTo>
                    <a:pt x="4876800" y="731520"/>
                  </a:lnTo>
                  <a:lnTo>
                    <a:pt x="0" y="731520"/>
                  </a:lnTo>
                  <a:close/>
                </a:path>
              </a:pathLst>
            </a:custGeom>
            <a:blipFill>
              <a:blip r:embed="rId3">
                <a:alphaModFix amt="0"/>
              </a:blip>
              <a:stretch>
                <a:fillRect l="0" t="-79900" r="0" b="-79900"/>
              </a:stretch>
            </a:blipFill>
          </p:spPr>
        </p:sp>
        <p:sp>
          <p:nvSpPr>
            <p:cNvPr name="TextBox 33" id="33"/>
            <p:cNvSpPr txBox="true"/>
            <p:nvPr/>
          </p:nvSpPr>
          <p:spPr>
            <a:xfrm>
              <a:off x="0" y="-47625"/>
              <a:ext cx="4876800" cy="779145"/>
            </a:xfrm>
            <a:prstGeom prst="rect">
              <a:avLst/>
            </a:prstGeom>
          </p:spPr>
          <p:txBody>
            <a:bodyPr anchor="ctr" rtlCol="false" tIns="0" lIns="0" bIns="0" rIns="0"/>
            <a:lstStyle/>
            <a:p>
              <a:pPr algn="ctr">
                <a:lnSpc>
                  <a:spcPts val="2639"/>
                </a:lnSpc>
              </a:pPr>
              <a:r>
                <a:rPr lang="en-US" sz="2199" i="true">
                  <a:solidFill>
                    <a:srgbClr val="BFE8E3"/>
                  </a:solidFill>
                  <a:latin typeface="Times New Roman"/>
                  <a:ea typeface="Times New Roman"/>
                  <a:cs typeface="Times New Roman"/>
                  <a:sym typeface="Times New Roman"/>
                </a:rPr>
                <a:t>RTT 100–200 ms</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16" name="Header band"/>
          <p:cNvSpPr/>
          <p:nvPr/>
        </p:nvSpPr>
        <p:spPr>
          <a:xfrm>
            <a:off x="0" y="0"/>
            <a:ext cx="18288000" cy="2103120"/>
          </a:xfrm>
          <a:prstGeom prst="rect">
            <a:avLst/>
          </a:prstGeom>
          <a:solidFill>
            <a:srgbClr val="14213D"/>
          </a:solidFill>
          <a:ln>
            <a:noFill/>
          </a:ln>
        </p:spPr>
      </p:sp>
      <p:sp>
        <p:nvSpPr>
          <p:cNvPr id="9017"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YÊU CẦU</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Hai yêu cầu mâu thuẫn</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#1</a:t>
              </a:r>
            </a:p>
          </p:txBody>
        </p:sp>
      </p:grpSp>
      <p:grpSp>
        <p:nvGrpSpPr>
          <p:cNvPr name="Group 14" id="14"/>
          <p:cNvGrpSpPr/>
          <p:nvPr/>
        </p:nvGrpSpPr>
        <p:grpSpPr>
          <a:xfrm rot="0">
            <a:off x="901703" y="2547623"/>
            <a:ext cx="6517643" cy="3225803"/>
            <a:chOff x="0" y="0"/>
            <a:chExt cx="8690191" cy="4301071"/>
          </a:xfrm>
        </p:grpSpPr>
        <p:sp>
          <p:nvSpPr>
            <p:cNvPr name="Freeform 15" id="15"/>
            <p:cNvSpPr/>
            <p:nvPr/>
          </p:nvSpPr>
          <p:spPr>
            <a:xfrm flipH="false" flipV="false" rot="0">
              <a:off x="0" y="0"/>
              <a:ext cx="8690228" cy="4301109"/>
            </a:xfrm>
            <a:custGeom>
              <a:avLst/>
              <a:gdLst/>
              <a:ahLst/>
              <a:cxnLst/>
              <a:rect r="r" b="b" t="t" l="l"/>
              <a:pathLst>
                <a:path h="4301109" w="8690228">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name="Group 16" id="16"/>
          <p:cNvGrpSpPr/>
          <p:nvPr/>
        </p:nvGrpSpPr>
        <p:grpSpPr>
          <a:xfrm rot="0">
            <a:off x="1463040" y="2926080"/>
            <a:ext cx="5394960" cy="822960"/>
            <a:chOff x="0" y="0"/>
            <a:chExt cx="7193280" cy="1097280"/>
          </a:xfrm>
        </p:grpSpPr>
        <p:sp>
          <p:nvSpPr>
            <p:cNvPr name="Freeform 17" id="17"/>
            <p:cNvSpPr/>
            <p:nvPr/>
          </p:nvSpPr>
          <p:spPr>
            <a:xfrm flipH="false" flipV="false" rot="0">
              <a:off x="0" y="0"/>
              <a:ext cx="7193280" cy="1097280"/>
            </a:xfrm>
            <a:custGeom>
              <a:avLst/>
              <a:gdLst/>
              <a:ahLst/>
              <a:cxnLst/>
              <a:rect r="r" b="b" t="t" l="l"/>
              <a:pathLst>
                <a:path h="1097280" w="7193280">
                  <a:moveTo>
                    <a:pt x="0" y="0"/>
                  </a:moveTo>
                  <a:lnTo>
                    <a:pt x="7193280" y="0"/>
                  </a:lnTo>
                  <a:lnTo>
                    <a:pt x="7193280" y="1097280"/>
                  </a:lnTo>
                  <a:lnTo>
                    <a:pt x="0" y="1097280"/>
                  </a:lnTo>
                  <a:close/>
                </a:path>
              </a:pathLst>
            </a:custGeom>
            <a:blipFill>
              <a:blip r:embed="rId3">
                <a:alphaModFix amt="0"/>
              </a:blip>
              <a:stretch>
                <a:fillRect l="0" t="-77735" r="0" b="-77735"/>
              </a:stretch>
            </a:blipFill>
          </p:spPr>
        </p:sp>
        <p:sp>
          <p:nvSpPr>
            <p:cNvPr name="TextBox 18" id="18"/>
            <p:cNvSpPr txBox="true"/>
            <p:nvPr/>
          </p:nvSpPr>
          <p:spPr>
            <a:xfrm>
              <a:off x="0" y="-85725"/>
              <a:ext cx="7193280" cy="1183005"/>
            </a:xfrm>
            <a:prstGeom prst="rect">
              <a:avLst/>
            </a:prstGeom>
          </p:spPr>
          <p:txBody>
            <a:bodyPr anchor="ctr" rtlCol="false" tIns="0" lIns="0" bIns="0" rIns="0"/>
            <a:lstStyle/>
            <a:p>
              <a:pPr algn="l">
                <a:lnSpc>
                  <a:spcPts val="4799"/>
                </a:lnSpc>
              </a:pPr>
              <a:r>
                <a:rPr lang="en-US" sz="3999" b="true">
                  <a:solidFill>
                    <a:srgbClr val="00897B"/>
                  </a:solidFill>
                  <a:latin typeface="Times New Roman"/>
                  <a:ea typeface="Times New Roman"/>
                  <a:cs typeface="Times New Roman"/>
                  <a:sym typeface="Times New Roman"/>
                </a:rPr>
                <a:t>Độ phản hồi</a:t>
              </a:r>
            </a:p>
          </p:txBody>
        </p:sp>
      </p:grpSp>
      <p:sp>
        <p:nvSpPr>
          <p:cNvPr name="TextBox 19" id="19"/>
          <p:cNvSpPr txBox="true"/>
          <p:nvPr/>
        </p:nvSpPr>
        <p:spPr>
          <a:xfrm rot="0">
            <a:off x="1463040" y="3773805"/>
            <a:ext cx="5394960" cy="2261235"/>
          </a:xfrm>
          <a:prstGeom prst="rect">
            <a:avLst/>
          </a:prstGeom>
        </p:spPr>
        <p:txBody>
          <a:bodyPr anchor="t" rtlCol="false" tIns="0" lIns="0" bIns="0" rIns="0">
            <a:spAutoFit/>
          </a:bodyPr>
          <a:lstStyle/>
          <a:p>
            <a:pPr algn="l">
              <a:lnSpc>
                <a:spcPts val="3359"/>
              </a:lnSpc>
            </a:pPr>
            <a:r>
              <a:rPr lang="en-US" sz="2799">
                <a:solidFill>
                  <a:srgbClr val="14213D"/>
                </a:solidFill>
                <a:latin typeface="Times New Roman"/>
                <a:ea typeface="Times New Roman"/>
                <a:cs typeface="Times New Roman"/>
                <a:sym typeface="Times New Roman"/>
              </a:rPr>
              <a:t>Bấm phím là nhân vật phản ứng ngay (từ ~100 ms đã thấy ì)</a:t>
            </a:r>
          </a:p>
        </p:txBody>
      </p:sp>
      <p:grpSp>
        <p:nvGrpSpPr>
          <p:cNvPr name="Group 20" id="20"/>
          <p:cNvGrpSpPr/>
          <p:nvPr/>
        </p:nvGrpSpPr>
        <p:grpSpPr>
          <a:xfrm rot="0">
            <a:off x="10868663" y="2547623"/>
            <a:ext cx="6517643" cy="3225803"/>
            <a:chOff x="0" y="0"/>
            <a:chExt cx="8690191" cy="4301071"/>
          </a:xfrm>
        </p:grpSpPr>
        <p:sp>
          <p:nvSpPr>
            <p:cNvPr name="Freeform 21" id="21"/>
            <p:cNvSpPr/>
            <p:nvPr/>
          </p:nvSpPr>
          <p:spPr>
            <a:xfrm flipH="false" flipV="false" rot="0">
              <a:off x="0" y="0"/>
              <a:ext cx="8690228" cy="4301109"/>
            </a:xfrm>
            <a:custGeom>
              <a:avLst/>
              <a:gdLst/>
              <a:ahLst/>
              <a:cxnLst/>
              <a:rect r="r" b="b" t="t" l="l"/>
              <a:pathLst>
                <a:path h="4301109" w="8690228">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name="Group 22" id="22"/>
          <p:cNvGrpSpPr/>
          <p:nvPr/>
        </p:nvGrpSpPr>
        <p:grpSpPr>
          <a:xfrm rot="0">
            <a:off x="11430000" y="2926080"/>
            <a:ext cx="5394960" cy="822960"/>
            <a:chOff x="0" y="0"/>
            <a:chExt cx="7193280" cy="1097280"/>
          </a:xfrm>
        </p:grpSpPr>
        <p:sp>
          <p:nvSpPr>
            <p:cNvPr name="Freeform 23" id="23"/>
            <p:cNvSpPr/>
            <p:nvPr/>
          </p:nvSpPr>
          <p:spPr>
            <a:xfrm flipH="false" flipV="false" rot="0">
              <a:off x="0" y="0"/>
              <a:ext cx="7193280" cy="1097280"/>
            </a:xfrm>
            <a:custGeom>
              <a:avLst/>
              <a:gdLst/>
              <a:ahLst/>
              <a:cxnLst/>
              <a:rect r="r" b="b" t="t" l="l"/>
              <a:pathLst>
                <a:path h="1097280" w="7193280">
                  <a:moveTo>
                    <a:pt x="0" y="0"/>
                  </a:moveTo>
                  <a:lnTo>
                    <a:pt x="7193280" y="0"/>
                  </a:lnTo>
                  <a:lnTo>
                    <a:pt x="7193280" y="1097280"/>
                  </a:lnTo>
                  <a:lnTo>
                    <a:pt x="0" y="1097280"/>
                  </a:lnTo>
                  <a:close/>
                </a:path>
              </a:pathLst>
            </a:custGeom>
            <a:blipFill>
              <a:blip r:embed="rId3">
                <a:alphaModFix amt="0"/>
              </a:blip>
              <a:stretch>
                <a:fillRect l="0" t="-77735" r="0" b="-77735"/>
              </a:stretch>
            </a:blipFill>
          </p:spPr>
        </p:sp>
        <p:sp>
          <p:nvSpPr>
            <p:cNvPr name="TextBox 24" id="24"/>
            <p:cNvSpPr txBox="true"/>
            <p:nvPr/>
          </p:nvSpPr>
          <p:spPr>
            <a:xfrm>
              <a:off x="0" y="-85725"/>
              <a:ext cx="7193280" cy="1183005"/>
            </a:xfrm>
            <a:prstGeom prst="rect">
              <a:avLst/>
            </a:prstGeom>
          </p:spPr>
          <p:txBody>
            <a:bodyPr anchor="ctr" rtlCol="false" tIns="0" lIns="0" bIns="0" rIns="0"/>
            <a:lstStyle/>
            <a:p>
              <a:pPr algn="l">
                <a:lnSpc>
                  <a:spcPts val="4799"/>
                </a:lnSpc>
              </a:pPr>
              <a:r>
                <a:rPr lang="en-US" sz="3999" b="true">
                  <a:solidFill>
                    <a:srgbClr val="00897B"/>
                  </a:solidFill>
                  <a:latin typeface="Times New Roman"/>
                  <a:ea typeface="Times New Roman"/>
                  <a:cs typeface="Times New Roman"/>
                  <a:sym typeface="Times New Roman"/>
                </a:rPr>
                <a:t>Tính nhất quán</a:t>
              </a:r>
            </a:p>
          </p:txBody>
        </p:sp>
      </p:grpSp>
      <p:sp>
        <p:nvSpPr>
          <p:cNvPr name="TextBox 25" id="25"/>
          <p:cNvSpPr txBox="true"/>
          <p:nvPr/>
        </p:nvSpPr>
        <p:spPr>
          <a:xfrm rot="0">
            <a:off x="11430000" y="3773805"/>
            <a:ext cx="5394960" cy="2261235"/>
          </a:xfrm>
          <a:prstGeom prst="rect">
            <a:avLst/>
          </a:prstGeom>
        </p:spPr>
        <p:txBody>
          <a:bodyPr anchor="t" rtlCol="false" tIns="0" lIns="0" bIns="0" rIns="0">
            <a:spAutoFit/>
          </a:bodyPr>
          <a:lstStyle/>
          <a:p>
            <a:pPr algn="l">
              <a:lnSpc>
                <a:spcPts val="3359"/>
              </a:lnSpc>
            </a:pPr>
            <a:r>
              <a:rPr lang="en-US" sz="2799">
                <a:solidFill>
                  <a:srgbClr val="14213D"/>
                </a:solidFill>
                <a:latin typeface="Times New Roman"/>
                <a:ea typeface="Times New Roman"/>
                <a:cs typeface="Times New Roman"/>
                <a:sym typeface="Times New Roman"/>
              </a:rPr>
              <a:t>Mọi người thấy cùng một thế giới, không ai gian lận được</a:t>
            </a:r>
          </a:p>
        </p:txBody>
      </p:sp>
      <p:grpSp>
        <p:nvGrpSpPr>
          <p:cNvPr name="Group 26" id="26"/>
          <p:cNvGrpSpPr/>
          <p:nvPr/>
        </p:nvGrpSpPr>
        <p:grpSpPr>
          <a:xfrm rot="0">
            <a:off x="7668263" y="3553463"/>
            <a:ext cx="2951483" cy="1214123"/>
            <a:chOff x="0" y="0"/>
            <a:chExt cx="3935311" cy="1618831"/>
          </a:xfrm>
        </p:grpSpPr>
        <p:sp>
          <p:nvSpPr>
            <p:cNvPr name="Freeform 27" id="27"/>
            <p:cNvSpPr/>
            <p:nvPr/>
          </p:nvSpPr>
          <p:spPr>
            <a:xfrm flipH="false" flipV="false" rot="0">
              <a:off x="0" y="0"/>
              <a:ext cx="3935222" cy="1618742"/>
            </a:xfrm>
            <a:custGeom>
              <a:avLst/>
              <a:gdLst/>
              <a:ahLst/>
              <a:cxnLst/>
              <a:rect r="r" b="b" t="t" l="l"/>
              <a:pathLst>
                <a:path h="1618742" w="3935222">
                  <a:moveTo>
                    <a:pt x="0" y="796925"/>
                  </a:moveTo>
                  <a:cubicBezTo>
                    <a:pt x="0" y="356870"/>
                    <a:pt x="356870" y="0"/>
                    <a:pt x="796925" y="0"/>
                  </a:cubicBezTo>
                  <a:lnTo>
                    <a:pt x="3138297" y="0"/>
                  </a:lnTo>
                  <a:cubicBezTo>
                    <a:pt x="3578479" y="0"/>
                    <a:pt x="3935222" y="356870"/>
                    <a:pt x="3935222" y="796925"/>
                  </a:cubicBezTo>
                  <a:lnTo>
                    <a:pt x="3935222" y="821817"/>
                  </a:lnTo>
                  <a:cubicBezTo>
                    <a:pt x="3935222" y="1261999"/>
                    <a:pt x="3578352" y="1618742"/>
                    <a:pt x="3138297" y="1618742"/>
                  </a:cubicBezTo>
                  <a:lnTo>
                    <a:pt x="796925" y="1618742"/>
                  </a:lnTo>
                  <a:cubicBezTo>
                    <a:pt x="356870" y="1618869"/>
                    <a:pt x="0" y="1261999"/>
                    <a:pt x="0" y="821817"/>
                  </a:cubicBezTo>
                  <a:close/>
                </a:path>
              </a:pathLst>
            </a:custGeom>
            <a:solidFill>
              <a:srgbClr val="0B1626"/>
            </a:solidFill>
            <a:ln w="25400" cap="sq">
              <a:solidFill>
                <a:srgbClr val="0B1626"/>
              </a:solidFill>
              <a:prstDash val="solid"/>
              <a:miter/>
            </a:ln>
          </p:spPr>
        </p:sp>
      </p:grpSp>
      <p:grpSp>
        <p:nvGrpSpPr>
          <p:cNvPr name="Group 28" id="28"/>
          <p:cNvGrpSpPr/>
          <p:nvPr/>
        </p:nvGrpSpPr>
        <p:grpSpPr>
          <a:xfrm rot="0">
            <a:off x="7680960" y="3566160"/>
            <a:ext cx="2926080" cy="1188720"/>
            <a:chOff x="0" y="0"/>
            <a:chExt cx="3901440" cy="1584960"/>
          </a:xfrm>
        </p:grpSpPr>
        <p:sp>
          <p:nvSpPr>
            <p:cNvPr name="Freeform 29" id="29"/>
            <p:cNvSpPr/>
            <p:nvPr/>
          </p:nvSpPr>
          <p:spPr>
            <a:xfrm flipH="false" flipV="false" rot="0">
              <a:off x="0" y="0"/>
              <a:ext cx="3901440" cy="1584960"/>
            </a:xfrm>
            <a:custGeom>
              <a:avLst/>
              <a:gdLst/>
              <a:ahLst/>
              <a:cxnLst/>
              <a:rect r="r" b="b" t="t" l="l"/>
              <a:pathLst>
                <a:path h="1584960" w="3901440">
                  <a:moveTo>
                    <a:pt x="0" y="0"/>
                  </a:moveTo>
                  <a:lnTo>
                    <a:pt x="3901440" y="0"/>
                  </a:lnTo>
                  <a:lnTo>
                    <a:pt x="3901440" y="1584960"/>
                  </a:lnTo>
                  <a:lnTo>
                    <a:pt x="0" y="1584960"/>
                  </a:lnTo>
                  <a:close/>
                </a:path>
              </a:pathLst>
            </a:custGeom>
            <a:blipFill>
              <a:blip r:embed="rId3">
                <a:alphaModFix amt="0"/>
              </a:blip>
              <a:stretch>
                <a:fillRect l="-2123" t="0" r="-2123" b="0"/>
              </a:stretch>
            </a:blipFill>
          </p:spPr>
        </p:sp>
        <p:sp>
          <p:nvSpPr>
            <p:cNvPr name="TextBox 30" id="30"/>
            <p:cNvSpPr txBox="true"/>
            <p:nvPr/>
          </p:nvSpPr>
          <p:spPr>
            <a:xfrm>
              <a:off x="0" y="-38100"/>
              <a:ext cx="3901440" cy="1623060"/>
            </a:xfrm>
            <a:prstGeom prst="rect">
              <a:avLst/>
            </a:prstGeom>
          </p:spPr>
          <p:txBody>
            <a:bodyPr anchor="ctr" rtlCol="false" tIns="0" lIns="0" bIns="0" rIns="0"/>
            <a:lstStyle/>
            <a:p>
              <a:pPr algn="ctr">
                <a:lnSpc>
                  <a:spcPts val="2879"/>
                </a:lnSpc>
              </a:pPr>
              <a:r>
                <a:rPr lang="en-US" sz="2400" b="true">
                  <a:solidFill>
                    <a:srgbClr val="FFFFFF"/>
                  </a:solidFill>
                  <a:latin typeface="Times New Roman"/>
                  <a:ea typeface="Times New Roman"/>
                  <a:cs typeface="Times New Roman"/>
                  <a:sym typeface="Times New Roman"/>
                </a:rPr>
                <a:t>Mạng</a:t>
              </a:r>
            </a:p>
            <a:p>
              <a:pPr algn="ctr">
                <a:lnSpc>
                  <a:spcPts val="2879"/>
                </a:lnSpc>
              </a:pPr>
              <a:r>
                <a:rPr lang="en-US" sz="2400">
                  <a:solidFill>
                    <a:srgbClr val="FFFFFF"/>
                  </a:solidFill>
                  <a:latin typeface="Times New Roman"/>
                  <a:ea typeface="Times New Roman"/>
                  <a:cs typeface="Times New Roman"/>
                  <a:sym typeface="Times New Roman"/>
                </a:rPr>
                <a:t>100–200 ms</a:t>
              </a:r>
            </a:p>
          </p:txBody>
        </p:sp>
      </p:grpSp>
      <p:grpSp>
        <p:nvGrpSpPr>
          <p:cNvPr name="Group 31" id="31"/>
          <p:cNvGrpSpPr/>
          <p:nvPr/>
        </p:nvGrpSpPr>
        <p:grpSpPr>
          <a:xfrm rot="0">
            <a:off x="901703" y="6388103"/>
            <a:ext cx="16484603" cy="1762763"/>
            <a:chOff x="0" y="0"/>
            <a:chExt cx="21979471" cy="2350351"/>
          </a:xfrm>
        </p:grpSpPr>
        <p:sp>
          <p:nvSpPr>
            <p:cNvPr name="Freeform 32" id="32"/>
            <p:cNvSpPr/>
            <p:nvPr/>
          </p:nvSpPr>
          <p:spPr>
            <a:xfrm flipH="false" flipV="false" rot="0">
              <a:off x="0" y="0"/>
              <a:ext cx="21979508" cy="2350389"/>
            </a:xfrm>
            <a:custGeom>
              <a:avLst/>
              <a:gdLst/>
              <a:ahLst/>
              <a:cxnLst/>
              <a:rect r="r" b="b" t="t" l="l"/>
              <a:pathLst>
                <a:path h="2350389" w="21979508">
                  <a:moveTo>
                    <a:pt x="0" y="247396"/>
                  </a:moveTo>
                  <a:cubicBezTo>
                    <a:pt x="0" y="110744"/>
                    <a:pt x="110744" y="0"/>
                    <a:pt x="247396" y="0"/>
                  </a:cubicBezTo>
                  <a:lnTo>
                    <a:pt x="21732112" y="0"/>
                  </a:lnTo>
                  <a:cubicBezTo>
                    <a:pt x="21868764" y="0"/>
                    <a:pt x="21979508" y="110744"/>
                    <a:pt x="21979508" y="247396"/>
                  </a:cubicBezTo>
                  <a:lnTo>
                    <a:pt x="21979508" y="2102993"/>
                  </a:lnTo>
                  <a:cubicBezTo>
                    <a:pt x="21979508" y="2239645"/>
                    <a:pt x="21868764" y="2350389"/>
                    <a:pt x="21732112" y="2350389"/>
                  </a:cubicBezTo>
                  <a:lnTo>
                    <a:pt x="247396" y="2350389"/>
                  </a:lnTo>
                  <a:cubicBezTo>
                    <a:pt x="110744" y="2350389"/>
                    <a:pt x="0" y="2239645"/>
                    <a:pt x="0" y="2102993"/>
                  </a:cubicBezTo>
                  <a:close/>
                </a:path>
              </a:pathLst>
            </a:custGeom>
            <a:solidFill>
              <a:srgbClr val="14213D"/>
            </a:solidFill>
            <a:ln w="25400" cap="sq">
              <a:solidFill>
                <a:srgbClr val="14213D"/>
              </a:solidFill>
              <a:prstDash val="solid"/>
              <a:miter/>
            </a:ln>
          </p:spPr>
        </p:sp>
      </p:grpSp>
      <p:grpSp>
        <p:nvGrpSpPr>
          <p:cNvPr name="Group 33" id="33"/>
          <p:cNvGrpSpPr/>
          <p:nvPr/>
        </p:nvGrpSpPr>
        <p:grpSpPr>
          <a:xfrm rot="0">
            <a:off x="1463040" y="6400800"/>
            <a:ext cx="15361920" cy="1737360"/>
            <a:chOff x="0" y="0"/>
            <a:chExt cx="20482560" cy="2316480"/>
          </a:xfrm>
        </p:grpSpPr>
        <p:sp>
          <p:nvSpPr>
            <p:cNvPr name="Freeform 34" id="34"/>
            <p:cNvSpPr/>
            <p:nvPr/>
          </p:nvSpPr>
          <p:spPr>
            <a:xfrm flipH="false" flipV="false" rot="0">
              <a:off x="0" y="0"/>
              <a:ext cx="20482561" cy="2316480"/>
            </a:xfrm>
            <a:custGeom>
              <a:avLst/>
              <a:gdLst/>
              <a:ahLst/>
              <a:cxnLst/>
              <a:rect r="r" b="b" t="t" l="l"/>
              <a:pathLst>
                <a:path h="2316480" w="20482561">
                  <a:moveTo>
                    <a:pt x="0" y="0"/>
                  </a:moveTo>
                  <a:lnTo>
                    <a:pt x="20482561" y="0"/>
                  </a:lnTo>
                  <a:lnTo>
                    <a:pt x="20482561" y="2316480"/>
                  </a:lnTo>
                  <a:lnTo>
                    <a:pt x="0" y="2316480"/>
                  </a:lnTo>
                  <a:close/>
                </a:path>
              </a:pathLst>
            </a:custGeom>
            <a:blipFill>
              <a:blip r:embed="rId3">
                <a:alphaModFix amt="0"/>
              </a:blip>
              <a:stretch>
                <a:fillRect l="0" t="-122288" r="0" b="-122288"/>
              </a:stretch>
            </a:blipFill>
          </p:spPr>
        </p:sp>
        <p:sp>
          <p:nvSpPr>
            <p:cNvPr name="TextBox 35" id="35"/>
            <p:cNvSpPr txBox="true"/>
            <p:nvPr/>
          </p:nvSpPr>
          <p:spPr>
            <a:xfrm>
              <a:off x="0" y="-57150"/>
              <a:ext cx="20482560" cy="2373630"/>
            </a:xfrm>
            <a:prstGeom prst="rect">
              <a:avLst/>
            </a:prstGeom>
          </p:spPr>
          <p:txBody>
            <a:bodyPr anchor="ctr" rtlCol="false" tIns="0" lIns="0" bIns="0" rIns="0"/>
            <a:lstStyle/>
            <a:p>
              <a:pPr algn="l">
                <a:lnSpc>
                  <a:spcPts val="3840"/>
                </a:lnSpc>
              </a:pPr>
              <a:r>
                <a:rPr lang="en-US" sz="3200">
                  <a:solidFill>
                    <a:srgbClr val="FFFFFF"/>
                  </a:solidFill>
                  <a:latin typeface="Times New Roman"/>
                  <a:ea typeface="Times New Roman"/>
                  <a:cs typeface="Times New Roman"/>
                  <a:sym typeface="Times New Roman"/>
                </a:rPr>
                <a:t>Có mạng ở giữa thì: muốn nhất quán phải </a:t>
              </a:r>
              <a:r>
                <a:rPr lang="en-US" sz="3200" b="true">
                  <a:solidFill>
                    <a:srgbClr val="FFFFFF"/>
                  </a:solidFill>
                  <a:latin typeface="Times New Roman"/>
                  <a:ea typeface="Times New Roman"/>
                  <a:cs typeface="Times New Roman"/>
                  <a:sym typeface="Times New Roman"/>
                </a:rPr>
                <a:t>chờ</a:t>
              </a:r>
              <a:r>
                <a:rPr lang="en-US" sz="3200">
                  <a:solidFill>
                    <a:srgbClr val="FFFFFF"/>
                  </a:solidFill>
                  <a:latin typeface="Times New Roman"/>
                  <a:ea typeface="Times New Roman"/>
                  <a:cs typeface="Times New Roman"/>
                  <a:sym typeface="Times New Roman"/>
                </a:rPr>
                <a:t>, muốn phản hồi ngay thì </a:t>
              </a:r>
              <a:r>
                <a:rPr lang="en-US" sz="3200" b="true">
                  <a:solidFill>
                    <a:srgbClr val="FFFFFF"/>
                  </a:solidFill>
                  <a:latin typeface="Times New Roman"/>
                  <a:ea typeface="Times New Roman"/>
                  <a:cs typeface="Times New Roman"/>
                  <a:sym typeface="Times New Roman"/>
                </a:rPr>
                <a:t>không được chờ</a:t>
              </a:r>
            </a:p>
          </p:txBody>
        </p:sp>
      </p:grpSp>
      <p:sp>
        <p:nvSpPr>
          <p:cNvPr name="TextBox 36" id="36"/>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5</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35" name="Header band"/>
          <p:cNvSpPr/>
          <p:nvPr/>
        </p:nvSpPr>
        <p:spPr>
          <a:xfrm>
            <a:off x="0" y="0"/>
            <a:ext cx="18288000" cy="2103120"/>
          </a:xfrm>
          <a:prstGeom prst="rect">
            <a:avLst/>
          </a:prstGeom>
          <a:solidFill>
            <a:srgbClr val="14213D"/>
          </a:solidFill>
          <a:ln>
            <a:noFill/>
          </a:ln>
        </p:spPr>
      </p:sp>
      <p:sp>
        <p:nvSpPr>
          <p:cNvPr id="9036"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grpSp>
        <p:nvGrpSpPr>
          <p:cNvPr name="Group 5" id="5"/>
          <p:cNvGrpSpPr/>
          <p:nvPr/>
        </p:nvGrpSpPr>
        <p:grpSpPr>
          <a:xfrm rot="0">
            <a:off x="914400" y="768096"/>
            <a:ext cx="14081760" cy="1097280"/>
            <a:chOff x="0" y="0"/>
            <a:chExt cx="18775680" cy="1463040"/>
          </a:xfrm>
        </p:grpSpPr>
        <p:sp>
          <p:nvSpPr>
            <p:cNvPr name="Freeform 6" id="6"/>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7" id="7"/>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Mạng không hoàn hảo</a:t>
              </a:r>
            </a:p>
          </p:txBody>
        </p:sp>
      </p:grpSp>
      <p:grpSp>
        <p:nvGrpSpPr>
          <p:cNvPr name="Group 8" id="8"/>
          <p:cNvGrpSpPr/>
          <p:nvPr/>
        </p:nvGrpSpPr>
        <p:grpSpPr>
          <a:xfrm rot="0">
            <a:off x="15257783" y="682247"/>
            <a:ext cx="2128523" cy="647195"/>
            <a:chOff x="0" y="0"/>
            <a:chExt cx="2838031" cy="862927"/>
          </a:xfrm>
        </p:grpSpPr>
        <p:sp>
          <p:nvSpPr>
            <p:cNvPr name="Freeform 9" id="9"/>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name="Group 10" id="10"/>
          <p:cNvGrpSpPr/>
          <p:nvPr/>
        </p:nvGrpSpPr>
        <p:grpSpPr>
          <a:xfrm rot="0">
            <a:off x="15270480" y="694944"/>
            <a:ext cx="2103120" cy="621792"/>
            <a:chOff x="0" y="0"/>
            <a:chExt cx="2804160" cy="829056"/>
          </a:xfrm>
        </p:grpSpPr>
        <p:sp>
          <p:nvSpPr>
            <p:cNvPr name="Freeform 11" id="11"/>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2" id="12"/>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#1</a:t>
              </a:r>
            </a:p>
          </p:txBody>
        </p:sp>
      </p:grpSp>
      <p:grpSp>
        <p:nvGrpSpPr>
          <p:cNvPr name="Group 13" id="13"/>
          <p:cNvGrpSpPr/>
          <p:nvPr/>
        </p:nvGrpSpPr>
        <p:grpSpPr>
          <a:xfrm rot="0">
            <a:off x="914400" y="8138160"/>
            <a:ext cx="10424160" cy="822960"/>
            <a:chOff x="0" y="0"/>
            <a:chExt cx="13898880" cy="1097280"/>
          </a:xfrm>
        </p:grpSpPr>
        <p:sp>
          <p:nvSpPr>
            <p:cNvPr name="Freeform 14" id="14"/>
            <p:cNvSpPr/>
            <p:nvPr/>
          </p:nvSpPr>
          <p:spPr>
            <a:xfrm flipH="false" flipV="false" rot="0">
              <a:off x="0" y="0"/>
              <a:ext cx="13898880" cy="1097280"/>
            </a:xfrm>
            <a:custGeom>
              <a:avLst/>
              <a:gdLst/>
              <a:ahLst/>
              <a:cxnLst/>
              <a:rect r="r" b="b" t="t" l="l"/>
              <a:pathLst>
                <a:path h="1097280" w="13898880">
                  <a:moveTo>
                    <a:pt x="0" y="0"/>
                  </a:moveTo>
                  <a:lnTo>
                    <a:pt x="13898880" y="0"/>
                  </a:lnTo>
                  <a:lnTo>
                    <a:pt x="13898880" y="1097280"/>
                  </a:lnTo>
                  <a:lnTo>
                    <a:pt x="0" y="1097280"/>
                  </a:lnTo>
                  <a:close/>
                </a:path>
              </a:pathLst>
            </a:custGeom>
            <a:blipFill>
              <a:blip r:embed="rId3">
                <a:alphaModFix amt="0"/>
              </a:blip>
              <a:stretch>
                <a:fillRect l="0" t="-196810" r="0" b="-196810"/>
              </a:stretch>
            </a:blipFill>
          </p:spPr>
        </p:sp>
        <p:sp>
          <p:nvSpPr>
            <p:cNvPr name="TextBox 15" id="15"/>
            <p:cNvSpPr txBox="true"/>
            <p:nvPr/>
          </p:nvSpPr>
          <p:spPr>
            <a:xfrm>
              <a:off x="0" y="-19050"/>
              <a:ext cx="13898880" cy="1116330"/>
            </a:xfrm>
            <a:prstGeom prst="rect">
              <a:avLst/>
            </a:prstGeom>
          </p:spPr>
          <p:txBody>
            <a:bodyPr anchor="ctr" rtlCol="false" tIns="0" lIns="0" bIns="0" rIns="0"/>
            <a:lstStyle/>
            <a:p>
              <a:pPr algn="l">
                <a:lnSpc>
                  <a:spcPts val="4320"/>
                </a:lnSpc>
              </a:pPr>
              <a:r>
                <a:rPr lang="en-US" b="true" sz="3600" i="true">
                  <a:solidFill>
                    <a:srgbClr val="00897B"/>
                  </a:solidFill>
                  <a:latin typeface="Times New Roman"/>
                  <a:ea typeface="Times New Roman"/>
                  <a:cs typeface="Times New Roman"/>
                  <a:sym typeface="Times New Roman"/>
                </a:rPr>
                <a:t>Không thể loại bỏ, chỉ có thể che giấu</a:t>
              </a:r>
            </a:p>
          </p:txBody>
        </p:sp>
      </p:grpSp>
      <p:grpSp>
        <p:nvGrpSpPr>
          <p:cNvPr name="Group 16" id="16"/>
          <p:cNvGrpSpPr/>
          <p:nvPr/>
        </p:nvGrpSpPr>
        <p:grpSpPr>
          <a:xfrm rot="0">
            <a:off x="11941895" y="2395728"/>
            <a:ext cx="5447574" cy="6764141"/>
            <a:chOff x="0" y="0"/>
            <a:chExt cx="7479449" cy="9287078"/>
          </a:xfrm>
        </p:grpSpPr>
        <p:sp>
          <p:nvSpPr>
            <p:cNvPr name="Freeform 17" id="17"/>
            <p:cNvSpPr/>
            <p:nvPr/>
          </p:nvSpPr>
          <p:spPr>
            <a:xfrm flipH="false" flipV="false" rot="0">
              <a:off x="0" y="0"/>
              <a:ext cx="7479538" cy="9287167"/>
            </a:xfrm>
            <a:custGeom>
              <a:avLst/>
              <a:gdLst/>
              <a:ahLst/>
              <a:cxnLst/>
              <a:rect r="r" b="b" t="t" l="l"/>
              <a:pathLst>
                <a:path h="9287167" w="7479538">
                  <a:moveTo>
                    <a:pt x="0" y="203776"/>
                  </a:moveTo>
                  <a:cubicBezTo>
                    <a:pt x="0" y="91271"/>
                    <a:pt x="87884" y="0"/>
                    <a:pt x="196215" y="0"/>
                  </a:cubicBezTo>
                  <a:lnTo>
                    <a:pt x="7283323" y="0"/>
                  </a:lnTo>
                  <a:cubicBezTo>
                    <a:pt x="7391654" y="0"/>
                    <a:pt x="7479538" y="91271"/>
                    <a:pt x="7479538" y="203776"/>
                  </a:cubicBezTo>
                  <a:lnTo>
                    <a:pt x="7479538" y="9083394"/>
                  </a:lnTo>
                  <a:cubicBezTo>
                    <a:pt x="7479538" y="9195901"/>
                    <a:pt x="7391654" y="9287167"/>
                    <a:pt x="7283323" y="9287167"/>
                  </a:cubicBezTo>
                  <a:lnTo>
                    <a:pt x="196215" y="9287167"/>
                  </a:lnTo>
                  <a:cubicBezTo>
                    <a:pt x="87884" y="9287039"/>
                    <a:pt x="0" y="9195900"/>
                    <a:pt x="0" y="9083394"/>
                  </a:cubicBezTo>
                  <a:close/>
                </a:path>
              </a:pathLst>
            </a:custGeom>
            <a:blipFill>
              <a:blip r:embed="rId4"/>
              <a:stretch>
                <a:fillRect l="-1736" t="0" r="-1736" b="0"/>
              </a:stretch>
            </a:blipFill>
            <a:ln w="31750" cap="sq">
              <a:solidFill>
                <a:srgbClr val="00897B"/>
              </a:solidFill>
              <a:prstDash val="dash"/>
              <a:miter/>
            </a:ln>
          </p:spPr>
        </p:sp>
      </p:grpSp>
      <p:grpSp>
        <p:nvGrpSpPr>
          <p:cNvPr name="Group 18" id="18"/>
          <p:cNvGrpSpPr/>
          <p:nvPr/>
        </p:nvGrpSpPr>
        <p:grpSpPr>
          <a:xfrm rot="0">
            <a:off x="12161520" y="2743200"/>
            <a:ext cx="4846320" cy="512064"/>
            <a:chOff x="0" y="0"/>
            <a:chExt cx="6461760" cy="682752"/>
          </a:xfrm>
        </p:grpSpPr>
        <p:sp>
          <p:nvSpPr>
            <p:cNvPr name="Freeform 19" id="19"/>
            <p:cNvSpPr/>
            <p:nvPr/>
          </p:nvSpPr>
          <p:spPr>
            <a:xfrm flipH="false" flipV="false" rot="0">
              <a:off x="0" y="0"/>
              <a:ext cx="6461760" cy="682752"/>
            </a:xfrm>
            <a:custGeom>
              <a:avLst/>
              <a:gdLst/>
              <a:ahLst/>
              <a:cxnLst/>
              <a:rect r="r" b="b" t="t" l="l"/>
              <a:pathLst>
                <a:path h="682752" w="6461760">
                  <a:moveTo>
                    <a:pt x="0" y="0"/>
                  </a:moveTo>
                  <a:lnTo>
                    <a:pt x="6461760" y="0"/>
                  </a:lnTo>
                  <a:lnTo>
                    <a:pt x="6461760" y="682752"/>
                  </a:lnTo>
                  <a:lnTo>
                    <a:pt x="0" y="682752"/>
                  </a:lnTo>
                  <a:close/>
                </a:path>
              </a:pathLst>
            </a:custGeom>
            <a:blipFill>
              <a:blip r:embed="rId3">
                <a:alphaModFix amt="0"/>
              </a:blip>
              <a:stretch>
                <a:fillRect l="0" t="-134411" r="0" b="-134411"/>
              </a:stretch>
            </a:blipFill>
          </p:spPr>
        </p:sp>
        <p:sp>
          <p:nvSpPr>
            <p:cNvPr name="TextBox 20" id="20"/>
            <p:cNvSpPr txBox="true"/>
            <p:nvPr/>
          </p:nvSpPr>
          <p:spPr>
            <a:xfrm>
              <a:off x="0" y="-38100"/>
              <a:ext cx="6461760" cy="720852"/>
            </a:xfrm>
            <a:prstGeom prst="rect">
              <a:avLst/>
            </a:prstGeom>
          </p:spPr>
          <p:txBody>
            <a:bodyPr anchor="ctr" rtlCol="false" tIns="0" lIns="0" bIns="0" rIns="0"/>
            <a:lstStyle/>
            <a:p>
              <a:pPr algn="l">
                <a:lnSpc>
                  <a:spcPts val="2400"/>
                </a:lnSpc>
              </a:pPr>
            </a:p>
          </p:txBody>
        </p:sp>
      </p:grpSp>
      <p:sp>
        <p:nvSpPr>
          <p:cNvPr name="TextBox 21" id="21"/>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VẤN ĐỀ GỐC</a:t>
            </a:r>
          </a:p>
        </p:txBody>
      </p:sp>
      <p:sp>
        <p:nvSpPr>
          <p:cNvPr name="TextBox 22" id="22"/>
          <p:cNvSpPr txBox="true"/>
          <p:nvPr/>
        </p:nvSpPr>
        <p:spPr>
          <a:xfrm rot="0">
            <a:off x="547004" y="2395728"/>
            <a:ext cx="10424160" cy="5370195"/>
          </a:xfrm>
          <a:prstGeom prst="rect">
            <a:avLst/>
          </a:prstGeom>
        </p:spPr>
        <p:txBody>
          <a:bodyPr anchor="t" rtlCol="false" tIns="0" lIns="0" bIns="0" rIns="0">
            <a:spAutoFit/>
          </a:bodyPr>
          <a:lstStyle/>
          <a:p>
            <a:pPr algn="l" marL="675639" indent="-337820" lvl="1">
              <a:lnSpc>
                <a:spcPts val="3359"/>
              </a:lnSpc>
              <a:buFont typeface="Times New Roman"/>
              <a:buChar char="•"/>
            </a:pPr>
            <a:r>
              <a:rPr lang="en-US" b="true" sz="2799">
                <a:solidFill>
                  <a:srgbClr val="14213D"/>
                </a:solidFill>
                <a:latin typeface="Times New Roman"/>
                <a:ea typeface="Times New Roman"/>
                <a:cs typeface="Times New Roman"/>
                <a:sym typeface="Times New Roman"/>
              </a:rPr>
              <a:t>Độ trễ:</a:t>
            </a:r>
            <a:r>
              <a:rPr lang="en-US" sz="2799">
                <a:solidFill>
                  <a:srgbClr val="14213D"/>
                </a:solidFill>
                <a:latin typeface="Times New Roman"/>
                <a:ea typeface="Times New Roman"/>
                <a:cs typeface="Times New Roman"/>
                <a:sym typeface="Times New Roman"/>
              </a:rPr>
              <a:t> không thể về 0 (VN → Singapore: 30–60 ms)</a:t>
            </a:r>
          </a:p>
          <a:p>
            <a:pPr algn="l" marL="675639" indent="-337820" lvl="1">
              <a:lnSpc>
                <a:spcPts val="3359"/>
              </a:lnSpc>
              <a:buFont typeface="Times New Roman"/>
              <a:buChar char="•"/>
            </a:pPr>
            <a:r>
              <a:rPr lang="en-US" b="true" sz="2799">
                <a:solidFill>
                  <a:srgbClr val="14213D"/>
                </a:solidFill>
                <a:latin typeface="Times New Roman"/>
                <a:ea typeface="Times New Roman"/>
                <a:cs typeface="Times New Roman"/>
                <a:sym typeface="Times New Roman"/>
              </a:rPr>
              <a:t>Dao động độ trễ:</a:t>
            </a:r>
            <a:r>
              <a:rPr lang="en-US" sz="2799">
                <a:solidFill>
                  <a:srgbClr val="14213D"/>
                </a:solidFill>
                <a:latin typeface="Times New Roman"/>
                <a:ea typeface="Times New Roman"/>
                <a:cs typeface="Times New Roman"/>
                <a:sym typeface="Times New Roman"/>
              </a:rPr>
              <a:t> gửi đều 50 ms, nhận cách nhau 30, 80, 45 ms…</a:t>
            </a:r>
          </a:p>
          <a:p>
            <a:pPr algn="l" marL="675639" indent="-337820" lvl="1">
              <a:lnSpc>
                <a:spcPts val="3359"/>
              </a:lnSpc>
              <a:buFont typeface="Times New Roman"/>
              <a:buChar char="•"/>
            </a:pPr>
            <a:r>
              <a:rPr lang="en-US" b="true" sz="2799">
                <a:solidFill>
                  <a:srgbClr val="14213D"/>
                </a:solidFill>
                <a:latin typeface="Times New Roman"/>
                <a:ea typeface="Times New Roman"/>
                <a:cs typeface="Times New Roman"/>
                <a:sym typeface="Times New Roman"/>
              </a:rPr>
              <a:t>Mất gói, sai thứ tự:</a:t>
            </a:r>
            <a:r>
              <a:rPr lang="en-US" sz="2799">
                <a:solidFill>
                  <a:srgbClr val="14213D"/>
                </a:solidFill>
                <a:latin typeface="Times New Roman"/>
                <a:ea typeface="Times New Roman"/>
                <a:cs typeface="Times New Roman"/>
                <a:sym typeface="Times New Roman"/>
              </a:rPr>
              <a:t> Wi-Fi / 4G mất 0,5–2% </a:t>
            </a:r>
            <a:r>
              <a:rPr lang="en-US" b="true" sz="2799" i="true">
                <a:solidFill>
                  <a:srgbClr val="D93A3F"/>
                </a:solidFill>
                <a:latin typeface="Times New Roman"/>
                <a:ea typeface="Times New Roman"/>
                <a:cs typeface="Times New Roman"/>
                <a:sym typeface="Times New Roman"/>
              </a:rPr>
              <a:t>(cần đo lại)</a:t>
            </a:r>
          </a:p>
          <a:p>
            <a:pPr algn="l" marL="675639" indent="-337820" lvl="1">
              <a:lnSpc>
                <a:spcPts val="3359"/>
              </a:lnSpc>
              <a:buFont typeface="Times New Roman"/>
              <a:buChar char="•"/>
            </a:pPr>
            <a:r>
              <a:rPr lang="en-US" b="true" sz="2799">
                <a:solidFill>
                  <a:srgbClr val="14213D"/>
                </a:solidFill>
                <a:latin typeface="Times New Roman"/>
                <a:ea typeface="Times New Roman"/>
                <a:cs typeface="Times New Roman"/>
                <a:sym typeface="Times New Roman"/>
              </a:rPr>
              <a:t>TCP:</a:t>
            </a:r>
            <a:r>
              <a:rPr lang="en-US" sz="2799">
                <a:solidFill>
                  <a:srgbClr val="14213D"/>
                </a:solidFill>
                <a:latin typeface="Times New Roman"/>
                <a:ea typeface="Times New Roman"/>
                <a:cs typeface="Times New Roman"/>
                <a:sym typeface="Times New Roman"/>
              </a:rPr>
              <a:t> mất 1 gói thì chặn mọi gói sau (</a:t>
            </a:r>
            <a:r>
              <a:rPr lang="en-US" b="true" sz="2799">
                <a:solidFill>
                  <a:srgbClr val="14213D"/>
                </a:solidFill>
                <a:latin typeface="Times New Roman"/>
                <a:ea typeface="Times New Roman"/>
                <a:cs typeface="Times New Roman"/>
                <a:sym typeface="Times New Roman"/>
              </a:rPr>
              <a:t>nghẽn đầu hàng</a:t>
            </a:r>
            <a:r>
              <a:rPr lang="en-US" sz="2799">
                <a:solidFill>
                  <a:srgbClr val="14213D"/>
                </a:solidFill>
                <a:latin typeface="Times New Roman"/>
                <a:ea typeface="Times New Roman"/>
                <a:cs typeface="Times New Roman"/>
                <a:sym typeface="Times New Roman"/>
              </a:rPr>
              <a:t>)</a:t>
            </a:r>
          </a:p>
          <a:p>
            <a:pPr algn="l" marL="675639" indent="-337820" lvl="1">
              <a:lnSpc>
                <a:spcPts val="3359"/>
              </a:lnSpc>
              <a:buFont typeface="Times New Roman"/>
              <a:buChar char="•"/>
            </a:pPr>
            <a:r>
              <a:rPr lang="en-US" b="true" sz="2799">
                <a:solidFill>
                  <a:srgbClr val="14213D"/>
                </a:solidFill>
                <a:latin typeface="Times New Roman"/>
                <a:ea typeface="Times New Roman"/>
                <a:cs typeface="Times New Roman"/>
                <a:sym typeface="Times New Roman"/>
              </a:rPr>
              <a:t>UDP:</a:t>
            </a:r>
            <a:r>
              <a:rPr lang="en-US" sz="2799">
                <a:solidFill>
                  <a:srgbClr val="14213D"/>
                </a:solidFill>
                <a:latin typeface="Times New Roman"/>
                <a:ea typeface="Times New Roman"/>
                <a:cs typeface="Times New Roman"/>
                <a:sym typeface="Times New Roman"/>
              </a:rPr>
              <a:t> không chặn, nhưng không đảm bảo gì</a:t>
            </a:r>
          </a:p>
        </p:txBody>
      </p:sp>
      <p:sp>
        <p:nvSpPr>
          <p:cNvPr name="TextBox 23" id="23"/>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6</a:t>
            </a:r>
          </a:p>
        </p:txBody>
      </p:sp>
      <p:sp>
        <p:nvSpPr>
          <p:cNvPr name="Chain 5 VĐ" id="90"/>
          <p:cNvSpPr txBox="true"/>
          <p:nvPr/>
        </p:nvSpPr>
        <p:spPr>
          <a:xfrm rot="0">
            <a:off x="914400" y="5303520"/>
            <a:ext cx="10424160" cy="2194560"/>
          </a:xfrm>
          <a:prstGeom prst="rect">
            <a:avLst/>
          </a:prstGeom>
        </p:spPr>
        <p:txBody>
          <a:bodyPr anchor="t" rtlCol="false" tIns="0" lIns="0" bIns="0" rIns="0">
            <a:normAutofit/>
          </a:bodyPr>
          <a:lstStyle/>
          <a:p>
            <a:pPr algn="l">
              <a:lnSpc>
                <a:spcPts val="2639"/>
              </a:lnSpc>
            </a:pPr>
            <a:r>
              <a:rPr lang="vi-VN" sz="2199" b="true" spc="300">
                <a:solidFill>
                  <a:srgbClr val="5B6B82"/>
                </a:solidFill>
                <a:latin typeface="Times New Roman"/>
                <a:ea typeface="Times New Roman"/>
                <a:cs typeface="Times New Roman"/>
                <a:sym typeface="Times New Roman"/>
              </a:rPr>
              <a:t>CHIA THÀNH 5 VẤN ĐỀ CON</a:t>
            </a:r>
          </a:p>
          <a:p>
            <a:pPr algn="l">
              <a:lnSpc>
                <a:spcPts val="3359"/>
              </a:lnSpc>
              <a:spcBef>
                <a:spcPts val="900"/>
              </a:spcBef>
            </a:pPr>
            <a:r>
              <a:rPr lang="vi-VN" sz="2400" b="true">
                <a:solidFill>
                  <a:srgbClr val="00897B"/>
                </a:solidFill>
                <a:latin typeface="Times New Roman"/>
                <a:ea typeface="Times New Roman"/>
                <a:cs typeface="Times New Roman"/>
                <a:sym typeface="Times New Roman"/>
              </a:rPr>
              <a:t>VĐ1 </a:t>
            </a:r>
            <a:r>
              <a:rPr lang="vi-VN" sz="2400">
                <a:solidFill>
                  <a:srgbClr val="14213D"/>
                </a:solidFill>
                <a:latin typeface="Times New Roman"/>
                <a:ea typeface="Times New Roman"/>
                <a:cs typeface="Times New Roman"/>
                <a:sym typeface="Times New Roman"/>
              </a:rPr>
              <a:t>Ai quyết định</a:t>
            </a:r>
            <a:r>
              <a:rPr lang="vi-VN" sz="2400">
                <a:solidFill>
                  <a:srgbClr val="5B6B82"/>
                </a:solidFill>
                <a:latin typeface="Times New Roman"/>
                <a:ea typeface="Times New Roman"/>
                <a:cs typeface="Times New Roman"/>
                <a:sym typeface="Times New Roman"/>
              </a:rPr>
              <a:t>  →  </a:t>
            </a:r>
            <a:r>
              <a:rPr lang="vi-VN" sz="2400" b="true">
                <a:solidFill>
                  <a:srgbClr val="00897B"/>
                </a:solidFill>
                <a:latin typeface="Times New Roman"/>
                <a:ea typeface="Times New Roman"/>
                <a:cs typeface="Times New Roman"/>
                <a:sym typeface="Times New Roman"/>
              </a:rPr>
              <a:t>VĐ2 </a:t>
            </a:r>
            <a:r>
              <a:rPr lang="vi-VN" sz="2400">
                <a:solidFill>
                  <a:srgbClr val="14213D"/>
                </a:solidFill>
                <a:latin typeface="Times New Roman"/>
                <a:ea typeface="Times New Roman"/>
                <a:cs typeface="Times New Roman"/>
                <a:sym typeface="Times New Roman"/>
              </a:rPr>
              <a:t>Điều khiển ì</a:t>
            </a:r>
            <a:r>
              <a:rPr lang="vi-VN" sz="2400">
                <a:solidFill>
                  <a:srgbClr val="5B6B82"/>
                </a:solidFill>
                <a:latin typeface="Times New Roman"/>
                <a:ea typeface="Times New Roman"/>
                <a:cs typeface="Times New Roman"/>
                <a:sym typeface="Times New Roman"/>
              </a:rPr>
              <a:t>  →  </a:t>
            </a:r>
            <a:r>
              <a:rPr lang="vi-VN" sz="2400" b="true">
                <a:solidFill>
                  <a:srgbClr val="00897B"/>
                </a:solidFill>
                <a:latin typeface="Times New Roman"/>
                <a:ea typeface="Times New Roman"/>
                <a:cs typeface="Times New Roman"/>
                <a:sym typeface="Times New Roman"/>
              </a:rPr>
              <a:t>VĐ3 </a:t>
            </a:r>
            <a:r>
              <a:rPr lang="vi-VN" sz="2400">
                <a:solidFill>
                  <a:srgbClr val="14213D"/>
                </a:solidFill>
                <a:latin typeface="Times New Roman"/>
                <a:ea typeface="Times New Roman"/>
                <a:cs typeface="Times New Roman"/>
                <a:sym typeface="Times New Roman"/>
              </a:rPr>
              <a:t>Đối thủ giật</a:t>
            </a:r>
            <a:r>
              <a:rPr lang="vi-VN" sz="2400">
                <a:solidFill>
                  <a:srgbClr val="5B6B82"/>
                </a:solidFill>
                <a:latin typeface="Times New Roman"/>
                <a:ea typeface="Times New Roman"/>
                <a:cs typeface="Times New Roman"/>
                <a:sym typeface="Times New Roman"/>
              </a:rPr>
              <a:t>  →  </a:t>
            </a:r>
            <a:br>
              <a:rPr lang="vi-VN" sz="2400"/>
            </a:br>
            <a:r>
              <a:rPr lang="vi-VN" sz="2400" b="true">
                <a:solidFill>
                  <a:srgbClr val="00897B"/>
                </a:solidFill>
                <a:latin typeface="Times New Roman"/>
                <a:ea typeface="Times New Roman"/>
                <a:cs typeface="Times New Roman"/>
                <a:sym typeface="Times New Roman"/>
              </a:rPr>
              <a:t>VĐ4 </a:t>
            </a:r>
            <a:r>
              <a:rPr lang="vi-VN" sz="2400">
                <a:solidFill>
                  <a:srgbClr val="14213D"/>
                </a:solidFill>
                <a:latin typeface="Times New Roman"/>
                <a:ea typeface="Times New Roman"/>
                <a:cs typeface="Times New Roman"/>
                <a:sym typeface="Times New Roman"/>
              </a:rPr>
              <a:t>Không công bằng</a:t>
            </a:r>
            <a:r>
              <a:rPr lang="vi-VN" sz="2400">
                <a:solidFill>
                  <a:srgbClr val="5B6B82"/>
                </a:solidFill>
                <a:latin typeface="Times New Roman"/>
                <a:ea typeface="Times New Roman"/>
                <a:cs typeface="Times New Roman"/>
                <a:sym typeface="Times New Roman"/>
              </a:rPr>
              <a:t>  →  </a:t>
            </a:r>
            <a:r>
              <a:rPr lang="vi-VN" sz="2400" b="true">
                <a:solidFill>
                  <a:srgbClr val="00897B"/>
                </a:solidFill>
                <a:latin typeface="Times New Roman"/>
                <a:ea typeface="Times New Roman"/>
                <a:cs typeface="Times New Roman"/>
                <a:sym typeface="Times New Roman"/>
              </a:rPr>
              <a:t>VĐ5 </a:t>
            </a:r>
            <a:r>
              <a:rPr lang="vi-VN" sz="2400">
                <a:solidFill>
                  <a:srgbClr val="14213D"/>
                </a:solidFill>
                <a:latin typeface="Times New Roman"/>
                <a:ea typeface="Times New Roman"/>
                <a:cs typeface="Times New Roman"/>
                <a:sym typeface="Times New Roman"/>
              </a:rPr>
              <a:t>Dự đoán sai</a:t>
            </a:r>
          </a:p>
          <a:p>
            <a:pPr algn="l">
              <a:lnSpc>
                <a:spcPts val="3359"/>
              </a:lnSpc>
              <a:spcBef>
                <a:spcPts val="600"/>
              </a:spcBef>
            </a:pPr>
            <a:r>
              <a:rPr lang="vi-VN" sz="2400" i="true">
                <a:solidFill>
                  <a:srgbClr val="5B6B82"/>
                </a:solidFill>
                <a:latin typeface="Times New Roman"/>
                <a:ea typeface="Times New Roman"/>
                <a:cs typeface="Times New Roman"/>
                <a:sym typeface="Times New Roman"/>
              </a:rPr>
              <a:t>Giải pháp của vấn đề trước </a:t>
            </a:r>
            <a:r>
              <a:rPr lang="vi-VN" sz="2400" b="true" i="true">
                <a:solidFill>
                  <a:srgbClr val="5B6B82"/>
                </a:solidFill>
                <a:latin typeface="Times New Roman"/>
                <a:ea typeface="Times New Roman"/>
                <a:cs typeface="Times New Roman"/>
                <a:sym typeface="Times New Roman"/>
              </a:rPr>
              <a:t>làm lộ ra</a:t>
            </a:r>
            <a:r>
              <a:rPr lang="vi-VN" sz="2400" i="true">
                <a:solidFill>
                  <a:srgbClr val="5B6B82"/>
                </a:solidFill>
                <a:latin typeface="Times New Roman"/>
                <a:ea typeface="Times New Roman"/>
                <a:cs typeface="Times New Roman"/>
                <a:sym typeface="Times New Roman"/>
              </a:rPr>
              <a:t> vấn đề sau</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41" name="Header band"/>
          <p:cNvSpPr/>
          <p:nvPr/>
        </p:nvSpPr>
        <p:spPr>
          <a:xfrm>
            <a:off x="0" y="0"/>
            <a:ext cx="18288000" cy="2103120"/>
          </a:xfrm>
          <a:prstGeom prst="rect">
            <a:avLst/>
          </a:prstGeom>
          <a:solidFill>
            <a:srgbClr val="14213D"/>
          </a:solidFill>
          <a:ln>
            <a:noFill/>
          </a:ln>
        </p:spPr>
      </p:sp>
      <p:sp>
        <p:nvSpPr>
          <p:cNvPr id="9042"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CÁCH TIẾP CẬN</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Chuỗi 5 vấn đề con</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DỰ PHÒNG</a:t>
              </a:r>
            </a:p>
          </p:txBody>
        </p:sp>
      </p:grpSp>
      <p:grpSp>
        <p:nvGrpSpPr>
          <p:cNvPr name="Group 14" id="14"/>
          <p:cNvGrpSpPr/>
          <p:nvPr/>
        </p:nvGrpSpPr>
        <p:grpSpPr>
          <a:xfrm rot="0">
            <a:off x="901703" y="2547623"/>
            <a:ext cx="2878331" cy="2037083"/>
            <a:chOff x="0" y="0"/>
            <a:chExt cx="3837775" cy="2716111"/>
          </a:xfrm>
        </p:grpSpPr>
        <p:sp>
          <p:nvSpPr>
            <p:cNvPr name="Freeform 15" id="15"/>
            <p:cNvSpPr/>
            <p:nvPr/>
          </p:nvSpPr>
          <p:spPr>
            <a:xfrm flipH="false" flipV="false" rot="0">
              <a:off x="0" y="0"/>
              <a:ext cx="3837686" cy="2716022"/>
            </a:xfrm>
            <a:custGeom>
              <a:avLst/>
              <a:gdLst/>
              <a:ahLst/>
              <a:cxnLst/>
              <a:rect r="r" b="b" t="t" l="l"/>
              <a:pathLst>
                <a:path h="2716022" w="3837686">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name="TextBox 16" id="16"/>
          <p:cNvSpPr txBox="true"/>
          <p:nvPr/>
        </p:nvSpPr>
        <p:spPr>
          <a:xfrm rot="0">
            <a:off x="1097280" y="2695575"/>
            <a:ext cx="2487168" cy="1693545"/>
          </a:xfrm>
          <a:prstGeom prst="rect">
            <a:avLst/>
          </a:prstGeom>
        </p:spPr>
        <p:txBody>
          <a:bodyPr anchor="t" rtlCol="false" tIns="0" lIns="0" bIns="0" rIns="0">
            <a:spAutoFit/>
          </a:bodyPr>
          <a:lstStyle/>
          <a:p>
            <a:pPr algn="l">
              <a:lnSpc>
                <a:spcPts val="2639"/>
              </a:lnSpc>
            </a:pPr>
            <a:r>
              <a:rPr lang="en-US" sz="2199" b="true">
                <a:solidFill>
                  <a:srgbClr val="00897B"/>
                </a:solidFill>
                <a:latin typeface="Times New Roman"/>
                <a:ea typeface="Times New Roman"/>
                <a:cs typeface="Times New Roman"/>
                <a:sym typeface="Times New Roman"/>
              </a:rPr>
              <a:t>VĐ1</a:t>
            </a:r>
          </a:p>
          <a:p>
            <a:pPr algn="l">
              <a:lnSpc>
                <a:spcPts val="3120"/>
              </a:lnSpc>
            </a:pPr>
            <a:r>
              <a:rPr lang="en-US" sz="2600" b="true">
                <a:solidFill>
                  <a:srgbClr val="14213D"/>
                </a:solidFill>
                <a:latin typeface="Times New Roman"/>
                <a:ea typeface="Times New Roman"/>
                <a:cs typeface="Times New Roman"/>
                <a:sym typeface="Times New Roman"/>
              </a:rPr>
              <a:t>Ai giữ quyền quyết định?</a:t>
            </a:r>
          </a:p>
        </p:txBody>
      </p:sp>
      <p:sp>
        <p:nvSpPr>
          <p:cNvPr name="AutoShape 17" id="17"/>
          <p:cNvSpPr/>
          <p:nvPr/>
        </p:nvSpPr>
        <p:spPr>
          <a:xfrm rot="315240">
            <a:off x="3798951" y="3556635"/>
            <a:ext cx="485404" cy="0"/>
          </a:xfrm>
          <a:prstGeom prst="line">
            <a:avLst/>
          </a:prstGeom>
          <a:ln cap="rnd" w="19050">
            <a:solidFill>
              <a:srgbClr val="00897B"/>
            </a:solidFill>
            <a:prstDash val="solid"/>
            <a:headEnd type="none" len="sm" w="sm"/>
            <a:tailEnd type="triangle" len="med" w="lg"/>
          </a:ln>
        </p:spPr>
      </p:sp>
      <p:sp>
        <p:nvSpPr>
          <p:cNvPr name="AutoShape 18" id="18"/>
          <p:cNvSpPr/>
          <p:nvPr/>
        </p:nvSpPr>
        <p:spPr>
          <a:xfrm rot="5341320">
            <a:off x="3483397" y="4329494"/>
            <a:ext cx="1116492" cy="0"/>
          </a:xfrm>
          <a:prstGeom prst="line">
            <a:avLst/>
          </a:prstGeom>
          <a:ln cap="rnd" w="9525">
            <a:solidFill>
              <a:srgbClr val="5B6B82"/>
            </a:solidFill>
            <a:prstDash val="solid"/>
            <a:headEnd type="none" len="sm" w="sm"/>
            <a:tailEnd type="none" len="sm" w="sm"/>
          </a:ln>
        </p:spPr>
      </p:sp>
      <p:sp>
        <p:nvSpPr>
          <p:cNvPr name="TextBox 19" id="19"/>
          <p:cNvSpPr txBox="true"/>
          <p:nvPr/>
        </p:nvSpPr>
        <p:spPr>
          <a:xfrm rot="0">
            <a:off x="2578608" y="4890135"/>
            <a:ext cx="2926080" cy="962025"/>
          </a:xfrm>
          <a:prstGeom prst="rect">
            <a:avLst/>
          </a:prstGeom>
        </p:spPr>
        <p:txBody>
          <a:bodyPr anchor="t" rtlCol="false" tIns="0" lIns="0" bIns="0" rIns="0">
            <a:spAutoFit/>
          </a:bodyPr>
          <a:lstStyle/>
          <a:p>
            <a:pPr algn="ctr">
              <a:lnSpc>
                <a:spcPts val="2639"/>
              </a:lnSpc>
            </a:pPr>
            <a:r>
              <a:rPr lang="en-US" sz="2199" i="true">
                <a:solidFill>
                  <a:srgbClr val="5B6B82"/>
                </a:solidFill>
                <a:latin typeface="Times New Roman"/>
                <a:ea typeface="Times New Roman"/>
                <a:cs typeface="Times New Roman"/>
                <a:sym typeface="Times New Roman"/>
              </a:rPr>
              <a:t>phải chờ server</a:t>
            </a:r>
          </a:p>
        </p:txBody>
      </p:sp>
      <p:grpSp>
        <p:nvGrpSpPr>
          <p:cNvPr name="Group 20" id="20"/>
          <p:cNvGrpSpPr/>
          <p:nvPr/>
        </p:nvGrpSpPr>
        <p:grpSpPr>
          <a:xfrm rot="0">
            <a:off x="4303271" y="2547623"/>
            <a:ext cx="2878331" cy="2037083"/>
            <a:chOff x="0" y="0"/>
            <a:chExt cx="3837775" cy="2716111"/>
          </a:xfrm>
        </p:grpSpPr>
        <p:sp>
          <p:nvSpPr>
            <p:cNvPr name="Freeform 21" id="21"/>
            <p:cNvSpPr/>
            <p:nvPr/>
          </p:nvSpPr>
          <p:spPr>
            <a:xfrm flipH="false" flipV="false" rot="0">
              <a:off x="0" y="0"/>
              <a:ext cx="3837686" cy="2716022"/>
            </a:xfrm>
            <a:custGeom>
              <a:avLst/>
              <a:gdLst/>
              <a:ahLst/>
              <a:cxnLst/>
              <a:rect r="r" b="b" t="t" l="l"/>
              <a:pathLst>
                <a:path h="2716022" w="3837686">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name="TextBox 22" id="22"/>
          <p:cNvSpPr txBox="true"/>
          <p:nvPr/>
        </p:nvSpPr>
        <p:spPr>
          <a:xfrm rot="0">
            <a:off x="4498848" y="2695575"/>
            <a:ext cx="2487168" cy="1693545"/>
          </a:xfrm>
          <a:prstGeom prst="rect">
            <a:avLst/>
          </a:prstGeom>
        </p:spPr>
        <p:txBody>
          <a:bodyPr anchor="t" rtlCol="false" tIns="0" lIns="0" bIns="0" rIns="0">
            <a:spAutoFit/>
          </a:bodyPr>
          <a:lstStyle/>
          <a:p>
            <a:pPr algn="l">
              <a:lnSpc>
                <a:spcPts val="2639"/>
              </a:lnSpc>
            </a:pPr>
            <a:r>
              <a:rPr lang="en-US" sz="2199" b="true">
                <a:solidFill>
                  <a:srgbClr val="00897B"/>
                </a:solidFill>
                <a:latin typeface="Times New Roman"/>
                <a:ea typeface="Times New Roman"/>
                <a:cs typeface="Times New Roman"/>
                <a:sym typeface="Times New Roman"/>
              </a:rPr>
              <a:t>VĐ2</a:t>
            </a:r>
          </a:p>
          <a:p>
            <a:pPr algn="l">
              <a:lnSpc>
                <a:spcPts val="3120"/>
              </a:lnSpc>
            </a:pPr>
            <a:r>
              <a:rPr lang="en-US" sz="2600" b="true">
                <a:solidFill>
                  <a:srgbClr val="14213D"/>
                </a:solidFill>
                <a:latin typeface="Times New Roman"/>
                <a:ea typeface="Times New Roman"/>
                <a:cs typeface="Times New Roman"/>
                <a:sym typeface="Times New Roman"/>
              </a:rPr>
              <a:t>Điều khiển bị ì</a:t>
            </a:r>
          </a:p>
        </p:txBody>
      </p:sp>
      <p:sp>
        <p:nvSpPr>
          <p:cNvPr name="AutoShape 23" id="23"/>
          <p:cNvSpPr/>
          <p:nvPr/>
        </p:nvSpPr>
        <p:spPr>
          <a:xfrm rot="315240">
            <a:off x="7200519" y="3556635"/>
            <a:ext cx="485404" cy="0"/>
          </a:xfrm>
          <a:prstGeom prst="line">
            <a:avLst/>
          </a:prstGeom>
          <a:ln cap="rnd" w="19050">
            <a:solidFill>
              <a:srgbClr val="00897B"/>
            </a:solidFill>
            <a:prstDash val="solid"/>
            <a:headEnd type="none" len="sm" w="sm"/>
            <a:tailEnd type="triangle" len="med" w="lg"/>
          </a:ln>
        </p:spPr>
      </p:sp>
      <p:sp>
        <p:nvSpPr>
          <p:cNvPr name="AutoShape 24" id="24"/>
          <p:cNvSpPr/>
          <p:nvPr/>
        </p:nvSpPr>
        <p:spPr>
          <a:xfrm rot="5341320">
            <a:off x="6884965" y="4329494"/>
            <a:ext cx="1116492" cy="0"/>
          </a:xfrm>
          <a:prstGeom prst="line">
            <a:avLst/>
          </a:prstGeom>
          <a:ln cap="rnd" w="9525">
            <a:solidFill>
              <a:srgbClr val="5B6B82"/>
            </a:solidFill>
            <a:prstDash val="solid"/>
            <a:headEnd type="none" len="sm" w="sm"/>
            <a:tailEnd type="none" len="sm" w="sm"/>
          </a:ln>
        </p:spPr>
      </p:sp>
      <p:sp>
        <p:nvSpPr>
          <p:cNvPr name="TextBox 25" id="25"/>
          <p:cNvSpPr txBox="true"/>
          <p:nvPr/>
        </p:nvSpPr>
        <p:spPr>
          <a:xfrm rot="0">
            <a:off x="5980176" y="4890135"/>
            <a:ext cx="2926080" cy="962025"/>
          </a:xfrm>
          <a:prstGeom prst="rect">
            <a:avLst/>
          </a:prstGeom>
        </p:spPr>
        <p:txBody>
          <a:bodyPr anchor="t" rtlCol="false" tIns="0" lIns="0" bIns="0" rIns="0">
            <a:spAutoFit/>
          </a:bodyPr>
          <a:lstStyle/>
          <a:p>
            <a:pPr algn="ctr">
              <a:lnSpc>
                <a:spcPts val="2639"/>
              </a:lnSpc>
            </a:pPr>
            <a:r>
              <a:rPr lang="en-US" sz="2199" i="true">
                <a:solidFill>
                  <a:srgbClr val="5B6B82"/>
                </a:solidFill>
                <a:latin typeface="Times New Roman"/>
                <a:ea typeface="Times New Roman"/>
                <a:cs typeface="Times New Roman"/>
                <a:sym typeface="Times New Roman"/>
              </a:rPr>
              <a:t>chỉ đoán được mình</a:t>
            </a:r>
          </a:p>
        </p:txBody>
      </p:sp>
      <p:grpSp>
        <p:nvGrpSpPr>
          <p:cNvPr name="Group 26" id="26"/>
          <p:cNvGrpSpPr/>
          <p:nvPr/>
        </p:nvGrpSpPr>
        <p:grpSpPr>
          <a:xfrm rot="0">
            <a:off x="7704839" y="2547623"/>
            <a:ext cx="2878331" cy="2037083"/>
            <a:chOff x="0" y="0"/>
            <a:chExt cx="3837775" cy="2716111"/>
          </a:xfrm>
        </p:grpSpPr>
        <p:sp>
          <p:nvSpPr>
            <p:cNvPr name="Freeform 27" id="27"/>
            <p:cNvSpPr/>
            <p:nvPr/>
          </p:nvSpPr>
          <p:spPr>
            <a:xfrm flipH="false" flipV="false" rot="0">
              <a:off x="0" y="0"/>
              <a:ext cx="3837686" cy="2716022"/>
            </a:xfrm>
            <a:custGeom>
              <a:avLst/>
              <a:gdLst/>
              <a:ahLst/>
              <a:cxnLst/>
              <a:rect r="r" b="b" t="t" l="l"/>
              <a:pathLst>
                <a:path h="2716022" w="3837686">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name="TextBox 28" id="28"/>
          <p:cNvSpPr txBox="true"/>
          <p:nvPr/>
        </p:nvSpPr>
        <p:spPr>
          <a:xfrm rot="0">
            <a:off x="7900416" y="2695575"/>
            <a:ext cx="2487168" cy="1693545"/>
          </a:xfrm>
          <a:prstGeom prst="rect">
            <a:avLst/>
          </a:prstGeom>
        </p:spPr>
        <p:txBody>
          <a:bodyPr anchor="t" rtlCol="false" tIns="0" lIns="0" bIns="0" rIns="0">
            <a:spAutoFit/>
          </a:bodyPr>
          <a:lstStyle/>
          <a:p>
            <a:pPr algn="l">
              <a:lnSpc>
                <a:spcPts val="2639"/>
              </a:lnSpc>
            </a:pPr>
            <a:r>
              <a:rPr lang="en-US" sz="2199" b="true">
                <a:solidFill>
                  <a:srgbClr val="00897B"/>
                </a:solidFill>
                <a:latin typeface="Times New Roman"/>
                <a:ea typeface="Times New Roman"/>
                <a:cs typeface="Times New Roman"/>
                <a:sym typeface="Times New Roman"/>
              </a:rPr>
              <a:t>VĐ3</a:t>
            </a:r>
          </a:p>
          <a:p>
            <a:pPr algn="l">
              <a:lnSpc>
                <a:spcPts val="3120"/>
              </a:lnSpc>
            </a:pPr>
            <a:r>
              <a:rPr lang="en-US" sz="2600" b="true">
                <a:solidFill>
                  <a:srgbClr val="14213D"/>
                </a:solidFill>
                <a:latin typeface="Times New Roman"/>
                <a:ea typeface="Times New Roman"/>
                <a:cs typeface="Times New Roman"/>
                <a:sym typeface="Times New Roman"/>
              </a:rPr>
              <a:t>Đối thủ giật</a:t>
            </a:r>
          </a:p>
        </p:txBody>
      </p:sp>
      <p:sp>
        <p:nvSpPr>
          <p:cNvPr name="AutoShape 29" id="29"/>
          <p:cNvSpPr/>
          <p:nvPr/>
        </p:nvSpPr>
        <p:spPr>
          <a:xfrm rot="315240">
            <a:off x="10602087" y="3556635"/>
            <a:ext cx="485404" cy="0"/>
          </a:xfrm>
          <a:prstGeom prst="line">
            <a:avLst/>
          </a:prstGeom>
          <a:ln cap="rnd" w="19050">
            <a:solidFill>
              <a:srgbClr val="00897B"/>
            </a:solidFill>
            <a:prstDash val="solid"/>
            <a:headEnd type="none" len="sm" w="sm"/>
            <a:tailEnd type="triangle" len="med" w="lg"/>
          </a:ln>
        </p:spPr>
      </p:sp>
      <p:sp>
        <p:nvSpPr>
          <p:cNvPr name="AutoShape 30" id="30"/>
          <p:cNvSpPr/>
          <p:nvPr/>
        </p:nvSpPr>
        <p:spPr>
          <a:xfrm rot="5341320">
            <a:off x="10286533" y="4329494"/>
            <a:ext cx="1116492" cy="0"/>
          </a:xfrm>
          <a:prstGeom prst="line">
            <a:avLst/>
          </a:prstGeom>
          <a:ln cap="rnd" w="9525">
            <a:solidFill>
              <a:srgbClr val="5B6B82"/>
            </a:solidFill>
            <a:prstDash val="solid"/>
            <a:headEnd type="none" len="sm" w="sm"/>
            <a:tailEnd type="none" len="sm" w="sm"/>
          </a:ln>
        </p:spPr>
      </p:sp>
      <p:sp>
        <p:nvSpPr>
          <p:cNvPr name="TextBox 31" id="31"/>
          <p:cNvSpPr txBox="true"/>
          <p:nvPr/>
        </p:nvSpPr>
        <p:spPr>
          <a:xfrm rot="0">
            <a:off x="9381744" y="4890135"/>
            <a:ext cx="2926080" cy="962025"/>
          </a:xfrm>
          <a:prstGeom prst="rect">
            <a:avLst/>
          </a:prstGeom>
        </p:spPr>
        <p:txBody>
          <a:bodyPr anchor="t" rtlCol="false" tIns="0" lIns="0" bIns="0" rIns="0">
            <a:spAutoFit/>
          </a:bodyPr>
          <a:lstStyle/>
          <a:p>
            <a:pPr algn="ctr">
              <a:lnSpc>
                <a:spcPts val="2639"/>
              </a:lnSpc>
            </a:pPr>
            <a:r>
              <a:rPr lang="en-US" sz="2199" i="true">
                <a:solidFill>
                  <a:srgbClr val="5B6B82"/>
                </a:solidFill>
                <a:latin typeface="Times New Roman"/>
                <a:ea typeface="Times New Roman"/>
                <a:cs typeface="Times New Roman"/>
                <a:sym typeface="Times New Roman"/>
              </a:rPr>
              <a:t>đối thủ ở quá khứ</a:t>
            </a:r>
          </a:p>
        </p:txBody>
      </p:sp>
      <p:grpSp>
        <p:nvGrpSpPr>
          <p:cNvPr name="Group 32" id="32"/>
          <p:cNvGrpSpPr/>
          <p:nvPr/>
        </p:nvGrpSpPr>
        <p:grpSpPr>
          <a:xfrm rot="0">
            <a:off x="11106407" y="2547623"/>
            <a:ext cx="2878331" cy="2037083"/>
            <a:chOff x="0" y="0"/>
            <a:chExt cx="3837775" cy="2716111"/>
          </a:xfrm>
        </p:grpSpPr>
        <p:sp>
          <p:nvSpPr>
            <p:cNvPr name="Freeform 33" id="33"/>
            <p:cNvSpPr/>
            <p:nvPr/>
          </p:nvSpPr>
          <p:spPr>
            <a:xfrm flipH="false" flipV="false" rot="0">
              <a:off x="0" y="0"/>
              <a:ext cx="3837686" cy="2716022"/>
            </a:xfrm>
            <a:custGeom>
              <a:avLst/>
              <a:gdLst/>
              <a:ahLst/>
              <a:cxnLst/>
              <a:rect r="r" b="b" t="t" l="l"/>
              <a:pathLst>
                <a:path h="2716022" w="3837686">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name="TextBox 34" id="34"/>
          <p:cNvSpPr txBox="true"/>
          <p:nvPr/>
        </p:nvSpPr>
        <p:spPr>
          <a:xfrm rot="0">
            <a:off x="11301984" y="2695575"/>
            <a:ext cx="2487168" cy="1693545"/>
          </a:xfrm>
          <a:prstGeom prst="rect">
            <a:avLst/>
          </a:prstGeom>
        </p:spPr>
        <p:txBody>
          <a:bodyPr anchor="t" rtlCol="false" tIns="0" lIns="0" bIns="0" rIns="0">
            <a:spAutoFit/>
          </a:bodyPr>
          <a:lstStyle/>
          <a:p>
            <a:pPr algn="l">
              <a:lnSpc>
                <a:spcPts val="2639"/>
              </a:lnSpc>
            </a:pPr>
            <a:r>
              <a:rPr lang="en-US" sz="2199" b="true">
                <a:solidFill>
                  <a:srgbClr val="00897B"/>
                </a:solidFill>
                <a:latin typeface="Times New Roman"/>
                <a:ea typeface="Times New Roman"/>
                <a:cs typeface="Times New Roman"/>
                <a:sym typeface="Times New Roman"/>
              </a:rPr>
              <a:t>VĐ4</a:t>
            </a:r>
          </a:p>
          <a:p>
            <a:pPr algn="l">
              <a:lnSpc>
                <a:spcPts val="3120"/>
              </a:lnSpc>
            </a:pPr>
            <a:r>
              <a:rPr lang="en-US" sz="2600" b="true">
                <a:solidFill>
                  <a:srgbClr val="14213D"/>
                </a:solidFill>
                <a:latin typeface="Times New Roman"/>
                <a:ea typeface="Times New Roman"/>
                <a:cs typeface="Times New Roman"/>
                <a:sym typeface="Times New Roman"/>
              </a:rPr>
              <a:t>Tương tác không công bằng</a:t>
            </a:r>
          </a:p>
        </p:txBody>
      </p:sp>
      <p:sp>
        <p:nvSpPr>
          <p:cNvPr name="AutoShape 35" id="35"/>
          <p:cNvSpPr/>
          <p:nvPr/>
        </p:nvSpPr>
        <p:spPr>
          <a:xfrm rot="315240">
            <a:off x="14003655" y="3556635"/>
            <a:ext cx="485404" cy="0"/>
          </a:xfrm>
          <a:prstGeom prst="line">
            <a:avLst/>
          </a:prstGeom>
          <a:ln cap="rnd" w="19050">
            <a:solidFill>
              <a:srgbClr val="00897B"/>
            </a:solidFill>
            <a:prstDash val="solid"/>
            <a:headEnd type="none" len="sm" w="sm"/>
            <a:tailEnd type="triangle" len="med" w="lg"/>
          </a:ln>
        </p:spPr>
      </p:sp>
      <p:sp>
        <p:nvSpPr>
          <p:cNvPr name="AutoShape 36" id="36"/>
          <p:cNvSpPr/>
          <p:nvPr/>
        </p:nvSpPr>
        <p:spPr>
          <a:xfrm rot="5341320">
            <a:off x="13688101" y="4329494"/>
            <a:ext cx="1116492" cy="0"/>
          </a:xfrm>
          <a:prstGeom prst="line">
            <a:avLst/>
          </a:prstGeom>
          <a:ln cap="rnd" w="9525">
            <a:solidFill>
              <a:srgbClr val="5B6B82"/>
            </a:solidFill>
            <a:prstDash val="solid"/>
            <a:headEnd type="none" len="sm" w="sm"/>
            <a:tailEnd type="none" len="sm" w="sm"/>
          </a:ln>
        </p:spPr>
      </p:sp>
      <p:sp>
        <p:nvSpPr>
          <p:cNvPr name="TextBox 37" id="37"/>
          <p:cNvSpPr txBox="true"/>
          <p:nvPr/>
        </p:nvSpPr>
        <p:spPr>
          <a:xfrm rot="0">
            <a:off x="12783312" y="4890135"/>
            <a:ext cx="2926080" cy="962025"/>
          </a:xfrm>
          <a:prstGeom prst="rect">
            <a:avLst/>
          </a:prstGeom>
        </p:spPr>
        <p:txBody>
          <a:bodyPr anchor="t" rtlCol="false" tIns="0" lIns="0" bIns="0" rIns="0">
            <a:spAutoFit/>
          </a:bodyPr>
          <a:lstStyle/>
          <a:p>
            <a:pPr algn="ctr">
              <a:lnSpc>
                <a:spcPts val="2639"/>
              </a:lnSpc>
            </a:pPr>
            <a:r>
              <a:rPr lang="en-US" sz="2199" i="true">
                <a:solidFill>
                  <a:srgbClr val="5B6B82"/>
                </a:solidFill>
                <a:latin typeface="Times New Roman"/>
                <a:ea typeface="Times New Roman"/>
                <a:cs typeface="Times New Roman"/>
                <a:sym typeface="Times New Roman"/>
              </a:rPr>
              <a:t>server có thể quyết khác</a:t>
            </a:r>
          </a:p>
        </p:txBody>
      </p:sp>
      <p:grpSp>
        <p:nvGrpSpPr>
          <p:cNvPr name="Group 38" id="38"/>
          <p:cNvGrpSpPr/>
          <p:nvPr/>
        </p:nvGrpSpPr>
        <p:grpSpPr>
          <a:xfrm rot="0">
            <a:off x="14507975" y="2547623"/>
            <a:ext cx="2878331" cy="2037083"/>
            <a:chOff x="0" y="0"/>
            <a:chExt cx="3837775" cy="2716111"/>
          </a:xfrm>
        </p:grpSpPr>
        <p:sp>
          <p:nvSpPr>
            <p:cNvPr name="Freeform 39" id="39"/>
            <p:cNvSpPr/>
            <p:nvPr/>
          </p:nvSpPr>
          <p:spPr>
            <a:xfrm flipH="false" flipV="false" rot="0">
              <a:off x="0" y="0"/>
              <a:ext cx="3837686" cy="2716022"/>
            </a:xfrm>
            <a:custGeom>
              <a:avLst/>
              <a:gdLst/>
              <a:ahLst/>
              <a:cxnLst/>
              <a:rect r="r" b="b" t="t" l="l"/>
              <a:pathLst>
                <a:path h="2716022" w="3837686">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name="TextBox 40" id="40"/>
          <p:cNvSpPr txBox="true"/>
          <p:nvPr/>
        </p:nvSpPr>
        <p:spPr>
          <a:xfrm rot="0">
            <a:off x="14703552" y="2695575"/>
            <a:ext cx="2487168" cy="1693545"/>
          </a:xfrm>
          <a:prstGeom prst="rect">
            <a:avLst/>
          </a:prstGeom>
        </p:spPr>
        <p:txBody>
          <a:bodyPr anchor="t" rtlCol="false" tIns="0" lIns="0" bIns="0" rIns="0">
            <a:spAutoFit/>
          </a:bodyPr>
          <a:lstStyle/>
          <a:p>
            <a:pPr algn="l">
              <a:lnSpc>
                <a:spcPts val="2639"/>
              </a:lnSpc>
            </a:pPr>
            <a:r>
              <a:rPr lang="en-US" sz="2199" b="true">
                <a:solidFill>
                  <a:srgbClr val="00897B"/>
                </a:solidFill>
                <a:latin typeface="Times New Roman"/>
                <a:ea typeface="Times New Roman"/>
                <a:cs typeface="Times New Roman"/>
                <a:sym typeface="Times New Roman"/>
              </a:rPr>
              <a:t>VĐ5</a:t>
            </a:r>
          </a:p>
          <a:p>
            <a:pPr algn="l">
              <a:lnSpc>
                <a:spcPts val="3120"/>
              </a:lnSpc>
            </a:pPr>
            <a:r>
              <a:rPr lang="en-US" sz="2600" b="true">
                <a:solidFill>
                  <a:srgbClr val="14213D"/>
                </a:solidFill>
                <a:latin typeface="Times New Roman"/>
                <a:ea typeface="Times New Roman"/>
                <a:cs typeface="Times New Roman"/>
                <a:sym typeface="Times New Roman"/>
              </a:rPr>
              <a:t>Dự đoán hành động bị sai</a:t>
            </a:r>
          </a:p>
        </p:txBody>
      </p:sp>
      <p:sp>
        <p:nvSpPr>
          <p:cNvPr name="TextBox 41" id="41"/>
          <p:cNvSpPr txBox="true"/>
          <p:nvPr/>
        </p:nvSpPr>
        <p:spPr>
          <a:xfrm rot="0">
            <a:off x="914400" y="6151245"/>
            <a:ext cx="16459200" cy="485835"/>
          </a:xfrm>
          <a:prstGeom prst="rect">
            <a:avLst/>
          </a:prstGeom>
        </p:spPr>
        <p:txBody>
          <a:bodyPr anchor="t" rtlCol="false" tIns="0" lIns="0" bIns="0" rIns="0">
            <a:spAutoFit/>
          </a:bodyPr>
          <a:lstStyle/>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Giải pháp của vấn đề trước </a:t>
            </a:r>
            <a:r>
              <a:rPr lang="en-US" b="true" sz="2799">
                <a:solidFill>
                  <a:srgbClr val="14213D"/>
                </a:solidFill>
                <a:latin typeface="Times New Roman"/>
                <a:ea typeface="Times New Roman"/>
                <a:cs typeface="Times New Roman"/>
                <a:sym typeface="Times New Roman"/>
              </a:rPr>
              <a:t>làm lộ ra</a:t>
            </a:r>
            <a:r>
              <a:rPr lang="en-US" sz="2799">
                <a:solidFill>
                  <a:srgbClr val="14213D"/>
                </a:solidFill>
                <a:latin typeface="Times New Roman"/>
                <a:ea typeface="Times New Roman"/>
                <a:cs typeface="Times New Roman"/>
                <a:sym typeface="Times New Roman"/>
              </a:rPr>
              <a:t> vấn đề sau</a:t>
            </a:r>
          </a:p>
        </p:txBody>
      </p:sp>
      <p:grpSp>
        <p:nvGrpSpPr>
          <p:cNvPr name="Group 42" id="42"/>
          <p:cNvGrpSpPr/>
          <p:nvPr/>
        </p:nvGrpSpPr>
        <p:grpSpPr>
          <a:xfrm rot="0">
            <a:off x="914400" y="7223760"/>
            <a:ext cx="7315200" cy="457200"/>
            <a:chOff x="0" y="0"/>
            <a:chExt cx="9753600" cy="609600"/>
          </a:xfrm>
        </p:grpSpPr>
        <p:sp>
          <p:nvSpPr>
            <p:cNvPr name="Freeform 43" id="43"/>
            <p:cNvSpPr/>
            <p:nvPr/>
          </p:nvSpPr>
          <p:spPr>
            <a:xfrm flipH="false" flipV="false" rot="0">
              <a:off x="0" y="0"/>
              <a:ext cx="9753600" cy="609600"/>
            </a:xfrm>
            <a:custGeom>
              <a:avLst/>
              <a:gdLst/>
              <a:ahLst/>
              <a:cxnLst/>
              <a:rect r="r" b="b" t="t" l="l"/>
              <a:pathLst>
                <a:path h="609600" w="9753600">
                  <a:moveTo>
                    <a:pt x="0" y="0"/>
                  </a:moveTo>
                  <a:lnTo>
                    <a:pt x="9753600" y="0"/>
                  </a:lnTo>
                  <a:lnTo>
                    <a:pt x="9753600" y="609600"/>
                  </a:lnTo>
                  <a:lnTo>
                    <a:pt x="0" y="609600"/>
                  </a:lnTo>
                  <a:close/>
                </a:path>
              </a:pathLst>
            </a:custGeom>
            <a:blipFill>
              <a:blip r:embed="rId3">
                <a:alphaModFix amt="0"/>
              </a:blip>
              <a:stretch>
                <a:fillRect l="0" t="-261760" r="0" b="-261760"/>
              </a:stretch>
            </a:blipFill>
          </p:spPr>
        </p:sp>
        <p:sp>
          <p:nvSpPr>
            <p:cNvPr name="TextBox 44" id="44"/>
            <p:cNvSpPr txBox="true"/>
            <p:nvPr/>
          </p:nvSpPr>
          <p:spPr>
            <a:xfrm>
              <a:off x="0" y="-38100"/>
              <a:ext cx="9753600" cy="647700"/>
            </a:xfrm>
            <a:prstGeom prst="rect">
              <a:avLst/>
            </a:prstGeom>
          </p:spPr>
          <p:txBody>
            <a:bodyPr anchor="ctr" rtlCol="false" tIns="0" lIns="0" bIns="0" rIns="0"/>
            <a:lstStyle/>
            <a:p>
              <a:pPr algn="l">
                <a:lnSpc>
                  <a:spcPts val="2400"/>
                </a:lnSpc>
              </a:pPr>
              <a:r>
                <a:rPr lang="en-US" b="true" sz="2000" spc="300">
                  <a:solidFill>
                    <a:srgbClr val="5B6B82"/>
                  </a:solidFill>
                  <a:latin typeface="Times New Roman"/>
                  <a:ea typeface="Times New Roman"/>
                  <a:cs typeface="Times New Roman"/>
                  <a:sym typeface="Times New Roman"/>
                </a:rPr>
                <a:t>TIÊU CHÍ CHỌN GIẢI PHÁP</a:t>
              </a:r>
            </a:p>
          </p:txBody>
        </p:sp>
      </p:grpSp>
      <p:grpSp>
        <p:nvGrpSpPr>
          <p:cNvPr name="Group 45" id="45"/>
          <p:cNvGrpSpPr/>
          <p:nvPr/>
        </p:nvGrpSpPr>
        <p:grpSpPr>
          <a:xfrm rot="0">
            <a:off x="904875" y="7817739"/>
            <a:ext cx="3219450" cy="750570"/>
            <a:chOff x="0" y="0"/>
            <a:chExt cx="4292600" cy="1000760"/>
          </a:xfrm>
        </p:grpSpPr>
        <p:sp>
          <p:nvSpPr>
            <p:cNvPr name="Freeform 46" id="46"/>
            <p:cNvSpPr/>
            <p:nvPr/>
          </p:nvSpPr>
          <p:spPr>
            <a:xfrm flipH="false" flipV="false" rot="0">
              <a:off x="0" y="0"/>
              <a:ext cx="4292600" cy="1000760"/>
            </a:xfrm>
            <a:custGeom>
              <a:avLst/>
              <a:gdLst/>
              <a:ahLst/>
              <a:cxnLst/>
              <a:rect r="r" b="b" t="t" l="l"/>
              <a:pathLst>
                <a:path h="1000760" w="4292600">
                  <a:moveTo>
                    <a:pt x="0" y="500380"/>
                  </a:moveTo>
                  <a:cubicBezTo>
                    <a:pt x="0" y="224028"/>
                    <a:pt x="224028" y="0"/>
                    <a:pt x="500380" y="0"/>
                  </a:cubicBezTo>
                  <a:lnTo>
                    <a:pt x="3792220" y="0"/>
                  </a:lnTo>
                  <a:cubicBezTo>
                    <a:pt x="4068572" y="0"/>
                    <a:pt x="4292600" y="224028"/>
                    <a:pt x="4292600" y="500380"/>
                  </a:cubicBezTo>
                  <a:cubicBezTo>
                    <a:pt x="4292600" y="776732"/>
                    <a:pt x="4068572" y="1000760"/>
                    <a:pt x="3792220" y="1000760"/>
                  </a:cubicBezTo>
                  <a:lnTo>
                    <a:pt x="500380" y="1000760"/>
                  </a:lnTo>
                  <a:cubicBezTo>
                    <a:pt x="224028" y="1000760"/>
                    <a:pt x="0" y="776732"/>
                    <a:pt x="0" y="500380"/>
                  </a:cubicBezTo>
                  <a:close/>
                </a:path>
              </a:pathLst>
            </a:custGeom>
            <a:solidFill>
              <a:srgbClr val="00897B"/>
            </a:solidFill>
            <a:ln w="19050" cap="sq">
              <a:solidFill>
                <a:srgbClr val="00897B"/>
              </a:solidFill>
              <a:prstDash val="solid"/>
              <a:miter/>
            </a:ln>
          </p:spPr>
        </p:sp>
      </p:grpSp>
      <p:grpSp>
        <p:nvGrpSpPr>
          <p:cNvPr name="Group 47" id="47"/>
          <p:cNvGrpSpPr/>
          <p:nvPr/>
        </p:nvGrpSpPr>
        <p:grpSpPr>
          <a:xfrm rot="0">
            <a:off x="914400" y="7827264"/>
            <a:ext cx="3200400" cy="731520"/>
            <a:chOff x="0" y="0"/>
            <a:chExt cx="4267200" cy="975360"/>
          </a:xfrm>
        </p:grpSpPr>
        <p:sp>
          <p:nvSpPr>
            <p:cNvPr name="Freeform 48" id="48"/>
            <p:cNvSpPr/>
            <p:nvPr/>
          </p:nvSpPr>
          <p:spPr>
            <a:xfrm flipH="false" flipV="false" rot="0">
              <a:off x="0" y="0"/>
              <a:ext cx="4267200" cy="975360"/>
            </a:xfrm>
            <a:custGeom>
              <a:avLst/>
              <a:gdLst/>
              <a:ahLst/>
              <a:cxnLst/>
              <a:rect r="r" b="b" t="t" l="l"/>
              <a:pathLst>
                <a:path h="975360" w="4267200">
                  <a:moveTo>
                    <a:pt x="0" y="0"/>
                  </a:moveTo>
                  <a:lnTo>
                    <a:pt x="4267200" y="0"/>
                  </a:lnTo>
                  <a:lnTo>
                    <a:pt x="4267200" y="975360"/>
                  </a:lnTo>
                  <a:lnTo>
                    <a:pt x="0" y="975360"/>
                  </a:lnTo>
                  <a:close/>
                </a:path>
              </a:pathLst>
            </a:custGeom>
            <a:blipFill>
              <a:blip r:embed="rId3">
                <a:alphaModFix amt="0"/>
              </a:blip>
              <a:stretch>
                <a:fillRect l="0" t="-35247" r="0" b="-35247"/>
              </a:stretch>
            </a:blipFill>
          </p:spPr>
        </p:sp>
        <p:sp>
          <p:nvSpPr>
            <p:cNvPr name="TextBox 49" id="49"/>
            <p:cNvSpPr txBox="true"/>
            <p:nvPr/>
          </p:nvSpPr>
          <p:spPr>
            <a:xfrm>
              <a:off x="0" y="-38100"/>
              <a:ext cx="4267200" cy="1013460"/>
            </a:xfrm>
            <a:prstGeom prst="rect">
              <a:avLst/>
            </a:prstGeom>
          </p:spPr>
          <p:txBody>
            <a:bodyPr anchor="ctr" rtlCol="false" tIns="0" lIns="0" bIns="0" rIns="0"/>
            <a:lstStyle/>
            <a:p>
              <a:pPr algn="ctr">
                <a:lnSpc>
                  <a:spcPts val="2879"/>
                </a:lnSpc>
              </a:pPr>
              <a:r>
                <a:rPr lang="en-US" sz="2400" b="true">
                  <a:solidFill>
                    <a:srgbClr val="FFFFFF"/>
                  </a:solidFill>
                  <a:latin typeface="Times New Roman"/>
                  <a:ea typeface="Times New Roman"/>
                  <a:cs typeface="Times New Roman"/>
                  <a:sym typeface="Times New Roman"/>
                </a:rPr>
                <a:t>Phản hồi · ưu tiên</a:t>
              </a:r>
            </a:p>
          </p:txBody>
        </p:sp>
      </p:grpSp>
      <p:grpSp>
        <p:nvGrpSpPr>
          <p:cNvPr name="Group 50" id="50"/>
          <p:cNvGrpSpPr/>
          <p:nvPr/>
        </p:nvGrpSpPr>
        <p:grpSpPr>
          <a:xfrm rot="0">
            <a:off x="4379595" y="7817739"/>
            <a:ext cx="3310890" cy="750570"/>
            <a:chOff x="0" y="0"/>
            <a:chExt cx="4414520" cy="1000760"/>
          </a:xfrm>
        </p:grpSpPr>
        <p:sp>
          <p:nvSpPr>
            <p:cNvPr name="Freeform 51" id="51"/>
            <p:cNvSpPr/>
            <p:nvPr/>
          </p:nvSpPr>
          <p:spPr>
            <a:xfrm flipH="false" flipV="false" rot="0">
              <a:off x="0" y="0"/>
              <a:ext cx="4414520" cy="1000760"/>
            </a:xfrm>
            <a:custGeom>
              <a:avLst/>
              <a:gdLst/>
              <a:ahLst/>
              <a:cxnLst/>
              <a:rect r="r" b="b" t="t" l="l"/>
              <a:pathLst>
                <a:path h="1000760" w="4414520">
                  <a:moveTo>
                    <a:pt x="0" y="500380"/>
                  </a:moveTo>
                  <a:cubicBezTo>
                    <a:pt x="0" y="224028"/>
                    <a:pt x="224028" y="0"/>
                    <a:pt x="500380" y="0"/>
                  </a:cubicBezTo>
                  <a:lnTo>
                    <a:pt x="3914140" y="0"/>
                  </a:lnTo>
                  <a:cubicBezTo>
                    <a:pt x="4190492" y="0"/>
                    <a:pt x="4414520" y="224028"/>
                    <a:pt x="4414520" y="500380"/>
                  </a:cubicBezTo>
                  <a:cubicBezTo>
                    <a:pt x="4414520" y="776732"/>
                    <a:pt x="4190492" y="1000760"/>
                    <a:pt x="3914140" y="1000760"/>
                  </a:cubicBezTo>
                  <a:lnTo>
                    <a:pt x="500380" y="1000760"/>
                  </a:lnTo>
                  <a:cubicBezTo>
                    <a:pt x="224028" y="1000760"/>
                    <a:pt x="0" y="776732"/>
                    <a:pt x="0" y="500380"/>
                  </a:cubicBezTo>
                  <a:close/>
                </a:path>
              </a:pathLst>
            </a:custGeom>
            <a:solidFill>
              <a:srgbClr val="00897B"/>
            </a:solidFill>
            <a:ln w="19050" cap="sq">
              <a:solidFill>
                <a:srgbClr val="00897B"/>
              </a:solidFill>
              <a:prstDash val="solid"/>
              <a:miter/>
            </a:ln>
          </p:spPr>
        </p:sp>
      </p:grpSp>
      <p:grpSp>
        <p:nvGrpSpPr>
          <p:cNvPr name="Group 52" id="52"/>
          <p:cNvGrpSpPr/>
          <p:nvPr/>
        </p:nvGrpSpPr>
        <p:grpSpPr>
          <a:xfrm rot="0">
            <a:off x="4389120" y="7827264"/>
            <a:ext cx="3291840" cy="731520"/>
            <a:chOff x="0" y="0"/>
            <a:chExt cx="4389120" cy="975360"/>
          </a:xfrm>
        </p:grpSpPr>
        <p:sp>
          <p:nvSpPr>
            <p:cNvPr name="Freeform 53" id="53"/>
            <p:cNvSpPr/>
            <p:nvPr/>
          </p:nvSpPr>
          <p:spPr>
            <a:xfrm flipH="false" flipV="false" rot="0">
              <a:off x="0" y="0"/>
              <a:ext cx="4389120" cy="975360"/>
            </a:xfrm>
            <a:custGeom>
              <a:avLst/>
              <a:gdLst/>
              <a:ahLst/>
              <a:cxnLst/>
              <a:rect r="r" b="b" t="t" l="l"/>
              <a:pathLst>
                <a:path h="975360" w="4389120">
                  <a:moveTo>
                    <a:pt x="0" y="0"/>
                  </a:moveTo>
                  <a:lnTo>
                    <a:pt x="4389120" y="0"/>
                  </a:lnTo>
                  <a:lnTo>
                    <a:pt x="4389120" y="975360"/>
                  </a:lnTo>
                  <a:lnTo>
                    <a:pt x="0" y="975360"/>
                  </a:lnTo>
                  <a:close/>
                </a:path>
              </a:pathLst>
            </a:custGeom>
            <a:blipFill>
              <a:blip r:embed="rId3">
                <a:alphaModFix amt="0"/>
              </a:blip>
              <a:stretch>
                <a:fillRect l="0" t="-37682" r="0" b="-37682"/>
              </a:stretch>
            </a:blipFill>
          </p:spPr>
        </p:sp>
        <p:sp>
          <p:nvSpPr>
            <p:cNvPr name="TextBox 54" id="54"/>
            <p:cNvSpPr txBox="true"/>
            <p:nvPr/>
          </p:nvSpPr>
          <p:spPr>
            <a:xfrm>
              <a:off x="0" y="-38100"/>
              <a:ext cx="4389120" cy="1013460"/>
            </a:xfrm>
            <a:prstGeom prst="rect">
              <a:avLst/>
            </a:prstGeom>
          </p:spPr>
          <p:txBody>
            <a:bodyPr anchor="ctr" rtlCol="false" tIns="0" lIns="0" bIns="0" rIns="0"/>
            <a:lstStyle/>
            <a:p>
              <a:pPr algn="ctr">
                <a:lnSpc>
                  <a:spcPts val="2879"/>
                </a:lnSpc>
              </a:pPr>
              <a:r>
                <a:rPr lang="en-US" sz="2400" b="true">
                  <a:solidFill>
                    <a:srgbClr val="FFFFFF"/>
                  </a:solidFill>
                  <a:latin typeface="Times New Roman"/>
                  <a:ea typeface="Times New Roman"/>
                  <a:cs typeface="Times New Roman"/>
                  <a:sym typeface="Times New Roman"/>
                </a:rPr>
                <a:t>Nhất quán · ưu tiên</a:t>
              </a:r>
            </a:p>
          </p:txBody>
        </p:sp>
      </p:grpSp>
      <p:grpSp>
        <p:nvGrpSpPr>
          <p:cNvPr name="Group 55" id="55"/>
          <p:cNvGrpSpPr/>
          <p:nvPr/>
        </p:nvGrpSpPr>
        <p:grpSpPr>
          <a:xfrm rot="0">
            <a:off x="7945755" y="7817739"/>
            <a:ext cx="2670810" cy="750570"/>
            <a:chOff x="0" y="0"/>
            <a:chExt cx="3561080" cy="1000760"/>
          </a:xfrm>
        </p:grpSpPr>
        <p:sp>
          <p:nvSpPr>
            <p:cNvPr name="Freeform 56" id="56"/>
            <p:cNvSpPr/>
            <p:nvPr/>
          </p:nvSpPr>
          <p:spPr>
            <a:xfrm flipH="false" flipV="false" rot="0">
              <a:off x="0" y="0"/>
              <a:ext cx="3561080" cy="1000760"/>
            </a:xfrm>
            <a:custGeom>
              <a:avLst/>
              <a:gdLst/>
              <a:ahLst/>
              <a:cxnLst/>
              <a:rect r="r" b="b" t="t" l="l"/>
              <a:pathLst>
                <a:path h="1000760" w="3561080">
                  <a:moveTo>
                    <a:pt x="0" y="500380"/>
                  </a:moveTo>
                  <a:cubicBezTo>
                    <a:pt x="0" y="224028"/>
                    <a:pt x="224028" y="0"/>
                    <a:pt x="500380" y="0"/>
                  </a:cubicBezTo>
                  <a:lnTo>
                    <a:pt x="3060700" y="0"/>
                  </a:lnTo>
                  <a:cubicBezTo>
                    <a:pt x="3337052" y="0"/>
                    <a:pt x="3561080" y="224028"/>
                    <a:pt x="3561080" y="500380"/>
                  </a:cubicBezTo>
                  <a:cubicBezTo>
                    <a:pt x="3561080" y="776732"/>
                    <a:pt x="3337052" y="1000760"/>
                    <a:pt x="306070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name="Group 57" id="57"/>
          <p:cNvGrpSpPr/>
          <p:nvPr/>
        </p:nvGrpSpPr>
        <p:grpSpPr>
          <a:xfrm rot="0">
            <a:off x="7955280" y="7827264"/>
            <a:ext cx="2651760" cy="731520"/>
            <a:chOff x="0" y="0"/>
            <a:chExt cx="3535680" cy="975360"/>
          </a:xfrm>
        </p:grpSpPr>
        <p:sp>
          <p:nvSpPr>
            <p:cNvPr name="Freeform 58" id="58"/>
            <p:cNvSpPr/>
            <p:nvPr/>
          </p:nvSpPr>
          <p:spPr>
            <a:xfrm flipH="false" flipV="false" rot="0">
              <a:off x="0" y="0"/>
              <a:ext cx="3535680" cy="975360"/>
            </a:xfrm>
            <a:custGeom>
              <a:avLst/>
              <a:gdLst/>
              <a:ahLst/>
              <a:cxnLst/>
              <a:rect r="r" b="b" t="t" l="l"/>
              <a:pathLst>
                <a:path h="975360" w="3535680">
                  <a:moveTo>
                    <a:pt x="0" y="0"/>
                  </a:moveTo>
                  <a:lnTo>
                    <a:pt x="3535680" y="0"/>
                  </a:lnTo>
                  <a:lnTo>
                    <a:pt x="3535680" y="975360"/>
                  </a:lnTo>
                  <a:lnTo>
                    <a:pt x="0" y="975360"/>
                  </a:lnTo>
                  <a:close/>
                </a:path>
              </a:pathLst>
            </a:custGeom>
            <a:blipFill>
              <a:blip r:embed="rId3">
                <a:alphaModFix amt="0"/>
              </a:blip>
              <a:stretch>
                <a:fillRect l="0" t="-20633" r="0" b="-20633"/>
              </a:stretch>
            </a:blipFill>
          </p:spPr>
        </p:sp>
        <p:sp>
          <p:nvSpPr>
            <p:cNvPr name="TextBox 59" id="59"/>
            <p:cNvSpPr txBox="true"/>
            <p:nvPr/>
          </p:nvSpPr>
          <p:spPr>
            <a:xfrm>
              <a:off x="0" y="-38100"/>
              <a:ext cx="3535680" cy="1013460"/>
            </a:xfrm>
            <a:prstGeom prst="rect">
              <a:avLst/>
            </a:prstGeom>
          </p:spPr>
          <p:txBody>
            <a:bodyPr anchor="ctr" rtlCol="false" tIns="0" lIns="0" bIns="0" rIns="0"/>
            <a:lstStyle/>
            <a:p>
              <a:pPr algn="ctr">
                <a:lnSpc>
                  <a:spcPts val="2879"/>
                </a:lnSpc>
              </a:pPr>
              <a:r>
                <a:rPr lang="en-US" sz="2400">
                  <a:solidFill>
                    <a:srgbClr val="14213D"/>
                  </a:solidFill>
                  <a:latin typeface="Times New Roman"/>
                  <a:ea typeface="Times New Roman"/>
                  <a:cs typeface="Times New Roman"/>
                  <a:sym typeface="Times New Roman"/>
                </a:rPr>
                <a:t>Chịu mạng xấu</a:t>
              </a:r>
            </a:p>
          </p:txBody>
        </p:sp>
      </p:grpSp>
      <p:grpSp>
        <p:nvGrpSpPr>
          <p:cNvPr name="Group 60" id="60"/>
          <p:cNvGrpSpPr/>
          <p:nvPr/>
        </p:nvGrpSpPr>
        <p:grpSpPr>
          <a:xfrm rot="0">
            <a:off x="10871835" y="7817739"/>
            <a:ext cx="2396490" cy="750570"/>
            <a:chOff x="0" y="0"/>
            <a:chExt cx="3195320" cy="1000760"/>
          </a:xfrm>
        </p:grpSpPr>
        <p:sp>
          <p:nvSpPr>
            <p:cNvPr name="Freeform 61" id="61"/>
            <p:cNvSpPr/>
            <p:nvPr/>
          </p:nvSpPr>
          <p:spPr>
            <a:xfrm flipH="false" flipV="false" rot="0">
              <a:off x="0" y="0"/>
              <a:ext cx="3195320" cy="1000760"/>
            </a:xfrm>
            <a:custGeom>
              <a:avLst/>
              <a:gdLst/>
              <a:ahLst/>
              <a:cxnLst/>
              <a:rect r="r" b="b" t="t" l="l"/>
              <a:pathLst>
                <a:path h="1000760" w="3195320">
                  <a:moveTo>
                    <a:pt x="0" y="500380"/>
                  </a:moveTo>
                  <a:cubicBezTo>
                    <a:pt x="0" y="224028"/>
                    <a:pt x="224028" y="0"/>
                    <a:pt x="500380" y="0"/>
                  </a:cubicBezTo>
                  <a:lnTo>
                    <a:pt x="2694940" y="0"/>
                  </a:lnTo>
                  <a:cubicBezTo>
                    <a:pt x="2971292" y="0"/>
                    <a:pt x="3195320" y="224028"/>
                    <a:pt x="3195320" y="500380"/>
                  </a:cubicBezTo>
                  <a:cubicBezTo>
                    <a:pt x="3195320" y="776732"/>
                    <a:pt x="2971292" y="1000760"/>
                    <a:pt x="269494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name="Group 62" id="62"/>
          <p:cNvGrpSpPr/>
          <p:nvPr/>
        </p:nvGrpSpPr>
        <p:grpSpPr>
          <a:xfrm rot="0">
            <a:off x="10881360" y="7827264"/>
            <a:ext cx="2377440" cy="731520"/>
            <a:chOff x="0" y="0"/>
            <a:chExt cx="3169920" cy="975360"/>
          </a:xfrm>
        </p:grpSpPr>
        <p:sp>
          <p:nvSpPr>
            <p:cNvPr name="Freeform 63" id="63"/>
            <p:cNvSpPr/>
            <p:nvPr/>
          </p:nvSpPr>
          <p:spPr>
            <a:xfrm flipH="false" flipV="false" rot="0">
              <a:off x="0" y="0"/>
              <a:ext cx="3169920" cy="975360"/>
            </a:xfrm>
            <a:custGeom>
              <a:avLst/>
              <a:gdLst/>
              <a:ahLst/>
              <a:cxnLst/>
              <a:rect r="r" b="b" t="t" l="l"/>
              <a:pathLst>
                <a:path h="975360" w="3169920">
                  <a:moveTo>
                    <a:pt x="0" y="0"/>
                  </a:moveTo>
                  <a:lnTo>
                    <a:pt x="3169920" y="0"/>
                  </a:lnTo>
                  <a:lnTo>
                    <a:pt x="3169920" y="975360"/>
                  </a:lnTo>
                  <a:lnTo>
                    <a:pt x="0" y="975360"/>
                  </a:lnTo>
                  <a:close/>
                </a:path>
              </a:pathLst>
            </a:custGeom>
            <a:blipFill>
              <a:blip r:embed="rId3">
                <a:alphaModFix amt="0"/>
              </a:blip>
              <a:stretch>
                <a:fillRect l="0" t="-13326" r="0" b="-13326"/>
              </a:stretch>
            </a:blipFill>
          </p:spPr>
        </p:sp>
        <p:sp>
          <p:nvSpPr>
            <p:cNvPr name="TextBox 64" id="64"/>
            <p:cNvSpPr txBox="true"/>
            <p:nvPr/>
          </p:nvSpPr>
          <p:spPr>
            <a:xfrm>
              <a:off x="0" y="-38100"/>
              <a:ext cx="3169920" cy="1013460"/>
            </a:xfrm>
            <a:prstGeom prst="rect">
              <a:avLst/>
            </a:prstGeom>
          </p:spPr>
          <p:txBody>
            <a:bodyPr anchor="ctr" rtlCol="false" tIns="0" lIns="0" bIns="0" rIns="0"/>
            <a:lstStyle/>
            <a:p>
              <a:pPr algn="ctr">
                <a:lnSpc>
                  <a:spcPts val="2879"/>
                </a:lnSpc>
              </a:pPr>
              <a:r>
                <a:rPr lang="en-US" sz="2400">
                  <a:solidFill>
                    <a:srgbClr val="14213D"/>
                  </a:solidFill>
                  <a:latin typeface="Times New Roman"/>
                  <a:ea typeface="Times New Roman"/>
                  <a:cs typeface="Times New Roman"/>
                  <a:sym typeface="Times New Roman"/>
                </a:rPr>
                <a:t>Độ phức tạp</a:t>
              </a:r>
            </a:p>
          </p:txBody>
        </p:sp>
      </p:grpSp>
      <p:grpSp>
        <p:nvGrpSpPr>
          <p:cNvPr name="Group 65" id="65"/>
          <p:cNvGrpSpPr/>
          <p:nvPr/>
        </p:nvGrpSpPr>
        <p:grpSpPr>
          <a:xfrm rot="0">
            <a:off x="13523595" y="7817739"/>
            <a:ext cx="3128010" cy="750570"/>
            <a:chOff x="0" y="0"/>
            <a:chExt cx="4170680" cy="1000760"/>
          </a:xfrm>
        </p:grpSpPr>
        <p:sp>
          <p:nvSpPr>
            <p:cNvPr name="Freeform 66" id="66"/>
            <p:cNvSpPr/>
            <p:nvPr/>
          </p:nvSpPr>
          <p:spPr>
            <a:xfrm flipH="false" flipV="false" rot="0">
              <a:off x="0" y="0"/>
              <a:ext cx="4170680" cy="1000760"/>
            </a:xfrm>
            <a:custGeom>
              <a:avLst/>
              <a:gdLst/>
              <a:ahLst/>
              <a:cxnLst/>
              <a:rect r="r" b="b" t="t" l="l"/>
              <a:pathLst>
                <a:path h="1000760" w="4170680">
                  <a:moveTo>
                    <a:pt x="0" y="500380"/>
                  </a:moveTo>
                  <a:cubicBezTo>
                    <a:pt x="0" y="224028"/>
                    <a:pt x="224028" y="0"/>
                    <a:pt x="500380" y="0"/>
                  </a:cubicBezTo>
                  <a:lnTo>
                    <a:pt x="3670300" y="0"/>
                  </a:lnTo>
                  <a:cubicBezTo>
                    <a:pt x="3946652" y="0"/>
                    <a:pt x="4170680" y="224028"/>
                    <a:pt x="4170680" y="500380"/>
                  </a:cubicBezTo>
                  <a:cubicBezTo>
                    <a:pt x="4170680" y="776732"/>
                    <a:pt x="3946652" y="1000760"/>
                    <a:pt x="367030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name="Group 67" id="67"/>
          <p:cNvGrpSpPr/>
          <p:nvPr/>
        </p:nvGrpSpPr>
        <p:grpSpPr>
          <a:xfrm rot="0">
            <a:off x="13533120" y="7827264"/>
            <a:ext cx="3108960" cy="731520"/>
            <a:chOff x="0" y="0"/>
            <a:chExt cx="4145280" cy="975360"/>
          </a:xfrm>
        </p:grpSpPr>
        <p:sp>
          <p:nvSpPr>
            <p:cNvPr name="Freeform 68" id="68"/>
            <p:cNvSpPr/>
            <p:nvPr/>
          </p:nvSpPr>
          <p:spPr>
            <a:xfrm flipH="false" flipV="false" rot="0">
              <a:off x="0" y="0"/>
              <a:ext cx="4145280" cy="975360"/>
            </a:xfrm>
            <a:custGeom>
              <a:avLst/>
              <a:gdLst/>
              <a:ahLst/>
              <a:cxnLst/>
              <a:rect r="r" b="b" t="t" l="l"/>
              <a:pathLst>
                <a:path h="975360" w="4145280">
                  <a:moveTo>
                    <a:pt x="0" y="0"/>
                  </a:moveTo>
                  <a:lnTo>
                    <a:pt x="4145280" y="0"/>
                  </a:lnTo>
                  <a:lnTo>
                    <a:pt x="4145280" y="975360"/>
                  </a:lnTo>
                  <a:lnTo>
                    <a:pt x="0" y="975360"/>
                  </a:lnTo>
                  <a:close/>
                </a:path>
              </a:pathLst>
            </a:custGeom>
            <a:blipFill>
              <a:blip r:embed="rId3">
                <a:alphaModFix amt="0"/>
              </a:blip>
              <a:stretch>
                <a:fillRect l="0" t="-32811" r="0" b="-32811"/>
              </a:stretch>
            </a:blipFill>
          </p:spPr>
        </p:sp>
        <p:sp>
          <p:nvSpPr>
            <p:cNvPr name="TextBox 69" id="69"/>
            <p:cNvSpPr txBox="true"/>
            <p:nvPr/>
          </p:nvSpPr>
          <p:spPr>
            <a:xfrm>
              <a:off x="0" y="-38100"/>
              <a:ext cx="4145280" cy="1013460"/>
            </a:xfrm>
            <a:prstGeom prst="rect">
              <a:avLst/>
            </a:prstGeom>
          </p:spPr>
          <p:txBody>
            <a:bodyPr anchor="ctr" rtlCol="false" tIns="0" lIns="0" bIns="0" rIns="0"/>
            <a:lstStyle/>
            <a:p>
              <a:pPr algn="ctr">
                <a:lnSpc>
                  <a:spcPts val="2879"/>
                </a:lnSpc>
              </a:pPr>
              <a:r>
                <a:rPr lang="en-US" sz="2400">
                  <a:solidFill>
                    <a:srgbClr val="14213D"/>
                  </a:solidFill>
                  <a:latin typeface="Times New Roman"/>
                  <a:ea typeface="Times New Roman"/>
                  <a:cs typeface="Times New Roman"/>
                  <a:sym typeface="Times New Roman"/>
                </a:rPr>
                <a:t>Phù hợp loại game</a:t>
              </a:r>
            </a:p>
          </p:txBody>
        </p:sp>
      </p:grpSp>
      <p:sp>
        <p:nvSpPr>
          <p:cNvPr name="TextBox 70" id="70"/>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20</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43" name="Header band"/>
          <p:cNvSpPr/>
          <p:nvPr/>
        </p:nvSpPr>
        <p:spPr>
          <a:xfrm>
            <a:off x="0" y="0"/>
            <a:ext cx="18288000" cy="2103120"/>
          </a:xfrm>
          <a:prstGeom prst="rect">
            <a:avLst/>
          </a:prstGeom>
          <a:solidFill>
            <a:srgbClr val="14213D"/>
          </a:solidFill>
          <a:ln>
            <a:noFill/>
          </a:ln>
        </p:spPr>
      </p:sp>
      <p:sp>
        <p:nvSpPr>
          <p:cNvPr id="9044"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grpSp>
        <p:nvGrpSpPr>
          <p:cNvPr name="Group 5" id="5"/>
          <p:cNvGrpSpPr/>
          <p:nvPr/>
        </p:nvGrpSpPr>
        <p:grpSpPr>
          <a:xfrm rot="0">
            <a:off x="914400" y="768096"/>
            <a:ext cx="14081760" cy="1097280"/>
            <a:chOff x="0" y="0"/>
            <a:chExt cx="18775680" cy="1463040"/>
          </a:xfrm>
        </p:grpSpPr>
        <p:sp>
          <p:nvSpPr>
            <p:cNvPr name="Freeform 6" id="6"/>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7" id="7"/>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Ai giữ quyền quyết định trạng thái?</a:t>
              </a:r>
            </a:p>
          </p:txBody>
        </p:sp>
      </p:grpSp>
      <p:grpSp>
        <p:nvGrpSpPr>
          <p:cNvPr name="Group 8" id="8"/>
          <p:cNvGrpSpPr/>
          <p:nvPr/>
        </p:nvGrpSpPr>
        <p:grpSpPr>
          <a:xfrm rot="0">
            <a:off x="15257783" y="682247"/>
            <a:ext cx="2128523" cy="647195"/>
            <a:chOff x="0" y="0"/>
            <a:chExt cx="2838031" cy="862927"/>
          </a:xfrm>
        </p:grpSpPr>
        <p:sp>
          <p:nvSpPr>
            <p:cNvPr name="Freeform 9" id="9"/>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name="Group 10" id="10"/>
          <p:cNvGrpSpPr/>
          <p:nvPr/>
        </p:nvGrpSpPr>
        <p:grpSpPr>
          <a:xfrm rot="0">
            <a:off x="15270480" y="694944"/>
            <a:ext cx="2103120" cy="621792"/>
            <a:chOff x="0" y="0"/>
            <a:chExt cx="2804160" cy="829056"/>
          </a:xfrm>
        </p:grpSpPr>
        <p:sp>
          <p:nvSpPr>
            <p:cNvPr name="Freeform 11" id="11"/>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2" id="12"/>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#1</a:t>
              </a:r>
            </a:p>
          </p:txBody>
        </p:sp>
      </p:grpSp>
      <p:graphicFrame>
        <p:nvGraphicFramePr>
          <p:cNvPr name="Table 13" id="13"/>
          <p:cNvGraphicFramePr>
            <a:graphicFrameLocks noGrp="true"/>
          </p:cNvGraphicFramePr>
          <p:nvPr/>
        </p:nvGraphicFramePr>
        <p:xfrm>
          <a:off x="914400" y="2468880"/>
          <a:ext cx="16408400" cy="3962400"/>
        </p:xfrm>
        <a:graphic>
          <a:graphicData uri="http://schemas.openxmlformats.org/drawingml/2006/table">
            <a:tbl>
              <a:tblPr/>
              <a:tblGrid>
                <a:gridCol w="5005315"/>
                <a:gridCol w="2656957"/>
                <a:gridCol w="2566635"/>
                <a:gridCol w="6179494"/>
              </a:tblGrid>
              <a:tr h="701736">
                <a:tc>
                  <a:txBody>
                    <a:bodyPr anchor="t" rtlCol="false"/>
                    <a:lstStyle/>
                    <a:p>
                      <a:pPr algn="l">
                        <a:lnSpc>
                          <a:spcPts val="3120"/>
                        </a:lnSpc>
                        <a:defRPr/>
                      </a:pPr>
                      <a:r>
                        <a:rPr lang="en-US" sz="2600" b="true">
                          <a:solidFill>
                            <a:srgbClr val="FFFFFF"/>
                          </a:solidFill>
                          <a:latin typeface="Times New Roman"/>
                          <a:ea typeface="Times New Roman"/>
                          <a:cs typeface="Times New Roman"/>
                          <a:sym typeface="Times New Roman"/>
                        </a:rPr>
                        <a:t>Hướng</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14213D"/>
                    </a:solidFill>
                  </a:tcPr>
                </a:tc>
                <a:tc>
                  <a:txBody>
                    <a:bodyPr anchor="t" rtlCol="false"/>
                    <a:lstStyle/>
                    <a:p>
                      <a:pPr algn="l">
                        <a:lnSpc>
                          <a:spcPts val="3120"/>
                        </a:lnSpc>
                        <a:defRPr/>
                      </a:pPr>
                      <a:r>
                        <a:rPr lang="en-US" sz="2600" b="true">
                          <a:solidFill>
                            <a:srgbClr val="FFFFFF"/>
                          </a:solidFill>
                          <a:latin typeface="Times New Roman"/>
                          <a:ea typeface="Times New Roman"/>
                          <a:cs typeface="Times New Roman"/>
                          <a:sym typeface="Times New Roman"/>
                        </a:rPr>
                        <a:t>Phản hồi</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14213D"/>
                    </a:solidFill>
                  </a:tcPr>
                </a:tc>
                <a:tc>
                  <a:txBody>
                    <a:bodyPr anchor="t" rtlCol="false"/>
                    <a:lstStyle/>
                    <a:p>
                      <a:pPr algn="l">
                        <a:lnSpc>
                          <a:spcPts val="3120"/>
                        </a:lnSpc>
                        <a:defRPr/>
                      </a:pPr>
                      <a:r>
                        <a:rPr lang="en-US" sz="2600" b="true">
                          <a:solidFill>
                            <a:srgbClr val="FFFFFF"/>
                          </a:solidFill>
                          <a:latin typeface="Times New Roman"/>
                          <a:ea typeface="Times New Roman"/>
                          <a:cs typeface="Times New Roman"/>
                          <a:sym typeface="Times New Roman"/>
                        </a:rPr>
                        <a:t>Chống gian lận</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14213D"/>
                    </a:solidFill>
                  </a:tcPr>
                </a:tc>
                <a:tc>
                  <a:txBody>
                    <a:bodyPr anchor="t" rtlCol="false"/>
                    <a:lstStyle/>
                    <a:p>
                      <a:pPr algn="l">
                        <a:lnSpc>
                          <a:spcPts val="3120"/>
                        </a:lnSpc>
                        <a:defRPr/>
                      </a:pPr>
                      <a:r>
                        <a:rPr lang="en-US" sz="2600" b="true">
                          <a:solidFill>
                            <a:srgbClr val="FFFFFF"/>
                          </a:solidFill>
                          <a:latin typeface="Times New Roman"/>
                          <a:ea typeface="Times New Roman"/>
                          <a:cs typeface="Times New Roman"/>
                          <a:sym typeface="Times New Roman"/>
                        </a:rPr>
                        <a:t>Ghi chú</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14213D"/>
                    </a:solidFill>
                  </a:tcPr>
                </a:tc>
              </a:tr>
              <a:tr h="1086888">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Client tự quyết, server chuyển tiếp</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FFFFFF"/>
                    </a:solidFill>
                  </a:tcPr>
                </a:tc>
                <a:tc>
                  <a:txBody>
                    <a:bodyPr anchor="t" rtlCol="false"/>
                    <a:lstStyle/>
                    <a:p>
                      <a:pPr algn="l">
                        <a:lnSpc>
                          <a:spcPts val="3840"/>
                        </a:lnSpc>
                        <a:defRPr/>
                      </a:pPr>
                      <a:r>
                        <a:rPr lang="en-US" sz="3200">
                          <a:solidFill>
                            <a:srgbClr val="00897B"/>
                          </a:solidFill>
                          <a:latin typeface="Times New Roman"/>
                          <a:ea typeface="Times New Roman"/>
                          <a:cs typeface="Times New Roman"/>
                          <a:sym typeface="Times New Roman"/>
                        </a:rPr>
                        <a:t>●</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FFFFFF"/>
                    </a:solidFill>
                  </a:tcPr>
                </a:tc>
                <a:tc>
                  <a:txBody>
                    <a:bodyPr anchor="t" rtlCol="false"/>
                    <a:lstStyle/>
                    <a:p>
                      <a:pPr algn="l">
                        <a:lnSpc>
                          <a:spcPts val="3840"/>
                        </a:lnSpc>
                        <a:defRPr/>
                      </a:pPr>
                      <a:r>
                        <a:rPr lang="en-US" sz="3200">
                          <a:solidFill>
                            <a:srgbClr val="5B6B82"/>
                          </a:solidFill>
                          <a:latin typeface="Times New Roman"/>
                          <a:ea typeface="Times New Roman"/>
                          <a:cs typeface="Times New Roman"/>
                          <a:sym typeface="Times New Roman"/>
                        </a:rPr>
                        <a:t>○</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FFFFFF"/>
                    </a:solidFill>
                  </a:tcPr>
                </a:tc>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Sửa gói tin là dịch chuyển, hack tốc độ, tự cộng điểm</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FFFFFF"/>
                    </a:solidFill>
                  </a:tcPr>
                </a:tc>
              </a:tr>
              <a:tr h="1086888">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Đồng bộ theo bước (ngang hàng)</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EEF3F8"/>
                    </a:solidFill>
                  </a:tcPr>
                </a:tc>
                <a:tc>
                  <a:txBody>
                    <a:bodyPr anchor="t" rtlCol="false"/>
                    <a:lstStyle/>
                    <a:p>
                      <a:pPr algn="l">
                        <a:lnSpc>
                          <a:spcPts val="3840"/>
                        </a:lnSpc>
                        <a:defRPr/>
                      </a:pPr>
                      <a:r>
                        <a:rPr lang="en-US" sz="3200">
                          <a:solidFill>
                            <a:srgbClr val="5B6B82"/>
                          </a:solidFill>
                          <a:latin typeface="Times New Roman"/>
                          <a:ea typeface="Times New Roman"/>
                          <a:cs typeface="Times New Roman"/>
                          <a:sym typeface="Times New Roman"/>
                        </a:rPr>
                        <a:t>○</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EEF3F8"/>
                    </a:solidFill>
                  </a:tcPr>
                </a:tc>
                <a:tc>
                  <a:txBody>
                    <a:bodyPr anchor="t" rtlCol="false"/>
                    <a:lstStyle/>
                    <a:p>
                      <a:pPr algn="l">
                        <a:lnSpc>
                          <a:spcPts val="3840"/>
                        </a:lnSpc>
                        <a:defRPr/>
                      </a:pPr>
                      <a:r>
                        <a:rPr lang="en-US" sz="3200">
                          <a:solidFill>
                            <a:srgbClr val="F4A259"/>
                          </a:solidFill>
                          <a:latin typeface="Times New Roman"/>
                          <a:ea typeface="Times New Roman"/>
                          <a:cs typeface="Times New Roman"/>
                          <a:sym typeface="Times New Roman"/>
                        </a:rPr>
                        <a:t>◐</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EEF3F8"/>
                    </a:solidFill>
                  </a:tcPr>
                </a:tc>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Chờ người chậm nhất</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EEF3F8"/>
                    </a:solidFill>
                  </a:tcPr>
                </a:tc>
              </a:tr>
              <a:tr h="1086888">
                <a:tc>
                  <a:txBody>
                    <a:bodyPr anchor="t" rtlCol="false"/>
                    <a:lstStyle/>
                    <a:p>
                      <a:pPr algn="l">
                        <a:lnSpc>
                          <a:spcPts val="3359"/>
                        </a:lnSpc>
                        <a:defRPr/>
                      </a:pPr>
                      <a:r>
                        <a:rPr lang="en-US" sz="2799" b="true">
                          <a:solidFill>
                            <a:srgbClr val="14213D"/>
                          </a:solidFill>
                          <a:latin typeface="Times New Roman"/>
                          <a:ea typeface="Times New Roman"/>
                          <a:cs typeface="Times New Roman"/>
                          <a:sym typeface="Times New Roman"/>
                        </a:rPr>
                        <a:t>Server quyết định</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BFE8E3"/>
                    </a:solidFill>
                  </a:tcPr>
                </a:tc>
                <a:tc>
                  <a:txBody>
                    <a:bodyPr anchor="t" rtlCol="false"/>
                    <a:lstStyle/>
                    <a:p>
                      <a:pPr algn="l">
                        <a:lnSpc>
                          <a:spcPts val="2879"/>
                        </a:lnSpc>
                        <a:defRPr/>
                      </a:pPr>
                      <a:r>
                        <a:rPr lang="en-US" sz="2400" b="true">
                          <a:solidFill>
                            <a:srgbClr val="5B6B82"/>
                          </a:solidFill>
                          <a:latin typeface="Times New Roman"/>
                          <a:ea typeface="Times New Roman"/>
                          <a:cs typeface="Times New Roman"/>
                          <a:sym typeface="Times New Roman"/>
                        </a:rPr>
                        <a:t>○ (giải ở VĐ2)</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BFE8E3"/>
                    </a:solidFill>
                  </a:tcPr>
                </a:tc>
                <a:tc>
                  <a:txBody>
                    <a:bodyPr anchor="t" rtlCol="false"/>
                    <a:lstStyle/>
                    <a:p>
                      <a:pPr algn="l">
                        <a:lnSpc>
                          <a:spcPts val="3840"/>
                        </a:lnSpc>
                        <a:defRPr/>
                      </a:pPr>
                      <a:r>
                        <a:rPr lang="en-US" sz="3200" b="true">
                          <a:solidFill>
                            <a:srgbClr val="00897B"/>
                          </a:solidFill>
                          <a:latin typeface="Times New Roman"/>
                          <a:ea typeface="Times New Roman"/>
                          <a:cs typeface="Times New Roman"/>
                          <a:sym typeface="Times New Roman"/>
                        </a:rPr>
                        <a:t>●</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BFE8E3"/>
                    </a:solidFill>
                  </a:tcPr>
                </a:tc>
                <a:tc>
                  <a:txBody>
                    <a:bodyPr anchor="t" rtlCol="false"/>
                    <a:lstStyle/>
                    <a:p>
                      <a:pPr algn="l">
                        <a:lnSpc>
                          <a:spcPts val="3359"/>
                        </a:lnSpc>
                        <a:defRPr/>
                      </a:pPr>
                      <a:r>
                        <a:rPr lang="en-US" sz="2799" b="true">
                          <a:solidFill>
                            <a:srgbClr val="14213D"/>
                          </a:solidFill>
                          <a:latin typeface="Times New Roman"/>
                          <a:ea typeface="Times New Roman"/>
                          <a:cs typeface="Times New Roman"/>
                          <a:sym typeface="Times New Roman"/>
                        </a:rPr>
                        <a:t>Client chỉ gửi lệnh điều khiển</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BFE8E3"/>
                    </a:solidFill>
                  </a:tcPr>
                </a:tc>
              </a:tr>
            </a:tbl>
          </a:graphicData>
        </a:graphic>
      </p:graphicFrame>
      <p:grpSp>
        <p:nvGrpSpPr>
          <p:cNvPr name="Group 14" id="14"/>
          <p:cNvGrpSpPr/>
          <p:nvPr/>
        </p:nvGrpSpPr>
        <p:grpSpPr>
          <a:xfrm rot="0">
            <a:off x="4135120" y="6583680"/>
            <a:ext cx="9966960" cy="2857500"/>
            <a:chOff x="0" y="0"/>
            <a:chExt cx="21987929" cy="4064838"/>
          </a:xfrm>
        </p:grpSpPr>
        <p:sp>
          <p:nvSpPr>
            <p:cNvPr name="Freeform 15" id="15"/>
            <p:cNvSpPr/>
            <p:nvPr/>
          </p:nvSpPr>
          <p:spPr>
            <a:xfrm flipH="false" flipV="false" rot="0">
              <a:off x="0" y="0"/>
              <a:ext cx="21988018" cy="4064927"/>
            </a:xfrm>
            <a:custGeom>
              <a:avLst/>
              <a:gdLst/>
              <a:ahLst/>
              <a:cxnLst/>
              <a:rect r="r" b="b" t="t" l="l"/>
              <a:pathLst>
                <a:path h="4064927" w="21988018">
                  <a:moveTo>
                    <a:pt x="0" y="250223"/>
                  </a:moveTo>
                  <a:cubicBezTo>
                    <a:pt x="0" y="112014"/>
                    <a:pt x="88519" y="0"/>
                    <a:pt x="197739" y="0"/>
                  </a:cubicBezTo>
                  <a:lnTo>
                    <a:pt x="21790279" y="0"/>
                  </a:lnTo>
                  <a:cubicBezTo>
                    <a:pt x="21899499" y="0"/>
                    <a:pt x="21988018" y="112014"/>
                    <a:pt x="21988018" y="250223"/>
                  </a:cubicBezTo>
                  <a:lnTo>
                    <a:pt x="21988018" y="3814728"/>
                  </a:lnTo>
                  <a:cubicBezTo>
                    <a:pt x="21988018" y="3952937"/>
                    <a:pt x="21899499" y="4064927"/>
                    <a:pt x="21790279" y="4064927"/>
                  </a:cubicBezTo>
                  <a:lnTo>
                    <a:pt x="197739" y="4064927"/>
                  </a:lnTo>
                  <a:cubicBezTo>
                    <a:pt x="88519" y="4064790"/>
                    <a:pt x="0" y="3952777"/>
                    <a:pt x="0" y="3814728"/>
                  </a:cubicBezTo>
                  <a:close/>
                </a:path>
              </a:pathLst>
            </a:custGeom>
            <a:blipFill>
              <a:blip r:embed="rId4"/>
              <a:srcRect t="6000" b="8000"/>
              <a:stretch>
                <a:fillRect/>
              </a:stretch>
            </a:blipFill>
            <a:ln w="31750" cap="sq">
              <a:solidFill>
                <a:srgbClr val="00897B"/>
              </a:solidFill>
              <a:prstDash val="dash"/>
              <a:miter/>
            </a:ln>
          </p:spPr>
        </p:sp>
      </p:grpSp>
      <p:sp>
        <p:nvSpPr>
          <p:cNvPr name="TextBox 16" id="16"/>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VẤN ĐỀ 1</a:t>
            </a:r>
          </a:p>
        </p:txBody>
      </p:sp>
      <p:sp>
        <p:nvSpPr>
          <p:cNvPr name="TextBox 17" id="17"/>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8</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45" name="Header band"/>
          <p:cNvSpPr/>
          <p:nvPr/>
        </p:nvSpPr>
        <p:spPr>
          <a:xfrm>
            <a:off x="0" y="0"/>
            <a:ext cx="18288000" cy="2103120"/>
          </a:xfrm>
          <a:prstGeom prst="rect">
            <a:avLst/>
          </a:prstGeom>
          <a:solidFill>
            <a:srgbClr val="14213D"/>
          </a:solidFill>
          <a:ln>
            <a:noFill/>
          </a:ln>
        </p:spPr>
      </p:sp>
      <p:sp>
        <p:nvSpPr>
          <p:cNvPr id="9046"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grpSp>
        <p:nvGrpSpPr>
          <p:cNvPr name="Group 5" id="5"/>
          <p:cNvGrpSpPr/>
          <p:nvPr/>
        </p:nvGrpSpPr>
        <p:grpSpPr>
          <a:xfrm rot="0">
            <a:off x="914400" y="768096"/>
            <a:ext cx="14081760" cy="1097280"/>
            <a:chOff x="0" y="0"/>
            <a:chExt cx="18775680" cy="1463040"/>
          </a:xfrm>
        </p:grpSpPr>
        <p:sp>
          <p:nvSpPr>
            <p:cNvPr name="Freeform 6" id="6"/>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7" id="7"/>
            <p:cNvSpPr txBox="true"/>
            <p:nvPr/>
          </p:nvSpPr>
          <p:spPr>
            <a:xfrm>
              <a:off x="0" y="-9525"/>
              <a:ext cx="18775680" cy="1472565"/>
            </a:xfrm>
            <a:prstGeom prst="rect">
              <a:avLst/>
            </a:prstGeom>
          </p:spPr>
          <p:txBody>
            <a:bodyPr anchor="ctr" rtlCol="false" tIns="0" lIns="0" bIns="0" rIns="0"/>
            <a:lstStyle/>
            <a:p>
              <a:pPr algn="l">
                <a:lnSpc>
                  <a:spcPts val="5750"/>
                </a:lnSpc>
              </a:pPr>
              <a:r>
                <a:rPr lang="en-US" sz="5000" b="true">
                  <a:solidFill>
                    <a:srgbClr val="FFFFFF"/>
                  </a:solidFill>
                  <a:latin typeface="Times New Roman"/>
                  <a:ea typeface="Times New Roman"/>
                  <a:cs typeface="Times New Roman"/>
                  <a:sym typeface="Times New Roman"/>
                </a:rPr>
                <a:t>Server quyết định, nhịp cố định, kênh truyền</a:t>
              </a:r>
            </a:p>
          </p:txBody>
        </p:sp>
      </p:grpSp>
      <p:grpSp>
        <p:nvGrpSpPr>
          <p:cNvPr name="Group 8" id="8"/>
          <p:cNvGrpSpPr/>
          <p:nvPr/>
        </p:nvGrpSpPr>
        <p:grpSpPr>
          <a:xfrm rot="0">
            <a:off x="15257783" y="682247"/>
            <a:ext cx="2128523" cy="647195"/>
            <a:chOff x="0" y="0"/>
            <a:chExt cx="2838031" cy="862927"/>
          </a:xfrm>
        </p:grpSpPr>
        <p:sp>
          <p:nvSpPr>
            <p:cNvPr name="Freeform 9" id="9"/>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name="Group 10" id="10"/>
          <p:cNvGrpSpPr/>
          <p:nvPr/>
        </p:nvGrpSpPr>
        <p:grpSpPr>
          <a:xfrm rot="0">
            <a:off x="15270480" y="694944"/>
            <a:ext cx="2103120" cy="621792"/>
            <a:chOff x="0" y="0"/>
            <a:chExt cx="2804160" cy="829056"/>
          </a:xfrm>
        </p:grpSpPr>
        <p:sp>
          <p:nvSpPr>
            <p:cNvPr name="Freeform 11" id="11"/>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2" id="12"/>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#1</a:t>
              </a:r>
            </a:p>
          </p:txBody>
        </p:sp>
      </p:grpSp>
      <p:grpSp>
        <p:nvGrpSpPr>
          <p:cNvPr name="Group 13" id="13"/>
          <p:cNvGrpSpPr/>
          <p:nvPr/>
        </p:nvGrpSpPr>
        <p:grpSpPr>
          <a:xfrm rot="0">
            <a:off x="901703" y="2456183"/>
            <a:ext cx="4963163" cy="1945643"/>
            <a:chOff x="0" y="0"/>
            <a:chExt cx="6617551" cy="2594191"/>
          </a:xfrm>
        </p:grpSpPr>
        <p:sp>
          <p:nvSpPr>
            <p:cNvPr name="Freeform 14" id="14"/>
            <p:cNvSpPr/>
            <p:nvPr/>
          </p:nvSpPr>
          <p:spPr>
            <a:xfrm flipH="false" flipV="false" rot="0">
              <a:off x="0" y="0"/>
              <a:ext cx="6617462" cy="2594102"/>
            </a:xfrm>
            <a:custGeom>
              <a:avLst/>
              <a:gdLst/>
              <a:ahLst/>
              <a:cxnLst/>
              <a:rect r="r" b="b" t="t" l="l"/>
              <a:pathLst>
                <a:path h="2594102" w="6617462">
                  <a:moveTo>
                    <a:pt x="0" y="247015"/>
                  </a:moveTo>
                  <a:cubicBezTo>
                    <a:pt x="0" y="110617"/>
                    <a:pt x="110617" y="0"/>
                    <a:pt x="247015" y="0"/>
                  </a:cubicBezTo>
                  <a:lnTo>
                    <a:pt x="6370447" y="0"/>
                  </a:lnTo>
                  <a:cubicBezTo>
                    <a:pt x="6506845" y="0"/>
                    <a:pt x="6617462" y="110617"/>
                    <a:pt x="6617462" y="247015"/>
                  </a:cubicBezTo>
                  <a:lnTo>
                    <a:pt x="6617462" y="2347087"/>
                  </a:lnTo>
                  <a:cubicBezTo>
                    <a:pt x="6617462" y="2483485"/>
                    <a:pt x="6506845" y="2594102"/>
                    <a:pt x="6370447" y="2594102"/>
                  </a:cubicBezTo>
                  <a:lnTo>
                    <a:pt x="247015" y="2594102"/>
                  </a:lnTo>
                  <a:cubicBezTo>
                    <a:pt x="110617" y="2594229"/>
                    <a:pt x="0" y="2483612"/>
                    <a:pt x="0" y="2347087"/>
                  </a:cubicBezTo>
                  <a:close/>
                </a:path>
              </a:pathLst>
            </a:custGeom>
            <a:solidFill>
              <a:srgbClr val="EEF3F8"/>
            </a:solidFill>
            <a:ln w="25400" cap="sq">
              <a:solidFill>
                <a:srgbClr val="EEF3F8"/>
              </a:solidFill>
              <a:prstDash val="solid"/>
              <a:miter/>
            </a:ln>
          </p:spPr>
        </p:sp>
      </p:grpSp>
      <p:grpSp>
        <p:nvGrpSpPr>
          <p:cNvPr name="Group 15" id="15"/>
          <p:cNvGrpSpPr/>
          <p:nvPr/>
        </p:nvGrpSpPr>
        <p:grpSpPr>
          <a:xfrm rot="0">
            <a:off x="1280160" y="2560320"/>
            <a:ext cx="1828800" cy="1737360"/>
            <a:chOff x="0" y="0"/>
            <a:chExt cx="2438400" cy="2316480"/>
          </a:xfrm>
        </p:grpSpPr>
        <p:sp>
          <p:nvSpPr>
            <p:cNvPr name="Freeform 16" id="16"/>
            <p:cNvSpPr/>
            <p:nvPr/>
          </p:nvSpPr>
          <p:spPr>
            <a:xfrm flipH="false" flipV="false" rot="0">
              <a:off x="0" y="0"/>
              <a:ext cx="2438400" cy="2316480"/>
            </a:xfrm>
            <a:custGeom>
              <a:avLst/>
              <a:gdLst/>
              <a:ahLst/>
              <a:cxnLst/>
              <a:rect r="r" b="b" t="t" l="l"/>
              <a:pathLst>
                <a:path h="2316480" w="2438400">
                  <a:moveTo>
                    <a:pt x="0" y="0"/>
                  </a:moveTo>
                  <a:lnTo>
                    <a:pt x="2438400" y="0"/>
                  </a:lnTo>
                  <a:lnTo>
                    <a:pt x="2438400" y="2316480"/>
                  </a:lnTo>
                  <a:lnTo>
                    <a:pt x="0" y="2316480"/>
                  </a:lnTo>
                  <a:close/>
                </a:path>
              </a:pathLst>
            </a:custGeom>
            <a:blipFill>
              <a:blip r:embed="rId3">
                <a:alphaModFix amt="0"/>
              </a:blip>
              <a:stretch>
                <a:fillRect l="-71888" t="0" r="-71888" b="0"/>
              </a:stretch>
            </a:blipFill>
          </p:spPr>
        </p:sp>
        <p:sp>
          <p:nvSpPr>
            <p:cNvPr name="TextBox 17" id="17"/>
            <p:cNvSpPr txBox="true"/>
            <p:nvPr/>
          </p:nvSpPr>
          <p:spPr>
            <a:xfrm>
              <a:off x="0" y="-9525"/>
              <a:ext cx="2438400" cy="2326005"/>
            </a:xfrm>
            <a:prstGeom prst="rect">
              <a:avLst/>
            </a:prstGeom>
          </p:spPr>
          <p:txBody>
            <a:bodyPr anchor="ctr" rtlCol="false" tIns="0" lIns="0" bIns="0" rIns="0"/>
            <a:lstStyle/>
            <a:p>
              <a:pPr algn="l">
                <a:lnSpc>
                  <a:spcPts val="9600"/>
                </a:lnSpc>
              </a:pPr>
              <a:r>
                <a:rPr lang="en-US" sz="8000" b="true">
                  <a:solidFill>
                    <a:srgbClr val="00897B"/>
                  </a:solidFill>
                  <a:latin typeface="Times New Roman"/>
                  <a:ea typeface="Times New Roman"/>
                  <a:cs typeface="Times New Roman"/>
                  <a:sym typeface="Times New Roman"/>
                </a:rPr>
                <a:t>30</a:t>
              </a:r>
            </a:p>
          </p:txBody>
        </p:sp>
      </p:grpSp>
      <p:grpSp>
        <p:nvGrpSpPr>
          <p:cNvPr name="Group 18" id="18"/>
          <p:cNvGrpSpPr/>
          <p:nvPr/>
        </p:nvGrpSpPr>
        <p:grpSpPr>
          <a:xfrm rot="0">
            <a:off x="3108960" y="2560320"/>
            <a:ext cx="2560320" cy="1737360"/>
            <a:chOff x="0" y="0"/>
            <a:chExt cx="3413760" cy="2316480"/>
          </a:xfrm>
        </p:grpSpPr>
        <p:sp>
          <p:nvSpPr>
            <p:cNvPr name="Freeform 19" id="19"/>
            <p:cNvSpPr/>
            <p:nvPr/>
          </p:nvSpPr>
          <p:spPr>
            <a:xfrm flipH="false" flipV="false" rot="0">
              <a:off x="0" y="0"/>
              <a:ext cx="3413760" cy="2316480"/>
            </a:xfrm>
            <a:custGeom>
              <a:avLst/>
              <a:gdLst/>
              <a:ahLst/>
              <a:cxnLst/>
              <a:rect r="r" b="b" t="t" l="l"/>
              <a:pathLst>
                <a:path h="2316480" w="3413760">
                  <a:moveTo>
                    <a:pt x="0" y="0"/>
                  </a:moveTo>
                  <a:lnTo>
                    <a:pt x="3413760" y="0"/>
                  </a:lnTo>
                  <a:lnTo>
                    <a:pt x="3413760" y="2316480"/>
                  </a:lnTo>
                  <a:lnTo>
                    <a:pt x="0" y="2316480"/>
                  </a:lnTo>
                  <a:close/>
                </a:path>
              </a:pathLst>
            </a:custGeom>
            <a:blipFill>
              <a:blip r:embed="rId3">
                <a:alphaModFix amt="0"/>
              </a:blip>
              <a:stretch>
                <a:fillRect l="-37063" t="0" r="-37063" b="0"/>
              </a:stretch>
            </a:blipFill>
          </p:spPr>
        </p:sp>
        <p:sp>
          <p:nvSpPr>
            <p:cNvPr name="TextBox 20" id="20"/>
            <p:cNvSpPr txBox="true"/>
            <p:nvPr/>
          </p:nvSpPr>
          <p:spPr>
            <a:xfrm>
              <a:off x="0" y="-57150"/>
              <a:ext cx="3413760" cy="2373630"/>
            </a:xfrm>
            <a:prstGeom prst="rect">
              <a:avLst/>
            </a:prstGeom>
          </p:spPr>
          <p:txBody>
            <a:bodyPr anchor="ctr" rtlCol="false" tIns="0" lIns="0" bIns="0" rIns="0"/>
            <a:lstStyle/>
            <a:p>
              <a:pPr algn="l">
                <a:lnSpc>
                  <a:spcPts val="3120"/>
                </a:lnSpc>
              </a:pPr>
              <a:r>
                <a:rPr lang="en-US" sz="2600">
                  <a:solidFill>
                    <a:srgbClr val="14213D"/>
                  </a:solidFill>
                  <a:latin typeface="Times New Roman"/>
                  <a:ea typeface="Times New Roman"/>
                  <a:cs typeface="Times New Roman"/>
                  <a:sym typeface="Times New Roman"/>
                </a:rPr>
                <a:t>nhịp mô phỏng mỗi giây (cố định)</a:t>
              </a:r>
            </a:p>
          </p:txBody>
        </p:sp>
      </p:grpSp>
      <p:grpSp>
        <p:nvGrpSpPr>
          <p:cNvPr name="Group 21" id="21"/>
          <p:cNvGrpSpPr/>
          <p:nvPr/>
        </p:nvGrpSpPr>
        <p:grpSpPr>
          <a:xfrm rot="0">
            <a:off x="6388103" y="2456183"/>
            <a:ext cx="4963163" cy="1945643"/>
            <a:chOff x="0" y="0"/>
            <a:chExt cx="6617551" cy="2594191"/>
          </a:xfrm>
        </p:grpSpPr>
        <p:sp>
          <p:nvSpPr>
            <p:cNvPr name="Freeform 22" id="22"/>
            <p:cNvSpPr/>
            <p:nvPr/>
          </p:nvSpPr>
          <p:spPr>
            <a:xfrm flipH="false" flipV="false" rot="0">
              <a:off x="0" y="0"/>
              <a:ext cx="6617462" cy="2594102"/>
            </a:xfrm>
            <a:custGeom>
              <a:avLst/>
              <a:gdLst/>
              <a:ahLst/>
              <a:cxnLst/>
              <a:rect r="r" b="b" t="t" l="l"/>
              <a:pathLst>
                <a:path h="2594102" w="6617462">
                  <a:moveTo>
                    <a:pt x="0" y="247015"/>
                  </a:moveTo>
                  <a:cubicBezTo>
                    <a:pt x="0" y="110617"/>
                    <a:pt x="110617" y="0"/>
                    <a:pt x="247015" y="0"/>
                  </a:cubicBezTo>
                  <a:lnTo>
                    <a:pt x="6370447" y="0"/>
                  </a:lnTo>
                  <a:cubicBezTo>
                    <a:pt x="6506845" y="0"/>
                    <a:pt x="6617462" y="110617"/>
                    <a:pt x="6617462" y="247015"/>
                  </a:cubicBezTo>
                  <a:lnTo>
                    <a:pt x="6617462" y="2347087"/>
                  </a:lnTo>
                  <a:cubicBezTo>
                    <a:pt x="6617462" y="2483485"/>
                    <a:pt x="6506845" y="2594102"/>
                    <a:pt x="6370447" y="2594102"/>
                  </a:cubicBezTo>
                  <a:lnTo>
                    <a:pt x="247015" y="2594102"/>
                  </a:lnTo>
                  <a:cubicBezTo>
                    <a:pt x="110617" y="2594229"/>
                    <a:pt x="0" y="2483612"/>
                    <a:pt x="0" y="2347087"/>
                  </a:cubicBezTo>
                  <a:close/>
                </a:path>
              </a:pathLst>
            </a:custGeom>
            <a:solidFill>
              <a:srgbClr val="EEF3F8"/>
            </a:solidFill>
            <a:ln w="25400" cap="sq">
              <a:solidFill>
                <a:srgbClr val="EEF3F8"/>
              </a:solidFill>
              <a:prstDash val="solid"/>
              <a:miter/>
            </a:ln>
          </p:spPr>
        </p:sp>
      </p:grpSp>
      <p:grpSp>
        <p:nvGrpSpPr>
          <p:cNvPr name="Group 23" id="23"/>
          <p:cNvGrpSpPr/>
          <p:nvPr/>
        </p:nvGrpSpPr>
        <p:grpSpPr>
          <a:xfrm rot="0">
            <a:off x="6766560" y="2560320"/>
            <a:ext cx="1828800" cy="1737360"/>
            <a:chOff x="0" y="0"/>
            <a:chExt cx="2438400" cy="2316480"/>
          </a:xfrm>
        </p:grpSpPr>
        <p:sp>
          <p:nvSpPr>
            <p:cNvPr name="Freeform 24" id="24"/>
            <p:cNvSpPr/>
            <p:nvPr/>
          </p:nvSpPr>
          <p:spPr>
            <a:xfrm flipH="false" flipV="false" rot="0">
              <a:off x="0" y="0"/>
              <a:ext cx="2438400" cy="2316480"/>
            </a:xfrm>
            <a:custGeom>
              <a:avLst/>
              <a:gdLst/>
              <a:ahLst/>
              <a:cxnLst/>
              <a:rect r="r" b="b" t="t" l="l"/>
              <a:pathLst>
                <a:path h="2316480" w="2438400">
                  <a:moveTo>
                    <a:pt x="0" y="0"/>
                  </a:moveTo>
                  <a:lnTo>
                    <a:pt x="2438400" y="0"/>
                  </a:lnTo>
                  <a:lnTo>
                    <a:pt x="2438400" y="2316480"/>
                  </a:lnTo>
                  <a:lnTo>
                    <a:pt x="0" y="2316480"/>
                  </a:lnTo>
                  <a:close/>
                </a:path>
              </a:pathLst>
            </a:custGeom>
            <a:blipFill>
              <a:blip r:embed="rId3">
                <a:alphaModFix amt="0"/>
              </a:blip>
              <a:stretch>
                <a:fillRect l="-71888" t="0" r="-71888" b="0"/>
              </a:stretch>
            </a:blipFill>
          </p:spPr>
        </p:sp>
        <p:sp>
          <p:nvSpPr>
            <p:cNvPr name="TextBox 25" id="25"/>
            <p:cNvSpPr txBox="true"/>
            <p:nvPr/>
          </p:nvSpPr>
          <p:spPr>
            <a:xfrm>
              <a:off x="0" y="-9525"/>
              <a:ext cx="2438400" cy="2326005"/>
            </a:xfrm>
            <a:prstGeom prst="rect">
              <a:avLst/>
            </a:prstGeom>
          </p:spPr>
          <p:txBody>
            <a:bodyPr anchor="ctr" rtlCol="false" tIns="0" lIns="0" bIns="0" rIns="0"/>
            <a:lstStyle/>
            <a:p>
              <a:pPr algn="l">
                <a:lnSpc>
                  <a:spcPts val="9600"/>
                </a:lnSpc>
              </a:pPr>
              <a:r>
                <a:rPr lang="en-US" sz="8000" b="true">
                  <a:solidFill>
                    <a:srgbClr val="00897B"/>
                  </a:solidFill>
                  <a:latin typeface="Times New Roman"/>
                  <a:ea typeface="Times New Roman"/>
                  <a:cs typeface="Times New Roman"/>
                  <a:sym typeface="Times New Roman"/>
                </a:rPr>
                <a:t>20</a:t>
              </a:r>
            </a:p>
          </p:txBody>
        </p:sp>
      </p:grpSp>
      <p:grpSp>
        <p:nvGrpSpPr>
          <p:cNvPr name="Group 26" id="26"/>
          <p:cNvGrpSpPr/>
          <p:nvPr/>
        </p:nvGrpSpPr>
        <p:grpSpPr>
          <a:xfrm rot="0">
            <a:off x="8595360" y="2560320"/>
            <a:ext cx="2560320" cy="1737360"/>
            <a:chOff x="0" y="0"/>
            <a:chExt cx="3413760" cy="2316480"/>
          </a:xfrm>
        </p:grpSpPr>
        <p:sp>
          <p:nvSpPr>
            <p:cNvPr name="Freeform 27" id="27"/>
            <p:cNvSpPr/>
            <p:nvPr/>
          </p:nvSpPr>
          <p:spPr>
            <a:xfrm flipH="false" flipV="false" rot="0">
              <a:off x="0" y="0"/>
              <a:ext cx="3413760" cy="2316480"/>
            </a:xfrm>
            <a:custGeom>
              <a:avLst/>
              <a:gdLst/>
              <a:ahLst/>
              <a:cxnLst/>
              <a:rect r="r" b="b" t="t" l="l"/>
              <a:pathLst>
                <a:path h="2316480" w="3413760">
                  <a:moveTo>
                    <a:pt x="0" y="0"/>
                  </a:moveTo>
                  <a:lnTo>
                    <a:pt x="3413760" y="0"/>
                  </a:lnTo>
                  <a:lnTo>
                    <a:pt x="3413760" y="2316480"/>
                  </a:lnTo>
                  <a:lnTo>
                    <a:pt x="0" y="2316480"/>
                  </a:lnTo>
                  <a:close/>
                </a:path>
              </a:pathLst>
            </a:custGeom>
            <a:blipFill>
              <a:blip r:embed="rId3">
                <a:alphaModFix amt="0"/>
              </a:blip>
              <a:stretch>
                <a:fillRect l="-37063" t="0" r="-37063" b="0"/>
              </a:stretch>
            </a:blipFill>
          </p:spPr>
        </p:sp>
        <p:sp>
          <p:nvSpPr>
            <p:cNvPr name="TextBox 28" id="28"/>
            <p:cNvSpPr txBox="true"/>
            <p:nvPr/>
          </p:nvSpPr>
          <p:spPr>
            <a:xfrm>
              <a:off x="0" y="-57150"/>
              <a:ext cx="3413760" cy="2373630"/>
            </a:xfrm>
            <a:prstGeom prst="rect">
              <a:avLst/>
            </a:prstGeom>
          </p:spPr>
          <p:txBody>
            <a:bodyPr anchor="ctr" rtlCol="false" tIns="0" lIns="0" bIns="0" rIns="0"/>
            <a:lstStyle/>
            <a:p>
              <a:pPr algn="l">
                <a:lnSpc>
                  <a:spcPts val="3120"/>
                </a:lnSpc>
              </a:pPr>
              <a:r>
                <a:rPr lang="en-US" sz="2600">
                  <a:solidFill>
                    <a:srgbClr val="14213D"/>
                  </a:solidFill>
                  <a:latin typeface="Times New Roman"/>
                  <a:ea typeface="Times New Roman"/>
                  <a:cs typeface="Times New Roman"/>
                  <a:sym typeface="Times New Roman"/>
                </a:rPr>
                <a:t>ảnh trạng thái gửi mỗi giây</a:t>
              </a:r>
            </a:p>
          </p:txBody>
        </p:sp>
      </p:grpSp>
      <p:grpSp>
        <p:nvGrpSpPr>
          <p:cNvPr name="Group 29" id="29"/>
          <p:cNvGrpSpPr/>
          <p:nvPr/>
        </p:nvGrpSpPr>
        <p:grpSpPr>
          <a:xfrm rot="0">
            <a:off x="11779882" y="2453002"/>
            <a:ext cx="5609587" cy="6706867"/>
            <a:chOff x="0" y="0"/>
            <a:chExt cx="7479449" cy="8942489"/>
          </a:xfrm>
        </p:grpSpPr>
        <p:sp>
          <p:nvSpPr>
            <p:cNvPr name="Freeform 30" id="30"/>
            <p:cNvSpPr/>
            <p:nvPr/>
          </p:nvSpPr>
          <p:spPr>
            <a:xfrm flipH="false" flipV="false" rot="0">
              <a:off x="0" y="0"/>
              <a:ext cx="7479538" cy="8942578"/>
            </a:xfrm>
            <a:custGeom>
              <a:avLst/>
              <a:gdLst/>
              <a:ahLst/>
              <a:cxnLst/>
              <a:rect r="r" b="b" t="t" l="l"/>
              <a:pathLst>
                <a:path h="8942578" w="747953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4"/>
              <a:stretch>
                <a:fillRect l="0" t="-183" r="0" b="-183"/>
              </a:stretch>
            </a:blipFill>
            <a:ln w="31750" cap="sq">
              <a:solidFill>
                <a:srgbClr val="00897B"/>
              </a:solidFill>
              <a:prstDash val="dash"/>
              <a:miter/>
            </a:ln>
          </p:spPr>
        </p:sp>
      </p:grpSp>
      <p:sp>
        <p:nvSpPr>
          <p:cNvPr name="TextBox 31" id="31"/>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VẤN ĐỀ 1</a:t>
            </a:r>
          </a:p>
        </p:txBody>
      </p:sp>
      <p:sp>
        <p:nvSpPr>
          <p:cNvPr name="TextBox 32" id="32"/>
          <p:cNvSpPr txBox="true"/>
          <p:nvPr/>
        </p:nvSpPr>
        <p:spPr>
          <a:xfrm rot="0">
            <a:off x="914400" y="4779645"/>
            <a:ext cx="10424160" cy="4455795"/>
          </a:xfrm>
          <a:prstGeom prst="rect">
            <a:avLst/>
          </a:prstGeom>
        </p:spPr>
        <p:txBody>
          <a:bodyPr anchor="t" rtlCol="false" tIns="0" lIns="0" bIns="0" rIns="0">
            <a:spAutoFit/>
          </a:bodyPr>
          <a:lstStyle/>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Mỗi nhịp xử lý tối đa </a:t>
            </a:r>
            <a:r>
              <a:rPr lang="en-US" b="true" sz="2799">
                <a:solidFill>
                  <a:srgbClr val="14213D"/>
                </a:solidFill>
                <a:latin typeface="Times New Roman"/>
                <a:ea typeface="Times New Roman"/>
                <a:cs typeface="Times New Roman"/>
                <a:sym typeface="Times New Roman"/>
              </a:rPr>
              <a:t>1 lệnh/người</a:t>
            </a:r>
            <a:r>
              <a:rPr lang="en-US" sz="2799">
                <a:solidFill>
                  <a:srgbClr val="14213D"/>
                </a:solidFill>
                <a:latin typeface="Times New Roman"/>
                <a:ea typeface="Times New Roman"/>
                <a:cs typeface="Times New Roman"/>
                <a:sym typeface="Times New Roman"/>
              </a:rPr>
              <a:t>, nên gửi nhiều lệnh cũng không chạy nhanh hơn</a:t>
            </a:r>
          </a:p>
          <a:p>
            <a:pPr algn="l" marL="675639" indent="-337820" lvl="1">
              <a:lnSpc>
                <a:spcPts val="3359"/>
              </a:lnSpc>
              <a:buFont typeface="Times New Roman"/>
              <a:buChar char="•"/>
            </a:pPr>
            <a:r>
              <a:rPr lang="en-US" b="true" sz="2799">
                <a:solidFill>
                  <a:srgbClr val="14213D"/>
                </a:solidFill>
                <a:latin typeface="Times New Roman"/>
                <a:ea typeface="Times New Roman"/>
                <a:cs typeface="Times New Roman"/>
                <a:sym typeface="Times New Roman"/>
              </a:rPr>
              <a:t>TCP:</a:t>
            </a:r>
            <a:r>
              <a:rPr lang="en-US" sz="2799">
                <a:solidFill>
                  <a:srgbClr val="14213D"/>
                </a:solidFill>
                <a:latin typeface="Times New Roman"/>
                <a:ea typeface="Times New Roman"/>
                <a:cs typeface="Times New Roman"/>
                <a:sym typeface="Times New Roman"/>
              </a:rPr>
              <a:t> đăng nhập, ghép trận, kết quả quan trọng · </a:t>
            </a:r>
            <a:r>
              <a:rPr lang="en-US" b="true" sz="2799">
                <a:solidFill>
                  <a:srgbClr val="14213D"/>
                </a:solidFill>
                <a:latin typeface="Times New Roman"/>
                <a:ea typeface="Times New Roman"/>
                <a:cs typeface="Times New Roman"/>
                <a:sym typeface="Times New Roman"/>
              </a:rPr>
              <a:t>UDP:</a:t>
            </a:r>
            <a:r>
              <a:rPr lang="en-US" sz="2799">
                <a:solidFill>
                  <a:srgbClr val="14213D"/>
                </a:solidFill>
                <a:latin typeface="Times New Roman"/>
                <a:ea typeface="Times New Roman"/>
                <a:cs typeface="Times New Roman"/>
                <a:sym typeface="Times New Roman"/>
              </a:rPr>
              <a:t> lệnh, ảnh trạng thái</a:t>
            </a:r>
          </a:p>
        </p:txBody>
      </p:sp>
      <p:sp>
        <p:nvSpPr>
          <p:cNvPr name="TextBox 33" id="33"/>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9</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47" name="Header band"/>
          <p:cNvSpPr/>
          <p:nvPr/>
        </p:nvSpPr>
        <p:spPr>
          <a:xfrm>
            <a:off x="0" y="0"/>
            <a:ext cx="18288000" cy="2103120"/>
          </a:xfrm>
          <a:prstGeom prst="rect">
            <a:avLst/>
          </a:prstGeom>
          <a:solidFill>
            <a:srgbClr val="14213D"/>
          </a:solidFill>
          <a:ln>
            <a:noFill/>
          </a:ln>
        </p:spPr>
      </p:sp>
      <p:sp>
        <p:nvSpPr>
          <p:cNvPr id="9048"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grpSp>
        <p:nvGrpSpPr>
          <p:cNvPr name="Group 5" id="5"/>
          <p:cNvGrpSpPr/>
          <p:nvPr/>
        </p:nvGrpSpPr>
        <p:grpSpPr>
          <a:xfrm rot="0">
            <a:off x="914400" y="768096"/>
            <a:ext cx="14081760" cy="1097280"/>
            <a:chOff x="0" y="0"/>
            <a:chExt cx="18775680" cy="1463040"/>
          </a:xfrm>
        </p:grpSpPr>
        <p:sp>
          <p:nvSpPr>
            <p:cNvPr name="Freeform 6" id="6"/>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7" id="7"/>
            <p:cNvSpPr txBox="true"/>
            <p:nvPr/>
          </p:nvSpPr>
          <p:spPr>
            <a:xfrm>
              <a:off x="0" y="-9525"/>
              <a:ext cx="18775680" cy="1472565"/>
            </a:xfrm>
            <a:prstGeom prst="rect">
              <a:avLst/>
            </a:prstGeom>
          </p:spPr>
          <p:txBody>
            <a:bodyPr anchor="ctr" rtlCol="false" tIns="0" lIns="0" bIns="0" rIns="0"/>
            <a:lstStyle/>
            <a:p>
              <a:pPr algn="l">
                <a:lnSpc>
                  <a:spcPts val="6785"/>
                </a:lnSpc>
              </a:pPr>
              <a:r>
                <a:rPr lang="en-US" sz="5900" b="true">
                  <a:solidFill>
                    <a:srgbClr val="FFFFFF"/>
                  </a:solidFill>
                  <a:latin typeface="Times New Roman"/>
                  <a:ea typeface="Times New Roman"/>
                  <a:cs typeface="Times New Roman"/>
                  <a:sym typeface="Times New Roman"/>
                </a:rPr>
                <a:t>Điều khiển bị ì → dự đoán phía client</a:t>
              </a:r>
            </a:p>
          </p:txBody>
        </p:sp>
      </p:grpSp>
      <p:grpSp>
        <p:nvGrpSpPr>
          <p:cNvPr name="Group 8" id="8"/>
          <p:cNvGrpSpPr/>
          <p:nvPr/>
        </p:nvGrpSpPr>
        <p:grpSpPr>
          <a:xfrm rot="0">
            <a:off x="15257783" y="682247"/>
            <a:ext cx="2128523" cy="647195"/>
            <a:chOff x="0" y="0"/>
            <a:chExt cx="2838031" cy="862927"/>
          </a:xfrm>
        </p:grpSpPr>
        <p:sp>
          <p:nvSpPr>
            <p:cNvPr name="Freeform 9" id="9"/>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sp>
      </p:grpSp>
      <p:grpSp>
        <p:nvGrpSpPr>
          <p:cNvPr name="Group 10" id="10"/>
          <p:cNvGrpSpPr/>
          <p:nvPr/>
        </p:nvGrpSpPr>
        <p:grpSpPr>
          <a:xfrm rot="0">
            <a:off x="15270480" y="694944"/>
            <a:ext cx="2103120" cy="621792"/>
            <a:chOff x="0" y="0"/>
            <a:chExt cx="2804160" cy="829056"/>
          </a:xfrm>
        </p:grpSpPr>
        <p:sp>
          <p:nvSpPr>
            <p:cNvPr name="Freeform 11" id="11"/>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2" id="12"/>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#2</a:t>
              </a:r>
            </a:p>
          </p:txBody>
        </p:sp>
      </p:grpSp>
      <p:grpSp>
        <p:nvGrpSpPr>
          <p:cNvPr name="Group 13" id="13"/>
          <p:cNvGrpSpPr/>
          <p:nvPr/>
        </p:nvGrpSpPr>
        <p:grpSpPr>
          <a:xfrm rot="0">
            <a:off x="914400" y="3657600"/>
            <a:ext cx="10424160" cy="402336"/>
            <a:chOff x="0" y="0"/>
            <a:chExt cx="13898880" cy="536448"/>
          </a:xfrm>
        </p:grpSpPr>
        <p:sp>
          <p:nvSpPr>
            <p:cNvPr name="Freeform 14" id="14"/>
            <p:cNvSpPr/>
            <p:nvPr/>
          </p:nvSpPr>
          <p:spPr>
            <a:xfrm flipH="false" flipV="false" rot="0">
              <a:off x="0" y="0"/>
              <a:ext cx="13898880" cy="536448"/>
            </a:xfrm>
            <a:custGeom>
              <a:avLst/>
              <a:gdLst/>
              <a:ahLst/>
              <a:cxnLst/>
              <a:rect r="r" b="b" t="t" l="l"/>
              <a:pathLst>
                <a:path h="536448" w="13898880">
                  <a:moveTo>
                    <a:pt x="0" y="0"/>
                  </a:moveTo>
                  <a:lnTo>
                    <a:pt x="13898880" y="0"/>
                  </a:lnTo>
                  <a:lnTo>
                    <a:pt x="13898880" y="536448"/>
                  </a:lnTo>
                  <a:lnTo>
                    <a:pt x="0" y="536448"/>
                  </a:lnTo>
                  <a:close/>
                </a:path>
              </a:pathLst>
            </a:custGeom>
            <a:blipFill>
              <a:blip r:embed="rId3">
                <a:alphaModFix amt="0"/>
              </a:blip>
              <a:stretch>
                <a:fillRect l="0" t="-454839" r="0" b="-454839"/>
              </a:stretch>
            </a:blipFill>
          </p:spPr>
        </p:sp>
        <p:sp>
          <p:nvSpPr>
            <p:cNvPr name="TextBox 15" id="15"/>
            <p:cNvSpPr txBox="true"/>
            <p:nvPr/>
          </p:nvSpPr>
          <p:spPr>
            <a:xfrm>
              <a:off x="0" y="-38100"/>
              <a:ext cx="13898880" cy="574548"/>
            </a:xfrm>
            <a:prstGeom prst="rect">
              <a:avLst/>
            </a:prstGeom>
          </p:spPr>
          <p:txBody>
            <a:bodyPr anchor="ctr" rtlCol="false" tIns="0" lIns="0" bIns="0" rIns="0"/>
            <a:lstStyle/>
            <a:p>
              <a:pPr algn="l">
                <a:lnSpc>
                  <a:spcPts val="2400"/>
                </a:lnSpc>
              </a:pPr>
              <a:r>
                <a:rPr lang="en-US" b="true" sz="2000" spc="300">
                  <a:solidFill>
                    <a:srgbClr val="5B6B82"/>
                  </a:solidFill>
                  <a:latin typeface="Times New Roman"/>
                  <a:ea typeface="Times New Roman"/>
                  <a:cs typeface="Times New Roman"/>
                  <a:sym typeface="Times New Roman"/>
                </a:rPr>
                <a:t>CÁC HƯỚNG</a:t>
              </a:r>
            </a:p>
          </p:txBody>
        </p:sp>
      </p:grpSp>
      <p:grpSp>
        <p:nvGrpSpPr>
          <p:cNvPr name="Group 16" id="16"/>
          <p:cNvGrpSpPr/>
          <p:nvPr/>
        </p:nvGrpSpPr>
        <p:grpSpPr>
          <a:xfrm rot="0">
            <a:off x="1097280" y="4151376"/>
            <a:ext cx="548640" cy="585216"/>
            <a:chOff x="0" y="0"/>
            <a:chExt cx="731520" cy="780288"/>
          </a:xfrm>
        </p:grpSpPr>
        <p:sp>
          <p:nvSpPr>
            <p:cNvPr name="Freeform 17" id="17"/>
            <p:cNvSpPr/>
            <p:nvPr/>
          </p:nvSpPr>
          <p:spPr>
            <a:xfrm flipH="false" flipV="false" rot="0">
              <a:off x="0" y="0"/>
              <a:ext cx="731520" cy="780288"/>
            </a:xfrm>
            <a:custGeom>
              <a:avLst/>
              <a:gdLst/>
              <a:ahLst/>
              <a:cxnLst/>
              <a:rect r="r" b="b" t="t" l="l"/>
              <a:pathLst>
                <a:path h="780288" w="731520">
                  <a:moveTo>
                    <a:pt x="0" y="0"/>
                  </a:moveTo>
                  <a:lnTo>
                    <a:pt x="731520" y="0"/>
                  </a:lnTo>
                  <a:lnTo>
                    <a:pt x="731520" y="780288"/>
                  </a:lnTo>
                  <a:lnTo>
                    <a:pt x="0" y="780288"/>
                  </a:lnTo>
                  <a:close/>
                </a:path>
              </a:pathLst>
            </a:custGeom>
            <a:blipFill>
              <a:blip r:embed="rId3">
                <a:alphaModFix amt="0"/>
              </a:blip>
              <a:stretch>
                <a:fillRect l="-86857" t="0" r="-86857" b="0"/>
              </a:stretch>
            </a:blipFill>
          </p:spPr>
        </p:sp>
        <p:sp>
          <p:nvSpPr>
            <p:cNvPr name="TextBox 18" id="18"/>
            <p:cNvSpPr txBox="true"/>
            <p:nvPr/>
          </p:nvSpPr>
          <p:spPr>
            <a:xfrm>
              <a:off x="0" y="-66675"/>
              <a:ext cx="731520" cy="846963"/>
            </a:xfrm>
            <a:prstGeom prst="rect">
              <a:avLst/>
            </a:prstGeom>
          </p:spPr>
          <p:txBody>
            <a:bodyPr anchor="ctr" rtlCol="false" tIns="0" lIns="0" bIns="0" rIns="0"/>
            <a:lstStyle/>
            <a:p>
              <a:pPr algn="ctr">
                <a:lnSpc>
                  <a:spcPts val="3600"/>
                </a:lnSpc>
              </a:pPr>
              <a:r>
                <a:rPr lang="en-US" sz="3000">
                  <a:solidFill>
                    <a:srgbClr val="5B6B82"/>
                  </a:solidFill>
                  <a:latin typeface="Times New Roman"/>
                  <a:ea typeface="Times New Roman"/>
                  <a:cs typeface="Times New Roman"/>
                  <a:sym typeface="Times New Roman"/>
                </a:rPr>
                <a:t>○</a:t>
              </a:r>
            </a:p>
          </p:txBody>
        </p:sp>
      </p:grpSp>
      <p:grpSp>
        <p:nvGrpSpPr>
          <p:cNvPr name="Group 19" id="19"/>
          <p:cNvGrpSpPr/>
          <p:nvPr/>
        </p:nvGrpSpPr>
        <p:grpSpPr>
          <a:xfrm rot="0">
            <a:off x="1737360" y="4151376"/>
            <a:ext cx="7772400" cy="585216"/>
            <a:chOff x="0" y="0"/>
            <a:chExt cx="10363200" cy="780288"/>
          </a:xfrm>
        </p:grpSpPr>
        <p:sp>
          <p:nvSpPr>
            <p:cNvPr name="Freeform 20" id="20"/>
            <p:cNvSpPr/>
            <p:nvPr/>
          </p:nvSpPr>
          <p:spPr>
            <a:xfrm flipH="false" flipV="false" rot="0">
              <a:off x="0" y="0"/>
              <a:ext cx="10363200" cy="780288"/>
            </a:xfrm>
            <a:custGeom>
              <a:avLst/>
              <a:gdLst/>
              <a:ahLst/>
              <a:cxnLst/>
              <a:rect r="r" b="b" t="t" l="l"/>
              <a:pathLst>
                <a:path h="780288" w="10363200">
                  <a:moveTo>
                    <a:pt x="0" y="0"/>
                  </a:moveTo>
                  <a:lnTo>
                    <a:pt x="10363200" y="0"/>
                  </a:lnTo>
                  <a:lnTo>
                    <a:pt x="10363200" y="780288"/>
                  </a:lnTo>
                  <a:lnTo>
                    <a:pt x="0" y="780288"/>
                  </a:lnTo>
                  <a:close/>
                </a:path>
              </a:pathLst>
            </a:custGeom>
            <a:blipFill>
              <a:blip r:embed="rId3">
                <a:alphaModFix amt="0"/>
              </a:blip>
              <a:stretch>
                <a:fillRect l="0" t="-208785" r="0" b="-208785"/>
              </a:stretch>
            </a:blipFill>
          </p:spPr>
        </p:sp>
        <p:sp>
          <p:nvSpPr>
            <p:cNvPr name="TextBox 21" id="21"/>
            <p:cNvSpPr txBox="true"/>
            <p:nvPr/>
          </p:nvSpPr>
          <p:spPr>
            <a:xfrm>
              <a:off x="0" y="-66675"/>
              <a:ext cx="10363200" cy="846963"/>
            </a:xfrm>
            <a:prstGeom prst="rect">
              <a:avLst/>
            </a:prstGeom>
          </p:spPr>
          <p:txBody>
            <a:bodyPr anchor="ctr" rtlCol="false" tIns="0" lIns="0" bIns="0" rIns="0"/>
            <a:lstStyle/>
            <a:p>
              <a:pPr algn="l">
                <a:lnSpc>
                  <a:spcPts val="3359"/>
                </a:lnSpc>
              </a:pPr>
              <a:r>
                <a:rPr lang="en-US" sz="2799">
                  <a:solidFill>
                    <a:srgbClr val="14213D"/>
                  </a:solidFill>
                  <a:latin typeface="Times New Roman"/>
                  <a:ea typeface="Times New Roman"/>
                  <a:cs typeface="Times New Roman"/>
                  <a:sym typeface="Times New Roman"/>
                </a:rPr>
                <a:t>Chờ server</a:t>
              </a:r>
            </a:p>
          </p:txBody>
        </p:sp>
      </p:grpSp>
      <p:grpSp>
        <p:nvGrpSpPr>
          <p:cNvPr name="Group 22" id="22"/>
          <p:cNvGrpSpPr/>
          <p:nvPr/>
        </p:nvGrpSpPr>
        <p:grpSpPr>
          <a:xfrm rot="0">
            <a:off x="1097280" y="4809744"/>
            <a:ext cx="548640" cy="585216"/>
            <a:chOff x="0" y="0"/>
            <a:chExt cx="731520" cy="780288"/>
          </a:xfrm>
        </p:grpSpPr>
        <p:sp>
          <p:nvSpPr>
            <p:cNvPr name="Freeform 23" id="23"/>
            <p:cNvSpPr/>
            <p:nvPr/>
          </p:nvSpPr>
          <p:spPr>
            <a:xfrm flipH="false" flipV="false" rot="0">
              <a:off x="0" y="0"/>
              <a:ext cx="731520" cy="780288"/>
            </a:xfrm>
            <a:custGeom>
              <a:avLst/>
              <a:gdLst/>
              <a:ahLst/>
              <a:cxnLst/>
              <a:rect r="r" b="b" t="t" l="l"/>
              <a:pathLst>
                <a:path h="780288" w="731520">
                  <a:moveTo>
                    <a:pt x="0" y="0"/>
                  </a:moveTo>
                  <a:lnTo>
                    <a:pt x="731520" y="0"/>
                  </a:lnTo>
                  <a:lnTo>
                    <a:pt x="731520" y="780288"/>
                  </a:lnTo>
                  <a:lnTo>
                    <a:pt x="0" y="780288"/>
                  </a:lnTo>
                  <a:close/>
                </a:path>
              </a:pathLst>
            </a:custGeom>
            <a:blipFill>
              <a:blip r:embed="rId3">
                <a:alphaModFix amt="0"/>
              </a:blip>
              <a:stretch>
                <a:fillRect l="-86857" t="0" r="-86857" b="0"/>
              </a:stretch>
            </a:blipFill>
          </p:spPr>
        </p:sp>
        <p:sp>
          <p:nvSpPr>
            <p:cNvPr name="TextBox 24" id="24"/>
            <p:cNvSpPr txBox="true"/>
            <p:nvPr/>
          </p:nvSpPr>
          <p:spPr>
            <a:xfrm>
              <a:off x="0" y="-66675"/>
              <a:ext cx="731520" cy="846963"/>
            </a:xfrm>
            <a:prstGeom prst="rect">
              <a:avLst/>
            </a:prstGeom>
          </p:spPr>
          <p:txBody>
            <a:bodyPr anchor="ctr" rtlCol="false" tIns="0" lIns="0" bIns="0" rIns="0"/>
            <a:lstStyle/>
            <a:p>
              <a:pPr algn="ctr">
                <a:lnSpc>
                  <a:spcPts val="3600"/>
                </a:lnSpc>
              </a:pPr>
              <a:r>
                <a:rPr lang="en-US" sz="3000">
                  <a:solidFill>
                    <a:srgbClr val="F4A259"/>
                  </a:solidFill>
                  <a:latin typeface="Times New Roman"/>
                  <a:ea typeface="Times New Roman"/>
                  <a:cs typeface="Times New Roman"/>
                  <a:sym typeface="Times New Roman"/>
                </a:rPr>
                <a:t>◐</a:t>
              </a:r>
            </a:p>
          </p:txBody>
        </p:sp>
      </p:grpSp>
      <p:grpSp>
        <p:nvGrpSpPr>
          <p:cNvPr name="Group 25" id="25"/>
          <p:cNvGrpSpPr/>
          <p:nvPr/>
        </p:nvGrpSpPr>
        <p:grpSpPr>
          <a:xfrm rot="0">
            <a:off x="1737360" y="4809744"/>
            <a:ext cx="7772400" cy="585216"/>
            <a:chOff x="0" y="0"/>
            <a:chExt cx="10363200" cy="780288"/>
          </a:xfrm>
        </p:grpSpPr>
        <p:sp>
          <p:nvSpPr>
            <p:cNvPr name="Freeform 26" id="26"/>
            <p:cNvSpPr/>
            <p:nvPr/>
          </p:nvSpPr>
          <p:spPr>
            <a:xfrm flipH="false" flipV="false" rot="0">
              <a:off x="0" y="0"/>
              <a:ext cx="10363200" cy="780288"/>
            </a:xfrm>
            <a:custGeom>
              <a:avLst/>
              <a:gdLst/>
              <a:ahLst/>
              <a:cxnLst/>
              <a:rect r="r" b="b" t="t" l="l"/>
              <a:pathLst>
                <a:path h="780288" w="10363200">
                  <a:moveTo>
                    <a:pt x="0" y="0"/>
                  </a:moveTo>
                  <a:lnTo>
                    <a:pt x="10363200" y="0"/>
                  </a:lnTo>
                  <a:lnTo>
                    <a:pt x="10363200" y="780288"/>
                  </a:lnTo>
                  <a:lnTo>
                    <a:pt x="0" y="780288"/>
                  </a:lnTo>
                  <a:close/>
                </a:path>
              </a:pathLst>
            </a:custGeom>
            <a:blipFill>
              <a:blip r:embed="rId3">
                <a:alphaModFix amt="0"/>
              </a:blip>
              <a:stretch>
                <a:fillRect l="0" t="-208785" r="0" b="-208785"/>
              </a:stretch>
            </a:blipFill>
          </p:spPr>
        </p:sp>
        <p:sp>
          <p:nvSpPr>
            <p:cNvPr name="TextBox 27" id="27"/>
            <p:cNvSpPr txBox="true"/>
            <p:nvPr/>
          </p:nvSpPr>
          <p:spPr>
            <a:xfrm>
              <a:off x="0" y="-66675"/>
              <a:ext cx="10363200" cy="846963"/>
            </a:xfrm>
            <a:prstGeom prst="rect">
              <a:avLst/>
            </a:prstGeom>
          </p:spPr>
          <p:txBody>
            <a:bodyPr anchor="ctr" rtlCol="false" tIns="0" lIns="0" bIns="0" rIns="0"/>
            <a:lstStyle/>
            <a:p>
              <a:pPr algn="l">
                <a:lnSpc>
                  <a:spcPts val="3359"/>
                </a:lnSpc>
              </a:pPr>
              <a:r>
                <a:rPr lang="en-US" sz="2799">
                  <a:solidFill>
                    <a:srgbClr val="14213D"/>
                  </a:solidFill>
                  <a:latin typeface="Times New Roman"/>
                  <a:ea typeface="Times New Roman"/>
                  <a:cs typeface="Times New Roman"/>
                  <a:sym typeface="Times New Roman"/>
                </a:rPr>
                <a:t>Che bằng hoạt ảnh</a:t>
              </a:r>
            </a:p>
          </p:txBody>
        </p:sp>
      </p:grpSp>
      <p:grpSp>
        <p:nvGrpSpPr>
          <p:cNvPr name="Group 28" id="28"/>
          <p:cNvGrpSpPr/>
          <p:nvPr/>
        </p:nvGrpSpPr>
        <p:grpSpPr>
          <a:xfrm rot="0">
            <a:off x="901703" y="5455415"/>
            <a:ext cx="10449563" cy="610619"/>
            <a:chOff x="0" y="0"/>
            <a:chExt cx="13932751" cy="814159"/>
          </a:xfrm>
        </p:grpSpPr>
        <p:sp>
          <p:nvSpPr>
            <p:cNvPr name="Freeform 29" id="29"/>
            <p:cNvSpPr/>
            <p:nvPr/>
          </p:nvSpPr>
          <p:spPr>
            <a:xfrm flipH="false" flipV="false" rot="0">
              <a:off x="0" y="0"/>
              <a:ext cx="13932790" cy="814197"/>
            </a:xfrm>
            <a:custGeom>
              <a:avLst/>
              <a:gdLst/>
              <a:ahLst/>
              <a:cxnLst/>
              <a:rect r="r" b="b" t="t" l="l"/>
              <a:pathLst>
                <a:path h="814197" w="13932790">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name="Group 30" id="30"/>
          <p:cNvGrpSpPr/>
          <p:nvPr/>
        </p:nvGrpSpPr>
        <p:grpSpPr>
          <a:xfrm rot="0">
            <a:off x="9601200" y="5468112"/>
            <a:ext cx="1554480" cy="585216"/>
            <a:chOff x="0" y="0"/>
            <a:chExt cx="2072640" cy="780288"/>
          </a:xfrm>
        </p:grpSpPr>
        <p:sp>
          <p:nvSpPr>
            <p:cNvPr name="Freeform 31" id="31"/>
            <p:cNvSpPr/>
            <p:nvPr/>
          </p:nvSpPr>
          <p:spPr>
            <a:xfrm flipH="false" flipV="false" rot="0">
              <a:off x="0" y="0"/>
              <a:ext cx="2072640" cy="780288"/>
            </a:xfrm>
            <a:custGeom>
              <a:avLst/>
              <a:gdLst/>
              <a:ahLst/>
              <a:cxnLst/>
              <a:rect r="r" b="b" t="t" l="l"/>
              <a:pathLst>
                <a:path h="780288" w="2072640">
                  <a:moveTo>
                    <a:pt x="0" y="0"/>
                  </a:moveTo>
                  <a:lnTo>
                    <a:pt x="2072640" y="0"/>
                  </a:lnTo>
                  <a:lnTo>
                    <a:pt x="2072640" y="780288"/>
                  </a:lnTo>
                  <a:lnTo>
                    <a:pt x="0" y="780288"/>
                  </a:lnTo>
                  <a:close/>
                </a:path>
              </a:pathLst>
            </a:custGeom>
            <a:blipFill>
              <a:blip r:embed="rId3">
                <a:alphaModFix amt="0"/>
              </a:blip>
              <a:stretch>
                <a:fillRect l="0" t="-1757" r="0" b="-1757"/>
              </a:stretch>
            </a:blipFill>
          </p:spPr>
        </p:sp>
        <p:sp>
          <p:nvSpPr>
            <p:cNvPr name="TextBox 32" id="32"/>
            <p:cNvSpPr txBox="true"/>
            <p:nvPr/>
          </p:nvSpPr>
          <p:spPr>
            <a:xfrm>
              <a:off x="0" y="-38100"/>
              <a:ext cx="2072640" cy="818388"/>
            </a:xfrm>
            <a:prstGeom prst="rect">
              <a:avLst/>
            </a:prstGeom>
          </p:spPr>
          <p:txBody>
            <a:bodyPr anchor="ctr" rtlCol="false" tIns="0" lIns="0" bIns="0" rIns="0"/>
            <a:lstStyle/>
            <a:p>
              <a:pPr algn="r">
                <a:lnSpc>
                  <a:spcPts val="2400"/>
                </a:lnSpc>
              </a:pPr>
              <a:r>
                <a:rPr lang="en-US" sz="2000" b="true">
                  <a:solidFill>
                    <a:srgbClr val="00897B"/>
                  </a:solidFill>
                  <a:latin typeface="Times New Roman"/>
                  <a:ea typeface="Times New Roman"/>
                  <a:cs typeface="Times New Roman"/>
                  <a:sym typeface="Times New Roman"/>
                </a:rPr>
                <a:t>ĐÃ CHỌN</a:t>
              </a:r>
            </a:p>
          </p:txBody>
        </p:sp>
      </p:grpSp>
      <p:grpSp>
        <p:nvGrpSpPr>
          <p:cNvPr name="Group 33" id="33"/>
          <p:cNvGrpSpPr/>
          <p:nvPr/>
        </p:nvGrpSpPr>
        <p:grpSpPr>
          <a:xfrm rot="0">
            <a:off x="1097280" y="5468112"/>
            <a:ext cx="548640" cy="585216"/>
            <a:chOff x="0" y="0"/>
            <a:chExt cx="731520" cy="780288"/>
          </a:xfrm>
        </p:grpSpPr>
        <p:sp>
          <p:nvSpPr>
            <p:cNvPr name="Freeform 34" id="34"/>
            <p:cNvSpPr/>
            <p:nvPr/>
          </p:nvSpPr>
          <p:spPr>
            <a:xfrm flipH="false" flipV="false" rot="0">
              <a:off x="0" y="0"/>
              <a:ext cx="731520" cy="780288"/>
            </a:xfrm>
            <a:custGeom>
              <a:avLst/>
              <a:gdLst/>
              <a:ahLst/>
              <a:cxnLst/>
              <a:rect r="r" b="b" t="t" l="l"/>
              <a:pathLst>
                <a:path h="780288" w="731520">
                  <a:moveTo>
                    <a:pt x="0" y="0"/>
                  </a:moveTo>
                  <a:lnTo>
                    <a:pt x="731520" y="0"/>
                  </a:lnTo>
                  <a:lnTo>
                    <a:pt x="731520" y="780288"/>
                  </a:lnTo>
                  <a:lnTo>
                    <a:pt x="0" y="780288"/>
                  </a:lnTo>
                  <a:close/>
                </a:path>
              </a:pathLst>
            </a:custGeom>
            <a:blipFill>
              <a:blip r:embed="rId3">
                <a:alphaModFix amt="0"/>
              </a:blip>
              <a:stretch>
                <a:fillRect l="-86857" t="0" r="-86857" b="0"/>
              </a:stretch>
            </a:blipFill>
          </p:spPr>
        </p:sp>
        <p:sp>
          <p:nvSpPr>
            <p:cNvPr name="TextBox 35" id="35"/>
            <p:cNvSpPr txBox="true"/>
            <p:nvPr/>
          </p:nvSpPr>
          <p:spPr>
            <a:xfrm>
              <a:off x="0" y="-66675"/>
              <a:ext cx="731520" cy="846963"/>
            </a:xfrm>
            <a:prstGeom prst="rect">
              <a:avLst/>
            </a:prstGeom>
          </p:spPr>
          <p:txBody>
            <a:bodyPr anchor="ctr" rtlCol="false" tIns="0" lIns="0" bIns="0" rIns="0"/>
            <a:lstStyle/>
            <a:p>
              <a:pPr algn="ctr">
                <a:lnSpc>
                  <a:spcPts val="3600"/>
                </a:lnSpc>
              </a:pPr>
              <a:r>
                <a:rPr lang="en-US" sz="3000">
                  <a:solidFill>
                    <a:srgbClr val="00897B"/>
                  </a:solidFill>
                  <a:latin typeface="Times New Roman"/>
                  <a:ea typeface="Times New Roman"/>
                  <a:cs typeface="Times New Roman"/>
                  <a:sym typeface="Times New Roman"/>
                </a:rPr>
                <a:t>●</a:t>
              </a:r>
            </a:p>
          </p:txBody>
        </p:sp>
      </p:grpSp>
      <p:grpSp>
        <p:nvGrpSpPr>
          <p:cNvPr name="Group 36" id="36"/>
          <p:cNvGrpSpPr/>
          <p:nvPr/>
        </p:nvGrpSpPr>
        <p:grpSpPr>
          <a:xfrm rot="0">
            <a:off x="1737360" y="5468112"/>
            <a:ext cx="7772400" cy="585216"/>
            <a:chOff x="0" y="0"/>
            <a:chExt cx="10363200" cy="780288"/>
          </a:xfrm>
        </p:grpSpPr>
        <p:sp>
          <p:nvSpPr>
            <p:cNvPr name="Freeform 37" id="37"/>
            <p:cNvSpPr/>
            <p:nvPr/>
          </p:nvSpPr>
          <p:spPr>
            <a:xfrm flipH="false" flipV="false" rot="0">
              <a:off x="0" y="0"/>
              <a:ext cx="10363200" cy="780288"/>
            </a:xfrm>
            <a:custGeom>
              <a:avLst/>
              <a:gdLst/>
              <a:ahLst/>
              <a:cxnLst/>
              <a:rect r="r" b="b" t="t" l="l"/>
              <a:pathLst>
                <a:path h="780288" w="10363200">
                  <a:moveTo>
                    <a:pt x="0" y="0"/>
                  </a:moveTo>
                  <a:lnTo>
                    <a:pt x="10363200" y="0"/>
                  </a:lnTo>
                  <a:lnTo>
                    <a:pt x="10363200" y="780288"/>
                  </a:lnTo>
                  <a:lnTo>
                    <a:pt x="0" y="780288"/>
                  </a:lnTo>
                  <a:close/>
                </a:path>
              </a:pathLst>
            </a:custGeom>
            <a:blipFill>
              <a:blip r:embed="rId3">
                <a:alphaModFix amt="0"/>
              </a:blip>
              <a:stretch>
                <a:fillRect l="0" t="-208785" r="0" b="-208785"/>
              </a:stretch>
            </a:blipFill>
          </p:spPr>
        </p:sp>
        <p:sp>
          <p:nvSpPr>
            <p:cNvPr name="TextBox 38" id="38"/>
            <p:cNvSpPr txBox="true"/>
            <p:nvPr/>
          </p:nvSpPr>
          <p:spPr>
            <a:xfrm>
              <a:off x="0" y="-66675"/>
              <a:ext cx="10363200" cy="846963"/>
            </a:xfrm>
            <a:prstGeom prst="rect">
              <a:avLst/>
            </a:prstGeom>
          </p:spPr>
          <p:txBody>
            <a:bodyPr anchor="ctr" rtlCol="false" tIns="0" lIns="0" bIns="0" rIns="0"/>
            <a:lstStyle/>
            <a:p>
              <a:pPr algn="l">
                <a:lnSpc>
                  <a:spcPts val="3359"/>
                </a:lnSpc>
              </a:pPr>
              <a:r>
                <a:rPr lang="en-US" sz="2799" b="true">
                  <a:solidFill>
                    <a:srgbClr val="14213D"/>
                  </a:solidFill>
                  <a:latin typeface="Times New Roman"/>
                  <a:ea typeface="Times New Roman"/>
                  <a:cs typeface="Times New Roman"/>
                  <a:sym typeface="Times New Roman"/>
                </a:rPr>
                <a:t>Dự đoán phía client</a:t>
              </a:r>
            </a:p>
          </p:txBody>
        </p:sp>
      </p:grpSp>
      <p:grpSp>
        <p:nvGrpSpPr>
          <p:cNvPr name="Group 39" id="39"/>
          <p:cNvGrpSpPr/>
          <p:nvPr/>
        </p:nvGrpSpPr>
        <p:grpSpPr>
          <a:xfrm rot="0">
            <a:off x="11779882" y="2453002"/>
            <a:ext cx="5609587" cy="6706867"/>
            <a:chOff x="0" y="0"/>
            <a:chExt cx="7479449" cy="8942489"/>
          </a:xfrm>
        </p:grpSpPr>
        <p:sp>
          <p:nvSpPr>
            <p:cNvPr name="Freeform 40" id="40"/>
            <p:cNvSpPr/>
            <p:nvPr/>
          </p:nvSpPr>
          <p:spPr>
            <a:xfrm flipH="false" flipV="false" rot="0">
              <a:off x="0" y="0"/>
              <a:ext cx="7479538" cy="8942578"/>
            </a:xfrm>
            <a:custGeom>
              <a:avLst/>
              <a:gdLst/>
              <a:ahLst/>
              <a:cxnLst/>
              <a:rect r="r" b="b" t="t" l="l"/>
              <a:pathLst>
                <a:path h="8942578" w="747953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4"/>
              <a:stretch>
                <a:fillRect l="0" t="-183" r="0" b="-183"/>
              </a:stretch>
            </a:blipFill>
            <a:ln w="31750" cap="sq">
              <a:solidFill>
                <a:srgbClr val="00897B"/>
              </a:solidFill>
              <a:prstDash val="dash"/>
              <a:miter/>
            </a:ln>
          </p:spPr>
        </p:sp>
      </p:grpSp>
      <p:sp>
        <p:nvSpPr>
          <p:cNvPr name="TextBox 41" id="41"/>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VẤN ĐỀ 2</a:t>
            </a:r>
          </a:p>
        </p:txBody>
      </p:sp>
      <p:sp>
        <p:nvSpPr>
          <p:cNvPr name="TextBox 42" id="42"/>
          <p:cNvSpPr txBox="true"/>
          <p:nvPr/>
        </p:nvSpPr>
        <p:spPr>
          <a:xfrm rot="0">
            <a:off x="914400" y="2402205"/>
            <a:ext cx="10424160" cy="1163955"/>
          </a:xfrm>
          <a:prstGeom prst="rect">
            <a:avLst/>
          </a:prstGeom>
        </p:spPr>
        <p:txBody>
          <a:bodyPr anchor="t" rtlCol="false" tIns="0" lIns="0" bIns="0" rIns="0">
            <a:spAutoFit/>
          </a:bodyPr>
          <a:lstStyle/>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Độ trễ điều khiển ≈ </a:t>
            </a:r>
            <a:r>
              <a:rPr lang="en-US" b="true" sz="2799">
                <a:solidFill>
                  <a:srgbClr val="14213D"/>
                </a:solidFill>
                <a:latin typeface="Times New Roman"/>
                <a:ea typeface="Times New Roman"/>
                <a:cs typeface="Times New Roman"/>
                <a:sym typeface="Times New Roman"/>
              </a:rPr>
              <a:t>RTT + tối đa 83 ms</a:t>
            </a:r>
            <a:r>
              <a:rPr lang="en-US" sz="2799">
                <a:solidFill>
                  <a:srgbClr val="14213D"/>
                </a:solidFill>
                <a:latin typeface="Times New Roman"/>
                <a:ea typeface="Times New Roman"/>
                <a:cs typeface="Times New Roman"/>
                <a:sym typeface="Times New Roman"/>
              </a:rPr>
              <a:t>. Với RTT 200 ms là </a:t>
            </a:r>
            <a:r>
              <a:rPr lang="en-US" b="true" sz="2799">
                <a:solidFill>
                  <a:srgbClr val="14213D"/>
                </a:solidFill>
                <a:latin typeface="Times New Roman"/>
                <a:ea typeface="Times New Roman"/>
                <a:cs typeface="Times New Roman"/>
                <a:sym typeface="Times New Roman"/>
              </a:rPr>
              <a:t>200–280 ms</a:t>
            </a:r>
          </a:p>
        </p:txBody>
      </p:sp>
      <p:sp>
        <p:nvSpPr>
          <p:cNvPr name="TextBox 43" id="43"/>
          <p:cNvSpPr txBox="true"/>
          <p:nvPr/>
        </p:nvSpPr>
        <p:spPr>
          <a:xfrm rot="0">
            <a:off x="914400" y="6279261"/>
            <a:ext cx="10424160" cy="2956179"/>
          </a:xfrm>
          <a:prstGeom prst="rect">
            <a:avLst/>
          </a:prstGeom>
        </p:spPr>
        <p:txBody>
          <a:bodyPr anchor="t" rtlCol="false" tIns="0" lIns="0" bIns="0" rIns="0">
            <a:spAutoFit/>
          </a:bodyPr>
          <a:lstStyle/>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Dự đoán: client </a:t>
            </a:r>
            <a:r>
              <a:rPr lang="en-US" b="true" sz="2799">
                <a:solidFill>
                  <a:srgbClr val="14213D"/>
                </a:solidFill>
                <a:latin typeface="Times New Roman"/>
                <a:ea typeface="Times New Roman"/>
                <a:cs typeface="Times New Roman"/>
                <a:sym typeface="Times New Roman"/>
              </a:rPr>
              <a:t>tự áp lệnh ngay</a:t>
            </a:r>
            <a:r>
              <a:rPr lang="en-US" sz="2799">
                <a:solidFill>
                  <a:srgbClr val="14213D"/>
                </a:solidFill>
                <a:latin typeface="Times New Roman"/>
                <a:ea typeface="Times New Roman"/>
                <a:cs typeface="Times New Roman"/>
                <a:sym typeface="Times New Roman"/>
              </a:rPr>
              <a:t>, server vẫn là người quyết định cuối</a:t>
            </a:r>
          </a:p>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Điều kiện: </a:t>
            </a:r>
            <a:r>
              <a:rPr lang="en-US" b="true" sz="2799">
                <a:solidFill>
                  <a:srgbClr val="14213D"/>
                </a:solidFill>
                <a:latin typeface="Times New Roman"/>
                <a:ea typeface="Times New Roman"/>
                <a:cs typeface="Times New Roman"/>
                <a:sym typeface="Times New Roman"/>
              </a:rPr>
              <a:t>dùng chung code mô phỏng</a:t>
            </a:r>
            <a:r>
              <a:rPr lang="en-US" sz="2799">
                <a:solidFill>
                  <a:srgbClr val="14213D"/>
                </a:solidFill>
                <a:latin typeface="Times New Roman"/>
                <a:ea typeface="Times New Roman"/>
                <a:cs typeface="Times New Roman"/>
                <a:sym typeface="Times New Roman"/>
              </a:rPr>
              <a:t> Simulation.step (một file, chạy ở cả client và server)</a:t>
            </a:r>
          </a:p>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Nhưng chỉ dự đoán thôi thì bị </a:t>
            </a:r>
            <a:r>
              <a:rPr lang="en-US" b="true" sz="2799">
                <a:solidFill>
                  <a:srgbClr val="14213D"/>
                </a:solidFill>
                <a:latin typeface="Times New Roman"/>
                <a:ea typeface="Times New Roman"/>
                <a:cs typeface="Times New Roman"/>
                <a:sym typeface="Times New Roman"/>
              </a:rPr>
              <a:t>giật ngược</a:t>
            </a:r>
          </a:p>
        </p:txBody>
      </p:sp>
      <p:sp>
        <p:nvSpPr>
          <p:cNvPr name="TextBox 44" id="44"/>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10</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49" name="Header band"/>
          <p:cNvSpPr/>
          <p:nvPr/>
        </p:nvSpPr>
        <p:spPr>
          <a:xfrm>
            <a:off x="0" y="0"/>
            <a:ext cx="18288000" cy="2103120"/>
          </a:xfrm>
          <a:prstGeom prst="rect">
            <a:avLst/>
          </a:prstGeom>
          <a:solidFill>
            <a:srgbClr val="14213D"/>
          </a:solidFill>
          <a:ln>
            <a:noFill/>
          </a:ln>
        </p:spPr>
      </p:sp>
      <p:sp>
        <p:nvSpPr>
          <p:cNvPr id="9050"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grpSp>
        <p:nvGrpSpPr>
          <p:cNvPr name="Group 5" id="5"/>
          <p:cNvGrpSpPr/>
          <p:nvPr/>
        </p:nvGrpSpPr>
        <p:grpSpPr>
          <a:xfrm rot="0">
            <a:off x="914400" y="768096"/>
            <a:ext cx="14081760" cy="1097280"/>
            <a:chOff x="0" y="0"/>
            <a:chExt cx="18775680" cy="1463040"/>
          </a:xfrm>
        </p:grpSpPr>
        <p:sp>
          <p:nvSpPr>
            <p:cNvPr name="Freeform 6" id="6"/>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7" id="7"/>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Đối chiếu với server</a:t>
              </a:r>
            </a:p>
          </p:txBody>
        </p:sp>
      </p:grpSp>
      <p:grpSp>
        <p:nvGrpSpPr>
          <p:cNvPr name="Group 8" id="8"/>
          <p:cNvGrpSpPr/>
          <p:nvPr/>
        </p:nvGrpSpPr>
        <p:grpSpPr>
          <a:xfrm rot="0">
            <a:off x="15257783" y="682247"/>
            <a:ext cx="2128523" cy="647195"/>
            <a:chOff x="0" y="0"/>
            <a:chExt cx="2838031" cy="862927"/>
          </a:xfrm>
        </p:grpSpPr>
        <p:sp>
          <p:nvSpPr>
            <p:cNvPr name="Freeform 9" id="9"/>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sp>
      </p:grpSp>
      <p:grpSp>
        <p:nvGrpSpPr>
          <p:cNvPr name="Group 10" id="10"/>
          <p:cNvGrpSpPr/>
          <p:nvPr/>
        </p:nvGrpSpPr>
        <p:grpSpPr>
          <a:xfrm rot="0">
            <a:off x="15270480" y="694944"/>
            <a:ext cx="2103120" cy="621792"/>
            <a:chOff x="0" y="0"/>
            <a:chExt cx="2804160" cy="829056"/>
          </a:xfrm>
        </p:grpSpPr>
        <p:sp>
          <p:nvSpPr>
            <p:cNvPr name="Freeform 11" id="11"/>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2" id="12"/>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#2</a:t>
              </a:r>
            </a:p>
          </p:txBody>
        </p:sp>
      </p:grpSp>
      <p:grpSp>
        <p:nvGrpSpPr>
          <p:cNvPr name="Group 13" id="13"/>
          <p:cNvGrpSpPr/>
          <p:nvPr/>
        </p:nvGrpSpPr>
        <p:grpSpPr>
          <a:xfrm rot="0">
            <a:off x="901703" y="2456183"/>
            <a:ext cx="756923" cy="756923"/>
            <a:chOff x="0" y="0"/>
            <a:chExt cx="1009231" cy="1009231"/>
          </a:xfrm>
        </p:grpSpPr>
        <p:sp>
          <p:nvSpPr>
            <p:cNvPr name="Freeform 14" id="14"/>
            <p:cNvSpPr/>
            <p:nvPr/>
          </p:nvSpPr>
          <p:spPr>
            <a:xfrm flipH="false" flipV="false" rot="0">
              <a:off x="0" y="0"/>
              <a:ext cx="1009269" cy="1009269"/>
            </a:xfrm>
            <a:custGeom>
              <a:avLst/>
              <a:gdLst/>
              <a:ahLst/>
              <a:cxnLst/>
              <a:rect r="r" b="b" t="t" l="l"/>
              <a:pathLst>
                <a:path h="1009269" w="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sp>
      </p:grpSp>
      <p:grpSp>
        <p:nvGrpSpPr>
          <p:cNvPr name="Group 15" id="15"/>
          <p:cNvGrpSpPr/>
          <p:nvPr/>
        </p:nvGrpSpPr>
        <p:grpSpPr>
          <a:xfrm rot="0">
            <a:off x="914400" y="2468880"/>
            <a:ext cx="731520" cy="731520"/>
            <a:chOff x="0" y="0"/>
            <a:chExt cx="975360" cy="975360"/>
          </a:xfrm>
        </p:grpSpPr>
        <p:sp>
          <p:nvSpPr>
            <p:cNvPr name="Freeform 16" id="16"/>
            <p:cNvSpPr/>
            <p:nvPr/>
          </p:nvSpPr>
          <p:spPr>
            <a:xfrm flipH="false" flipV="false" rot="0">
              <a:off x="0" y="0"/>
              <a:ext cx="975360" cy="975360"/>
            </a:xfrm>
            <a:custGeom>
              <a:avLst/>
              <a:gdLst/>
              <a:ahLst/>
              <a:cxnLst/>
              <a:rect r="r" b="b" t="t" l="l"/>
              <a:pathLst>
                <a:path h="975360" w="975360">
                  <a:moveTo>
                    <a:pt x="0" y="0"/>
                  </a:moveTo>
                  <a:lnTo>
                    <a:pt x="975360" y="0"/>
                  </a:lnTo>
                  <a:lnTo>
                    <a:pt x="975360" y="975360"/>
                  </a:lnTo>
                  <a:lnTo>
                    <a:pt x="0" y="975360"/>
                  </a:lnTo>
                  <a:close/>
                </a:path>
              </a:pathLst>
            </a:custGeom>
            <a:blipFill>
              <a:blip r:embed="rId3">
                <a:alphaModFix amt="0"/>
              </a:blip>
              <a:stretch>
                <a:fillRect l="-78303" t="0" r="-78303" b="0"/>
              </a:stretch>
            </a:blipFill>
          </p:spPr>
        </p:sp>
        <p:sp>
          <p:nvSpPr>
            <p:cNvPr name="TextBox 17" id="17"/>
            <p:cNvSpPr txBox="true"/>
            <p:nvPr/>
          </p:nvSpPr>
          <p:spPr>
            <a:xfrm>
              <a:off x="0" y="-66675"/>
              <a:ext cx="975360" cy="1042035"/>
            </a:xfrm>
            <a:prstGeom prst="rect">
              <a:avLst/>
            </a:prstGeom>
          </p:spPr>
          <p:txBody>
            <a:bodyPr anchor="ctr" rtlCol="false" tIns="0" lIns="0" bIns="0" rIns="0"/>
            <a:lstStyle/>
            <a:p>
              <a:pPr algn="ctr">
                <a:lnSpc>
                  <a:spcPts val="3359"/>
                </a:lnSpc>
              </a:pPr>
              <a:r>
                <a:rPr lang="en-US" sz="2799" b="true">
                  <a:solidFill>
                    <a:srgbClr val="FFFFFF"/>
                  </a:solidFill>
                  <a:latin typeface="Times New Roman"/>
                  <a:ea typeface="Times New Roman"/>
                  <a:cs typeface="Times New Roman"/>
                  <a:sym typeface="Times New Roman"/>
                </a:rPr>
                <a:t>1</a:t>
              </a:r>
            </a:p>
          </p:txBody>
        </p:sp>
      </p:grpSp>
      <p:grpSp>
        <p:nvGrpSpPr>
          <p:cNvPr name="Group 18" id="18"/>
          <p:cNvGrpSpPr/>
          <p:nvPr/>
        </p:nvGrpSpPr>
        <p:grpSpPr>
          <a:xfrm rot="0">
            <a:off x="901703" y="3462023"/>
            <a:ext cx="756923" cy="756923"/>
            <a:chOff x="0" y="0"/>
            <a:chExt cx="1009231" cy="1009231"/>
          </a:xfrm>
        </p:grpSpPr>
        <p:sp>
          <p:nvSpPr>
            <p:cNvPr name="Freeform 19" id="19"/>
            <p:cNvSpPr/>
            <p:nvPr/>
          </p:nvSpPr>
          <p:spPr>
            <a:xfrm flipH="false" flipV="false" rot="0">
              <a:off x="0" y="0"/>
              <a:ext cx="1009269" cy="1009269"/>
            </a:xfrm>
            <a:custGeom>
              <a:avLst/>
              <a:gdLst/>
              <a:ahLst/>
              <a:cxnLst/>
              <a:rect r="r" b="b" t="t" l="l"/>
              <a:pathLst>
                <a:path h="1009269" w="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sp>
      </p:grpSp>
      <p:grpSp>
        <p:nvGrpSpPr>
          <p:cNvPr name="Group 20" id="20"/>
          <p:cNvGrpSpPr/>
          <p:nvPr/>
        </p:nvGrpSpPr>
        <p:grpSpPr>
          <a:xfrm rot="0">
            <a:off x="914400" y="3474720"/>
            <a:ext cx="731520" cy="731520"/>
            <a:chOff x="0" y="0"/>
            <a:chExt cx="975360" cy="975360"/>
          </a:xfrm>
        </p:grpSpPr>
        <p:sp>
          <p:nvSpPr>
            <p:cNvPr name="Freeform 21" id="21"/>
            <p:cNvSpPr/>
            <p:nvPr/>
          </p:nvSpPr>
          <p:spPr>
            <a:xfrm flipH="false" flipV="false" rot="0">
              <a:off x="0" y="0"/>
              <a:ext cx="975360" cy="975360"/>
            </a:xfrm>
            <a:custGeom>
              <a:avLst/>
              <a:gdLst/>
              <a:ahLst/>
              <a:cxnLst/>
              <a:rect r="r" b="b" t="t" l="l"/>
              <a:pathLst>
                <a:path h="975360" w="975360">
                  <a:moveTo>
                    <a:pt x="0" y="0"/>
                  </a:moveTo>
                  <a:lnTo>
                    <a:pt x="975360" y="0"/>
                  </a:lnTo>
                  <a:lnTo>
                    <a:pt x="975360" y="975360"/>
                  </a:lnTo>
                  <a:lnTo>
                    <a:pt x="0" y="975360"/>
                  </a:lnTo>
                  <a:close/>
                </a:path>
              </a:pathLst>
            </a:custGeom>
            <a:blipFill>
              <a:blip r:embed="rId3">
                <a:alphaModFix amt="0"/>
              </a:blip>
              <a:stretch>
                <a:fillRect l="-78303" t="0" r="-78303" b="0"/>
              </a:stretch>
            </a:blipFill>
          </p:spPr>
        </p:sp>
        <p:sp>
          <p:nvSpPr>
            <p:cNvPr name="TextBox 22" id="22"/>
            <p:cNvSpPr txBox="true"/>
            <p:nvPr/>
          </p:nvSpPr>
          <p:spPr>
            <a:xfrm>
              <a:off x="0" y="-66675"/>
              <a:ext cx="975360" cy="1042035"/>
            </a:xfrm>
            <a:prstGeom prst="rect">
              <a:avLst/>
            </a:prstGeom>
          </p:spPr>
          <p:txBody>
            <a:bodyPr anchor="ctr" rtlCol="false" tIns="0" lIns="0" bIns="0" rIns="0"/>
            <a:lstStyle/>
            <a:p>
              <a:pPr algn="ctr">
                <a:lnSpc>
                  <a:spcPts val="3359"/>
                </a:lnSpc>
              </a:pPr>
              <a:r>
                <a:rPr lang="en-US" sz="2799" b="true">
                  <a:solidFill>
                    <a:srgbClr val="FFFFFF"/>
                  </a:solidFill>
                  <a:latin typeface="Times New Roman"/>
                  <a:ea typeface="Times New Roman"/>
                  <a:cs typeface="Times New Roman"/>
                  <a:sym typeface="Times New Roman"/>
                </a:rPr>
                <a:t>2</a:t>
              </a:r>
            </a:p>
          </p:txBody>
        </p:sp>
      </p:grpSp>
      <p:grpSp>
        <p:nvGrpSpPr>
          <p:cNvPr name="Group 23" id="23"/>
          <p:cNvGrpSpPr/>
          <p:nvPr/>
        </p:nvGrpSpPr>
        <p:grpSpPr>
          <a:xfrm rot="0">
            <a:off x="901703" y="4467863"/>
            <a:ext cx="756923" cy="756923"/>
            <a:chOff x="0" y="0"/>
            <a:chExt cx="1009231" cy="1009231"/>
          </a:xfrm>
        </p:grpSpPr>
        <p:sp>
          <p:nvSpPr>
            <p:cNvPr name="Freeform 24" id="24"/>
            <p:cNvSpPr/>
            <p:nvPr/>
          </p:nvSpPr>
          <p:spPr>
            <a:xfrm flipH="false" flipV="false" rot="0">
              <a:off x="0" y="0"/>
              <a:ext cx="1009269" cy="1009269"/>
            </a:xfrm>
            <a:custGeom>
              <a:avLst/>
              <a:gdLst/>
              <a:ahLst/>
              <a:cxnLst/>
              <a:rect r="r" b="b" t="t" l="l"/>
              <a:pathLst>
                <a:path h="1009269" w="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sp>
      </p:grpSp>
      <p:grpSp>
        <p:nvGrpSpPr>
          <p:cNvPr name="Group 25" id="25"/>
          <p:cNvGrpSpPr/>
          <p:nvPr/>
        </p:nvGrpSpPr>
        <p:grpSpPr>
          <a:xfrm rot="0">
            <a:off x="914400" y="4480560"/>
            <a:ext cx="731520" cy="731520"/>
            <a:chOff x="0" y="0"/>
            <a:chExt cx="975360" cy="975360"/>
          </a:xfrm>
        </p:grpSpPr>
        <p:sp>
          <p:nvSpPr>
            <p:cNvPr name="Freeform 26" id="26"/>
            <p:cNvSpPr/>
            <p:nvPr/>
          </p:nvSpPr>
          <p:spPr>
            <a:xfrm flipH="false" flipV="false" rot="0">
              <a:off x="0" y="0"/>
              <a:ext cx="975360" cy="975360"/>
            </a:xfrm>
            <a:custGeom>
              <a:avLst/>
              <a:gdLst/>
              <a:ahLst/>
              <a:cxnLst/>
              <a:rect r="r" b="b" t="t" l="l"/>
              <a:pathLst>
                <a:path h="975360" w="975360">
                  <a:moveTo>
                    <a:pt x="0" y="0"/>
                  </a:moveTo>
                  <a:lnTo>
                    <a:pt x="975360" y="0"/>
                  </a:lnTo>
                  <a:lnTo>
                    <a:pt x="975360" y="975360"/>
                  </a:lnTo>
                  <a:lnTo>
                    <a:pt x="0" y="975360"/>
                  </a:lnTo>
                  <a:close/>
                </a:path>
              </a:pathLst>
            </a:custGeom>
            <a:blipFill>
              <a:blip r:embed="rId3">
                <a:alphaModFix amt="0"/>
              </a:blip>
              <a:stretch>
                <a:fillRect l="-78303" t="0" r="-78303" b="0"/>
              </a:stretch>
            </a:blipFill>
          </p:spPr>
        </p:sp>
        <p:sp>
          <p:nvSpPr>
            <p:cNvPr name="TextBox 27" id="27"/>
            <p:cNvSpPr txBox="true"/>
            <p:nvPr/>
          </p:nvSpPr>
          <p:spPr>
            <a:xfrm>
              <a:off x="0" y="-66675"/>
              <a:ext cx="975360" cy="1042035"/>
            </a:xfrm>
            <a:prstGeom prst="rect">
              <a:avLst/>
            </a:prstGeom>
          </p:spPr>
          <p:txBody>
            <a:bodyPr anchor="ctr" rtlCol="false" tIns="0" lIns="0" bIns="0" rIns="0"/>
            <a:lstStyle/>
            <a:p>
              <a:pPr algn="ctr">
                <a:lnSpc>
                  <a:spcPts val="3359"/>
                </a:lnSpc>
              </a:pPr>
              <a:r>
                <a:rPr lang="en-US" sz="2799" b="true">
                  <a:solidFill>
                    <a:srgbClr val="FFFFFF"/>
                  </a:solidFill>
                  <a:latin typeface="Times New Roman"/>
                  <a:ea typeface="Times New Roman"/>
                  <a:cs typeface="Times New Roman"/>
                  <a:sym typeface="Times New Roman"/>
                </a:rPr>
                <a:t>3</a:t>
              </a:r>
            </a:p>
          </p:txBody>
        </p:sp>
      </p:grpSp>
      <p:grpSp>
        <p:nvGrpSpPr>
          <p:cNvPr name="Group 28" id="28"/>
          <p:cNvGrpSpPr/>
          <p:nvPr/>
        </p:nvGrpSpPr>
        <p:grpSpPr>
          <a:xfrm rot="0">
            <a:off x="901703" y="6662423"/>
            <a:ext cx="16484603" cy="2494283"/>
            <a:chOff x="0" y="0"/>
            <a:chExt cx="21979471" cy="3325711"/>
          </a:xfrm>
        </p:grpSpPr>
        <p:sp>
          <p:nvSpPr>
            <p:cNvPr name="Freeform 29" id="29"/>
            <p:cNvSpPr/>
            <p:nvPr/>
          </p:nvSpPr>
          <p:spPr>
            <a:xfrm flipH="false" flipV="false" rot="0">
              <a:off x="0" y="0"/>
              <a:ext cx="21979510" cy="3325749"/>
            </a:xfrm>
            <a:custGeom>
              <a:avLst/>
              <a:gdLst/>
              <a:ahLst/>
              <a:cxnLst/>
              <a:rect r="r" b="b" t="t" l="l"/>
              <a:pathLst>
                <a:path h="3325749" w="21979510">
                  <a:moveTo>
                    <a:pt x="0" y="197104"/>
                  </a:moveTo>
                  <a:cubicBezTo>
                    <a:pt x="0" y="88265"/>
                    <a:pt x="88265" y="0"/>
                    <a:pt x="197104" y="0"/>
                  </a:cubicBezTo>
                  <a:lnTo>
                    <a:pt x="21782405" y="0"/>
                  </a:lnTo>
                  <a:cubicBezTo>
                    <a:pt x="21891244" y="0"/>
                    <a:pt x="21979510" y="88265"/>
                    <a:pt x="21979510" y="197104"/>
                  </a:cubicBezTo>
                  <a:lnTo>
                    <a:pt x="21979510" y="3128645"/>
                  </a:lnTo>
                  <a:cubicBezTo>
                    <a:pt x="21979510" y="3237484"/>
                    <a:pt x="21891244" y="3325749"/>
                    <a:pt x="21782405" y="3325749"/>
                  </a:cubicBezTo>
                  <a:lnTo>
                    <a:pt x="197104" y="3325749"/>
                  </a:lnTo>
                  <a:cubicBezTo>
                    <a:pt x="88265" y="3325749"/>
                    <a:pt x="0" y="3237484"/>
                    <a:pt x="0" y="3128645"/>
                  </a:cubicBezTo>
                  <a:close/>
                </a:path>
              </a:pathLst>
            </a:custGeom>
            <a:solidFill>
              <a:srgbClr val="0B1626"/>
            </a:solidFill>
            <a:ln w="25400" cap="sq">
              <a:solidFill>
                <a:srgbClr val="0B1626"/>
              </a:solidFill>
              <a:prstDash val="solid"/>
              <a:miter/>
            </a:ln>
          </p:spPr>
        </p:sp>
      </p:grpSp>
      <p:grpSp>
        <p:nvGrpSpPr>
          <p:cNvPr name="Group 30" id="30"/>
          <p:cNvGrpSpPr/>
          <p:nvPr/>
        </p:nvGrpSpPr>
        <p:grpSpPr>
          <a:xfrm rot="0">
            <a:off x="1371600" y="6675120"/>
            <a:ext cx="15544800" cy="2468880"/>
            <a:chOff x="0" y="0"/>
            <a:chExt cx="20726400" cy="3291840"/>
          </a:xfrm>
        </p:grpSpPr>
        <p:sp>
          <p:nvSpPr>
            <p:cNvPr name="Freeform 31" id="31"/>
            <p:cNvSpPr/>
            <p:nvPr/>
          </p:nvSpPr>
          <p:spPr>
            <a:xfrm flipH="false" flipV="false" rot="0">
              <a:off x="0" y="0"/>
              <a:ext cx="20726400" cy="3291840"/>
            </a:xfrm>
            <a:custGeom>
              <a:avLst/>
              <a:gdLst/>
              <a:ahLst/>
              <a:cxnLst/>
              <a:rect r="r" b="b" t="t" l="l"/>
              <a:pathLst>
                <a:path h="3291840" w="20726400">
                  <a:moveTo>
                    <a:pt x="0" y="0"/>
                  </a:moveTo>
                  <a:lnTo>
                    <a:pt x="20726400" y="0"/>
                  </a:lnTo>
                  <a:lnTo>
                    <a:pt x="20726400" y="3291840"/>
                  </a:lnTo>
                  <a:lnTo>
                    <a:pt x="0" y="3291840"/>
                  </a:lnTo>
                  <a:close/>
                </a:path>
              </a:pathLst>
            </a:custGeom>
            <a:blipFill>
              <a:blip r:embed="rId3">
                <a:alphaModFix amt="0"/>
              </a:blip>
              <a:stretch>
                <a:fillRect l="0" t="-72683" r="0" b="-72683"/>
              </a:stretch>
            </a:blipFill>
          </p:spPr>
        </p:sp>
        <p:sp>
          <p:nvSpPr>
            <p:cNvPr name="TextBox 32" id="32"/>
            <p:cNvSpPr txBox="true"/>
            <p:nvPr/>
          </p:nvSpPr>
          <p:spPr>
            <a:xfrm>
              <a:off x="0" y="-19050"/>
              <a:ext cx="20726400" cy="3310890"/>
            </a:xfrm>
            <a:prstGeom prst="rect">
              <a:avLst/>
            </a:prstGeom>
          </p:spPr>
          <p:txBody>
            <a:bodyPr anchor="ctr" rtlCol="false" tIns="0" lIns="0" bIns="0" rIns="0"/>
            <a:lstStyle/>
            <a:p>
              <a:pPr algn="l">
                <a:lnSpc>
                  <a:spcPts val="3120"/>
                </a:lnSpc>
              </a:pPr>
              <a:r>
                <a:rPr lang="en-US" sz="2600">
                  <a:solidFill>
                    <a:srgbClr val="BFE8E3"/>
                  </a:solidFill>
                  <a:latin typeface="Courier New"/>
                  <a:ea typeface="Courier New"/>
                  <a:cs typeface="Courier New"/>
                  <a:sym typeface="Courier New"/>
                </a:rPr>
                <a:t>state = snap.me;</a:t>
              </a:r>
            </a:p>
            <a:p>
              <a:pPr algn="l">
                <a:lnSpc>
                  <a:spcPts val="3120"/>
                </a:lnSpc>
              </a:pPr>
              <a:r>
                <a:rPr lang="en-US" sz="2600">
                  <a:solidFill>
                    <a:srgbClr val="BFE8E3"/>
                  </a:solidFill>
                  <a:latin typeface="Courier New"/>
                  <a:ea typeface="Courier New"/>
                  <a:cs typeface="Courier New"/>
                  <a:sym typeface="Courier New"/>
                </a:rPr>
                <a:t>pending = pending.filter(i =&gt; i.seq &gt; snap.lastProcessedSeq);</a:t>
              </a:r>
            </a:p>
            <a:p>
              <a:pPr algn="l">
                <a:lnSpc>
                  <a:spcPts val="3120"/>
                </a:lnSpc>
              </a:pPr>
              <a:r>
                <a:rPr lang="en-US" sz="2600">
                  <a:solidFill>
                    <a:srgbClr val="BFE8E3"/>
                  </a:solidFill>
                  <a:latin typeface="Courier New"/>
                  <a:ea typeface="Courier New"/>
                  <a:cs typeface="Courier New"/>
                  <a:sym typeface="Courier New"/>
                </a:rPr>
                <a:t>for (const i of pending) state = Simulation.step(state, i.keys, DT);</a:t>
              </a:r>
            </a:p>
          </p:txBody>
        </p:sp>
      </p:grpSp>
      <p:grpSp>
        <p:nvGrpSpPr>
          <p:cNvPr name="Group 33" id="33"/>
          <p:cNvGrpSpPr/>
          <p:nvPr/>
        </p:nvGrpSpPr>
        <p:grpSpPr>
          <a:xfrm rot="0">
            <a:off x="11531034" y="2395728"/>
            <a:ext cx="6179906" cy="4113199"/>
            <a:chOff x="0" y="0"/>
            <a:chExt cx="8642870" cy="5752489"/>
          </a:xfrm>
        </p:grpSpPr>
        <p:sp>
          <p:nvSpPr>
            <p:cNvPr name="Freeform 34" id="34"/>
            <p:cNvSpPr/>
            <p:nvPr/>
          </p:nvSpPr>
          <p:spPr>
            <a:xfrm flipH="false" flipV="false" rot="0">
              <a:off x="0" y="0"/>
              <a:ext cx="8642826" cy="5752447"/>
            </a:xfrm>
            <a:custGeom>
              <a:avLst/>
              <a:gdLst/>
              <a:ahLst/>
              <a:cxnLst/>
              <a:rect r="r" b="b" t="t" l="l"/>
              <a:pathLst>
                <a:path h="5752447" w="8642826">
                  <a:moveTo>
                    <a:pt x="0" y="219185"/>
                  </a:moveTo>
                  <a:cubicBezTo>
                    <a:pt x="0" y="98060"/>
                    <a:pt x="101701" y="0"/>
                    <a:pt x="227323" y="0"/>
                  </a:cubicBezTo>
                  <a:lnTo>
                    <a:pt x="8415503" y="0"/>
                  </a:lnTo>
                  <a:cubicBezTo>
                    <a:pt x="8540978" y="0"/>
                    <a:pt x="8642826" y="98060"/>
                    <a:pt x="8642826" y="219185"/>
                  </a:cubicBezTo>
                  <a:lnTo>
                    <a:pt x="8642826" y="5533261"/>
                  </a:lnTo>
                  <a:cubicBezTo>
                    <a:pt x="8642826" y="5654245"/>
                    <a:pt x="8541125" y="5752447"/>
                    <a:pt x="8415503" y="5752447"/>
                  </a:cubicBezTo>
                  <a:lnTo>
                    <a:pt x="227323" y="5752447"/>
                  </a:lnTo>
                  <a:cubicBezTo>
                    <a:pt x="101701" y="5752447"/>
                    <a:pt x="0" y="5654386"/>
                    <a:pt x="0" y="5533261"/>
                  </a:cubicBezTo>
                  <a:close/>
                </a:path>
              </a:pathLst>
            </a:custGeom>
            <a:blipFill>
              <a:blip r:embed="rId4"/>
              <a:stretch>
                <a:fillRect l="0" t="-82" r="0" b="-82"/>
              </a:stretch>
            </a:blipFill>
            <a:ln w="31750" cap="sq">
              <a:solidFill>
                <a:srgbClr val="00897B"/>
              </a:solidFill>
              <a:prstDash val="dash"/>
              <a:miter/>
            </a:ln>
          </p:spPr>
        </p:sp>
      </p:grpSp>
      <p:sp>
        <p:nvSpPr>
          <p:cNvPr name="TextBox 35" id="3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VẤN ĐỀ 2</a:t>
            </a:r>
          </a:p>
        </p:txBody>
      </p:sp>
      <p:sp>
        <p:nvSpPr>
          <p:cNvPr name="TextBox 36" id="36"/>
          <p:cNvSpPr txBox="true"/>
          <p:nvPr/>
        </p:nvSpPr>
        <p:spPr>
          <a:xfrm rot="0">
            <a:off x="1996440" y="2402205"/>
            <a:ext cx="9342120" cy="981075"/>
          </a:xfrm>
          <a:prstGeom prst="rect">
            <a:avLst/>
          </a:prstGeom>
        </p:spPr>
        <p:txBody>
          <a:bodyPr anchor="t" rtlCol="false" tIns="0" lIns="0" bIns="0" rIns="0">
            <a:spAutoFit/>
          </a:bodyPr>
          <a:lstStyle/>
          <a:p>
            <a:pPr algn="l">
              <a:lnSpc>
                <a:spcPts val="3359"/>
              </a:lnSpc>
            </a:pPr>
            <a:r>
              <a:rPr lang="en-US" sz="2799">
                <a:solidFill>
                  <a:srgbClr val="14213D"/>
                </a:solidFill>
                <a:latin typeface="Times New Roman"/>
                <a:ea typeface="Times New Roman"/>
                <a:cs typeface="Times New Roman"/>
                <a:sym typeface="Times New Roman"/>
              </a:rPr>
              <a:t>Client giữ </a:t>
            </a:r>
            <a:r>
              <a:rPr lang="en-US" sz="2799" b="true">
                <a:solidFill>
                  <a:srgbClr val="14213D"/>
                </a:solidFill>
                <a:latin typeface="Times New Roman"/>
                <a:ea typeface="Times New Roman"/>
                <a:cs typeface="Times New Roman"/>
                <a:sym typeface="Times New Roman"/>
              </a:rPr>
              <a:t>bộ đệm</a:t>
            </a:r>
            <a:r>
              <a:rPr lang="en-US" sz="2799">
                <a:solidFill>
                  <a:srgbClr val="14213D"/>
                </a:solidFill>
                <a:latin typeface="Times New Roman"/>
                <a:ea typeface="Times New Roman"/>
                <a:cs typeface="Times New Roman"/>
                <a:sym typeface="Times New Roman"/>
              </a:rPr>
              <a:t> các lệnh chưa được xác nhận</a:t>
            </a:r>
          </a:p>
        </p:txBody>
      </p:sp>
      <p:sp>
        <p:nvSpPr>
          <p:cNvPr name="TextBox 37" id="37"/>
          <p:cNvSpPr txBox="true"/>
          <p:nvPr/>
        </p:nvSpPr>
        <p:spPr>
          <a:xfrm rot="0">
            <a:off x="1996440" y="3465195"/>
            <a:ext cx="9342120" cy="923925"/>
          </a:xfrm>
          <a:prstGeom prst="rect">
            <a:avLst/>
          </a:prstGeom>
        </p:spPr>
        <p:txBody>
          <a:bodyPr anchor="t" rtlCol="false" tIns="0" lIns="0" bIns="0" rIns="0">
            <a:spAutoFit/>
          </a:bodyPr>
          <a:lstStyle/>
          <a:p>
            <a:pPr algn="l">
              <a:lnSpc>
                <a:spcPts val="3359"/>
              </a:lnSpc>
            </a:pPr>
            <a:r>
              <a:rPr lang="en-US" sz="2799">
                <a:solidFill>
                  <a:srgbClr val="14213D"/>
                </a:solidFill>
                <a:latin typeface="Courier New"/>
                <a:ea typeface="Courier New"/>
                <a:cs typeface="Courier New"/>
                <a:sym typeface="Courier New"/>
              </a:rPr>
              <a:t>Ảnh trạng thái kèm lastProcessedSeq = N</a:t>
            </a:r>
          </a:p>
        </p:txBody>
      </p:sp>
      <p:sp>
        <p:nvSpPr>
          <p:cNvPr name="TextBox 38" id="38"/>
          <p:cNvSpPr txBox="true"/>
          <p:nvPr/>
        </p:nvSpPr>
        <p:spPr>
          <a:xfrm rot="0">
            <a:off x="1658626" y="4417695"/>
            <a:ext cx="9043611" cy="904875"/>
          </a:xfrm>
          <a:prstGeom prst="rect">
            <a:avLst/>
          </a:prstGeom>
        </p:spPr>
        <p:txBody>
          <a:bodyPr anchor="t" rtlCol="false" tIns="0" lIns="0" bIns="0" rIns="0">
            <a:spAutoFit/>
          </a:bodyPr>
          <a:lstStyle/>
          <a:p>
            <a:pPr algn="l">
              <a:lnSpc>
                <a:spcPts val="3359"/>
              </a:lnSpc>
            </a:pPr>
            <a:r>
              <a:rPr lang="en-US" sz="2799">
                <a:solidFill>
                  <a:srgbClr val="14213D"/>
                </a:solidFill>
                <a:latin typeface="Times New Roman"/>
                <a:ea typeface="Times New Roman"/>
                <a:cs typeface="Times New Roman"/>
                <a:sym typeface="Times New Roman"/>
              </a:rPr>
              <a:t>Nhận ảnh: </a:t>
            </a:r>
            <a:r>
              <a:rPr lang="en-US" sz="2799" b="true">
                <a:solidFill>
                  <a:srgbClr val="14213D"/>
                </a:solidFill>
                <a:latin typeface="Times New Roman"/>
                <a:ea typeface="Times New Roman"/>
                <a:cs typeface="Times New Roman"/>
                <a:sym typeface="Times New Roman"/>
              </a:rPr>
              <a:t>đặt lại</a:t>
            </a:r>
            <a:r>
              <a:rPr lang="en-US" sz="2799">
                <a:solidFill>
                  <a:srgbClr val="14213D"/>
                </a:solidFill>
                <a:latin typeface="Times New Roman"/>
                <a:ea typeface="Times New Roman"/>
                <a:cs typeface="Times New Roman"/>
                <a:sym typeface="Times New Roman"/>
              </a:rPr>
              <a:t> theo server → </a:t>
            </a:r>
            <a:r>
              <a:rPr lang="en-US" sz="2799" b="true">
                <a:solidFill>
                  <a:srgbClr val="14213D"/>
                </a:solidFill>
                <a:latin typeface="Times New Roman"/>
                <a:ea typeface="Times New Roman"/>
                <a:cs typeface="Times New Roman"/>
                <a:sym typeface="Times New Roman"/>
              </a:rPr>
              <a:t>bỏ</a:t>
            </a:r>
            <a:r>
              <a:rPr lang="en-US" sz="2799">
                <a:solidFill>
                  <a:srgbClr val="14213D"/>
                </a:solidFill>
                <a:latin typeface="Times New Roman"/>
                <a:ea typeface="Times New Roman"/>
                <a:cs typeface="Times New Roman"/>
                <a:sym typeface="Times New Roman"/>
              </a:rPr>
              <a:t> lệnh ≤ N → </a:t>
            </a:r>
            <a:r>
              <a:rPr lang="en-US" sz="2799" b="true">
                <a:solidFill>
                  <a:srgbClr val="14213D"/>
                </a:solidFill>
                <a:latin typeface="Times New Roman"/>
                <a:ea typeface="Times New Roman"/>
                <a:cs typeface="Times New Roman"/>
                <a:sym typeface="Times New Roman"/>
              </a:rPr>
              <a:t>chạy lại</a:t>
            </a:r>
            <a:r>
              <a:rPr lang="en-US" sz="2799">
                <a:solidFill>
                  <a:srgbClr val="14213D"/>
                </a:solidFill>
                <a:latin typeface="Times New Roman"/>
                <a:ea typeface="Times New Roman"/>
                <a:cs typeface="Times New Roman"/>
                <a:sym typeface="Times New Roman"/>
              </a:rPr>
              <a:t> lệnh còn lại</a:t>
            </a:r>
          </a:p>
        </p:txBody>
      </p:sp>
      <p:sp>
        <p:nvSpPr>
          <p:cNvPr name="TextBox 39" id="39"/>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11</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51" name="Header band"/>
          <p:cNvSpPr/>
          <p:nvPr/>
        </p:nvSpPr>
        <p:spPr>
          <a:xfrm>
            <a:off x="0" y="0"/>
            <a:ext cx="18288000" cy="2103120"/>
          </a:xfrm>
          <a:prstGeom prst="rect">
            <a:avLst/>
          </a:prstGeom>
          <a:solidFill>
            <a:srgbClr val="14213D"/>
          </a:solidFill>
          <a:ln>
            <a:noFill/>
          </a:ln>
        </p:spPr>
      </p:sp>
      <p:sp>
        <p:nvSpPr>
          <p:cNvPr id="9052"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grpSp>
        <p:nvGrpSpPr>
          <p:cNvPr name="Group 5" id="5"/>
          <p:cNvGrpSpPr/>
          <p:nvPr/>
        </p:nvGrpSpPr>
        <p:grpSpPr>
          <a:xfrm rot="0">
            <a:off x="914400" y="768096"/>
            <a:ext cx="14081760" cy="1097280"/>
            <a:chOff x="0" y="0"/>
            <a:chExt cx="18775680" cy="1463040"/>
          </a:xfrm>
        </p:grpSpPr>
        <p:sp>
          <p:nvSpPr>
            <p:cNvPr name="Freeform 6" id="6"/>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7" id="7"/>
            <p:cNvSpPr txBox="true"/>
            <p:nvPr/>
          </p:nvSpPr>
          <p:spPr>
            <a:xfrm>
              <a:off x="0" y="-9525"/>
              <a:ext cx="18775680" cy="1472565"/>
            </a:xfrm>
            <a:prstGeom prst="rect">
              <a:avLst/>
            </a:prstGeom>
          </p:spPr>
          <p:txBody>
            <a:bodyPr anchor="ctr" rtlCol="false" tIns="0" lIns="0" bIns="0" rIns="0"/>
            <a:lstStyle/>
            <a:p>
              <a:pPr algn="l">
                <a:lnSpc>
                  <a:spcPts val="6325"/>
                </a:lnSpc>
              </a:pPr>
              <a:r>
                <a:rPr lang="en-US" sz="5500" b="true">
                  <a:solidFill>
                    <a:srgbClr val="FFFFFF"/>
                  </a:solidFill>
                  <a:latin typeface="Times New Roman"/>
                  <a:ea typeface="Times New Roman"/>
                  <a:cs typeface="Times New Roman"/>
                  <a:sym typeface="Times New Roman"/>
                </a:rPr>
                <a:t>Đối thủ hiển thị giật → nội suy thực thể</a:t>
              </a:r>
            </a:p>
          </p:txBody>
        </p:sp>
      </p:grpSp>
      <p:grpSp>
        <p:nvGrpSpPr>
          <p:cNvPr name="Group 8" id="8"/>
          <p:cNvGrpSpPr/>
          <p:nvPr/>
        </p:nvGrpSpPr>
        <p:grpSpPr>
          <a:xfrm rot="0">
            <a:off x="15257783" y="682247"/>
            <a:ext cx="2128523" cy="647195"/>
            <a:chOff x="0" y="0"/>
            <a:chExt cx="2838031" cy="862927"/>
          </a:xfrm>
        </p:grpSpPr>
        <p:sp>
          <p:nvSpPr>
            <p:cNvPr name="Freeform 9" id="9"/>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sp>
      </p:grpSp>
      <p:grpSp>
        <p:nvGrpSpPr>
          <p:cNvPr name="Group 10" id="10"/>
          <p:cNvGrpSpPr/>
          <p:nvPr/>
        </p:nvGrpSpPr>
        <p:grpSpPr>
          <a:xfrm rot="0">
            <a:off x="15270480" y="694944"/>
            <a:ext cx="2103120" cy="621792"/>
            <a:chOff x="0" y="0"/>
            <a:chExt cx="2804160" cy="829056"/>
          </a:xfrm>
        </p:grpSpPr>
        <p:sp>
          <p:nvSpPr>
            <p:cNvPr name="Freeform 11" id="11"/>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2" id="12"/>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#2</a:t>
              </a:r>
            </a:p>
          </p:txBody>
        </p:sp>
      </p:grpSp>
      <p:grpSp>
        <p:nvGrpSpPr>
          <p:cNvPr name="Group 13" id="13"/>
          <p:cNvGrpSpPr/>
          <p:nvPr/>
        </p:nvGrpSpPr>
        <p:grpSpPr>
          <a:xfrm rot="0">
            <a:off x="914400" y="3657600"/>
            <a:ext cx="10424160" cy="402336"/>
            <a:chOff x="0" y="0"/>
            <a:chExt cx="13898880" cy="536448"/>
          </a:xfrm>
        </p:grpSpPr>
        <p:sp>
          <p:nvSpPr>
            <p:cNvPr name="Freeform 14" id="14"/>
            <p:cNvSpPr/>
            <p:nvPr/>
          </p:nvSpPr>
          <p:spPr>
            <a:xfrm flipH="false" flipV="false" rot="0">
              <a:off x="0" y="0"/>
              <a:ext cx="13898880" cy="536448"/>
            </a:xfrm>
            <a:custGeom>
              <a:avLst/>
              <a:gdLst/>
              <a:ahLst/>
              <a:cxnLst/>
              <a:rect r="r" b="b" t="t" l="l"/>
              <a:pathLst>
                <a:path h="536448" w="13898880">
                  <a:moveTo>
                    <a:pt x="0" y="0"/>
                  </a:moveTo>
                  <a:lnTo>
                    <a:pt x="13898880" y="0"/>
                  </a:lnTo>
                  <a:lnTo>
                    <a:pt x="13898880" y="536448"/>
                  </a:lnTo>
                  <a:lnTo>
                    <a:pt x="0" y="536448"/>
                  </a:lnTo>
                  <a:close/>
                </a:path>
              </a:pathLst>
            </a:custGeom>
            <a:blipFill>
              <a:blip r:embed="rId3">
                <a:alphaModFix amt="0"/>
              </a:blip>
              <a:stretch>
                <a:fillRect l="0" t="-454839" r="0" b="-454839"/>
              </a:stretch>
            </a:blipFill>
          </p:spPr>
        </p:sp>
        <p:sp>
          <p:nvSpPr>
            <p:cNvPr name="TextBox 15" id="15"/>
            <p:cNvSpPr txBox="true"/>
            <p:nvPr/>
          </p:nvSpPr>
          <p:spPr>
            <a:xfrm>
              <a:off x="0" y="-38100"/>
              <a:ext cx="13898880" cy="574548"/>
            </a:xfrm>
            <a:prstGeom prst="rect">
              <a:avLst/>
            </a:prstGeom>
          </p:spPr>
          <p:txBody>
            <a:bodyPr anchor="ctr" rtlCol="false" tIns="0" lIns="0" bIns="0" rIns="0"/>
            <a:lstStyle/>
            <a:p>
              <a:pPr algn="l">
                <a:lnSpc>
                  <a:spcPts val="2400"/>
                </a:lnSpc>
              </a:pPr>
              <a:r>
                <a:rPr lang="en-US" b="true" sz="2000" spc="300">
                  <a:solidFill>
                    <a:srgbClr val="5B6B82"/>
                  </a:solidFill>
                  <a:latin typeface="Times New Roman"/>
                  <a:ea typeface="Times New Roman"/>
                  <a:cs typeface="Times New Roman"/>
                  <a:sym typeface="Times New Roman"/>
                </a:rPr>
                <a:t>CÁC HƯỚNG</a:t>
              </a:r>
            </a:p>
          </p:txBody>
        </p:sp>
      </p:grpSp>
      <p:grpSp>
        <p:nvGrpSpPr>
          <p:cNvPr name="Group 16" id="16"/>
          <p:cNvGrpSpPr/>
          <p:nvPr/>
        </p:nvGrpSpPr>
        <p:grpSpPr>
          <a:xfrm rot="0">
            <a:off x="1097280" y="4151376"/>
            <a:ext cx="548640" cy="585216"/>
            <a:chOff x="0" y="0"/>
            <a:chExt cx="731520" cy="780288"/>
          </a:xfrm>
        </p:grpSpPr>
        <p:sp>
          <p:nvSpPr>
            <p:cNvPr name="Freeform 17" id="17"/>
            <p:cNvSpPr/>
            <p:nvPr/>
          </p:nvSpPr>
          <p:spPr>
            <a:xfrm flipH="false" flipV="false" rot="0">
              <a:off x="0" y="0"/>
              <a:ext cx="731520" cy="780288"/>
            </a:xfrm>
            <a:custGeom>
              <a:avLst/>
              <a:gdLst/>
              <a:ahLst/>
              <a:cxnLst/>
              <a:rect r="r" b="b" t="t" l="l"/>
              <a:pathLst>
                <a:path h="780288" w="731520">
                  <a:moveTo>
                    <a:pt x="0" y="0"/>
                  </a:moveTo>
                  <a:lnTo>
                    <a:pt x="731520" y="0"/>
                  </a:lnTo>
                  <a:lnTo>
                    <a:pt x="731520" y="780288"/>
                  </a:lnTo>
                  <a:lnTo>
                    <a:pt x="0" y="780288"/>
                  </a:lnTo>
                  <a:close/>
                </a:path>
              </a:pathLst>
            </a:custGeom>
            <a:blipFill>
              <a:blip r:embed="rId3">
                <a:alphaModFix amt="0"/>
              </a:blip>
              <a:stretch>
                <a:fillRect l="-86857" t="0" r="-86857" b="0"/>
              </a:stretch>
            </a:blipFill>
          </p:spPr>
        </p:sp>
        <p:sp>
          <p:nvSpPr>
            <p:cNvPr name="TextBox 18" id="18"/>
            <p:cNvSpPr txBox="true"/>
            <p:nvPr/>
          </p:nvSpPr>
          <p:spPr>
            <a:xfrm>
              <a:off x="0" y="-66675"/>
              <a:ext cx="731520" cy="846963"/>
            </a:xfrm>
            <a:prstGeom prst="rect">
              <a:avLst/>
            </a:prstGeom>
          </p:spPr>
          <p:txBody>
            <a:bodyPr anchor="ctr" rtlCol="false" tIns="0" lIns="0" bIns="0" rIns="0"/>
            <a:lstStyle/>
            <a:p>
              <a:pPr algn="ctr">
                <a:lnSpc>
                  <a:spcPts val="3600"/>
                </a:lnSpc>
              </a:pPr>
              <a:r>
                <a:rPr lang="en-US" sz="3000">
                  <a:solidFill>
                    <a:srgbClr val="5B6B82"/>
                  </a:solidFill>
                  <a:latin typeface="Times New Roman"/>
                  <a:ea typeface="Times New Roman"/>
                  <a:cs typeface="Times New Roman"/>
                  <a:sym typeface="Times New Roman"/>
                </a:rPr>
                <a:t>○</a:t>
              </a:r>
            </a:p>
          </p:txBody>
        </p:sp>
      </p:grpSp>
      <p:grpSp>
        <p:nvGrpSpPr>
          <p:cNvPr name="Group 19" id="19"/>
          <p:cNvGrpSpPr/>
          <p:nvPr/>
        </p:nvGrpSpPr>
        <p:grpSpPr>
          <a:xfrm rot="0">
            <a:off x="1737360" y="4151376"/>
            <a:ext cx="7772400" cy="585216"/>
            <a:chOff x="0" y="0"/>
            <a:chExt cx="10363200" cy="780288"/>
          </a:xfrm>
        </p:grpSpPr>
        <p:sp>
          <p:nvSpPr>
            <p:cNvPr name="Freeform 20" id="20"/>
            <p:cNvSpPr/>
            <p:nvPr/>
          </p:nvSpPr>
          <p:spPr>
            <a:xfrm flipH="false" flipV="false" rot="0">
              <a:off x="0" y="0"/>
              <a:ext cx="10363200" cy="780288"/>
            </a:xfrm>
            <a:custGeom>
              <a:avLst/>
              <a:gdLst/>
              <a:ahLst/>
              <a:cxnLst/>
              <a:rect r="r" b="b" t="t" l="l"/>
              <a:pathLst>
                <a:path h="780288" w="10363200">
                  <a:moveTo>
                    <a:pt x="0" y="0"/>
                  </a:moveTo>
                  <a:lnTo>
                    <a:pt x="10363200" y="0"/>
                  </a:lnTo>
                  <a:lnTo>
                    <a:pt x="10363200" y="780288"/>
                  </a:lnTo>
                  <a:lnTo>
                    <a:pt x="0" y="780288"/>
                  </a:lnTo>
                  <a:close/>
                </a:path>
              </a:pathLst>
            </a:custGeom>
            <a:blipFill>
              <a:blip r:embed="rId3">
                <a:alphaModFix amt="0"/>
              </a:blip>
              <a:stretch>
                <a:fillRect l="0" t="-208785" r="0" b="-208785"/>
              </a:stretch>
            </a:blipFill>
          </p:spPr>
        </p:sp>
        <p:sp>
          <p:nvSpPr>
            <p:cNvPr name="TextBox 21" id="21"/>
            <p:cNvSpPr txBox="true"/>
            <p:nvPr/>
          </p:nvSpPr>
          <p:spPr>
            <a:xfrm>
              <a:off x="0" y="-66675"/>
              <a:ext cx="10363200" cy="846963"/>
            </a:xfrm>
            <a:prstGeom prst="rect">
              <a:avLst/>
            </a:prstGeom>
          </p:spPr>
          <p:txBody>
            <a:bodyPr anchor="ctr" rtlCol="false" tIns="0" lIns="0" bIns="0" rIns="0"/>
            <a:lstStyle/>
            <a:p>
              <a:pPr algn="l">
                <a:lnSpc>
                  <a:spcPts val="3359"/>
                </a:lnSpc>
              </a:pPr>
              <a:r>
                <a:rPr lang="en-US" sz="2799">
                  <a:solidFill>
                    <a:srgbClr val="14213D"/>
                  </a:solidFill>
                  <a:latin typeface="Times New Roman"/>
                  <a:ea typeface="Times New Roman"/>
                  <a:cs typeface="Times New Roman"/>
                  <a:sym typeface="Times New Roman"/>
                </a:rPr>
                <a:t>Vẽ ảnh mới nhất: giật</a:t>
              </a:r>
            </a:p>
          </p:txBody>
        </p:sp>
      </p:grpSp>
      <p:grpSp>
        <p:nvGrpSpPr>
          <p:cNvPr name="Group 22" id="22"/>
          <p:cNvGrpSpPr/>
          <p:nvPr/>
        </p:nvGrpSpPr>
        <p:grpSpPr>
          <a:xfrm rot="0">
            <a:off x="1097280" y="4809744"/>
            <a:ext cx="548640" cy="585216"/>
            <a:chOff x="0" y="0"/>
            <a:chExt cx="731520" cy="780288"/>
          </a:xfrm>
        </p:grpSpPr>
        <p:sp>
          <p:nvSpPr>
            <p:cNvPr name="Freeform 23" id="23"/>
            <p:cNvSpPr/>
            <p:nvPr/>
          </p:nvSpPr>
          <p:spPr>
            <a:xfrm flipH="false" flipV="false" rot="0">
              <a:off x="0" y="0"/>
              <a:ext cx="731520" cy="780288"/>
            </a:xfrm>
            <a:custGeom>
              <a:avLst/>
              <a:gdLst/>
              <a:ahLst/>
              <a:cxnLst/>
              <a:rect r="r" b="b" t="t" l="l"/>
              <a:pathLst>
                <a:path h="780288" w="731520">
                  <a:moveTo>
                    <a:pt x="0" y="0"/>
                  </a:moveTo>
                  <a:lnTo>
                    <a:pt x="731520" y="0"/>
                  </a:lnTo>
                  <a:lnTo>
                    <a:pt x="731520" y="780288"/>
                  </a:lnTo>
                  <a:lnTo>
                    <a:pt x="0" y="780288"/>
                  </a:lnTo>
                  <a:close/>
                </a:path>
              </a:pathLst>
            </a:custGeom>
            <a:blipFill>
              <a:blip r:embed="rId3">
                <a:alphaModFix amt="0"/>
              </a:blip>
              <a:stretch>
                <a:fillRect l="-86857" t="0" r="-86857" b="0"/>
              </a:stretch>
            </a:blipFill>
          </p:spPr>
        </p:sp>
        <p:sp>
          <p:nvSpPr>
            <p:cNvPr name="TextBox 24" id="24"/>
            <p:cNvSpPr txBox="true"/>
            <p:nvPr/>
          </p:nvSpPr>
          <p:spPr>
            <a:xfrm>
              <a:off x="0" y="-66675"/>
              <a:ext cx="731520" cy="846963"/>
            </a:xfrm>
            <a:prstGeom prst="rect">
              <a:avLst/>
            </a:prstGeom>
          </p:spPr>
          <p:txBody>
            <a:bodyPr anchor="ctr" rtlCol="false" tIns="0" lIns="0" bIns="0" rIns="0"/>
            <a:lstStyle/>
            <a:p>
              <a:pPr algn="ctr">
                <a:lnSpc>
                  <a:spcPts val="3600"/>
                </a:lnSpc>
              </a:pPr>
              <a:r>
                <a:rPr lang="en-US" sz="3000">
                  <a:solidFill>
                    <a:srgbClr val="5B6B82"/>
                  </a:solidFill>
                  <a:latin typeface="Times New Roman"/>
                  <a:ea typeface="Times New Roman"/>
                  <a:cs typeface="Times New Roman"/>
                  <a:sym typeface="Times New Roman"/>
                </a:rPr>
                <a:t>○</a:t>
              </a:r>
            </a:p>
          </p:txBody>
        </p:sp>
      </p:grpSp>
      <p:grpSp>
        <p:nvGrpSpPr>
          <p:cNvPr name="Group 25" id="25"/>
          <p:cNvGrpSpPr/>
          <p:nvPr/>
        </p:nvGrpSpPr>
        <p:grpSpPr>
          <a:xfrm rot="0">
            <a:off x="1737360" y="4809744"/>
            <a:ext cx="7772400" cy="585216"/>
            <a:chOff x="0" y="0"/>
            <a:chExt cx="10363200" cy="780288"/>
          </a:xfrm>
        </p:grpSpPr>
        <p:sp>
          <p:nvSpPr>
            <p:cNvPr name="Freeform 26" id="26"/>
            <p:cNvSpPr/>
            <p:nvPr/>
          </p:nvSpPr>
          <p:spPr>
            <a:xfrm flipH="false" flipV="false" rot="0">
              <a:off x="0" y="0"/>
              <a:ext cx="10363200" cy="780288"/>
            </a:xfrm>
            <a:custGeom>
              <a:avLst/>
              <a:gdLst/>
              <a:ahLst/>
              <a:cxnLst/>
              <a:rect r="r" b="b" t="t" l="l"/>
              <a:pathLst>
                <a:path h="780288" w="10363200">
                  <a:moveTo>
                    <a:pt x="0" y="0"/>
                  </a:moveTo>
                  <a:lnTo>
                    <a:pt x="10363200" y="0"/>
                  </a:lnTo>
                  <a:lnTo>
                    <a:pt x="10363200" y="780288"/>
                  </a:lnTo>
                  <a:lnTo>
                    <a:pt x="0" y="780288"/>
                  </a:lnTo>
                  <a:close/>
                </a:path>
              </a:pathLst>
            </a:custGeom>
            <a:blipFill>
              <a:blip r:embed="rId3">
                <a:alphaModFix amt="0"/>
              </a:blip>
              <a:stretch>
                <a:fillRect l="0" t="-208785" r="0" b="-208785"/>
              </a:stretch>
            </a:blipFill>
          </p:spPr>
        </p:sp>
        <p:sp>
          <p:nvSpPr>
            <p:cNvPr name="TextBox 27" id="27"/>
            <p:cNvSpPr txBox="true"/>
            <p:nvPr/>
          </p:nvSpPr>
          <p:spPr>
            <a:xfrm>
              <a:off x="0" y="-66675"/>
              <a:ext cx="10363200" cy="846963"/>
            </a:xfrm>
            <a:prstGeom prst="rect">
              <a:avLst/>
            </a:prstGeom>
          </p:spPr>
          <p:txBody>
            <a:bodyPr anchor="ctr" rtlCol="false" tIns="0" lIns="0" bIns="0" rIns="0"/>
            <a:lstStyle/>
            <a:p>
              <a:pPr algn="l">
                <a:lnSpc>
                  <a:spcPts val="3359"/>
                </a:lnSpc>
              </a:pPr>
              <a:r>
                <a:rPr lang="en-US" sz="2799">
                  <a:solidFill>
                    <a:srgbClr val="14213D"/>
                  </a:solidFill>
                  <a:latin typeface="Times New Roman"/>
                  <a:ea typeface="Times New Roman"/>
                  <a:cs typeface="Times New Roman"/>
                  <a:sym typeface="Times New Roman"/>
                </a:rPr>
                <a:t>Ngoại suy: sai khi đổi hướng</a:t>
              </a:r>
            </a:p>
          </p:txBody>
        </p:sp>
      </p:grpSp>
      <p:grpSp>
        <p:nvGrpSpPr>
          <p:cNvPr name="Group 28" id="28"/>
          <p:cNvGrpSpPr/>
          <p:nvPr/>
        </p:nvGrpSpPr>
        <p:grpSpPr>
          <a:xfrm rot="0">
            <a:off x="901703" y="5455415"/>
            <a:ext cx="10449563" cy="610619"/>
            <a:chOff x="0" y="0"/>
            <a:chExt cx="13932751" cy="814159"/>
          </a:xfrm>
        </p:grpSpPr>
        <p:sp>
          <p:nvSpPr>
            <p:cNvPr name="Freeform 29" id="29"/>
            <p:cNvSpPr/>
            <p:nvPr/>
          </p:nvSpPr>
          <p:spPr>
            <a:xfrm flipH="false" flipV="false" rot="0">
              <a:off x="0" y="0"/>
              <a:ext cx="13932790" cy="814197"/>
            </a:xfrm>
            <a:custGeom>
              <a:avLst/>
              <a:gdLst/>
              <a:ahLst/>
              <a:cxnLst/>
              <a:rect r="r" b="b" t="t" l="l"/>
              <a:pathLst>
                <a:path h="814197" w="13932790">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name="Group 30" id="30"/>
          <p:cNvGrpSpPr/>
          <p:nvPr/>
        </p:nvGrpSpPr>
        <p:grpSpPr>
          <a:xfrm rot="0">
            <a:off x="9601200" y="5468112"/>
            <a:ext cx="1554480" cy="585216"/>
            <a:chOff x="0" y="0"/>
            <a:chExt cx="2072640" cy="780288"/>
          </a:xfrm>
        </p:grpSpPr>
        <p:sp>
          <p:nvSpPr>
            <p:cNvPr name="Freeform 31" id="31"/>
            <p:cNvSpPr/>
            <p:nvPr/>
          </p:nvSpPr>
          <p:spPr>
            <a:xfrm flipH="false" flipV="false" rot="0">
              <a:off x="0" y="0"/>
              <a:ext cx="2072640" cy="780288"/>
            </a:xfrm>
            <a:custGeom>
              <a:avLst/>
              <a:gdLst/>
              <a:ahLst/>
              <a:cxnLst/>
              <a:rect r="r" b="b" t="t" l="l"/>
              <a:pathLst>
                <a:path h="780288" w="2072640">
                  <a:moveTo>
                    <a:pt x="0" y="0"/>
                  </a:moveTo>
                  <a:lnTo>
                    <a:pt x="2072640" y="0"/>
                  </a:lnTo>
                  <a:lnTo>
                    <a:pt x="2072640" y="780288"/>
                  </a:lnTo>
                  <a:lnTo>
                    <a:pt x="0" y="780288"/>
                  </a:lnTo>
                  <a:close/>
                </a:path>
              </a:pathLst>
            </a:custGeom>
            <a:blipFill>
              <a:blip r:embed="rId3">
                <a:alphaModFix amt="0"/>
              </a:blip>
              <a:stretch>
                <a:fillRect l="0" t="-1757" r="0" b="-1757"/>
              </a:stretch>
            </a:blipFill>
          </p:spPr>
        </p:sp>
        <p:sp>
          <p:nvSpPr>
            <p:cNvPr name="TextBox 32" id="32"/>
            <p:cNvSpPr txBox="true"/>
            <p:nvPr/>
          </p:nvSpPr>
          <p:spPr>
            <a:xfrm>
              <a:off x="0" y="-38100"/>
              <a:ext cx="2072640" cy="818388"/>
            </a:xfrm>
            <a:prstGeom prst="rect">
              <a:avLst/>
            </a:prstGeom>
          </p:spPr>
          <p:txBody>
            <a:bodyPr anchor="ctr" rtlCol="false" tIns="0" lIns="0" bIns="0" rIns="0"/>
            <a:lstStyle/>
            <a:p>
              <a:pPr algn="r">
                <a:lnSpc>
                  <a:spcPts val="2400"/>
                </a:lnSpc>
              </a:pPr>
              <a:r>
                <a:rPr lang="en-US" sz="2000" b="true">
                  <a:solidFill>
                    <a:srgbClr val="00897B"/>
                  </a:solidFill>
                  <a:latin typeface="Times New Roman"/>
                  <a:ea typeface="Times New Roman"/>
                  <a:cs typeface="Times New Roman"/>
                  <a:sym typeface="Times New Roman"/>
                </a:rPr>
                <a:t>ĐÃ CHỌN</a:t>
              </a:r>
            </a:p>
          </p:txBody>
        </p:sp>
      </p:grpSp>
      <p:grpSp>
        <p:nvGrpSpPr>
          <p:cNvPr name="Group 33" id="33"/>
          <p:cNvGrpSpPr/>
          <p:nvPr/>
        </p:nvGrpSpPr>
        <p:grpSpPr>
          <a:xfrm rot="0">
            <a:off x="1097280" y="5468112"/>
            <a:ext cx="548640" cy="585216"/>
            <a:chOff x="0" y="0"/>
            <a:chExt cx="731520" cy="780288"/>
          </a:xfrm>
        </p:grpSpPr>
        <p:sp>
          <p:nvSpPr>
            <p:cNvPr name="Freeform 34" id="34"/>
            <p:cNvSpPr/>
            <p:nvPr/>
          </p:nvSpPr>
          <p:spPr>
            <a:xfrm flipH="false" flipV="false" rot="0">
              <a:off x="0" y="0"/>
              <a:ext cx="731520" cy="780288"/>
            </a:xfrm>
            <a:custGeom>
              <a:avLst/>
              <a:gdLst/>
              <a:ahLst/>
              <a:cxnLst/>
              <a:rect r="r" b="b" t="t" l="l"/>
              <a:pathLst>
                <a:path h="780288" w="731520">
                  <a:moveTo>
                    <a:pt x="0" y="0"/>
                  </a:moveTo>
                  <a:lnTo>
                    <a:pt x="731520" y="0"/>
                  </a:lnTo>
                  <a:lnTo>
                    <a:pt x="731520" y="780288"/>
                  </a:lnTo>
                  <a:lnTo>
                    <a:pt x="0" y="780288"/>
                  </a:lnTo>
                  <a:close/>
                </a:path>
              </a:pathLst>
            </a:custGeom>
            <a:blipFill>
              <a:blip r:embed="rId3">
                <a:alphaModFix amt="0"/>
              </a:blip>
              <a:stretch>
                <a:fillRect l="-86857" t="0" r="-86857" b="0"/>
              </a:stretch>
            </a:blipFill>
          </p:spPr>
        </p:sp>
        <p:sp>
          <p:nvSpPr>
            <p:cNvPr name="TextBox 35" id="35"/>
            <p:cNvSpPr txBox="true"/>
            <p:nvPr/>
          </p:nvSpPr>
          <p:spPr>
            <a:xfrm>
              <a:off x="0" y="-66675"/>
              <a:ext cx="731520" cy="846963"/>
            </a:xfrm>
            <a:prstGeom prst="rect">
              <a:avLst/>
            </a:prstGeom>
          </p:spPr>
          <p:txBody>
            <a:bodyPr anchor="ctr" rtlCol="false" tIns="0" lIns="0" bIns="0" rIns="0"/>
            <a:lstStyle/>
            <a:p>
              <a:pPr algn="ctr">
                <a:lnSpc>
                  <a:spcPts val="3600"/>
                </a:lnSpc>
              </a:pPr>
              <a:r>
                <a:rPr lang="en-US" sz="3000">
                  <a:solidFill>
                    <a:srgbClr val="00897B"/>
                  </a:solidFill>
                  <a:latin typeface="Times New Roman"/>
                  <a:ea typeface="Times New Roman"/>
                  <a:cs typeface="Times New Roman"/>
                  <a:sym typeface="Times New Roman"/>
                </a:rPr>
                <a:t>●</a:t>
              </a:r>
            </a:p>
          </p:txBody>
        </p:sp>
      </p:grpSp>
      <p:grpSp>
        <p:nvGrpSpPr>
          <p:cNvPr name="Group 36" id="36"/>
          <p:cNvGrpSpPr/>
          <p:nvPr/>
        </p:nvGrpSpPr>
        <p:grpSpPr>
          <a:xfrm rot="0">
            <a:off x="1737360" y="5468112"/>
            <a:ext cx="7772400" cy="585216"/>
            <a:chOff x="0" y="0"/>
            <a:chExt cx="10363200" cy="780288"/>
          </a:xfrm>
        </p:grpSpPr>
        <p:sp>
          <p:nvSpPr>
            <p:cNvPr name="Freeform 37" id="37"/>
            <p:cNvSpPr/>
            <p:nvPr/>
          </p:nvSpPr>
          <p:spPr>
            <a:xfrm flipH="false" flipV="false" rot="0">
              <a:off x="0" y="0"/>
              <a:ext cx="10363200" cy="780288"/>
            </a:xfrm>
            <a:custGeom>
              <a:avLst/>
              <a:gdLst/>
              <a:ahLst/>
              <a:cxnLst/>
              <a:rect r="r" b="b" t="t" l="l"/>
              <a:pathLst>
                <a:path h="780288" w="10363200">
                  <a:moveTo>
                    <a:pt x="0" y="0"/>
                  </a:moveTo>
                  <a:lnTo>
                    <a:pt x="10363200" y="0"/>
                  </a:lnTo>
                  <a:lnTo>
                    <a:pt x="10363200" y="780288"/>
                  </a:lnTo>
                  <a:lnTo>
                    <a:pt x="0" y="780288"/>
                  </a:lnTo>
                  <a:close/>
                </a:path>
              </a:pathLst>
            </a:custGeom>
            <a:blipFill>
              <a:blip r:embed="rId3">
                <a:alphaModFix amt="0"/>
              </a:blip>
              <a:stretch>
                <a:fillRect l="0" t="-208785" r="0" b="-208785"/>
              </a:stretch>
            </a:blipFill>
          </p:spPr>
        </p:sp>
        <p:sp>
          <p:nvSpPr>
            <p:cNvPr name="TextBox 38" id="38"/>
            <p:cNvSpPr txBox="true"/>
            <p:nvPr/>
          </p:nvSpPr>
          <p:spPr>
            <a:xfrm>
              <a:off x="0" y="-66675"/>
              <a:ext cx="10363200" cy="846963"/>
            </a:xfrm>
            <a:prstGeom prst="rect">
              <a:avLst/>
            </a:prstGeom>
          </p:spPr>
          <p:txBody>
            <a:bodyPr anchor="ctr" rtlCol="false" tIns="0" lIns="0" bIns="0" rIns="0"/>
            <a:lstStyle/>
            <a:p>
              <a:pPr algn="l">
                <a:lnSpc>
                  <a:spcPts val="3359"/>
                </a:lnSpc>
              </a:pPr>
              <a:r>
                <a:rPr lang="en-US" sz="2799" b="true">
                  <a:solidFill>
                    <a:srgbClr val="14213D"/>
                  </a:solidFill>
                  <a:latin typeface="Times New Roman"/>
                  <a:ea typeface="Times New Roman"/>
                  <a:cs typeface="Times New Roman"/>
                  <a:sym typeface="Times New Roman"/>
                </a:rPr>
                <a:t>Nội suy</a:t>
              </a:r>
            </a:p>
          </p:txBody>
        </p:sp>
      </p:grpSp>
      <p:grpSp>
        <p:nvGrpSpPr>
          <p:cNvPr name="Group 39" id="39"/>
          <p:cNvGrpSpPr/>
          <p:nvPr/>
        </p:nvGrpSpPr>
        <p:grpSpPr>
          <a:xfrm rot="0">
            <a:off x="11779882" y="2453002"/>
            <a:ext cx="5609587" cy="6706867"/>
            <a:chOff x="0" y="0"/>
            <a:chExt cx="7479449" cy="8942489"/>
          </a:xfrm>
        </p:grpSpPr>
        <p:sp>
          <p:nvSpPr>
            <p:cNvPr name="Freeform 40" id="40"/>
            <p:cNvSpPr/>
            <p:nvPr/>
          </p:nvSpPr>
          <p:spPr>
            <a:xfrm flipH="false" flipV="false" rot="0">
              <a:off x="0" y="0"/>
              <a:ext cx="7479538" cy="8942578"/>
            </a:xfrm>
            <a:custGeom>
              <a:avLst/>
              <a:gdLst/>
              <a:ahLst/>
              <a:cxnLst/>
              <a:rect r="r" b="b" t="t" l="l"/>
              <a:pathLst>
                <a:path h="8942578" w="747953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4"/>
              <a:stretch>
                <a:fillRect l="0" t="-183" r="0" b="-183"/>
              </a:stretch>
            </a:blipFill>
            <a:ln w="31750" cap="sq">
              <a:solidFill>
                <a:srgbClr val="00897B"/>
              </a:solidFill>
              <a:prstDash val="dash"/>
              <a:miter/>
            </a:ln>
          </p:spPr>
        </p:sp>
      </p:grpSp>
      <p:sp>
        <p:nvSpPr>
          <p:cNvPr name="TextBox 41" id="41"/>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VẤN ĐỀ 3</a:t>
            </a:r>
          </a:p>
        </p:txBody>
      </p:sp>
      <p:sp>
        <p:nvSpPr>
          <p:cNvPr name="TextBox 42" id="42"/>
          <p:cNvSpPr txBox="true"/>
          <p:nvPr/>
        </p:nvSpPr>
        <p:spPr>
          <a:xfrm rot="0">
            <a:off x="914400" y="2402205"/>
            <a:ext cx="10424160" cy="1163955"/>
          </a:xfrm>
          <a:prstGeom prst="rect">
            <a:avLst/>
          </a:prstGeom>
        </p:spPr>
        <p:txBody>
          <a:bodyPr anchor="t" rtlCol="false" tIns="0" lIns="0" bIns="0" rIns="0">
            <a:spAutoFit/>
          </a:bodyPr>
          <a:lstStyle/>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Đối thủ thì </a:t>
            </a:r>
            <a:r>
              <a:rPr lang="en-US" b="true" sz="2799">
                <a:solidFill>
                  <a:srgbClr val="14213D"/>
                </a:solidFill>
                <a:latin typeface="Times New Roman"/>
                <a:ea typeface="Times New Roman"/>
                <a:cs typeface="Times New Roman"/>
                <a:sym typeface="Times New Roman"/>
              </a:rPr>
              <a:t>không đoán được</a:t>
            </a:r>
            <a:r>
              <a:rPr lang="en-US" sz="2799">
                <a:solidFill>
                  <a:srgbClr val="14213D"/>
                </a:solidFill>
                <a:latin typeface="Times New Roman"/>
                <a:ea typeface="Times New Roman"/>
                <a:cs typeface="Times New Roman"/>
                <a:sym typeface="Times New Roman"/>
              </a:rPr>
              <a:t>. Ảnh trạng thái thưa (10–20 lần/giây), không đều, có thể mất</a:t>
            </a:r>
          </a:p>
        </p:txBody>
      </p:sp>
      <p:sp>
        <p:nvSpPr>
          <p:cNvPr name="TextBox 43" id="43"/>
          <p:cNvSpPr txBox="true"/>
          <p:nvPr/>
        </p:nvSpPr>
        <p:spPr>
          <a:xfrm rot="0">
            <a:off x="914400" y="6279261"/>
            <a:ext cx="10424160" cy="2956179"/>
          </a:xfrm>
          <a:prstGeom prst="rect">
            <a:avLst/>
          </a:prstGeom>
        </p:spPr>
        <p:txBody>
          <a:bodyPr anchor="t" rtlCol="false" tIns="0" lIns="0" bIns="0" rIns="0">
            <a:spAutoFit/>
          </a:bodyPr>
          <a:lstStyle/>
          <a:p>
            <a:pPr algn="l" marL="675639" indent="-337820" lvl="1">
              <a:lnSpc>
                <a:spcPts val="3359"/>
              </a:lnSpc>
              <a:buFont typeface="Times New Roman"/>
              <a:buChar char="•"/>
            </a:pPr>
            <a:r>
              <a:rPr lang="en-US" b="true" sz="2799">
                <a:solidFill>
                  <a:srgbClr val="14213D"/>
                </a:solidFill>
                <a:latin typeface="Times New Roman"/>
                <a:ea typeface="Times New Roman"/>
                <a:cs typeface="Times New Roman"/>
                <a:sym typeface="Times New Roman"/>
              </a:rPr>
              <a:t>Vẽ đối thủ lùi lại</a:t>
            </a:r>
            <a:r>
              <a:rPr lang="en-US" sz="2799">
                <a:solidFill>
                  <a:srgbClr val="14213D"/>
                </a:solidFill>
                <a:latin typeface="Times New Roman"/>
                <a:ea typeface="Times New Roman"/>
                <a:cs typeface="Times New Roman"/>
                <a:sym typeface="Times New Roman"/>
              </a:rPr>
              <a:t> một khoảng, nội suy giữa 2 ảnh trạng thái bao quanh</a:t>
            </a:r>
          </a:p>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Độ trễ nội suy ≥ </a:t>
            </a:r>
            <a:r>
              <a:rPr lang="en-US" b="true" sz="2799">
                <a:solidFill>
                  <a:srgbClr val="14213D"/>
                </a:solidFill>
                <a:latin typeface="Times New Roman"/>
                <a:ea typeface="Times New Roman"/>
                <a:cs typeface="Times New Roman"/>
                <a:sym typeface="Times New Roman"/>
              </a:rPr>
              <a:t>2 × chu kỳ gửi ảnh + dao động độ trễ</a:t>
            </a:r>
            <a:r>
              <a:rPr lang="en-US" sz="2799">
                <a:solidFill>
                  <a:srgbClr val="14213D"/>
                </a:solidFill>
                <a:latin typeface="Times New Roman"/>
                <a:ea typeface="Times New Roman"/>
                <a:cs typeface="Times New Roman"/>
                <a:sym typeface="Times New Roman"/>
              </a:rPr>
              <a:t> (20 lần/giây thì ~100 ms)</a:t>
            </a:r>
          </a:p>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Đánh đổi: </a:t>
            </a:r>
            <a:r>
              <a:rPr lang="en-US" b="true" sz="2799">
                <a:solidFill>
                  <a:srgbClr val="14213D"/>
                </a:solidFill>
                <a:latin typeface="Times New Roman"/>
                <a:ea typeface="Times New Roman"/>
                <a:cs typeface="Times New Roman"/>
                <a:sym typeface="Times New Roman"/>
              </a:rPr>
              <a:t>mình ở hiện tại, đối thủ ở quá khứ</a:t>
            </a:r>
          </a:p>
        </p:txBody>
      </p:sp>
      <p:sp>
        <p:nvSpPr>
          <p:cNvPr name="TextBox 44" id="44"/>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12</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00" name="Header band"/>
          <p:cNvSpPr/>
          <p:nvPr/>
        </p:nvSpPr>
        <p:spPr>
          <a:xfrm>
            <a:off x="0" y="0"/>
            <a:ext cx="18288000" cy="2103120"/>
          </a:xfrm>
          <a:prstGeom prst="rect">
            <a:avLst/>
          </a:prstGeom>
          <a:solidFill>
            <a:srgbClr val="14213D"/>
          </a:solidFill>
          <a:ln>
            <a:noFill/>
          </a:ln>
        </p:spPr>
      </p:sp>
      <p:sp>
        <p:nvSpPr>
          <p:cNvPr id="9001"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grpSp>
        <p:nvGrpSpPr>
          <p:cNvPr name="Group 5" id="5"/>
          <p:cNvGrpSpPr/>
          <p:nvPr/>
        </p:nvGrpSpPr>
        <p:grpSpPr>
          <a:xfrm rot="0">
            <a:off x="914400" y="768096"/>
            <a:ext cx="14081760" cy="1097280"/>
            <a:chOff x="0" y="0"/>
            <a:chExt cx="18775680" cy="1463040"/>
          </a:xfrm>
        </p:grpSpPr>
        <p:sp>
          <p:nvSpPr>
            <p:cNvPr name="Freeform 6" id="6"/>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7" id="7"/>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Tương tác không công bằng → bù trễ</a:t>
              </a:r>
            </a:p>
          </p:txBody>
        </p:sp>
      </p:grpSp>
      <p:grpSp>
        <p:nvGrpSpPr>
          <p:cNvPr name="Group 8" id="8"/>
          <p:cNvGrpSpPr/>
          <p:nvPr/>
        </p:nvGrpSpPr>
        <p:grpSpPr>
          <a:xfrm rot="0">
            <a:off x="15257783" y="682247"/>
            <a:ext cx="2128523" cy="647195"/>
            <a:chOff x="0" y="0"/>
            <a:chExt cx="2838031" cy="862927"/>
          </a:xfrm>
        </p:grpSpPr>
        <p:sp>
          <p:nvSpPr>
            <p:cNvPr name="Freeform 9" id="9"/>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name="Group 10" id="10"/>
          <p:cNvGrpSpPr/>
          <p:nvPr/>
        </p:nvGrpSpPr>
        <p:grpSpPr>
          <a:xfrm rot="0">
            <a:off x="15270480" y="694944"/>
            <a:ext cx="2103120" cy="621792"/>
            <a:chOff x="0" y="0"/>
            <a:chExt cx="2804160" cy="829056"/>
          </a:xfrm>
        </p:grpSpPr>
        <p:sp>
          <p:nvSpPr>
            <p:cNvPr name="Freeform 11" id="11"/>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2" id="12"/>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14213D"/>
                  </a:solidFill>
                  <a:latin typeface="Times New Roman"/>
                  <a:ea typeface="Times New Roman"/>
                  <a:cs typeface="Times New Roman"/>
                  <a:sym typeface="Times New Roman"/>
                </a:rPr>
                <a:t>#3</a:t>
              </a:r>
            </a:p>
          </p:txBody>
        </p:sp>
      </p:grpSp>
      <p:grpSp>
        <p:nvGrpSpPr>
          <p:cNvPr name="Group 13" id="13"/>
          <p:cNvGrpSpPr/>
          <p:nvPr/>
        </p:nvGrpSpPr>
        <p:grpSpPr>
          <a:xfrm rot="0">
            <a:off x="914400" y="4572000"/>
            <a:ext cx="10424160" cy="402336"/>
            <a:chOff x="0" y="0"/>
            <a:chExt cx="13898880" cy="536448"/>
          </a:xfrm>
        </p:grpSpPr>
        <p:sp>
          <p:nvSpPr>
            <p:cNvPr name="Freeform 14" id="14"/>
            <p:cNvSpPr/>
            <p:nvPr/>
          </p:nvSpPr>
          <p:spPr>
            <a:xfrm flipH="false" flipV="false" rot="0">
              <a:off x="0" y="0"/>
              <a:ext cx="13898880" cy="536448"/>
            </a:xfrm>
            <a:custGeom>
              <a:avLst/>
              <a:gdLst/>
              <a:ahLst/>
              <a:cxnLst/>
              <a:rect r="r" b="b" t="t" l="l"/>
              <a:pathLst>
                <a:path h="536448" w="13898880">
                  <a:moveTo>
                    <a:pt x="0" y="0"/>
                  </a:moveTo>
                  <a:lnTo>
                    <a:pt x="13898880" y="0"/>
                  </a:lnTo>
                  <a:lnTo>
                    <a:pt x="13898880" y="536448"/>
                  </a:lnTo>
                  <a:lnTo>
                    <a:pt x="0" y="536448"/>
                  </a:lnTo>
                  <a:close/>
                </a:path>
              </a:pathLst>
            </a:custGeom>
            <a:blipFill>
              <a:blip r:embed="rId3">
                <a:alphaModFix amt="0"/>
              </a:blip>
              <a:stretch>
                <a:fillRect l="0" t="-454839" r="0" b="-454839"/>
              </a:stretch>
            </a:blipFill>
          </p:spPr>
        </p:sp>
        <p:sp>
          <p:nvSpPr>
            <p:cNvPr name="TextBox 15" id="15"/>
            <p:cNvSpPr txBox="true"/>
            <p:nvPr/>
          </p:nvSpPr>
          <p:spPr>
            <a:xfrm>
              <a:off x="0" y="-38100"/>
              <a:ext cx="13898880" cy="574548"/>
            </a:xfrm>
            <a:prstGeom prst="rect">
              <a:avLst/>
            </a:prstGeom>
          </p:spPr>
          <p:txBody>
            <a:bodyPr anchor="ctr" rtlCol="false" tIns="0" lIns="0" bIns="0" rIns="0"/>
            <a:lstStyle/>
            <a:p>
              <a:pPr algn="l">
                <a:lnSpc>
                  <a:spcPts val="2400"/>
                </a:lnSpc>
              </a:pPr>
              <a:r>
                <a:rPr lang="en-US" b="true" sz="2000" spc="300">
                  <a:solidFill>
                    <a:srgbClr val="5B6B82"/>
                  </a:solidFill>
                  <a:latin typeface="Times New Roman"/>
                  <a:ea typeface="Times New Roman"/>
                  <a:cs typeface="Times New Roman"/>
                  <a:sym typeface="Times New Roman"/>
                </a:rPr>
                <a:t>CÁC HƯỚNG</a:t>
              </a:r>
            </a:p>
          </p:txBody>
        </p:sp>
      </p:grpSp>
      <p:grpSp>
        <p:nvGrpSpPr>
          <p:cNvPr name="Group 16" id="16"/>
          <p:cNvGrpSpPr/>
          <p:nvPr/>
        </p:nvGrpSpPr>
        <p:grpSpPr>
          <a:xfrm rot="0">
            <a:off x="1097280" y="5065776"/>
            <a:ext cx="548640" cy="585216"/>
            <a:chOff x="0" y="0"/>
            <a:chExt cx="731520" cy="780288"/>
          </a:xfrm>
        </p:grpSpPr>
        <p:sp>
          <p:nvSpPr>
            <p:cNvPr name="Freeform 17" id="17"/>
            <p:cNvSpPr/>
            <p:nvPr/>
          </p:nvSpPr>
          <p:spPr>
            <a:xfrm flipH="false" flipV="false" rot="0">
              <a:off x="0" y="0"/>
              <a:ext cx="731520" cy="780288"/>
            </a:xfrm>
            <a:custGeom>
              <a:avLst/>
              <a:gdLst/>
              <a:ahLst/>
              <a:cxnLst/>
              <a:rect r="r" b="b" t="t" l="l"/>
              <a:pathLst>
                <a:path h="780288" w="731520">
                  <a:moveTo>
                    <a:pt x="0" y="0"/>
                  </a:moveTo>
                  <a:lnTo>
                    <a:pt x="731520" y="0"/>
                  </a:lnTo>
                  <a:lnTo>
                    <a:pt x="731520" y="780288"/>
                  </a:lnTo>
                  <a:lnTo>
                    <a:pt x="0" y="780288"/>
                  </a:lnTo>
                  <a:close/>
                </a:path>
              </a:pathLst>
            </a:custGeom>
            <a:blipFill>
              <a:blip r:embed="rId3">
                <a:alphaModFix amt="0"/>
              </a:blip>
              <a:stretch>
                <a:fillRect l="-86857" t="0" r="-86857" b="0"/>
              </a:stretch>
            </a:blipFill>
          </p:spPr>
        </p:sp>
        <p:sp>
          <p:nvSpPr>
            <p:cNvPr name="TextBox 18" id="18"/>
            <p:cNvSpPr txBox="true"/>
            <p:nvPr/>
          </p:nvSpPr>
          <p:spPr>
            <a:xfrm>
              <a:off x="0" y="-66675"/>
              <a:ext cx="731520" cy="846963"/>
            </a:xfrm>
            <a:prstGeom prst="rect">
              <a:avLst/>
            </a:prstGeom>
          </p:spPr>
          <p:txBody>
            <a:bodyPr anchor="ctr" rtlCol="false" tIns="0" lIns="0" bIns="0" rIns="0"/>
            <a:lstStyle/>
            <a:p>
              <a:pPr algn="ctr">
                <a:lnSpc>
                  <a:spcPts val="3600"/>
                </a:lnSpc>
              </a:pPr>
              <a:r>
                <a:rPr lang="en-US" sz="3000">
                  <a:solidFill>
                    <a:srgbClr val="5B6B82"/>
                  </a:solidFill>
                  <a:latin typeface="Times New Roman"/>
                  <a:ea typeface="Times New Roman"/>
                  <a:cs typeface="Times New Roman"/>
                  <a:sym typeface="Times New Roman"/>
                </a:rPr>
                <a:t>○</a:t>
              </a:r>
            </a:p>
          </p:txBody>
        </p:sp>
      </p:grpSp>
      <p:grpSp>
        <p:nvGrpSpPr>
          <p:cNvPr name="Group 19" id="19"/>
          <p:cNvGrpSpPr/>
          <p:nvPr/>
        </p:nvGrpSpPr>
        <p:grpSpPr>
          <a:xfrm rot="0">
            <a:off x="1737360" y="5065776"/>
            <a:ext cx="7772400" cy="585216"/>
            <a:chOff x="0" y="0"/>
            <a:chExt cx="10363200" cy="780288"/>
          </a:xfrm>
        </p:grpSpPr>
        <p:sp>
          <p:nvSpPr>
            <p:cNvPr name="Freeform 20" id="20"/>
            <p:cNvSpPr/>
            <p:nvPr/>
          </p:nvSpPr>
          <p:spPr>
            <a:xfrm flipH="false" flipV="false" rot="0">
              <a:off x="0" y="0"/>
              <a:ext cx="10363200" cy="780288"/>
            </a:xfrm>
            <a:custGeom>
              <a:avLst/>
              <a:gdLst/>
              <a:ahLst/>
              <a:cxnLst/>
              <a:rect r="r" b="b" t="t" l="l"/>
              <a:pathLst>
                <a:path h="780288" w="10363200">
                  <a:moveTo>
                    <a:pt x="0" y="0"/>
                  </a:moveTo>
                  <a:lnTo>
                    <a:pt x="10363200" y="0"/>
                  </a:lnTo>
                  <a:lnTo>
                    <a:pt x="10363200" y="780288"/>
                  </a:lnTo>
                  <a:lnTo>
                    <a:pt x="0" y="780288"/>
                  </a:lnTo>
                  <a:close/>
                </a:path>
              </a:pathLst>
            </a:custGeom>
            <a:blipFill>
              <a:blip r:embed="rId3">
                <a:alphaModFix amt="0"/>
              </a:blip>
              <a:stretch>
                <a:fillRect l="0" t="-208785" r="0" b="-208785"/>
              </a:stretch>
            </a:blipFill>
          </p:spPr>
        </p:sp>
        <p:sp>
          <p:nvSpPr>
            <p:cNvPr name="TextBox 21" id="21"/>
            <p:cNvSpPr txBox="true"/>
            <p:nvPr/>
          </p:nvSpPr>
          <p:spPr>
            <a:xfrm>
              <a:off x="0" y="-66675"/>
              <a:ext cx="10363200" cy="846963"/>
            </a:xfrm>
            <a:prstGeom prst="rect">
              <a:avLst/>
            </a:prstGeom>
          </p:spPr>
          <p:txBody>
            <a:bodyPr anchor="ctr" rtlCol="false" tIns="0" lIns="0" bIns="0" rIns="0"/>
            <a:lstStyle/>
            <a:p>
              <a:pPr algn="l">
                <a:lnSpc>
                  <a:spcPts val="3359"/>
                </a:lnSpc>
              </a:pPr>
              <a:r>
                <a:rPr lang="en-US" sz="2799">
                  <a:solidFill>
                    <a:srgbClr val="14213D"/>
                  </a:solidFill>
                  <a:latin typeface="Times New Roman"/>
                  <a:ea typeface="Times New Roman"/>
                  <a:cs typeface="Times New Roman"/>
                  <a:sym typeface="Times New Roman"/>
                </a:rPr>
                <a:t>Thứ tự gói đến</a:t>
              </a:r>
            </a:p>
          </p:txBody>
        </p:sp>
      </p:grpSp>
      <p:grpSp>
        <p:nvGrpSpPr>
          <p:cNvPr name="Group 22" id="22"/>
          <p:cNvGrpSpPr/>
          <p:nvPr/>
        </p:nvGrpSpPr>
        <p:grpSpPr>
          <a:xfrm rot="0">
            <a:off x="1097280" y="5724144"/>
            <a:ext cx="548640" cy="585216"/>
            <a:chOff x="0" y="0"/>
            <a:chExt cx="731520" cy="780288"/>
          </a:xfrm>
        </p:grpSpPr>
        <p:sp>
          <p:nvSpPr>
            <p:cNvPr name="Freeform 23" id="23"/>
            <p:cNvSpPr/>
            <p:nvPr/>
          </p:nvSpPr>
          <p:spPr>
            <a:xfrm flipH="false" flipV="false" rot="0">
              <a:off x="0" y="0"/>
              <a:ext cx="731520" cy="780288"/>
            </a:xfrm>
            <a:custGeom>
              <a:avLst/>
              <a:gdLst/>
              <a:ahLst/>
              <a:cxnLst/>
              <a:rect r="r" b="b" t="t" l="l"/>
              <a:pathLst>
                <a:path h="780288" w="731520">
                  <a:moveTo>
                    <a:pt x="0" y="0"/>
                  </a:moveTo>
                  <a:lnTo>
                    <a:pt x="731520" y="0"/>
                  </a:lnTo>
                  <a:lnTo>
                    <a:pt x="731520" y="780288"/>
                  </a:lnTo>
                  <a:lnTo>
                    <a:pt x="0" y="780288"/>
                  </a:lnTo>
                  <a:close/>
                </a:path>
              </a:pathLst>
            </a:custGeom>
            <a:blipFill>
              <a:blip r:embed="rId3">
                <a:alphaModFix amt="0"/>
              </a:blip>
              <a:stretch>
                <a:fillRect l="-86857" t="0" r="-86857" b="0"/>
              </a:stretch>
            </a:blipFill>
          </p:spPr>
        </p:sp>
        <p:sp>
          <p:nvSpPr>
            <p:cNvPr name="TextBox 24" id="24"/>
            <p:cNvSpPr txBox="true"/>
            <p:nvPr/>
          </p:nvSpPr>
          <p:spPr>
            <a:xfrm>
              <a:off x="0" y="-66675"/>
              <a:ext cx="731520" cy="846963"/>
            </a:xfrm>
            <a:prstGeom prst="rect">
              <a:avLst/>
            </a:prstGeom>
          </p:spPr>
          <p:txBody>
            <a:bodyPr anchor="ctr" rtlCol="false" tIns="0" lIns="0" bIns="0" rIns="0"/>
            <a:lstStyle/>
            <a:p>
              <a:pPr algn="ctr">
                <a:lnSpc>
                  <a:spcPts val="3600"/>
                </a:lnSpc>
              </a:pPr>
              <a:r>
                <a:rPr lang="en-US" sz="3000">
                  <a:solidFill>
                    <a:srgbClr val="5B6B82"/>
                  </a:solidFill>
                  <a:latin typeface="Times New Roman"/>
                  <a:ea typeface="Times New Roman"/>
                  <a:cs typeface="Times New Roman"/>
                  <a:sym typeface="Times New Roman"/>
                </a:rPr>
                <a:t>○</a:t>
              </a:r>
            </a:p>
          </p:txBody>
        </p:sp>
      </p:grpSp>
      <p:grpSp>
        <p:nvGrpSpPr>
          <p:cNvPr name="Group 25" id="25"/>
          <p:cNvGrpSpPr/>
          <p:nvPr/>
        </p:nvGrpSpPr>
        <p:grpSpPr>
          <a:xfrm rot="0">
            <a:off x="1737360" y="5724144"/>
            <a:ext cx="7772400" cy="585216"/>
            <a:chOff x="0" y="0"/>
            <a:chExt cx="10363200" cy="780288"/>
          </a:xfrm>
        </p:grpSpPr>
        <p:sp>
          <p:nvSpPr>
            <p:cNvPr name="Freeform 26" id="26"/>
            <p:cNvSpPr/>
            <p:nvPr/>
          </p:nvSpPr>
          <p:spPr>
            <a:xfrm flipH="false" flipV="false" rot="0">
              <a:off x="0" y="0"/>
              <a:ext cx="10363200" cy="780288"/>
            </a:xfrm>
            <a:custGeom>
              <a:avLst/>
              <a:gdLst/>
              <a:ahLst/>
              <a:cxnLst/>
              <a:rect r="r" b="b" t="t" l="l"/>
              <a:pathLst>
                <a:path h="780288" w="10363200">
                  <a:moveTo>
                    <a:pt x="0" y="0"/>
                  </a:moveTo>
                  <a:lnTo>
                    <a:pt x="10363200" y="0"/>
                  </a:lnTo>
                  <a:lnTo>
                    <a:pt x="10363200" y="780288"/>
                  </a:lnTo>
                  <a:lnTo>
                    <a:pt x="0" y="780288"/>
                  </a:lnTo>
                  <a:close/>
                </a:path>
              </a:pathLst>
            </a:custGeom>
            <a:blipFill>
              <a:blip r:embed="rId3">
                <a:alphaModFix amt="0"/>
              </a:blip>
              <a:stretch>
                <a:fillRect l="0" t="-208785" r="0" b="-208785"/>
              </a:stretch>
            </a:blipFill>
          </p:spPr>
        </p:sp>
        <p:sp>
          <p:nvSpPr>
            <p:cNvPr name="TextBox 27" id="27"/>
            <p:cNvSpPr txBox="true"/>
            <p:nvPr/>
          </p:nvSpPr>
          <p:spPr>
            <a:xfrm>
              <a:off x="0" y="-66675"/>
              <a:ext cx="10363200" cy="846963"/>
            </a:xfrm>
            <a:prstGeom prst="rect">
              <a:avLst/>
            </a:prstGeom>
          </p:spPr>
          <p:txBody>
            <a:bodyPr anchor="ctr" rtlCol="false" tIns="0" lIns="0" bIns="0" rIns="0"/>
            <a:lstStyle/>
            <a:p>
              <a:pPr algn="l">
                <a:lnSpc>
                  <a:spcPts val="3359"/>
                </a:lnSpc>
              </a:pPr>
              <a:r>
                <a:rPr lang="en-US" sz="2799">
                  <a:solidFill>
                    <a:srgbClr val="14213D"/>
                  </a:solidFill>
                  <a:latin typeface="Times New Roman"/>
                  <a:ea typeface="Times New Roman"/>
                  <a:cs typeface="Times New Roman"/>
                  <a:sym typeface="Times New Roman"/>
                </a:rPr>
                <a:t>Client tự quyết (gian lận)</a:t>
              </a:r>
            </a:p>
          </p:txBody>
        </p:sp>
      </p:grpSp>
      <p:grpSp>
        <p:nvGrpSpPr>
          <p:cNvPr name="Group 28" id="28"/>
          <p:cNvGrpSpPr/>
          <p:nvPr/>
        </p:nvGrpSpPr>
        <p:grpSpPr>
          <a:xfrm rot="0">
            <a:off x="901703" y="6369815"/>
            <a:ext cx="10449563" cy="610619"/>
            <a:chOff x="0" y="0"/>
            <a:chExt cx="13932751" cy="814159"/>
          </a:xfrm>
        </p:grpSpPr>
        <p:sp>
          <p:nvSpPr>
            <p:cNvPr name="Freeform 29" id="29"/>
            <p:cNvSpPr/>
            <p:nvPr/>
          </p:nvSpPr>
          <p:spPr>
            <a:xfrm flipH="false" flipV="false" rot="0">
              <a:off x="0" y="0"/>
              <a:ext cx="13932790" cy="814197"/>
            </a:xfrm>
            <a:custGeom>
              <a:avLst/>
              <a:gdLst/>
              <a:ahLst/>
              <a:cxnLst/>
              <a:rect r="r" b="b" t="t" l="l"/>
              <a:pathLst>
                <a:path h="814197" w="13932790">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name="Group 30" id="30"/>
          <p:cNvGrpSpPr/>
          <p:nvPr/>
        </p:nvGrpSpPr>
        <p:grpSpPr>
          <a:xfrm rot="0">
            <a:off x="9601200" y="6382512"/>
            <a:ext cx="1554480" cy="585216"/>
            <a:chOff x="0" y="0"/>
            <a:chExt cx="2072640" cy="780288"/>
          </a:xfrm>
        </p:grpSpPr>
        <p:sp>
          <p:nvSpPr>
            <p:cNvPr name="Freeform 31" id="31"/>
            <p:cNvSpPr/>
            <p:nvPr/>
          </p:nvSpPr>
          <p:spPr>
            <a:xfrm flipH="false" flipV="false" rot="0">
              <a:off x="0" y="0"/>
              <a:ext cx="2072640" cy="780288"/>
            </a:xfrm>
            <a:custGeom>
              <a:avLst/>
              <a:gdLst/>
              <a:ahLst/>
              <a:cxnLst/>
              <a:rect r="r" b="b" t="t" l="l"/>
              <a:pathLst>
                <a:path h="780288" w="2072640">
                  <a:moveTo>
                    <a:pt x="0" y="0"/>
                  </a:moveTo>
                  <a:lnTo>
                    <a:pt x="2072640" y="0"/>
                  </a:lnTo>
                  <a:lnTo>
                    <a:pt x="2072640" y="780288"/>
                  </a:lnTo>
                  <a:lnTo>
                    <a:pt x="0" y="780288"/>
                  </a:lnTo>
                  <a:close/>
                </a:path>
              </a:pathLst>
            </a:custGeom>
            <a:blipFill>
              <a:blip r:embed="rId3">
                <a:alphaModFix amt="0"/>
              </a:blip>
              <a:stretch>
                <a:fillRect l="0" t="-1757" r="0" b="-1757"/>
              </a:stretch>
            </a:blipFill>
          </p:spPr>
        </p:sp>
        <p:sp>
          <p:nvSpPr>
            <p:cNvPr name="TextBox 32" id="32"/>
            <p:cNvSpPr txBox="true"/>
            <p:nvPr/>
          </p:nvSpPr>
          <p:spPr>
            <a:xfrm>
              <a:off x="0" y="-38100"/>
              <a:ext cx="2072640" cy="818388"/>
            </a:xfrm>
            <a:prstGeom prst="rect">
              <a:avLst/>
            </a:prstGeom>
          </p:spPr>
          <p:txBody>
            <a:bodyPr anchor="ctr" rtlCol="false" tIns="0" lIns="0" bIns="0" rIns="0"/>
            <a:lstStyle/>
            <a:p>
              <a:pPr algn="r">
                <a:lnSpc>
                  <a:spcPts val="2400"/>
                </a:lnSpc>
              </a:pPr>
              <a:r>
                <a:rPr lang="en-US" sz="2000" b="true">
                  <a:solidFill>
                    <a:srgbClr val="00897B"/>
                  </a:solidFill>
                  <a:latin typeface="Times New Roman"/>
                  <a:ea typeface="Times New Roman"/>
                  <a:cs typeface="Times New Roman"/>
                  <a:sym typeface="Times New Roman"/>
                </a:rPr>
                <a:t>ĐÃ CHỌN</a:t>
              </a:r>
            </a:p>
          </p:txBody>
        </p:sp>
      </p:grpSp>
      <p:grpSp>
        <p:nvGrpSpPr>
          <p:cNvPr name="Group 33" id="33"/>
          <p:cNvGrpSpPr/>
          <p:nvPr/>
        </p:nvGrpSpPr>
        <p:grpSpPr>
          <a:xfrm rot="0">
            <a:off x="1097280" y="6382512"/>
            <a:ext cx="548640" cy="585216"/>
            <a:chOff x="0" y="0"/>
            <a:chExt cx="731520" cy="780288"/>
          </a:xfrm>
        </p:grpSpPr>
        <p:sp>
          <p:nvSpPr>
            <p:cNvPr name="Freeform 34" id="34"/>
            <p:cNvSpPr/>
            <p:nvPr/>
          </p:nvSpPr>
          <p:spPr>
            <a:xfrm flipH="false" flipV="false" rot="0">
              <a:off x="0" y="0"/>
              <a:ext cx="731520" cy="780288"/>
            </a:xfrm>
            <a:custGeom>
              <a:avLst/>
              <a:gdLst/>
              <a:ahLst/>
              <a:cxnLst/>
              <a:rect r="r" b="b" t="t" l="l"/>
              <a:pathLst>
                <a:path h="780288" w="731520">
                  <a:moveTo>
                    <a:pt x="0" y="0"/>
                  </a:moveTo>
                  <a:lnTo>
                    <a:pt x="731520" y="0"/>
                  </a:lnTo>
                  <a:lnTo>
                    <a:pt x="731520" y="780288"/>
                  </a:lnTo>
                  <a:lnTo>
                    <a:pt x="0" y="780288"/>
                  </a:lnTo>
                  <a:close/>
                </a:path>
              </a:pathLst>
            </a:custGeom>
            <a:blipFill>
              <a:blip r:embed="rId3">
                <a:alphaModFix amt="0"/>
              </a:blip>
              <a:stretch>
                <a:fillRect l="-86857" t="0" r="-86857" b="0"/>
              </a:stretch>
            </a:blipFill>
          </p:spPr>
        </p:sp>
        <p:sp>
          <p:nvSpPr>
            <p:cNvPr name="TextBox 35" id="35"/>
            <p:cNvSpPr txBox="true"/>
            <p:nvPr/>
          </p:nvSpPr>
          <p:spPr>
            <a:xfrm>
              <a:off x="0" y="-66675"/>
              <a:ext cx="731520" cy="846963"/>
            </a:xfrm>
            <a:prstGeom prst="rect">
              <a:avLst/>
            </a:prstGeom>
          </p:spPr>
          <p:txBody>
            <a:bodyPr anchor="ctr" rtlCol="false" tIns="0" lIns="0" bIns="0" rIns="0"/>
            <a:lstStyle/>
            <a:p>
              <a:pPr algn="ctr">
                <a:lnSpc>
                  <a:spcPts val="3600"/>
                </a:lnSpc>
              </a:pPr>
              <a:r>
                <a:rPr lang="en-US" sz="3000">
                  <a:solidFill>
                    <a:srgbClr val="00897B"/>
                  </a:solidFill>
                  <a:latin typeface="Times New Roman"/>
                  <a:ea typeface="Times New Roman"/>
                  <a:cs typeface="Times New Roman"/>
                  <a:sym typeface="Times New Roman"/>
                </a:rPr>
                <a:t>●</a:t>
              </a:r>
            </a:p>
          </p:txBody>
        </p:sp>
      </p:grpSp>
      <p:grpSp>
        <p:nvGrpSpPr>
          <p:cNvPr name="Group 36" id="36"/>
          <p:cNvGrpSpPr/>
          <p:nvPr/>
        </p:nvGrpSpPr>
        <p:grpSpPr>
          <a:xfrm rot="0">
            <a:off x="1737360" y="6382512"/>
            <a:ext cx="7772400" cy="585216"/>
            <a:chOff x="0" y="0"/>
            <a:chExt cx="10363200" cy="780288"/>
          </a:xfrm>
        </p:grpSpPr>
        <p:sp>
          <p:nvSpPr>
            <p:cNvPr name="Freeform 37" id="37"/>
            <p:cNvSpPr/>
            <p:nvPr/>
          </p:nvSpPr>
          <p:spPr>
            <a:xfrm flipH="false" flipV="false" rot="0">
              <a:off x="0" y="0"/>
              <a:ext cx="10363200" cy="780288"/>
            </a:xfrm>
            <a:custGeom>
              <a:avLst/>
              <a:gdLst/>
              <a:ahLst/>
              <a:cxnLst/>
              <a:rect r="r" b="b" t="t" l="l"/>
              <a:pathLst>
                <a:path h="780288" w="10363200">
                  <a:moveTo>
                    <a:pt x="0" y="0"/>
                  </a:moveTo>
                  <a:lnTo>
                    <a:pt x="10363200" y="0"/>
                  </a:lnTo>
                  <a:lnTo>
                    <a:pt x="10363200" y="780288"/>
                  </a:lnTo>
                  <a:lnTo>
                    <a:pt x="0" y="780288"/>
                  </a:lnTo>
                  <a:close/>
                </a:path>
              </a:pathLst>
            </a:custGeom>
            <a:blipFill>
              <a:blip r:embed="rId3">
                <a:alphaModFix amt="0"/>
              </a:blip>
              <a:stretch>
                <a:fillRect l="0" t="-208785" r="0" b="-208785"/>
              </a:stretch>
            </a:blipFill>
          </p:spPr>
        </p:sp>
        <p:sp>
          <p:nvSpPr>
            <p:cNvPr name="TextBox 38" id="38"/>
            <p:cNvSpPr txBox="true"/>
            <p:nvPr/>
          </p:nvSpPr>
          <p:spPr>
            <a:xfrm>
              <a:off x="0" y="-66675"/>
              <a:ext cx="10363200" cy="846963"/>
            </a:xfrm>
            <a:prstGeom prst="rect">
              <a:avLst/>
            </a:prstGeom>
          </p:spPr>
          <p:txBody>
            <a:bodyPr anchor="ctr" rtlCol="false" tIns="0" lIns="0" bIns="0" rIns="0"/>
            <a:lstStyle/>
            <a:p>
              <a:pPr algn="l">
                <a:lnSpc>
                  <a:spcPts val="3359"/>
                </a:lnSpc>
              </a:pPr>
              <a:r>
                <a:rPr lang="en-US" sz="2799" b="true">
                  <a:solidFill>
                    <a:srgbClr val="14213D"/>
                  </a:solidFill>
                  <a:latin typeface="Times New Roman"/>
                  <a:ea typeface="Times New Roman"/>
                  <a:cs typeface="Times New Roman"/>
                  <a:sym typeface="Times New Roman"/>
                </a:rPr>
                <a:t>Bù trễ</a:t>
              </a:r>
            </a:p>
          </p:txBody>
        </p:sp>
      </p:grpSp>
      <p:grpSp>
        <p:nvGrpSpPr>
          <p:cNvPr name="Group 39" id="39"/>
          <p:cNvGrpSpPr/>
          <p:nvPr/>
        </p:nvGrpSpPr>
        <p:grpSpPr>
          <a:xfrm rot="0">
            <a:off x="11642376" y="2395728"/>
            <a:ext cx="5747093" cy="6839712"/>
            <a:chOff x="0" y="0"/>
            <a:chExt cx="8677491" cy="10327228"/>
          </a:xfrm>
        </p:grpSpPr>
        <p:sp>
          <p:nvSpPr>
            <p:cNvPr name="Freeform 40" id="40"/>
            <p:cNvSpPr/>
            <p:nvPr/>
          </p:nvSpPr>
          <p:spPr>
            <a:xfrm flipH="false" flipV="false" rot="0">
              <a:off x="0" y="0"/>
              <a:ext cx="8677580" cy="10327318"/>
            </a:xfrm>
            <a:custGeom>
              <a:avLst/>
              <a:gdLst/>
              <a:ahLst/>
              <a:cxnLst/>
              <a:rect r="r" b="b" t="t" l="l"/>
              <a:pathLst>
                <a:path h="10327318" w="8677580">
                  <a:moveTo>
                    <a:pt x="0" y="226599"/>
                  </a:moveTo>
                  <a:cubicBezTo>
                    <a:pt x="0" y="101493"/>
                    <a:pt x="101961" y="0"/>
                    <a:pt x="227644" y="0"/>
                  </a:cubicBezTo>
                  <a:lnTo>
                    <a:pt x="8449949" y="0"/>
                  </a:lnTo>
                  <a:cubicBezTo>
                    <a:pt x="8575633" y="0"/>
                    <a:pt x="8677580" y="101493"/>
                    <a:pt x="8677580" y="226599"/>
                  </a:cubicBezTo>
                  <a:lnTo>
                    <a:pt x="8677580" y="10100732"/>
                  </a:lnTo>
                  <a:cubicBezTo>
                    <a:pt x="8677580" y="10225839"/>
                    <a:pt x="8575633" y="10327318"/>
                    <a:pt x="8449949" y="10327318"/>
                  </a:cubicBezTo>
                  <a:lnTo>
                    <a:pt x="227644" y="10327318"/>
                  </a:lnTo>
                  <a:cubicBezTo>
                    <a:pt x="101961" y="10327184"/>
                    <a:pt x="0" y="10225838"/>
                    <a:pt x="0" y="10100732"/>
                  </a:cubicBezTo>
                  <a:close/>
                </a:path>
              </a:pathLst>
            </a:custGeom>
            <a:blipFill>
              <a:blip r:embed="rId4"/>
              <a:stretch>
                <a:fillRect l="0" t="-415" r="0" b="-415"/>
              </a:stretch>
            </a:blipFill>
            <a:ln w="31750" cap="sq">
              <a:solidFill>
                <a:srgbClr val="00897B"/>
              </a:solidFill>
              <a:prstDash val="dash"/>
              <a:miter/>
            </a:ln>
          </p:spPr>
        </p:sp>
      </p:grpSp>
      <p:sp>
        <p:nvSpPr>
          <p:cNvPr name="TextBox 41" id="41"/>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VẤN ĐỀ 4</a:t>
            </a:r>
          </a:p>
        </p:txBody>
      </p:sp>
      <p:sp>
        <p:nvSpPr>
          <p:cNvPr name="TextBox 42" id="42"/>
          <p:cNvSpPr txBox="true"/>
          <p:nvPr/>
        </p:nvSpPr>
        <p:spPr>
          <a:xfrm rot="0">
            <a:off x="914400" y="2402205"/>
            <a:ext cx="10424160" cy="2078355"/>
          </a:xfrm>
          <a:prstGeom prst="rect">
            <a:avLst/>
          </a:prstGeom>
        </p:spPr>
        <p:txBody>
          <a:bodyPr anchor="t" rtlCol="false" tIns="0" lIns="0" bIns="0" rIns="0">
            <a:spAutoFit/>
          </a:bodyPr>
          <a:lstStyle/>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A (RTT 40 ms) và B (RTT 200 ms) cùng nhặt một vật; trên màn hình, </a:t>
            </a:r>
            <a:r>
              <a:rPr lang="en-US" b="true" sz="2799">
                <a:solidFill>
                  <a:srgbClr val="14213D"/>
                </a:solidFill>
                <a:latin typeface="Times New Roman"/>
                <a:ea typeface="Times New Roman"/>
                <a:cs typeface="Times New Roman"/>
                <a:sym typeface="Times New Roman"/>
              </a:rPr>
              <a:t>B chạm trước</a:t>
            </a:r>
          </a:p>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Phân xử theo thứ tự gói đến thì </a:t>
            </a:r>
            <a:r>
              <a:rPr lang="en-US" b="true" sz="2799">
                <a:solidFill>
                  <a:srgbClr val="14213D"/>
                </a:solidFill>
                <a:latin typeface="Times New Roman"/>
                <a:ea typeface="Times New Roman"/>
                <a:cs typeface="Times New Roman"/>
                <a:sym typeface="Times New Roman"/>
              </a:rPr>
              <a:t>A luôn thắng</a:t>
            </a:r>
            <a:r>
              <a:rPr lang="en-US" sz="2799">
                <a:solidFill>
                  <a:srgbClr val="14213D"/>
                </a:solidFill>
                <a:latin typeface="Times New Roman"/>
                <a:ea typeface="Times New Roman"/>
                <a:cs typeface="Times New Roman"/>
                <a:sym typeface="Times New Roman"/>
              </a:rPr>
              <a:t>: người trễ thấp luôn được lợi</a:t>
            </a:r>
          </a:p>
        </p:txBody>
      </p:sp>
      <p:sp>
        <p:nvSpPr>
          <p:cNvPr name="TextBox 43" id="43"/>
          <p:cNvSpPr txBox="true"/>
          <p:nvPr/>
        </p:nvSpPr>
        <p:spPr>
          <a:xfrm rot="0">
            <a:off x="914400" y="7193661"/>
            <a:ext cx="10424160" cy="2041779"/>
          </a:xfrm>
          <a:prstGeom prst="rect">
            <a:avLst/>
          </a:prstGeom>
        </p:spPr>
        <p:txBody>
          <a:bodyPr anchor="t" rtlCol="false" tIns="0" lIns="0" bIns="0" rIns="0">
            <a:spAutoFit/>
          </a:bodyPr>
          <a:lstStyle/>
          <a:p>
            <a:pPr algn="l" marL="675639" indent="-337820" lvl="1">
              <a:lnSpc>
                <a:spcPts val="3359"/>
              </a:lnSpc>
              <a:buFont typeface="Times New Roman"/>
              <a:buChar char="•"/>
            </a:pPr>
            <a:r>
              <a:rPr lang="en-US" b="true" sz="2799">
                <a:solidFill>
                  <a:srgbClr val="14213D"/>
                </a:solidFill>
                <a:latin typeface="Times New Roman"/>
                <a:ea typeface="Times New Roman"/>
                <a:cs typeface="Times New Roman"/>
                <a:sym typeface="Times New Roman"/>
              </a:rPr>
              <a:t>Bù trễ:</a:t>
            </a:r>
            <a:r>
              <a:rPr lang="en-US" sz="2799">
                <a:solidFill>
                  <a:srgbClr val="14213D"/>
                </a:solidFill>
                <a:latin typeface="Times New Roman"/>
                <a:ea typeface="Times New Roman"/>
                <a:cs typeface="Times New Roman"/>
                <a:sym typeface="Times New Roman"/>
              </a:rPr>
              <a:t> server lưu lịch sử 1 giây, </a:t>
            </a:r>
            <a:r>
              <a:rPr lang="en-US" b="true" sz="2799">
                <a:solidFill>
                  <a:srgbClr val="14213D"/>
                </a:solidFill>
                <a:latin typeface="Times New Roman"/>
                <a:ea typeface="Times New Roman"/>
                <a:cs typeface="Times New Roman"/>
                <a:sym typeface="Times New Roman"/>
              </a:rPr>
              <a:t>tua lại</a:t>
            </a:r>
            <a:r>
              <a:rPr lang="en-US" sz="2799">
                <a:solidFill>
                  <a:srgbClr val="14213D"/>
                </a:solidFill>
                <a:latin typeface="Times New Roman"/>
                <a:ea typeface="Times New Roman"/>
                <a:cs typeface="Times New Roman"/>
                <a:sym typeface="Times New Roman"/>
              </a:rPr>
              <a:t> về thời điểm người chơi nhìn thấy rồi mới phân xử</a:t>
            </a:r>
          </a:p>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Tua tối đa ~200–250 ms · Đánh đổi: </a:t>
            </a:r>
            <a:r>
              <a:rPr lang="en-US" b="true" sz="2799">
                <a:solidFill>
                  <a:srgbClr val="14213D"/>
                </a:solidFill>
                <a:latin typeface="Times New Roman"/>
                <a:ea typeface="Times New Roman"/>
                <a:cs typeface="Times New Roman"/>
                <a:sym typeface="Times New Roman"/>
              </a:rPr>
              <a:t>“đã chạy đi rồi vẫn bị bắt”</a:t>
            </a:r>
          </a:p>
        </p:txBody>
      </p:sp>
      <p:sp>
        <p:nvSpPr>
          <p:cNvPr name="TextBox 44" id="44"/>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13</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02" name="Header band"/>
          <p:cNvSpPr/>
          <p:nvPr/>
        </p:nvSpPr>
        <p:spPr>
          <a:xfrm>
            <a:off x="0" y="0"/>
            <a:ext cx="18288000" cy="2103120"/>
          </a:xfrm>
          <a:prstGeom prst="rect">
            <a:avLst/>
          </a:prstGeom>
          <a:solidFill>
            <a:srgbClr val="14213D"/>
          </a:solidFill>
          <a:ln>
            <a:noFill/>
          </a:ln>
        </p:spPr>
      </p:sp>
      <p:sp>
        <p:nvSpPr>
          <p:cNvPr id="9003"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grpSp>
        <p:nvGrpSpPr>
          <p:cNvPr name="Group 5" id="5"/>
          <p:cNvGrpSpPr/>
          <p:nvPr/>
        </p:nvGrpSpPr>
        <p:grpSpPr>
          <a:xfrm rot="0">
            <a:off x="914400" y="768096"/>
            <a:ext cx="14081760" cy="1097280"/>
            <a:chOff x="0" y="0"/>
            <a:chExt cx="18775680" cy="1463040"/>
          </a:xfrm>
        </p:grpSpPr>
        <p:sp>
          <p:nvSpPr>
            <p:cNvPr name="Freeform 6" id="6"/>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7" id="7"/>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Dự đoán hành động bị sai → quay lui</a:t>
              </a:r>
            </a:p>
          </p:txBody>
        </p:sp>
      </p:grpSp>
      <p:grpSp>
        <p:nvGrpSpPr>
          <p:cNvPr name="Group 8" id="8"/>
          <p:cNvGrpSpPr/>
          <p:nvPr/>
        </p:nvGrpSpPr>
        <p:grpSpPr>
          <a:xfrm rot="0">
            <a:off x="15257783" y="682247"/>
            <a:ext cx="2128523" cy="647195"/>
            <a:chOff x="0" y="0"/>
            <a:chExt cx="2838031" cy="862927"/>
          </a:xfrm>
        </p:grpSpPr>
        <p:sp>
          <p:nvSpPr>
            <p:cNvPr name="Freeform 9" id="9"/>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name="Group 10" id="10"/>
          <p:cNvGrpSpPr/>
          <p:nvPr/>
        </p:nvGrpSpPr>
        <p:grpSpPr>
          <a:xfrm rot="0">
            <a:off x="15270480" y="694944"/>
            <a:ext cx="2103120" cy="621792"/>
            <a:chOff x="0" y="0"/>
            <a:chExt cx="2804160" cy="829056"/>
          </a:xfrm>
        </p:grpSpPr>
        <p:sp>
          <p:nvSpPr>
            <p:cNvPr name="Freeform 11" id="11"/>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2" id="12"/>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14213D"/>
                  </a:solidFill>
                  <a:latin typeface="Times New Roman"/>
                  <a:ea typeface="Times New Roman"/>
                  <a:cs typeface="Times New Roman"/>
                  <a:sym typeface="Times New Roman"/>
                </a:rPr>
                <a:t>#3</a:t>
              </a:r>
            </a:p>
          </p:txBody>
        </p:sp>
      </p:grpSp>
      <p:grpSp>
        <p:nvGrpSpPr>
          <p:cNvPr name="Group 13" id="13"/>
          <p:cNvGrpSpPr/>
          <p:nvPr/>
        </p:nvGrpSpPr>
        <p:grpSpPr>
          <a:xfrm rot="0">
            <a:off x="914400" y="3200400"/>
            <a:ext cx="10424160" cy="402336"/>
            <a:chOff x="0" y="0"/>
            <a:chExt cx="13898880" cy="536448"/>
          </a:xfrm>
        </p:grpSpPr>
        <p:sp>
          <p:nvSpPr>
            <p:cNvPr name="Freeform 14" id="14"/>
            <p:cNvSpPr/>
            <p:nvPr/>
          </p:nvSpPr>
          <p:spPr>
            <a:xfrm flipH="false" flipV="false" rot="0">
              <a:off x="0" y="0"/>
              <a:ext cx="13898880" cy="536448"/>
            </a:xfrm>
            <a:custGeom>
              <a:avLst/>
              <a:gdLst/>
              <a:ahLst/>
              <a:cxnLst/>
              <a:rect r="r" b="b" t="t" l="l"/>
              <a:pathLst>
                <a:path h="536448" w="13898880">
                  <a:moveTo>
                    <a:pt x="0" y="0"/>
                  </a:moveTo>
                  <a:lnTo>
                    <a:pt x="13898880" y="0"/>
                  </a:lnTo>
                  <a:lnTo>
                    <a:pt x="13898880" y="536448"/>
                  </a:lnTo>
                  <a:lnTo>
                    <a:pt x="0" y="536448"/>
                  </a:lnTo>
                  <a:close/>
                </a:path>
              </a:pathLst>
            </a:custGeom>
            <a:blipFill>
              <a:blip r:embed="rId3">
                <a:alphaModFix amt="0"/>
              </a:blip>
              <a:stretch>
                <a:fillRect l="0" t="-454839" r="0" b="-454839"/>
              </a:stretch>
            </a:blipFill>
          </p:spPr>
        </p:sp>
        <p:sp>
          <p:nvSpPr>
            <p:cNvPr name="TextBox 15" id="15"/>
            <p:cNvSpPr txBox="true"/>
            <p:nvPr/>
          </p:nvSpPr>
          <p:spPr>
            <a:xfrm>
              <a:off x="0" y="-38100"/>
              <a:ext cx="13898880" cy="574548"/>
            </a:xfrm>
            <a:prstGeom prst="rect">
              <a:avLst/>
            </a:prstGeom>
          </p:spPr>
          <p:txBody>
            <a:bodyPr anchor="ctr" rtlCol="false" tIns="0" lIns="0" bIns="0" rIns="0"/>
            <a:lstStyle/>
            <a:p>
              <a:pPr algn="l">
                <a:lnSpc>
                  <a:spcPts val="2400"/>
                </a:lnSpc>
              </a:pPr>
              <a:r>
                <a:rPr lang="en-US" b="true" sz="2000" spc="300">
                  <a:solidFill>
                    <a:srgbClr val="5B6B82"/>
                  </a:solidFill>
                  <a:latin typeface="Times New Roman"/>
                  <a:ea typeface="Times New Roman"/>
                  <a:cs typeface="Times New Roman"/>
                  <a:sym typeface="Times New Roman"/>
                </a:rPr>
                <a:t>CÁC HƯỚNG</a:t>
              </a:r>
            </a:p>
          </p:txBody>
        </p:sp>
      </p:grpSp>
      <p:grpSp>
        <p:nvGrpSpPr>
          <p:cNvPr name="Group 16" id="16"/>
          <p:cNvGrpSpPr/>
          <p:nvPr/>
        </p:nvGrpSpPr>
        <p:grpSpPr>
          <a:xfrm rot="0">
            <a:off x="1097280" y="3694176"/>
            <a:ext cx="548640" cy="585216"/>
            <a:chOff x="0" y="0"/>
            <a:chExt cx="731520" cy="780288"/>
          </a:xfrm>
        </p:grpSpPr>
        <p:sp>
          <p:nvSpPr>
            <p:cNvPr name="Freeform 17" id="17"/>
            <p:cNvSpPr/>
            <p:nvPr/>
          </p:nvSpPr>
          <p:spPr>
            <a:xfrm flipH="false" flipV="false" rot="0">
              <a:off x="0" y="0"/>
              <a:ext cx="731520" cy="780288"/>
            </a:xfrm>
            <a:custGeom>
              <a:avLst/>
              <a:gdLst/>
              <a:ahLst/>
              <a:cxnLst/>
              <a:rect r="r" b="b" t="t" l="l"/>
              <a:pathLst>
                <a:path h="780288" w="731520">
                  <a:moveTo>
                    <a:pt x="0" y="0"/>
                  </a:moveTo>
                  <a:lnTo>
                    <a:pt x="731520" y="0"/>
                  </a:lnTo>
                  <a:lnTo>
                    <a:pt x="731520" y="780288"/>
                  </a:lnTo>
                  <a:lnTo>
                    <a:pt x="0" y="780288"/>
                  </a:lnTo>
                  <a:close/>
                </a:path>
              </a:pathLst>
            </a:custGeom>
            <a:blipFill>
              <a:blip r:embed="rId3">
                <a:alphaModFix amt="0"/>
              </a:blip>
              <a:stretch>
                <a:fillRect l="-86857" t="0" r="-86857" b="0"/>
              </a:stretch>
            </a:blipFill>
          </p:spPr>
        </p:sp>
        <p:sp>
          <p:nvSpPr>
            <p:cNvPr name="TextBox 18" id="18"/>
            <p:cNvSpPr txBox="true"/>
            <p:nvPr/>
          </p:nvSpPr>
          <p:spPr>
            <a:xfrm>
              <a:off x="0" y="-66675"/>
              <a:ext cx="731520" cy="846963"/>
            </a:xfrm>
            <a:prstGeom prst="rect">
              <a:avLst/>
            </a:prstGeom>
          </p:spPr>
          <p:txBody>
            <a:bodyPr anchor="ctr" rtlCol="false" tIns="0" lIns="0" bIns="0" rIns="0"/>
            <a:lstStyle/>
            <a:p>
              <a:pPr algn="ctr">
                <a:lnSpc>
                  <a:spcPts val="3600"/>
                </a:lnSpc>
              </a:pPr>
              <a:r>
                <a:rPr lang="en-US" sz="3000">
                  <a:solidFill>
                    <a:srgbClr val="5B6B82"/>
                  </a:solidFill>
                  <a:latin typeface="Times New Roman"/>
                  <a:ea typeface="Times New Roman"/>
                  <a:cs typeface="Times New Roman"/>
                  <a:sym typeface="Times New Roman"/>
                </a:rPr>
                <a:t>○</a:t>
              </a:r>
            </a:p>
          </p:txBody>
        </p:sp>
      </p:grpSp>
      <p:grpSp>
        <p:nvGrpSpPr>
          <p:cNvPr name="Group 19" id="19"/>
          <p:cNvGrpSpPr/>
          <p:nvPr/>
        </p:nvGrpSpPr>
        <p:grpSpPr>
          <a:xfrm rot="0">
            <a:off x="1737360" y="3694176"/>
            <a:ext cx="7772400" cy="585216"/>
            <a:chOff x="0" y="0"/>
            <a:chExt cx="10363200" cy="780288"/>
          </a:xfrm>
        </p:grpSpPr>
        <p:sp>
          <p:nvSpPr>
            <p:cNvPr name="Freeform 20" id="20"/>
            <p:cNvSpPr/>
            <p:nvPr/>
          </p:nvSpPr>
          <p:spPr>
            <a:xfrm flipH="false" flipV="false" rot="0">
              <a:off x="0" y="0"/>
              <a:ext cx="10363200" cy="780288"/>
            </a:xfrm>
            <a:custGeom>
              <a:avLst/>
              <a:gdLst/>
              <a:ahLst/>
              <a:cxnLst/>
              <a:rect r="r" b="b" t="t" l="l"/>
              <a:pathLst>
                <a:path h="780288" w="10363200">
                  <a:moveTo>
                    <a:pt x="0" y="0"/>
                  </a:moveTo>
                  <a:lnTo>
                    <a:pt x="10363200" y="0"/>
                  </a:lnTo>
                  <a:lnTo>
                    <a:pt x="10363200" y="780288"/>
                  </a:lnTo>
                  <a:lnTo>
                    <a:pt x="0" y="780288"/>
                  </a:lnTo>
                  <a:close/>
                </a:path>
              </a:pathLst>
            </a:custGeom>
            <a:blipFill>
              <a:blip r:embed="rId3">
                <a:alphaModFix amt="0"/>
              </a:blip>
              <a:stretch>
                <a:fillRect l="0" t="-208785" r="0" b="-208785"/>
              </a:stretch>
            </a:blipFill>
          </p:spPr>
        </p:sp>
        <p:sp>
          <p:nvSpPr>
            <p:cNvPr name="TextBox 21" id="21"/>
            <p:cNvSpPr txBox="true"/>
            <p:nvPr/>
          </p:nvSpPr>
          <p:spPr>
            <a:xfrm>
              <a:off x="0" y="-66675"/>
              <a:ext cx="10363200" cy="846963"/>
            </a:xfrm>
            <a:prstGeom prst="rect">
              <a:avLst/>
            </a:prstGeom>
          </p:spPr>
          <p:txBody>
            <a:bodyPr anchor="ctr" rtlCol="false" tIns="0" lIns="0" bIns="0" rIns="0"/>
            <a:lstStyle/>
            <a:p>
              <a:pPr algn="l">
                <a:lnSpc>
                  <a:spcPts val="3359"/>
                </a:lnSpc>
              </a:pPr>
              <a:r>
                <a:rPr lang="en-US" sz="2799">
                  <a:solidFill>
                    <a:srgbClr val="14213D"/>
                  </a:solidFill>
                  <a:latin typeface="Times New Roman"/>
                  <a:ea typeface="Times New Roman"/>
                  <a:cs typeface="Times New Roman"/>
                  <a:sym typeface="Times New Roman"/>
                </a:rPr>
                <a:t>Không dự đoán: chờ 1 RTT</a:t>
              </a:r>
            </a:p>
          </p:txBody>
        </p:sp>
      </p:grpSp>
      <p:grpSp>
        <p:nvGrpSpPr>
          <p:cNvPr name="Group 22" id="22"/>
          <p:cNvGrpSpPr/>
          <p:nvPr/>
        </p:nvGrpSpPr>
        <p:grpSpPr>
          <a:xfrm rot="0">
            <a:off x="901703" y="4339847"/>
            <a:ext cx="10449563" cy="610619"/>
            <a:chOff x="0" y="0"/>
            <a:chExt cx="13932751" cy="814159"/>
          </a:xfrm>
        </p:grpSpPr>
        <p:sp>
          <p:nvSpPr>
            <p:cNvPr name="Freeform 23" id="23"/>
            <p:cNvSpPr/>
            <p:nvPr/>
          </p:nvSpPr>
          <p:spPr>
            <a:xfrm flipH="false" flipV="false" rot="0">
              <a:off x="0" y="0"/>
              <a:ext cx="13932790" cy="814197"/>
            </a:xfrm>
            <a:custGeom>
              <a:avLst/>
              <a:gdLst/>
              <a:ahLst/>
              <a:cxnLst/>
              <a:rect r="r" b="b" t="t" l="l"/>
              <a:pathLst>
                <a:path h="814197" w="13932790">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name="Group 24" id="24"/>
          <p:cNvGrpSpPr/>
          <p:nvPr/>
        </p:nvGrpSpPr>
        <p:grpSpPr>
          <a:xfrm rot="0">
            <a:off x="9601200" y="4352544"/>
            <a:ext cx="1554480" cy="585216"/>
            <a:chOff x="0" y="0"/>
            <a:chExt cx="2072640" cy="780288"/>
          </a:xfrm>
        </p:grpSpPr>
        <p:sp>
          <p:nvSpPr>
            <p:cNvPr name="Freeform 25" id="25"/>
            <p:cNvSpPr/>
            <p:nvPr/>
          </p:nvSpPr>
          <p:spPr>
            <a:xfrm flipH="false" flipV="false" rot="0">
              <a:off x="0" y="0"/>
              <a:ext cx="2072640" cy="780288"/>
            </a:xfrm>
            <a:custGeom>
              <a:avLst/>
              <a:gdLst/>
              <a:ahLst/>
              <a:cxnLst/>
              <a:rect r="r" b="b" t="t" l="l"/>
              <a:pathLst>
                <a:path h="780288" w="2072640">
                  <a:moveTo>
                    <a:pt x="0" y="0"/>
                  </a:moveTo>
                  <a:lnTo>
                    <a:pt x="2072640" y="0"/>
                  </a:lnTo>
                  <a:lnTo>
                    <a:pt x="2072640" y="780288"/>
                  </a:lnTo>
                  <a:lnTo>
                    <a:pt x="0" y="780288"/>
                  </a:lnTo>
                  <a:close/>
                </a:path>
              </a:pathLst>
            </a:custGeom>
            <a:blipFill>
              <a:blip r:embed="rId3">
                <a:alphaModFix amt="0"/>
              </a:blip>
              <a:stretch>
                <a:fillRect l="0" t="-1757" r="0" b="-1757"/>
              </a:stretch>
            </a:blipFill>
          </p:spPr>
        </p:sp>
        <p:sp>
          <p:nvSpPr>
            <p:cNvPr name="TextBox 26" id="26"/>
            <p:cNvSpPr txBox="true"/>
            <p:nvPr/>
          </p:nvSpPr>
          <p:spPr>
            <a:xfrm>
              <a:off x="0" y="-38100"/>
              <a:ext cx="2072640" cy="818388"/>
            </a:xfrm>
            <a:prstGeom prst="rect">
              <a:avLst/>
            </a:prstGeom>
          </p:spPr>
          <p:txBody>
            <a:bodyPr anchor="ctr" rtlCol="false" tIns="0" lIns="0" bIns="0" rIns="0"/>
            <a:lstStyle/>
            <a:p>
              <a:pPr algn="r">
                <a:lnSpc>
                  <a:spcPts val="2400"/>
                </a:lnSpc>
              </a:pPr>
              <a:r>
                <a:rPr lang="en-US" sz="2000" b="true">
                  <a:solidFill>
                    <a:srgbClr val="00897B"/>
                  </a:solidFill>
                  <a:latin typeface="Times New Roman"/>
                  <a:ea typeface="Times New Roman"/>
                  <a:cs typeface="Times New Roman"/>
                  <a:sym typeface="Times New Roman"/>
                </a:rPr>
                <a:t>ĐÃ CHỌN</a:t>
              </a:r>
            </a:p>
          </p:txBody>
        </p:sp>
      </p:grpSp>
      <p:grpSp>
        <p:nvGrpSpPr>
          <p:cNvPr name="Group 27" id="27"/>
          <p:cNvGrpSpPr/>
          <p:nvPr/>
        </p:nvGrpSpPr>
        <p:grpSpPr>
          <a:xfrm rot="0">
            <a:off x="1097280" y="4352544"/>
            <a:ext cx="548640" cy="585216"/>
            <a:chOff x="0" y="0"/>
            <a:chExt cx="731520" cy="780288"/>
          </a:xfrm>
        </p:grpSpPr>
        <p:sp>
          <p:nvSpPr>
            <p:cNvPr name="Freeform 28" id="28"/>
            <p:cNvSpPr/>
            <p:nvPr/>
          </p:nvSpPr>
          <p:spPr>
            <a:xfrm flipH="false" flipV="false" rot="0">
              <a:off x="0" y="0"/>
              <a:ext cx="731520" cy="780288"/>
            </a:xfrm>
            <a:custGeom>
              <a:avLst/>
              <a:gdLst/>
              <a:ahLst/>
              <a:cxnLst/>
              <a:rect r="r" b="b" t="t" l="l"/>
              <a:pathLst>
                <a:path h="780288" w="731520">
                  <a:moveTo>
                    <a:pt x="0" y="0"/>
                  </a:moveTo>
                  <a:lnTo>
                    <a:pt x="731520" y="0"/>
                  </a:lnTo>
                  <a:lnTo>
                    <a:pt x="731520" y="780288"/>
                  </a:lnTo>
                  <a:lnTo>
                    <a:pt x="0" y="780288"/>
                  </a:lnTo>
                  <a:close/>
                </a:path>
              </a:pathLst>
            </a:custGeom>
            <a:blipFill>
              <a:blip r:embed="rId3">
                <a:alphaModFix amt="0"/>
              </a:blip>
              <a:stretch>
                <a:fillRect l="-86857" t="0" r="-86857" b="0"/>
              </a:stretch>
            </a:blipFill>
          </p:spPr>
        </p:sp>
        <p:sp>
          <p:nvSpPr>
            <p:cNvPr name="TextBox 29" id="29"/>
            <p:cNvSpPr txBox="true"/>
            <p:nvPr/>
          </p:nvSpPr>
          <p:spPr>
            <a:xfrm>
              <a:off x="0" y="-66675"/>
              <a:ext cx="731520" cy="846963"/>
            </a:xfrm>
            <a:prstGeom prst="rect">
              <a:avLst/>
            </a:prstGeom>
          </p:spPr>
          <p:txBody>
            <a:bodyPr anchor="ctr" rtlCol="false" tIns="0" lIns="0" bIns="0" rIns="0"/>
            <a:lstStyle/>
            <a:p>
              <a:pPr algn="ctr">
                <a:lnSpc>
                  <a:spcPts val="3600"/>
                </a:lnSpc>
              </a:pPr>
              <a:r>
                <a:rPr lang="en-US" sz="3000">
                  <a:solidFill>
                    <a:srgbClr val="00897B"/>
                  </a:solidFill>
                  <a:latin typeface="Times New Roman"/>
                  <a:ea typeface="Times New Roman"/>
                  <a:cs typeface="Times New Roman"/>
                  <a:sym typeface="Times New Roman"/>
                </a:rPr>
                <a:t>●</a:t>
              </a:r>
            </a:p>
          </p:txBody>
        </p:sp>
      </p:grpSp>
      <p:grpSp>
        <p:nvGrpSpPr>
          <p:cNvPr name="Group 30" id="30"/>
          <p:cNvGrpSpPr/>
          <p:nvPr/>
        </p:nvGrpSpPr>
        <p:grpSpPr>
          <a:xfrm rot="0">
            <a:off x="1737360" y="4352544"/>
            <a:ext cx="7772400" cy="585216"/>
            <a:chOff x="0" y="0"/>
            <a:chExt cx="10363200" cy="780288"/>
          </a:xfrm>
        </p:grpSpPr>
        <p:sp>
          <p:nvSpPr>
            <p:cNvPr name="Freeform 31" id="31"/>
            <p:cNvSpPr/>
            <p:nvPr/>
          </p:nvSpPr>
          <p:spPr>
            <a:xfrm flipH="false" flipV="false" rot="0">
              <a:off x="0" y="0"/>
              <a:ext cx="10363200" cy="780288"/>
            </a:xfrm>
            <a:custGeom>
              <a:avLst/>
              <a:gdLst/>
              <a:ahLst/>
              <a:cxnLst/>
              <a:rect r="r" b="b" t="t" l="l"/>
              <a:pathLst>
                <a:path h="780288" w="10363200">
                  <a:moveTo>
                    <a:pt x="0" y="0"/>
                  </a:moveTo>
                  <a:lnTo>
                    <a:pt x="10363200" y="0"/>
                  </a:lnTo>
                  <a:lnTo>
                    <a:pt x="10363200" y="780288"/>
                  </a:lnTo>
                  <a:lnTo>
                    <a:pt x="0" y="780288"/>
                  </a:lnTo>
                  <a:close/>
                </a:path>
              </a:pathLst>
            </a:custGeom>
            <a:blipFill>
              <a:blip r:embed="rId3">
                <a:alphaModFix amt="0"/>
              </a:blip>
              <a:stretch>
                <a:fillRect l="0" t="-208785" r="0" b="-208785"/>
              </a:stretch>
            </a:blipFill>
          </p:spPr>
        </p:sp>
        <p:sp>
          <p:nvSpPr>
            <p:cNvPr name="TextBox 32" id="32"/>
            <p:cNvSpPr txBox="true"/>
            <p:nvPr/>
          </p:nvSpPr>
          <p:spPr>
            <a:xfrm>
              <a:off x="0" y="-66675"/>
              <a:ext cx="10363200" cy="846963"/>
            </a:xfrm>
            <a:prstGeom prst="rect">
              <a:avLst/>
            </a:prstGeom>
          </p:spPr>
          <p:txBody>
            <a:bodyPr anchor="ctr" rtlCol="false" tIns="0" lIns="0" bIns="0" rIns="0"/>
            <a:lstStyle/>
            <a:p>
              <a:pPr algn="l">
                <a:lnSpc>
                  <a:spcPts val="3359"/>
                </a:lnSpc>
              </a:pPr>
              <a:r>
                <a:rPr lang="en-US" sz="2799" b="true">
                  <a:solidFill>
                    <a:srgbClr val="14213D"/>
                  </a:solidFill>
                  <a:latin typeface="Times New Roman"/>
                  <a:ea typeface="Times New Roman"/>
                  <a:cs typeface="Times New Roman"/>
                  <a:sym typeface="Times New Roman"/>
                </a:rPr>
                <a:t>Dự đoán + quay lui cục bộ</a:t>
              </a:r>
            </a:p>
          </p:txBody>
        </p:sp>
      </p:grpSp>
      <p:grpSp>
        <p:nvGrpSpPr>
          <p:cNvPr name="Group 33" id="33"/>
          <p:cNvGrpSpPr/>
          <p:nvPr/>
        </p:nvGrpSpPr>
        <p:grpSpPr>
          <a:xfrm rot="0">
            <a:off x="1097280" y="5010912"/>
            <a:ext cx="548640" cy="585216"/>
            <a:chOff x="0" y="0"/>
            <a:chExt cx="731520" cy="780288"/>
          </a:xfrm>
        </p:grpSpPr>
        <p:sp>
          <p:nvSpPr>
            <p:cNvPr name="Freeform 34" id="34"/>
            <p:cNvSpPr/>
            <p:nvPr/>
          </p:nvSpPr>
          <p:spPr>
            <a:xfrm flipH="false" flipV="false" rot="0">
              <a:off x="0" y="0"/>
              <a:ext cx="731520" cy="780288"/>
            </a:xfrm>
            <a:custGeom>
              <a:avLst/>
              <a:gdLst/>
              <a:ahLst/>
              <a:cxnLst/>
              <a:rect r="r" b="b" t="t" l="l"/>
              <a:pathLst>
                <a:path h="780288" w="731520">
                  <a:moveTo>
                    <a:pt x="0" y="0"/>
                  </a:moveTo>
                  <a:lnTo>
                    <a:pt x="731520" y="0"/>
                  </a:lnTo>
                  <a:lnTo>
                    <a:pt x="731520" y="780288"/>
                  </a:lnTo>
                  <a:lnTo>
                    <a:pt x="0" y="780288"/>
                  </a:lnTo>
                  <a:close/>
                </a:path>
              </a:pathLst>
            </a:custGeom>
            <a:blipFill>
              <a:blip r:embed="rId3">
                <a:alphaModFix amt="0"/>
              </a:blip>
              <a:stretch>
                <a:fillRect l="-86857" t="0" r="-86857" b="0"/>
              </a:stretch>
            </a:blipFill>
          </p:spPr>
        </p:sp>
        <p:sp>
          <p:nvSpPr>
            <p:cNvPr name="TextBox 35" id="35"/>
            <p:cNvSpPr txBox="true"/>
            <p:nvPr/>
          </p:nvSpPr>
          <p:spPr>
            <a:xfrm>
              <a:off x="0" y="-66675"/>
              <a:ext cx="731520" cy="846963"/>
            </a:xfrm>
            <a:prstGeom prst="rect">
              <a:avLst/>
            </a:prstGeom>
          </p:spPr>
          <p:txBody>
            <a:bodyPr anchor="ctr" rtlCol="false" tIns="0" lIns="0" bIns="0" rIns="0"/>
            <a:lstStyle/>
            <a:p>
              <a:pPr algn="ctr">
                <a:lnSpc>
                  <a:spcPts val="3600"/>
                </a:lnSpc>
              </a:pPr>
              <a:r>
                <a:rPr lang="en-US" sz="3000">
                  <a:solidFill>
                    <a:srgbClr val="5B6B82"/>
                  </a:solidFill>
                  <a:latin typeface="Times New Roman"/>
                  <a:ea typeface="Times New Roman"/>
                  <a:cs typeface="Times New Roman"/>
                  <a:sym typeface="Times New Roman"/>
                </a:rPr>
                <a:t>○</a:t>
              </a:r>
            </a:p>
          </p:txBody>
        </p:sp>
      </p:grpSp>
      <p:grpSp>
        <p:nvGrpSpPr>
          <p:cNvPr name="Group 36" id="36"/>
          <p:cNvGrpSpPr/>
          <p:nvPr/>
        </p:nvGrpSpPr>
        <p:grpSpPr>
          <a:xfrm rot="0">
            <a:off x="1737360" y="5010912"/>
            <a:ext cx="7772400" cy="585216"/>
            <a:chOff x="0" y="0"/>
            <a:chExt cx="10363200" cy="780288"/>
          </a:xfrm>
        </p:grpSpPr>
        <p:sp>
          <p:nvSpPr>
            <p:cNvPr name="Freeform 37" id="37"/>
            <p:cNvSpPr/>
            <p:nvPr/>
          </p:nvSpPr>
          <p:spPr>
            <a:xfrm flipH="false" flipV="false" rot="0">
              <a:off x="0" y="0"/>
              <a:ext cx="10363200" cy="780288"/>
            </a:xfrm>
            <a:custGeom>
              <a:avLst/>
              <a:gdLst/>
              <a:ahLst/>
              <a:cxnLst/>
              <a:rect r="r" b="b" t="t" l="l"/>
              <a:pathLst>
                <a:path h="780288" w="10363200">
                  <a:moveTo>
                    <a:pt x="0" y="0"/>
                  </a:moveTo>
                  <a:lnTo>
                    <a:pt x="10363200" y="0"/>
                  </a:lnTo>
                  <a:lnTo>
                    <a:pt x="10363200" y="780288"/>
                  </a:lnTo>
                  <a:lnTo>
                    <a:pt x="0" y="780288"/>
                  </a:lnTo>
                  <a:close/>
                </a:path>
              </a:pathLst>
            </a:custGeom>
            <a:blipFill>
              <a:blip r:embed="rId3">
                <a:alphaModFix amt="0"/>
              </a:blip>
              <a:stretch>
                <a:fillRect l="0" t="-208785" r="0" b="-208785"/>
              </a:stretch>
            </a:blipFill>
          </p:spPr>
        </p:sp>
        <p:sp>
          <p:nvSpPr>
            <p:cNvPr name="TextBox 38" id="38"/>
            <p:cNvSpPr txBox="true"/>
            <p:nvPr/>
          </p:nvSpPr>
          <p:spPr>
            <a:xfrm>
              <a:off x="0" y="-66675"/>
              <a:ext cx="10363200" cy="846963"/>
            </a:xfrm>
            <a:prstGeom prst="rect">
              <a:avLst/>
            </a:prstGeom>
          </p:spPr>
          <p:txBody>
            <a:bodyPr anchor="ctr" rtlCol="false" tIns="0" lIns="0" bIns="0" rIns="0"/>
            <a:lstStyle/>
            <a:p>
              <a:pPr algn="l">
                <a:lnSpc>
                  <a:spcPts val="3359"/>
                </a:lnSpc>
              </a:pPr>
              <a:r>
                <a:rPr lang="en-US" sz="2799">
                  <a:solidFill>
                    <a:srgbClr val="14213D"/>
                  </a:solidFill>
                  <a:latin typeface="Times New Roman"/>
                  <a:ea typeface="Times New Roman"/>
                  <a:cs typeface="Times New Roman"/>
                  <a:sym typeface="Times New Roman"/>
                </a:rPr>
                <a:t>Quay lui toàn phần kiểu GGPO (ngang hàng)</a:t>
              </a:r>
            </a:p>
          </p:txBody>
        </p:sp>
      </p:grpSp>
      <p:grpSp>
        <p:nvGrpSpPr>
          <p:cNvPr name="Group 39" id="39"/>
          <p:cNvGrpSpPr/>
          <p:nvPr/>
        </p:nvGrpSpPr>
        <p:grpSpPr>
          <a:xfrm rot="0">
            <a:off x="11779882" y="2453002"/>
            <a:ext cx="5609587" cy="6706867"/>
            <a:chOff x="0" y="0"/>
            <a:chExt cx="7479449" cy="8942489"/>
          </a:xfrm>
        </p:grpSpPr>
        <p:sp>
          <p:nvSpPr>
            <p:cNvPr name="Freeform 40" id="40"/>
            <p:cNvSpPr/>
            <p:nvPr/>
          </p:nvSpPr>
          <p:spPr>
            <a:xfrm flipH="false" flipV="false" rot="0">
              <a:off x="0" y="0"/>
              <a:ext cx="7479538" cy="8942578"/>
            </a:xfrm>
            <a:custGeom>
              <a:avLst/>
              <a:gdLst/>
              <a:ahLst/>
              <a:cxnLst/>
              <a:rect r="r" b="b" t="t" l="l"/>
              <a:pathLst>
                <a:path h="8942578" w="747953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4"/>
              <a:stretch>
                <a:fillRect l="0" t="-183" r="0" b="-183"/>
              </a:stretch>
            </a:blipFill>
            <a:ln w="31750" cap="sq">
              <a:solidFill>
                <a:srgbClr val="00897B"/>
              </a:solidFill>
              <a:prstDash val="dash"/>
              <a:miter/>
            </a:ln>
          </p:spPr>
        </p:sp>
      </p:grpSp>
      <p:sp>
        <p:nvSpPr>
          <p:cNvPr name="TextBox 41" id="41"/>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VẤN ĐỀ 5</a:t>
            </a:r>
          </a:p>
        </p:txBody>
      </p:sp>
      <p:sp>
        <p:nvSpPr>
          <p:cNvPr name="TextBox 42" id="42"/>
          <p:cNvSpPr txBox="true"/>
          <p:nvPr/>
        </p:nvSpPr>
        <p:spPr>
          <a:xfrm rot="0">
            <a:off x="914400" y="2402205"/>
            <a:ext cx="10424160" cy="706755"/>
          </a:xfrm>
          <a:prstGeom prst="rect">
            <a:avLst/>
          </a:prstGeom>
        </p:spPr>
        <p:txBody>
          <a:bodyPr anchor="t" rtlCol="false" tIns="0" lIns="0" bIns="0" rIns="0">
            <a:spAutoFit/>
          </a:bodyPr>
          <a:lstStyle/>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Client đã hiển thị “nhặt được”, server báo </a:t>
            </a:r>
            <a:r>
              <a:rPr lang="en-US" b="true" sz="2799">
                <a:solidFill>
                  <a:srgbClr val="14213D"/>
                </a:solidFill>
                <a:latin typeface="Times New Roman"/>
                <a:ea typeface="Times New Roman"/>
                <a:cs typeface="Times New Roman"/>
                <a:sym typeface="Times New Roman"/>
              </a:rPr>
              <a:t>từ chối</a:t>
            </a:r>
          </a:p>
        </p:txBody>
      </p:sp>
      <p:sp>
        <p:nvSpPr>
          <p:cNvPr name="TextBox 43" id="43"/>
          <p:cNvSpPr txBox="true"/>
          <p:nvPr/>
        </p:nvSpPr>
        <p:spPr>
          <a:xfrm rot="0">
            <a:off x="914400" y="5822061"/>
            <a:ext cx="10424160" cy="3413379"/>
          </a:xfrm>
          <a:prstGeom prst="rect">
            <a:avLst/>
          </a:prstGeom>
        </p:spPr>
        <p:txBody>
          <a:bodyPr anchor="t" rtlCol="false" tIns="0" lIns="0" bIns="0" rIns="0">
            <a:spAutoFit/>
          </a:bodyPr>
          <a:lstStyle/>
          <a:p>
            <a:pPr algn="l" marL="675639" indent="-337820" lvl="1">
              <a:lnSpc>
                <a:spcPts val="3359"/>
              </a:lnSpc>
              <a:buFont typeface="Times New Roman"/>
              <a:buChar char="•"/>
            </a:pPr>
            <a:r>
              <a:rPr lang="en-US" b="true" sz="2799">
                <a:solidFill>
                  <a:srgbClr val="14213D"/>
                </a:solidFill>
                <a:latin typeface="Times New Roman"/>
                <a:ea typeface="Times New Roman"/>
                <a:cs typeface="Times New Roman"/>
                <a:sym typeface="Times New Roman"/>
              </a:rPr>
              <a:t>Quay lui:</a:t>
            </a:r>
            <a:r>
              <a:rPr lang="en-US" sz="2799">
                <a:solidFill>
                  <a:srgbClr val="14213D"/>
                </a:solidFill>
                <a:latin typeface="Times New Roman"/>
                <a:ea typeface="Times New Roman"/>
                <a:cs typeface="Times New Roman"/>
                <a:sym typeface="Times New Roman"/>
              </a:rPr>
              <a:t> về trạng thái đã xác nhận → mô phỏng lại → vật “bật ra khỏi tay”</a:t>
            </a:r>
          </a:p>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Đối chiếu (VĐ2) là </a:t>
            </a:r>
            <a:r>
              <a:rPr lang="en-US" b="true" sz="2799">
                <a:solidFill>
                  <a:srgbClr val="14213D"/>
                </a:solidFill>
                <a:latin typeface="Times New Roman"/>
                <a:ea typeface="Times New Roman"/>
                <a:cs typeface="Times New Roman"/>
                <a:sym typeface="Times New Roman"/>
              </a:rPr>
              <a:t>trường hợp riêng</a:t>
            </a:r>
            <a:r>
              <a:rPr lang="en-US" sz="2799">
                <a:solidFill>
                  <a:srgbClr val="14213D"/>
                </a:solidFill>
                <a:latin typeface="Times New Roman"/>
                <a:ea typeface="Times New Roman"/>
                <a:cs typeface="Times New Roman"/>
                <a:sym typeface="Times New Roman"/>
              </a:rPr>
              <a:t> của quay lui</a:t>
            </a:r>
          </a:p>
        </p:txBody>
      </p:sp>
      <p:sp>
        <p:nvSpPr>
          <p:cNvPr name="TextBox 44" id="44"/>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14</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04" name="Header band"/>
          <p:cNvSpPr/>
          <p:nvPr/>
        </p:nvSpPr>
        <p:spPr>
          <a:xfrm>
            <a:off x="0" y="0"/>
            <a:ext cx="18288000" cy="2103120"/>
          </a:xfrm>
          <a:prstGeom prst="rect">
            <a:avLst/>
          </a:prstGeom>
          <a:solidFill>
            <a:srgbClr val="14213D"/>
          </a:solidFill>
          <a:ln>
            <a:noFill/>
          </a:ln>
        </p:spPr>
      </p:sp>
      <p:sp>
        <p:nvSpPr>
          <p:cNvPr id="9005"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TỔNG KẾT</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Năm vấn đề, năm đánh đổi</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14213D"/>
                  </a:solidFill>
                  <a:latin typeface="Times New Roman"/>
                  <a:ea typeface="Times New Roman"/>
                  <a:cs typeface="Times New Roman"/>
                  <a:sym typeface="Times New Roman"/>
                </a:rPr>
                <a:t>DỰ PHÒNG</a:t>
              </a:r>
            </a:p>
          </p:txBody>
        </p:sp>
      </p:grpSp>
      <p:graphicFrame>
        <p:nvGraphicFramePr>
          <p:cNvPr name="Table 14" id="14"/>
          <p:cNvGraphicFramePr>
            <a:graphicFrameLocks noGrp="true"/>
          </p:cNvGraphicFramePr>
          <p:nvPr/>
        </p:nvGraphicFramePr>
        <p:xfrm>
          <a:off x="914400" y="2468880"/>
          <a:ext cx="16433800" cy="4572000"/>
        </p:xfrm>
        <a:graphic>
          <a:graphicData uri="http://schemas.openxmlformats.org/drawingml/2006/table">
            <a:tbl>
              <a:tblPr/>
              <a:tblGrid>
                <a:gridCol w="5296595"/>
                <a:gridCol w="4752579"/>
                <a:gridCol w="6384626"/>
              </a:tblGrid>
              <a:tr h="762000">
                <a:tc>
                  <a:txBody>
                    <a:bodyPr anchor="t" rtlCol="false"/>
                    <a:lstStyle/>
                    <a:p>
                      <a:pPr algn="l">
                        <a:lnSpc>
                          <a:spcPts val="3120"/>
                        </a:lnSpc>
                        <a:defRPr/>
                      </a:pPr>
                      <a:r>
                        <a:rPr lang="en-US" sz="2600" b="true">
                          <a:solidFill>
                            <a:srgbClr val="FFFFFF"/>
                          </a:solidFill>
                          <a:latin typeface="Times New Roman"/>
                          <a:ea typeface="Times New Roman"/>
                          <a:cs typeface="Times New Roman"/>
                          <a:sym typeface="Times New Roman"/>
                        </a:rPr>
                        <a:t>Vấn đề</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14213D"/>
                    </a:solidFill>
                  </a:tcPr>
                </a:tc>
                <a:tc>
                  <a:txBody>
                    <a:bodyPr anchor="t" rtlCol="false"/>
                    <a:lstStyle/>
                    <a:p>
                      <a:pPr algn="l">
                        <a:lnSpc>
                          <a:spcPts val="3120"/>
                        </a:lnSpc>
                        <a:defRPr/>
                      </a:pPr>
                      <a:r>
                        <a:rPr lang="en-US" sz="2600" b="true">
                          <a:solidFill>
                            <a:srgbClr val="FFFFFF"/>
                          </a:solidFill>
                          <a:latin typeface="Times New Roman"/>
                          <a:ea typeface="Times New Roman"/>
                          <a:cs typeface="Times New Roman"/>
                          <a:sym typeface="Times New Roman"/>
                        </a:rPr>
                        <a:t>Giải pháp</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14213D"/>
                    </a:solidFill>
                  </a:tcPr>
                </a:tc>
                <a:tc>
                  <a:txBody>
                    <a:bodyPr anchor="t" rtlCol="false"/>
                    <a:lstStyle/>
                    <a:p>
                      <a:pPr algn="l">
                        <a:lnSpc>
                          <a:spcPts val="3120"/>
                        </a:lnSpc>
                        <a:defRPr/>
                      </a:pPr>
                      <a:r>
                        <a:rPr lang="en-US" sz="2600" b="true">
                          <a:solidFill>
                            <a:srgbClr val="FFFFFF"/>
                          </a:solidFill>
                          <a:latin typeface="Times New Roman"/>
                          <a:ea typeface="Times New Roman"/>
                          <a:cs typeface="Times New Roman"/>
                          <a:sym typeface="Times New Roman"/>
                        </a:rPr>
                        <a:t>Đánh đổi</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14213D"/>
                    </a:solidFill>
                  </a:tcPr>
                </a:tc>
              </a:tr>
              <a:tr h="762000">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Ai quyết định</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FFFFFF"/>
                    </a:solidFill>
                  </a:tcPr>
                </a:tc>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Server quyết định</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FFFFFF"/>
                    </a:solidFill>
                  </a:tcPr>
                </a:tc>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Trễ 1 RTT</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FFFFFF"/>
                    </a:solidFill>
                  </a:tcPr>
                </a:tc>
              </a:tr>
              <a:tr h="762000">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Điều khiển ì</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EEF3F8"/>
                    </a:solidFill>
                  </a:tcPr>
                </a:tc>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Dự đoán + đối chiếu</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EEF3F8"/>
                    </a:solidFill>
                  </a:tcPr>
                </a:tc>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Cần mô phỏng chung</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EEF3F8"/>
                    </a:solidFill>
                  </a:tcPr>
                </a:tc>
              </a:tr>
              <a:tr h="762000">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Đối thủ giật</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FFFFFF"/>
                    </a:solidFill>
                  </a:tcPr>
                </a:tc>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Nội suy</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FFFFFF"/>
                    </a:solidFill>
                  </a:tcPr>
                </a:tc>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Thấy đối thủ ở quá khứ</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FFFFFF"/>
                    </a:solidFill>
                  </a:tcPr>
                </a:tc>
              </a:tr>
              <a:tr h="762000">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Tranh chấp không công bằng</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EEF3F8"/>
                    </a:solidFill>
                  </a:tcPr>
                </a:tc>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Bù trễ</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EEF3F8"/>
                    </a:solidFill>
                  </a:tcPr>
                </a:tc>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“Chạy rồi vẫn bị bắt”</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EEF3F8"/>
                    </a:solidFill>
                  </a:tcPr>
                </a:tc>
              </a:tr>
              <a:tr h="762000">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Dự đoán sai</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FFFFFF"/>
                    </a:solidFill>
                  </a:tcPr>
                </a:tc>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Quay lui</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FFFFFF"/>
                    </a:solidFill>
                  </a:tcPr>
                </a:tc>
                <a:tc>
                  <a:txBody>
                    <a:bodyPr anchor="t" rtlCol="false"/>
                    <a:lstStyle/>
                    <a:p>
                      <a:pPr algn="l">
                        <a:lnSpc>
                          <a:spcPts val="3359"/>
                        </a:lnSpc>
                        <a:defRPr/>
                      </a:pPr>
                      <a:r>
                        <a:rPr lang="en-US" sz="2799">
                          <a:solidFill>
                            <a:srgbClr val="14213D"/>
                          </a:solidFill>
                          <a:latin typeface="Times New Roman"/>
                          <a:ea typeface="Times New Roman"/>
                          <a:cs typeface="Times New Roman"/>
                          <a:sym typeface="Times New Roman"/>
                        </a:rPr>
                        <a:t>Thỉnh thoảng thấy hành động bị huỷ</a:t>
                      </a:r>
                      <a:endParaRPr lang="en-US" sz="1100"/>
                    </a:p>
                  </a:txBody>
                  <a:tcPr marL="91440" marR="91440" marT="91440" marB="91440" anchor="ctr">
                    <a:lnL cmpd="sng" algn="ctr" cap="flat" w="9525">
                      <a:solidFill>
                        <a:srgbClr val="D3DCE6"/>
                      </a:solidFill>
                      <a:prstDash val="solid"/>
                      <a:round/>
                      <a:headEnd type="none" w="med" len="med"/>
                      <a:tailEnd type="none" w="med" len="med"/>
                    </a:lnL>
                    <a:lnR cmpd="sng" algn="ctr" cap="flat" w="9525">
                      <a:solidFill>
                        <a:srgbClr val="D3DCE6"/>
                      </a:solidFill>
                      <a:prstDash val="solid"/>
                      <a:round/>
                      <a:headEnd type="none" w="med" len="med"/>
                      <a:tailEnd type="none" w="med" len="med"/>
                    </a:lnR>
                    <a:lnT cmpd="sng" algn="ctr" cap="flat" w="9525">
                      <a:solidFill>
                        <a:srgbClr val="D3DCE6"/>
                      </a:solidFill>
                      <a:prstDash val="solid"/>
                      <a:round/>
                      <a:headEnd type="none" w="med" len="med"/>
                      <a:tailEnd type="none" w="med" len="med"/>
                    </a:lnT>
                    <a:lnB cmpd="sng" algn="ctr" cap="flat" w="9525">
                      <a:solidFill>
                        <a:srgbClr val="D3DCE6"/>
                      </a:solidFill>
                      <a:prstDash val="solid"/>
                      <a:round/>
                      <a:headEnd type="none" w="med" len="med"/>
                      <a:tailEnd type="none" w="med" len="med"/>
                    </a:lnB>
                    <a:solidFill>
                      <a:srgbClr val="FFFFFF"/>
                    </a:solidFill>
                  </a:tcPr>
                </a:tc>
              </a:tr>
            </a:tbl>
          </a:graphicData>
        </a:graphic>
      </p:graphicFrame>
      <p:grpSp>
        <p:nvGrpSpPr>
          <p:cNvPr name="Group 15" id="15"/>
          <p:cNvGrpSpPr/>
          <p:nvPr/>
        </p:nvGrpSpPr>
        <p:grpSpPr>
          <a:xfrm rot="0">
            <a:off x="901703" y="7485383"/>
            <a:ext cx="16484603" cy="1579883"/>
            <a:chOff x="0" y="0"/>
            <a:chExt cx="21979471" cy="2106511"/>
          </a:xfrm>
        </p:grpSpPr>
        <p:sp>
          <p:nvSpPr>
            <p:cNvPr name="Freeform 16" id="16"/>
            <p:cNvSpPr/>
            <p:nvPr/>
          </p:nvSpPr>
          <p:spPr>
            <a:xfrm flipH="false" flipV="false" rot="0">
              <a:off x="0" y="0"/>
              <a:ext cx="21979382" cy="2106422"/>
            </a:xfrm>
            <a:custGeom>
              <a:avLst/>
              <a:gdLst/>
              <a:ahLst/>
              <a:cxnLst/>
              <a:rect r="r" b="b" t="t" l="l"/>
              <a:pathLst>
                <a:path h="2106422" w="21979382">
                  <a:moveTo>
                    <a:pt x="0" y="247777"/>
                  </a:moveTo>
                  <a:cubicBezTo>
                    <a:pt x="0" y="110998"/>
                    <a:pt x="110998" y="0"/>
                    <a:pt x="247777" y="0"/>
                  </a:cubicBezTo>
                  <a:lnTo>
                    <a:pt x="21731605" y="0"/>
                  </a:lnTo>
                  <a:cubicBezTo>
                    <a:pt x="21868512" y="0"/>
                    <a:pt x="21979382" y="110998"/>
                    <a:pt x="21979382" y="247777"/>
                  </a:cubicBezTo>
                  <a:lnTo>
                    <a:pt x="21979382" y="1858645"/>
                  </a:lnTo>
                  <a:cubicBezTo>
                    <a:pt x="21979382" y="1995551"/>
                    <a:pt x="21868385" y="2106422"/>
                    <a:pt x="21731605" y="2106422"/>
                  </a:cubicBezTo>
                  <a:lnTo>
                    <a:pt x="247777" y="2106422"/>
                  </a:lnTo>
                  <a:cubicBezTo>
                    <a:pt x="110998" y="2106549"/>
                    <a:pt x="0" y="1995551"/>
                    <a:pt x="0" y="1858645"/>
                  </a:cubicBezTo>
                  <a:close/>
                </a:path>
              </a:pathLst>
            </a:custGeom>
            <a:solidFill>
              <a:srgbClr val="14213D"/>
            </a:solidFill>
            <a:ln w="25400" cap="sq">
              <a:solidFill>
                <a:srgbClr val="14213D"/>
              </a:solidFill>
              <a:prstDash val="solid"/>
              <a:miter/>
            </a:ln>
          </p:spPr>
        </p:sp>
      </p:grpSp>
      <p:grpSp>
        <p:nvGrpSpPr>
          <p:cNvPr name="Group 17" id="17"/>
          <p:cNvGrpSpPr/>
          <p:nvPr/>
        </p:nvGrpSpPr>
        <p:grpSpPr>
          <a:xfrm rot="0">
            <a:off x="1463040" y="7498080"/>
            <a:ext cx="15361920" cy="1554480"/>
            <a:chOff x="0" y="0"/>
            <a:chExt cx="20482560" cy="2072640"/>
          </a:xfrm>
        </p:grpSpPr>
        <p:sp>
          <p:nvSpPr>
            <p:cNvPr name="Freeform 18" id="18"/>
            <p:cNvSpPr/>
            <p:nvPr/>
          </p:nvSpPr>
          <p:spPr>
            <a:xfrm flipH="false" flipV="false" rot="0">
              <a:off x="0" y="0"/>
              <a:ext cx="20482561" cy="2072640"/>
            </a:xfrm>
            <a:custGeom>
              <a:avLst/>
              <a:gdLst/>
              <a:ahLst/>
              <a:cxnLst/>
              <a:rect r="r" b="b" t="t" l="l"/>
              <a:pathLst>
                <a:path h="2072640" w="20482561">
                  <a:moveTo>
                    <a:pt x="0" y="0"/>
                  </a:moveTo>
                  <a:lnTo>
                    <a:pt x="20482561" y="0"/>
                  </a:lnTo>
                  <a:lnTo>
                    <a:pt x="20482561" y="2072640"/>
                  </a:lnTo>
                  <a:lnTo>
                    <a:pt x="0" y="2072640"/>
                  </a:lnTo>
                  <a:close/>
                </a:path>
              </a:pathLst>
            </a:custGeom>
            <a:blipFill>
              <a:blip r:embed="rId3">
                <a:alphaModFix amt="0"/>
              </a:blip>
              <a:stretch>
                <a:fillRect l="0" t="-142558" r="0" b="-142558"/>
              </a:stretch>
            </a:blipFill>
          </p:spPr>
        </p:sp>
        <p:sp>
          <p:nvSpPr>
            <p:cNvPr name="TextBox 19" id="19"/>
            <p:cNvSpPr txBox="true"/>
            <p:nvPr/>
          </p:nvSpPr>
          <p:spPr>
            <a:xfrm>
              <a:off x="0" y="-19050"/>
              <a:ext cx="20482560" cy="2091690"/>
            </a:xfrm>
            <a:prstGeom prst="rect">
              <a:avLst/>
            </a:prstGeom>
          </p:spPr>
          <p:txBody>
            <a:bodyPr anchor="ctr" rtlCol="false" tIns="0" lIns="0" bIns="0" rIns="0"/>
            <a:lstStyle/>
            <a:p>
              <a:pPr algn="l">
                <a:lnSpc>
                  <a:spcPts val="4320"/>
                </a:lnSpc>
              </a:pPr>
              <a:r>
                <a:rPr lang="en-US" b="true" sz="3600" i="true">
                  <a:solidFill>
                    <a:srgbClr val="FFFFFF"/>
                  </a:solidFill>
                  <a:latin typeface="Times New Roman"/>
                  <a:ea typeface="Times New Roman"/>
                  <a:cs typeface="Times New Roman"/>
                  <a:sym typeface="Times New Roman"/>
                </a:rPr>
                <a:t>Không kỹ thuật nào xoá được độ trễ, chỉ chuyển nó sang chỗ ít bị để ý hơn</a:t>
              </a:r>
            </a:p>
          </p:txBody>
        </p:sp>
      </p:grpSp>
      <p:sp>
        <p:nvSpPr>
          <p:cNvPr name="TextBox 20" id="20"/>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21</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06" name="Header band"/>
          <p:cNvSpPr/>
          <p:nvPr/>
        </p:nvSpPr>
        <p:spPr>
          <a:xfrm>
            <a:off x="0" y="0"/>
            <a:ext cx="18288000" cy="2103120"/>
          </a:xfrm>
          <a:prstGeom prst="rect">
            <a:avLst/>
          </a:prstGeom>
          <a:solidFill>
            <a:srgbClr val="14213D"/>
          </a:solidFill>
          <a:ln>
            <a:noFill/>
          </a:ln>
        </p:spPr>
      </p:sp>
      <p:sp>
        <p:nvSpPr>
          <p:cNvPr id="9007"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grpSp>
        <p:nvGrpSpPr>
          <p:cNvPr name="Group 5" id="5"/>
          <p:cNvGrpSpPr/>
          <p:nvPr/>
        </p:nvGrpSpPr>
        <p:grpSpPr>
          <a:xfrm rot="0">
            <a:off x="914400" y="768096"/>
            <a:ext cx="14081760" cy="1097280"/>
            <a:chOff x="0" y="0"/>
            <a:chExt cx="18775680" cy="1463040"/>
          </a:xfrm>
        </p:grpSpPr>
        <p:sp>
          <p:nvSpPr>
            <p:cNvPr name="Freeform 6" id="6"/>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7" id="7"/>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Game xếp đơn hàng siêu thị → demo</a:t>
              </a:r>
            </a:p>
          </p:txBody>
        </p:sp>
      </p:grpSp>
      <p:grpSp>
        <p:nvGrpSpPr>
          <p:cNvPr name="Group 8" id="8"/>
          <p:cNvGrpSpPr/>
          <p:nvPr/>
        </p:nvGrpSpPr>
        <p:grpSpPr>
          <a:xfrm rot="0">
            <a:off x="15257783" y="682247"/>
            <a:ext cx="2128523" cy="647195"/>
            <a:chOff x="0" y="0"/>
            <a:chExt cx="2838031" cy="862927"/>
          </a:xfrm>
        </p:grpSpPr>
        <p:sp>
          <p:nvSpPr>
            <p:cNvPr name="Freeform 9" id="9"/>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name="Group 10" id="10"/>
          <p:cNvGrpSpPr/>
          <p:nvPr/>
        </p:nvGrpSpPr>
        <p:grpSpPr>
          <a:xfrm rot="0">
            <a:off x="15270480" y="694944"/>
            <a:ext cx="2103120" cy="621792"/>
            <a:chOff x="0" y="0"/>
            <a:chExt cx="2804160" cy="829056"/>
          </a:xfrm>
        </p:grpSpPr>
        <p:sp>
          <p:nvSpPr>
            <p:cNvPr name="Freeform 11" id="11"/>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2" id="12"/>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14213D"/>
                  </a:solidFill>
                  <a:latin typeface="Times New Roman"/>
                  <a:ea typeface="Times New Roman"/>
                  <a:cs typeface="Times New Roman"/>
                  <a:sym typeface="Times New Roman"/>
                </a:rPr>
                <a:t>#3</a:t>
              </a:r>
            </a:p>
          </p:txBody>
        </p:sp>
      </p:grpSp>
      <p:grpSp>
        <p:nvGrpSpPr>
          <p:cNvPr name="Group 13" id="13"/>
          <p:cNvGrpSpPr/>
          <p:nvPr/>
        </p:nvGrpSpPr>
        <p:grpSpPr>
          <a:xfrm rot="0">
            <a:off x="901703" y="7393943"/>
            <a:ext cx="10449563" cy="1762763"/>
            <a:chOff x="0" y="0"/>
            <a:chExt cx="13932751" cy="2350351"/>
          </a:xfrm>
        </p:grpSpPr>
        <p:sp>
          <p:nvSpPr>
            <p:cNvPr name="Freeform 14" id="14"/>
            <p:cNvSpPr/>
            <p:nvPr/>
          </p:nvSpPr>
          <p:spPr>
            <a:xfrm flipH="false" flipV="false" rot="0">
              <a:off x="0" y="0"/>
              <a:ext cx="13932788" cy="2350389"/>
            </a:xfrm>
            <a:custGeom>
              <a:avLst/>
              <a:gdLst/>
              <a:ahLst/>
              <a:cxnLst/>
              <a:rect r="r" b="b" t="t" l="l"/>
              <a:pathLst>
                <a:path h="2350389" w="13932788">
                  <a:moveTo>
                    <a:pt x="0" y="247396"/>
                  </a:moveTo>
                  <a:cubicBezTo>
                    <a:pt x="0" y="110744"/>
                    <a:pt x="110744" y="0"/>
                    <a:pt x="247396" y="0"/>
                  </a:cubicBezTo>
                  <a:lnTo>
                    <a:pt x="13685393" y="0"/>
                  </a:lnTo>
                  <a:cubicBezTo>
                    <a:pt x="13822045" y="0"/>
                    <a:pt x="13932788" y="110744"/>
                    <a:pt x="13932788" y="247396"/>
                  </a:cubicBezTo>
                  <a:lnTo>
                    <a:pt x="13932788" y="2102993"/>
                  </a:lnTo>
                  <a:cubicBezTo>
                    <a:pt x="13932788" y="2239645"/>
                    <a:pt x="13822045" y="2350389"/>
                    <a:pt x="13685393" y="2350389"/>
                  </a:cubicBezTo>
                  <a:lnTo>
                    <a:pt x="247396" y="2350389"/>
                  </a:lnTo>
                  <a:cubicBezTo>
                    <a:pt x="110744" y="2350389"/>
                    <a:pt x="0" y="2239645"/>
                    <a:pt x="0" y="2102993"/>
                  </a:cubicBezTo>
                  <a:close/>
                </a:path>
              </a:pathLst>
            </a:custGeom>
            <a:solidFill>
              <a:srgbClr val="BFE8E3"/>
            </a:solidFill>
            <a:ln w="25400" cap="sq">
              <a:solidFill>
                <a:srgbClr val="BFE8E3"/>
              </a:solidFill>
              <a:prstDash val="solid"/>
              <a:miter/>
            </a:ln>
          </p:spPr>
        </p:sp>
      </p:grpSp>
      <p:grpSp>
        <p:nvGrpSpPr>
          <p:cNvPr name="Group 15" id="15"/>
          <p:cNvGrpSpPr/>
          <p:nvPr/>
        </p:nvGrpSpPr>
        <p:grpSpPr>
          <a:xfrm rot="0">
            <a:off x="1371600" y="7406640"/>
            <a:ext cx="9601200" cy="1737360"/>
            <a:chOff x="0" y="0"/>
            <a:chExt cx="12801600" cy="2316480"/>
          </a:xfrm>
        </p:grpSpPr>
        <p:sp>
          <p:nvSpPr>
            <p:cNvPr name="Freeform 16" id="16"/>
            <p:cNvSpPr/>
            <p:nvPr/>
          </p:nvSpPr>
          <p:spPr>
            <a:xfrm flipH="false" flipV="false" rot="0">
              <a:off x="0" y="0"/>
              <a:ext cx="12801600" cy="2316480"/>
            </a:xfrm>
            <a:custGeom>
              <a:avLst/>
              <a:gdLst/>
              <a:ahLst/>
              <a:cxnLst/>
              <a:rect r="r" b="b" t="t" l="l"/>
              <a:pathLst>
                <a:path h="2316480" w="12801600">
                  <a:moveTo>
                    <a:pt x="0" y="0"/>
                  </a:moveTo>
                  <a:lnTo>
                    <a:pt x="12801600" y="0"/>
                  </a:lnTo>
                  <a:lnTo>
                    <a:pt x="12801600" y="2316480"/>
                  </a:lnTo>
                  <a:lnTo>
                    <a:pt x="0" y="2316480"/>
                  </a:lnTo>
                  <a:close/>
                </a:path>
              </a:pathLst>
            </a:custGeom>
            <a:blipFill>
              <a:blip r:embed="rId3">
                <a:alphaModFix amt="0"/>
              </a:blip>
              <a:stretch>
                <a:fillRect l="0" t="-57680" r="0" b="-57680"/>
              </a:stretch>
            </a:blipFill>
          </p:spPr>
        </p:sp>
        <p:sp>
          <p:nvSpPr>
            <p:cNvPr name="TextBox 17" id="17"/>
            <p:cNvSpPr txBox="true"/>
            <p:nvPr/>
          </p:nvSpPr>
          <p:spPr>
            <a:xfrm>
              <a:off x="0" y="-66675"/>
              <a:ext cx="12801600" cy="2383155"/>
            </a:xfrm>
            <a:prstGeom prst="rect">
              <a:avLst/>
            </a:prstGeom>
          </p:spPr>
          <p:txBody>
            <a:bodyPr anchor="ctr" rtlCol="false" tIns="0" lIns="0" bIns="0" rIns="0"/>
            <a:lstStyle/>
            <a:p>
              <a:pPr algn="l">
                <a:lnSpc>
                  <a:spcPts val="3359"/>
                </a:lnSpc>
              </a:pPr>
              <a:r>
                <a:rPr lang="en-US" sz="2799" b="true">
                  <a:solidFill>
                    <a:srgbClr val="14213D"/>
                  </a:solidFill>
                  <a:latin typeface="Times New Roman"/>
                  <a:ea typeface="Times New Roman"/>
                  <a:cs typeface="Times New Roman"/>
                  <a:sym typeface="Times New Roman"/>
                </a:rPr>
                <a:t>Demo hôm nay:</a:t>
              </a:r>
              <a:r>
                <a:rPr lang="en-US" sz="2799">
                  <a:solidFill>
                    <a:srgbClr val="14213D"/>
                  </a:solidFill>
                  <a:latin typeface="Times New Roman"/>
                  <a:ea typeface="Times New Roman"/>
                  <a:cs typeface="Times New Roman"/>
                  <a:sym typeface="Times New Roman"/>
                </a:rPr>
                <a:t> server Node.js thật + trình duyệt qua WebSocket, mạng xấu giả lập, 3 khung nhìn</a:t>
              </a:r>
            </a:p>
          </p:txBody>
        </p:sp>
      </p:grpSp>
      <p:grpSp>
        <p:nvGrpSpPr>
          <p:cNvPr name="Group 18" id="18"/>
          <p:cNvGrpSpPr/>
          <p:nvPr/>
        </p:nvGrpSpPr>
        <p:grpSpPr>
          <a:xfrm rot="0">
            <a:off x="11846588" y="2395728"/>
            <a:ext cx="5769341" cy="7114032"/>
            <a:chOff x="0" y="0"/>
            <a:chExt cx="8046720" cy="9922212"/>
          </a:xfrm>
        </p:grpSpPr>
        <p:sp>
          <p:nvSpPr>
            <p:cNvPr name="Freeform 19" id="19"/>
            <p:cNvSpPr/>
            <p:nvPr/>
          </p:nvSpPr>
          <p:spPr>
            <a:xfrm flipH="false" flipV="false" rot="0">
              <a:off x="0" y="0"/>
              <a:ext cx="8046809" cy="9922301"/>
            </a:xfrm>
            <a:custGeom>
              <a:avLst/>
              <a:gdLst/>
              <a:ahLst/>
              <a:cxnLst/>
              <a:rect r="r" b="b" t="t" l="l"/>
              <a:pathLst>
                <a:path h="9922301" w="8046809">
                  <a:moveTo>
                    <a:pt x="0" y="217712"/>
                  </a:moveTo>
                  <a:cubicBezTo>
                    <a:pt x="0" y="97512"/>
                    <a:pt x="94549" y="0"/>
                    <a:pt x="211097" y="0"/>
                  </a:cubicBezTo>
                  <a:lnTo>
                    <a:pt x="7835719" y="0"/>
                  </a:lnTo>
                  <a:cubicBezTo>
                    <a:pt x="7952267" y="0"/>
                    <a:pt x="8046809" y="97512"/>
                    <a:pt x="8046809" y="217712"/>
                  </a:cubicBezTo>
                  <a:lnTo>
                    <a:pt x="8046809" y="9704598"/>
                  </a:lnTo>
                  <a:cubicBezTo>
                    <a:pt x="8046809" y="9824799"/>
                    <a:pt x="7952267" y="9922301"/>
                    <a:pt x="7835719" y="9922301"/>
                  </a:cubicBezTo>
                  <a:lnTo>
                    <a:pt x="211097" y="9922301"/>
                  </a:lnTo>
                  <a:cubicBezTo>
                    <a:pt x="94549" y="9922170"/>
                    <a:pt x="0" y="9824798"/>
                    <a:pt x="0" y="9704598"/>
                  </a:cubicBezTo>
                  <a:close/>
                </a:path>
              </a:pathLst>
            </a:custGeom>
            <a:blipFill>
              <a:blip r:embed="rId4"/>
              <a:stretch>
                <a:fillRect l="-1378" t="0" r="-1378" b="0"/>
              </a:stretch>
            </a:blipFill>
            <a:ln w="31750" cap="sq">
              <a:solidFill>
                <a:srgbClr val="00897B"/>
              </a:solidFill>
              <a:prstDash val="dash"/>
              <a:miter/>
            </a:ln>
          </p:spPr>
        </p:sp>
      </p:grpSp>
      <p:sp>
        <p:nvSpPr>
          <p:cNvPr name="TextBox 20" id="20"/>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ÁP DỤNG</a:t>
            </a:r>
          </a:p>
        </p:txBody>
      </p:sp>
      <p:sp>
        <p:nvSpPr>
          <p:cNvPr name="TextBox 21" id="21"/>
          <p:cNvSpPr txBox="true"/>
          <p:nvPr/>
        </p:nvSpPr>
        <p:spPr>
          <a:xfrm rot="0">
            <a:off x="914400" y="2402205"/>
            <a:ext cx="10424160" cy="4730115"/>
          </a:xfrm>
          <a:prstGeom prst="rect">
            <a:avLst/>
          </a:prstGeom>
        </p:spPr>
        <p:txBody>
          <a:bodyPr anchor="t" rtlCol="false" tIns="0" lIns="0" bIns="0" rIns="0">
            <a:spAutoFit/>
          </a:bodyPr>
          <a:lstStyle/>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Game 2 người, mỗi người là nhân viên siêu thị: </a:t>
            </a:r>
            <a:r>
              <a:rPr lang="en-US" b="true" sz="2799">
                <a:solidFill>
                  <a:srgbClr val="14213D"/>
                </a:solidFill>
                <a:latin typeface="Times New Roman"/>
                <a:ea typeface="Times New Roman"/>
                <a:cs typeface="Times New Roman"/>
                <a:sym typeface="Times New Roman"/>
              </a:rPr>
              <a:t>WASD</a:t>
            </a:r>
            <a:r>
              <a:rPr lang="en-US" sz="2799">
                <a:solidFill>
                  <a:srgbClr val="14213D"/>
                </a:solidFill>
                <a:latin typeface="Times New Roman"/>
                <a:ea typeface="Times New Roman"/>
                <a:cs typeface="Times New Roman"/>
                <a:sym typeface="Times New Roman"/>
              </a:rPr>
              <a:t> di chuyển, </a:t>
            </a:r>
            <a:r>
              <a:rPr lang="en-US" b="true" sz="2799">
                <a:solidFill>
                  <a:srgbClr val="14213D"/>
                </a:solidFill>
                <a:latin typeface="Times New Roman"/>
                <a:ea typeface="Times New Roman"/>
                <a:cs typeface="Times New Roman"/>
                <a:sym typeface="Times New Roman"/>
              </a:rPr>
              <a:t>J</a:t>
            </a:r>
            <a:r>
              <a:rPr lang="en-US" sz="2799">
                <a:solidFill>
                  <a:srgbClr val="14213D"/>
                </a:solidFill>
                <a:latin typeface="Times New Roman"/>
                <a:ea typeface="Times New Roman"/>
                <a:cs typeface="Times New Roman"/>
                <a:sym typeface="Times New Roman"/>
              </a:rPr>
              <a:t> nhặt / giao, </a:t>
            </a:r>
            <a:r>
              <a:rPr lang="en-US" b="true" sz="2799">
                <a:solidFill>
                  <a:srgbClr val="14213D"/>
                </a:solidFill>
                <a:latin typeface="Times New Roman"/>
                <a:ea typeface="Times New Roman"/>
                <a:cs typeface="Times New Roman"/>
                <a:sym typeface="Times New Roman"/>
              </a:rPr>
              <a:t>K</a:t>
            </a:r>
            <a:r>
              <a:rPr lang="en-US" sz="2799">
                <a:solidFill>
                  <a:srgbClr val="14213D"/>
                </a:solidFill>
                <a:latin typeface="Times New Roman"/>
                <a:ea typeface="Times New Roman"/>
                <a:cs typeface="Times New Roman"/>
                <a:sym typeface="Times New Roman"/>
              </a:rPr>
              <a:t> thả</a:t>
            </a:r>
          </a:p>
          <a:p>
            <a:pPr algn="l" marL="675639" indent="-337820" lvl="1">
              <a:lnSpc>
                <a:spcPts val="3359"/>
              </a:lnSpc>
              <a:buFont typeface="Times New Roman"/>
              <a:buChar char="•"/>
            </a:pPr>
            <a:r>
              <a:rPr lang="en-US" b="true" sz="2799">
                <a:solidFill>
                  <a:srgbClr val="14213D"/>
                </a:solidFill>
                <a:latin typeface="Times New Roman"/>
                <a:ea typeface="Times New Roman"/>
                <a:cs typeface="Times New Roman"/>
                <a:sym typeface="Times New Roman"/>
              </a:rPr>
              <a:t>Món hàng hiếm</a:t>
            </a:r>
            <a:r>
              <a:rPr lang="en-US" sz="2799">
                <a:solidFill>
                  <a:srgbClr val="14213D"/>
                </a:solidFill>
                <a:latin typeface="Times New Roman"/>
                <a:ea typeface="Times New Roman"/>
                <a:cs typeface="Times New Roman"/>
                <a:sym typeface="Times New Roman"/>
              </a:rPr>
              <a:t> chỉ có 1 cái ở kệ giữa → tranh chấp → bù trễ + quay lui</a:t>
            </a:r>
          </a:p>
          <a:p>
            <a:pPr algn="l" marL="675639" indent="-337820" lvl="1">
              <a:lnSpc>
                <a:spcPts val="3359"/>
              </a:lnSpc>
              <a:buFont typeface="Times New Roman"/>
              <a:buChar char="•"/>
            </a:pPr>
            <a:r>
              <a:rPr lang="en-US" sz="2799">
                <a:solidFill>
                  <a:srgbClr val="14213D"/>
                </a:solidFill>
                <a:latin typeface="Times New Roman"/>
                <a:ea typeface="Times New Roman"/>
                <a:cs typeface="Times New Roman"/>
                <a:sym typeface="Times New Roman"/>
              </a:rPr>
              <a:t>Bản cuối: Unity (C#) + .NET server · TCP + UDP · SQLite</a:t>
            </a:r>
          </a:p>
          <a:p>
            <a:pPr algn="l" marL="337820" indent="0">
              <a:lnSpc>
                <a:spcPts val="3359"/>
              </a:lnSpc>
              <a:spcBef>
                <a:spcPts val="1800"/>
              </a:spcBef>
              <a:buNone/>
            </a:pPr>
            <a:r>
              <a:rPr lang="vi-VN" sz="2799" b="true" i="true">
                <a:solidFill>
                  <a:srgbClr val="00897B"/>
                </a:solidFill>
                <a:latin typeface="Times New Roman"/>
                <a:ea typeface="Times New Roman"/>
                <a:cs typeface="Times New Roman"/>
                <a:sym typeface="Times New Roman"/>
              </a:rPr>
              <a:t>Không kỹ thuật nào xoá được độ trễ, chỉ chuyển nó sang chỗ ít bị để ý hơn</a:t>
            </a:r>
          </a:p>
        </p:txBody>
      </p:sp>
      <p:sp>
        <p:nvSpPr>
          <p:cNvPr name="TextBox 22" id="22"/>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16</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0B1626"/>
        </a:solidFill>
      </p:bgPr>
    </p:bg>
    <p:spTree>
      <p:nvGrpSpPr>
        <p:cNvPr id="1" name=""/>
        <p:cNvGrpSpPr/>
        <p:nvPr/>
      </p:nvGrpSpPr>
      <p:grpSpPr>
        <a:xfrm>
          <a:off x="0" y="0"/>
          <a:ext cx="0" cy="0"/>
          <a:chOff x="0" y="0"/>
          <a:chExt cx="0" cy="0"/>
        </a:xfrm>
      </p:grpSpPr>
      <p:sp>
        <p:nvSpPr>
          <p:cNvPr name="TextBox 2" id="2"/>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DEMO</a:t>
            </a:r>
          </a:p>
        </p:txBody>
      </p:sp>
      <p:grpSp>
        <p:nvGrpSpPr>
          <p:cNvPr name="Group 3" id="3"/>
          <p:cNvGrpSpPr/>
          <p:nvPr/>
        </p:nvGrpSpPr>
        <p:grpSpPr>
          <a:xfrm rot="0">
            <a:off x="914400" y="768096"/>
            <a:ext cx="14081760" cy="1097280"/>
            <a:chOff x="0" y="0"/>
            <a:chExt cx="18775680" cy="1463040"/>
          </a:xfrm>
        </p:grpSpPr>
        <p:sp>
          <p:nvSpPr>
            <p:cNvPr name="Freeform 4" id="4"/>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5" id="5"/>
            <p:cNvSpPr txBox="true"/>
            <p:nvPr/>
          </p:nvSpPr>
          <p:spPr>
            <a:xfrm>
              <a:off x="0" y="-9525"/>
              <a:ext cx="18775680" cy="1472565"/>
            </a:xfrm>
            <a:prstGeom prst="rect">
              <a:avLst/>
            </a:prstGeom>
          </p:spPr>
          <p:txBody>
            <a:bodyPr anchor="ctr" rtlCol="false" tIns="0" lIns="0" bIns="0" rIns="0"/>
            <a:lstStyle/>
            <a:p>
              <a:pPr algn="l">
                <a:lnSpc>
                  <a:spcPts val="6670"/>
                </a:lnSpc>
              </a:pPr>
              <a:r>
                <a:rPr lang="en-US" sz="5800" b="true">
                  <a:solidFill>
                    <a:srgbClr val="FFFFFF"/>
                  </a:solidFill>
                  <a:latin typeface="Times New Roman"/>
                  <a:ea typeface="Times New Roman"/>
                  <a:cs typeface="Times New Roman"/>
                  <a:sym typeface="Times New Roman"/>
                </a:rPr>
                <a:t>Bản chứng minh ý tưởng: phần di chuyển</a:t>
              </a:r>
            </a:p>
          </p:txBody>
        </p:sp>
      </p:grpSp>
      <p:grpSp>
        <p:nvGrpSpPr>
          <p:cNvPr name="Group 6" id="6"/>
          <p:cNvGrpSpPr/>
          <p:nvPr/>
        </p:nvGrpSpPr>
        <p:grpSpPr>
          <a:xfrm rot="0">
            <a:off x="15257783" y="682247"/>
            <a:ext cx="2128523" cy="647195"/>
            <a:chOff x="0" y="0"/>
            <a:chExt cx="2838031" cy="862927"/>
          </a:xfrm>
        </p:grpSpPr>
        <p:sp>
          <p:nvSpPr>
            <p:cNvPr name="Freeform 7" id="7"/>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name="Group 8" id="8"/>
          <p:cNvGrpSpPr/>
          <p:nvPr/>
        </p:nvGrpSpPr>
        <p:grpSpPr>
          <a:xfrm rot="0">
            <a:off x="15270480" y="694944"/>
            <a:ext cx="2103120" cy="621792"/>
            <a:chOff x="0" y="0"/>
            <a:chExt cx="2804160" cy="829056"/>
          </a:xfrm>
        </p:grpSpPr>
        <p:sp>
          <p:nvSpPr>
            <p:cNvPr name="Freeform 9" id="9"/>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0" id="10"/>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14213D"/>
                  </a:solidFill>
                  <a:latin typeface="Times New Roman"/>
                  <a:ea typeface="Times New Roman"/>
                  <a:cs typeface="Times New Roman"/>
                  <a:sym typeface="Times New Roman"/>
                </a:rPr>
                <a:t>#3 + #2</a:t>
              </a:r>
            </a:p>
          </p:txBody>
        </p:sp>
      </p:grpSp>
      <p:grpSp>
        <p:nvGrpSpPr>
          <p:cNvPr name="Group 11" id="11"/>
          <p:cNvGrpSpPr/>
          <p:nvPr/>
        </p:nvGrpSpPr>
        <p:grpSpPr>
          <a:xfrm rot="0">
            <a:off x="901703" y="2456183"/>
            <a:ext cx="5146043" cy="3225803"/>
            <a:chOff x="0" y="0"/>
            <a:chExt cx="6861391" cy="4301071"/>
          </a:xfrm>
        </p:grpSpPr>
        <p:sp>
          <p:nvSpPr>
            <p:cNvPr name="Freeform 12" id="12"/>
            <p:cNvSpPr/>
            <p:nvPr/>
          </p:nvSpPr>
          <p:spPr>
            <a:xfrm flipH="false" flipV="false" rot="0">
              <a:off x="0" y="0"/>
              <a:ext cx="6861428" cy="4301109"/>
            </a:xfrm>
            <a:custGeom>
              <a:avLst/>
              <a:gdLst/>
              <a:ahLst/>
              <a:cxnLst/>
              <a:rect r="r" b="b" t="t" l="l"/>
              <a:pathLst>
                <a:path h="4301109" w="6861428">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name="Group 13" id="13"/>
          <p:cNvGrpSpPr/>
          <p:nvPr/>
        </p:nvGrpSpPr>
        <p:grpSpPr>
          <a:xfrm rot="0">
            <a:off x="1280160" y="2651760"/>
            <a:ext cx="4389120" cy="548640"/>
            <a:chOff x="0" y="0"/>
            <a:chExt cx="5852160" cy="731520"/>
          </a:xfrm>
        </p:grpSpPr>
        <p:sp>
          <p:nvSpPr>
            <p:cNvPr name="Freeform 14" id="14"/>
            <p:cNvSpPr/>
            <p:nvPr/>
          </p:nvSpPr>
          <p:spPr>
            <a:xfrm flipH="false" flipV="false" rot="0">
              <a:off x="0" y="0"/>
              <a:ext cx="5852160" cy="731520"/>
            </a:xfrm>
            <a:custGeom>
              <a:avLst/>
              <a:gdLst/>
              <a:ahLst/>
              <a:cxnLst/>
              <a:rect r="r" b="b" t="t" l="l"/>
              <a:pathLst>
                <a:path h="731520" w="5852160">
                  <a:moveTo>
                    <a:pt x="0" y="0"/>
                  </a:moveTo>
                  <a:lnTo>
                    <a:pt x="5852160" y="0"/>
                  </a:lnTo>
                  <a:lnTo>
                    <a:pt x="5852160" y="731520"/>
                  </a:lnTo>
                  <a:lnTo>
                    <a:pt x="0" y="731520"/>
                  </a:lnTo>
                  <a:close/>
                </a:path>
              </a:pathLst>
            </a:custGeom>
            <a:blipFill>
              <a:blip r:embed="rId3">
                <a:alphaModFix amt="0"/>
              </a:blip>
              <a:stretch>
                <a:fillRect l="0" t="-105880" r="0" b="-105880"/>
              </a:stretch>
            </a:blipFill>
          </p:spPr>
        </p:sp>
        <p:sp>
          <p:nvSpPr>
            <p:cNvPr name="TextBox 15" id="15"/>
            <p:cNvSpPr txBox="true"/>
            <p:nvPr/>
          </p:nvSpPr>
          <p:spPr>
            <a:xfrm>
              <a:off x="0" y="-57150"/>
              <a:ext cx="5852160" cy="788670"/>
            </a:xfrm>
            <a:prstGeom prst="rect">
              <a:avLst/>
            </a:prstGeom>
          </p:spPr>
          <p:txBody>
            <a:bodyPr anchor="ctr" rtlCol="false" tIns="0" lIns="0" bIns="0" rIns="0"/>
            <a:lstStyle/>
            <a:p>
              <a:pPr algn="l">
                <a:lnSpc>
                  <a:spcPts val="3120"/>
                </a:lnSpc>
              </a:pPr>
              <a:r>
                <a:rPr lang="en-US" sz="2600" b="true">
                  <a:solidFill>
                    <a:srgbClr val="BFE8E3"/>
                  </a:solidFill>
                  <a:latin typeface="Times New Roman"/>
                  <a:ea typeface="Times New Roman"/>
                  <a:cs typeface="Times New Roman"/>
                  <a:sym typeface="Times New Roman"/>
                </a:rPr>
                <a:t>Client A</a:t>
              </a:r>
            </a:p>
          </p:txBody>
        </p:sp>
      </p:grpSp>
      <p:grpSp>
        <p:nvGrpSpPr>
          <p:cNvPr name="Group 16" id="16"/>
          <p:cNvGrpSpPr/>
          <p:nvPr/>
        </p:nvGrpSpPr>
        <p:grpSpPr>
          <a:xfrm rot="0">
            <a:off x="1907543" y="3644903"/>
            <a:ext cx="793499" cy="793499"/>
            <a:chOff x="0" y="0"/>
            <a:chExt cx="1057999" cy="1057999"/>
          </a:xfrm>
        </p:grpSpPr>
        <p:sp>
          <p:nvSpPr>
            <p:cNvPr name="Freeform 17" id="17"/>
            <p:cNvSpPr/>
            <p:nvPr/>
          </p:nvSpPr>
          <p:spPr>
            <a:xfrm flipH="false" flipV="false" rot="0">
              <a:off x="0" y="0"/>
              <a:ext cx="1058037" cy="1058037"/>
            </a:xfrm>
            <a:custGeom>
              <a:avLst/>
              <a:gdLst/>
              <a:ahLst/>
              <a:cxnLst/>
              <a:rect r="r" b="b" t="t" l="l"/>
              <a:pathLst>
                <a:path h="1058037" w="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name="Group 18" id="18"/>
          <p:cNvGrpSpPr/>
          <p:nvPr/>
        </p:nvGrpSpPr>
        <p:grpSpPr>
          <a:xfrm rot="0">
            <a:off x="4102103" y="3919223"/>
            <a:ext cx="793499" cy="793499"/>
            <a:chOff x="0" y="0"/>
            <a:chExt cx="1057999" cy="1057999"/>
          </a:xfrm>
        </p:grpSpPr>
        <p:sp>
          <p:nvSpPr>
            <p:cNvPr name="Freeform 19" id="19"/>
            <p:cNvSpPr/>
            <p:nvPr/>
          </p:nvSpPr>
          <p:spPr>
            <a:xfrm flipH="false" flipV="false" rot="0">
              <a:off x="0" y="0"/>
              <a:ext cx="1058037" cy="1058037"/>
            </a:xfrm>
            <a:custGeom>
              <a:avLst/>
              <a:gdLst/>
              <a:ahLst/>
              <a:cxnLst/>
              <a:rect r="r" b="b" t="t" l="l"/>
              <a:pathLst>
                <a:path h="1058037" w="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name="Group 20" id="20"/>
          <p:cNvGrpSpPr/>
          <p:nvPr/>
        </p:nvGrpSpPr>
        <p:grpSpPr>
          <a:xfrm rot="0">
            <a:off x="1280160" y="4901184"/>
            <a:ext cx="4389120" cy="548640"/>
            <a:chOff x="0" y="0"/>
            <a:chExt cx="5852160" cy="731520"/>
          </a:xfrm>
        </p:grpSpPr>
        <p:sp>
          <p:nvSpPr>
            <p:cNvPr name="Freeform 21" id="21"/>
            <p:cNvSpPr/>
            <p:nvPr/>
          </p:nvSpPr>
          <p:spPr>
            <a:xfrm flipH="false" flipV="false" rot="0">
              <a:off x="0" y="0"/>
              <a:ext cx="5852160" cy="731520"/>
            </a:xfrm>
            <a:custGeom>
              <a:avLst/>
              <a:gdLst/>
              <a:ahLst/>
              <a:cxnLst/>
              <a:rect r="r" b="b" t="t" l="l"/>
              <a:pathLst>
                <a:path h="731520" w="5852160">
                  <a:moveTo>
                    <a:pt x="0" y="0"/>
                  </a:moveTo>
                  <a:lnTo>
                    <a:pt x="5852160" y="0"/>
                  </a:lnTo>
                  <a:lnTo>
                    <a:pt x="5852160" y="731520"/>
                  </a:lnTo>
                  <a:lnTo>
                    <a:pt x="0" y="731520"/>
                  </a:lnTo>
                  <a:close/>
                </a:path>
              </a:pathLst>
            </a:custGeom>
            <a:blipFill>
              <a:blip r:embed="rId3">
                <a:alphaModFix amt="0"/>
              </a:blip>
              <a:stretch>
                <a:fillRect l="0" t="-105880" r="0" b="-105880"/>
              </a:stretch>
            </a:blipFill>
          </p:spPr>
        </p:sp>
        <p:sp>
          <p:nvSpPr>
            <p:cNvPr name="TextBox 22" id="22"/>
            <p:cNvSpPr txBox="true"/>
            <p:nvPr/>
          </p:nvSpPr>
          <p:spPr>
            <a:xfrm>
              <a:off x="0" y="-47625"/>
              <a:ext cx="5852160" cy="779145"/>
            </a:xfrm>
            <a:prstGeom prst="rect">
              <a:avLst/>
            </a:prstGeom>
          </p:spPr>
          <p:txBody>
            <a:bodyPr anchor="ctr" rtlCol="false" tIns="0" lIns="0" bIns="0" rIns="0"/>
            <a:lstStyle/>
            <a:p>
              <a:pPr algn="l">
                <a:lnSpc>
                  <a:spcPts val="2639"/>
                </a:lnSpc>
              </a:pPr>
              <a:r>
                <a:rPr lang="en-US" sz="2199" i="true">
                  <a:solidFill>
                    <a:srgbClr val="FFFFFF"/>
                  </a:solidFill>
                  <a:latin typeface="Times New Roman"/>
                  <a:ea typeface="Times New Roman"/>
                  <a:cs typeface="Times New Roman"/>
                  <a:sym typeface="Times New Roman"/>
                </a:rPr>
                <a:t>dự đoán + đối chiếu</a:t>
              </a:r>
            </a:p>
          </p:txBody>
        </p:sp>
      </p:grpSp>
      <p:grpSp>
        <p:nvGrpSpPr>
          <p:cNvPr name="Group 23" id="23"/>
          <p:cNvGrpSpPr/>
          <p:nvPr/>
        </p:nvGrpSpPr>
        <p:grpSpPr>
          <a:xfrm rot="0">
            <a:off x="6570983" y="2456183"/>
            <a:ext cx="5146043" cy="3225803"/>
            <a:chOff x="0" y="0"/>
            <a:chExt cx="6861391" cy="4301071"/>
          </a:xfrm>
        </p:grpSpPr>
        <p:sp>
          <p:nvSpPr>
            <p:cNvPr name="Freeform 24" id="24"/>
            <p:cNvSpPr/>
            <p:nvPr/>
          </p:nvSpPr>
          <p:spPr>
            <a:xfrm flipH="false" flipV="false" rot="0">
              <a:off x="0" y="0"/>
              <a:ext cx="6861428" cy="4301109"/>
            </a:xfrm>
            <a:custGeom>
              <a:avLst/>
              <a:gdLst/>
              <a:ahLst/>
              <a:cxnLst/>
              <a:rect r="r" b="b" t="t" l="l"/>
              <a:pathLst>
                <a:path h="4301109" w="6861428">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name="Group 25" id="25"/>
          <p:cNvGrpSpPr/>
          <p:nvPr/>
        </p:nvGrpSpPr>
        <p:grpSpPr>
          <a:xfrm rot="0">
            <a:off x="6949440" y="2651760"/>
            <a:ext cx="4389120" cy="548640"/>
            <a:chOff x="0" y="0"/>
            <a:chExt cx="5852160" cy="731520"/>
          </a:xfrm>
        </p:grpSpPr>
        <p:sp>
          <p:nvSpPr>
            <p:cNvPr name="Freeform 26" id="26"/>
            <p:cNvSpPr/>
            <p:nvPr/>
          </p:nvSpPr>
          <p:spPr>
            <a:xfrm flipH="false" flipV="false" rot="0">
              <a:off x="0" y="0"/>
              <a:ext cx="5852160" cy="731520"/>
            </a:xfrm>
            <a:custGeom>
              <a:avLst/>
              <a:gdLst/>
              <a:ahLst/>
              <a:cxnLst/>
              <a:rect r="r" b="b" t="t" l="l"/>
              <a:pathLst>
                <a:path h="731520" w="5852160">
                  <a:moveTo>
                    <a:pt x="0" y="0"/>
                  </a:moveTo>
                  <a:lnTo>
                    <a:pt x="5852160" y="0"/>
                  </a:lnTo>
                  <a:lnTo>
                    <a:pt x="5852160" y="731520"/>
                  </a:lnTo>
                  <a:lnTo>
                    <a:pt x="0" y="731520"/>
                  </a:lnTo>
                  <a:close/>
                </a:path>
              </a:pathLst>
            </a:custGeom>
            <a:blipFill>
              <a:blip r:embed="rId3">
                <a:alphaModFix amt="0"/>
              </a:blip>
              <a:stretch>
                <a:fillRect l="0" t="-105880" r="0" b="-105880"/>
              </a:stretch>
            </a:blipFill>
          </p:spPr>
        </p:sp>
        <p:sp>
          <p:nvSpPr>
            <p:cNvPr name="TextBox 27" id="27"/>
            <p:cNvSpPr txBox="true"/>
            <p:nvPr/>
          </p:nvSpPr>
          <p:spPr>
            <a:xfrm>
              <a:off x="0" y="-57150"/>
              <a:ext cx="5852160" cy="788670"/>
            </a:xfrm>
            <a:prstGeom prst="rect">
              <a:avLst/>
            </a:prstGeom>
          </p:spPr>
          <p:txBody>
            <a:bodyPr anchor="ctr" rtlCol="false" tIns="0" lIns="0" bIns="0" rIns="0"/>
            <a:lstStyle/>
            <a:p>
              <a:pPr algn="l">
                <a:lnSpc>
                  <a:spcPts val="3120"/>
                </a:lnSpc>
              </a:pPr>
              <a:r>
                <a:rPr lang="en-US" sz="2600" b="true">
                  <a:solidFill>
                    <a:srgbClr val="BFE8E3"/>
                  </a:solidFill>
                  <a:latin typeface="Times New Roman"/>
                  <a:ea typeface="Times New Roman"/>
                  <a:cs typeface="Times New Roman"/>
                  <a:sym typeface="Times New Roman"/>
                </a:rPr>
                <a:t>Server</a:t>
              </a:r>
            </a:p>
          </p:txBody>
        </p:sp>
      </p:grpSp>
      <p:grpSp>
        <p:nvGrpSpPr>
          <p:cNvPr name="Group 28" id="28"/>
          <p:cNvGrpSpPr/>
          <p:nvPr/>
        </p:nvGrpSpPr>
        <p:grpSpPr>
          <a:xfrm rot="0">
            <a:off x="7851143" y="3644903"/>
            <a:ext cx="793499" cy="793499"/>
            <a:chOff x="0" y="0"/>
            <a:chExt cx="1057999" cy="1057999"/>
          </a:xfrm>
        </p:grpSpPr>
        <p:sp>
          <p:nvSpPr>
            <p:cNvPr name="Freeform 29" id="29"/>
            <p:cNvSpPr/>
            <p:nvPr/>
          </p:nvSpPr>
          <p:spPr>
            <a:xfrm flipH="false" flipV="false" rot="0">
              <a:off x="0" y="0"/>
              <a:ext cx="1058037" cy="1058037"/>
            </a:xfrm>
            <a:custGeom>
              <a:avLst/>
              <a:gdLst/>
              <a:ahLst/>
              <a:cxnLst/>
              <a:rect r="r" b="b" t="t" l="l"/>
              <a:pathLst>
                <a:path h="1058037" w="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name="Group 30" id="30"/>
          <p:cNvGrpSpPr/>
          <p:nvPr/>
        </p:nvGrpSpPr>
        <p:grpSpPr>
          <a:xfrm rot="0">
            <a:off x="9771383" y="3827783"/>
            <a:ext cx="793499" cy="793499"/>
            <a:chOff x="0" y="0"/>
            <a:chExt cx="1057999" cy="1057999"/>
          </a:xfrm>
        </p:grpSpPr>
        <p:sp>
          <p:nvSpPr>
            <p:cNvPr name="Freeform 31" id="31"/>
            <p:cNvSpPr/>
            <p:nvPr/>
          </p:nvSpPr>
          <p:spPr>
            <a:xfrm flipH="false" flipV="false" rot="0">
              <a:off x="0" y="0"/>
              <a:ext cx="1058037" cy="1058037"/>
            </a:xfrm>
            <a:custGeom>
              <a:avLst/>
              <a:gdLst/>
              <a:ahLst/>
              <a:cxnLst/>
              <a:rect r="r" b="b" t="t" l="l"/>
              <a:pathLst>
                <a:path h="1058037" w="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name="Group 32" id="32"/>
          <p:cNvGrpSpPr/>
          <p:nvPr/>
        </p:nvGrpSpPr>
        <p:grpSpPr>
          <a:xfrm rot="0">
            <a:off x="6949440" y="4901184"/>
            <a:ext cx="4389120" cy="548640"/>
            <a:chOff x="0" y="0"/>
            <a:chExt cx="5852160" cy="731520"/>
          </a:xfrm>
        </p:grpSpPr>
        <p:sp>
          <p:nvSpPr>
            <p:cNvPr name="Freeform 33" id="33"/>
            <p:cNvSpPr/>
            <p:nvPr/>
          </p:nvSpPr>
          <p:spPr>
            <a:xfrm flipH="false" flipV="false" rot="0">
              <a:off x="0" y="0"/>
              <a:ext cx="5852160" cy="731520"/>
            </a:xfrm>
            <a:custGeom>
              <a:avLst/>
              <a:gdLst/>
              <a:ahLst/>
              <a:cxnLst/>
              <a:rect r="r" b="b" t="t" l="l"/>
              <a:pathLst>
                <a:path h="731520" w="5852160">
                  <a:moveTo>
                    <a:pt x="0" y="0"/>
                  </a:moveTo>
                  <a:lnTo>
                    <a:pt x="5852160" y="0"/>
                  </a:lnTo>
                  <a:lnTo>
                    <a:pt x="5852160" y="731520"/>
                  </a:lnTo>
                  <a:lnTo>
                    <a:pt x="0" y="731520"/>
                  </a:lnTo>
                  <a:close/>
                </a:path>
              </a:pathLst>
            </a:custGeom>
            <a:blipFill>
              <a:blip r:embed="rId3">
                <a:alphaModFix amt="0"/>
              </a:blip>
              <a:stretch>
                <a:fillRect l="0" t="-105880" r="0" b="-105880"/>
              </a:stretch>
            </a:blipFill>
          </p:spPr>
        </p:sp>
        <p:sp>
          <p:nvSpPr>
            <p:cNvPr name="TextBox 34" id="34"/>
            <p:cNvSpPr txBox="true"/>
            <p:nvPr/>
          </p:nvSpPr>
          <p:spPr>
            <a:xfrm>
              <a:off x="0" y="-47625"/>
              <a:ext cx="5852160" cy="779145"/>
            </a:xfrm>
            <a:prstGeom prst="rect">
              <a:avLst/>
            </a:prstGeom>
          </p:spPr>
          <p:txBody>
            <a:bodyPr anchor="ctr" rtlCol="false" tIns="0" lIns="0" bIns="0" rIns="0"/>
            <a:lstStyle/>
            <a:p>
              <a:pPr algn="l">
                <a:lnSpc>
                  <a:spcPts val="2639"/>
                </a:lnSpc>
              </a:pPr>
              <a:r>
                <a:rPr lang="en-US" sz="2199" i="true">
                  <a:solidFill>
                    <a:srgbClr val="FFFFFF"/>
                  </a:solidFill>
                  <a:latin typeface="Times New Roman"/>
                  <a:ea typeface="Times New Roman"/>
                  <a:cs typeface="Times New Roman"/>
                  <a:sym typeface="Times New Roman"/>
                </a:rPr>
                <a:t>người quyết định</a:t>
              </a:r>
            </a:p>
          </p:txBody>
        </p:sp>
      </p:grpSp>
      <p:grpSp>
        <p:nvGrpSpPr>
          <p:cNvPr name="Group 35" id="35"/>
          <p:cNvGrpSpPr/>
          <p:nvPr/>
        </p:nvGrpSpPr>
        <p:grpSpPr>
          <a:xfrm rot="0">
            <a:off x="12240263" y="2456183"/>
            <a:ext cx="5146043" cy="3225803"/>
            <a:chOff x="0" y="0"/>
            <a:chExt cx="6861391" cy="4301071"/>
          </a:xfrm>
        </p:grpSpPr>
        <p:sp>
          <p:nvSpPr>
            <p:cNvPr name="Freeform 36" id="36"/>
            <p:cNvSpPr/>
            <p:nvPr/>
          </p:nvSpPr>
          <p:spPr>
            <a:xfrm flipH="false" flipV="false" rot="0">
              <a:off x="0" y="0"/>
              <a:ext cx="6861428" cy="4301109"/>
            </a:xfrm>
            <a:custGeom>
              <a:avLst/>
              <a:gdLst/>
              <a:ahLst/>
              <a:cxnLst/>
              <a:rect r="r" b="b" t="t" l="l"/>
              <a:pathLst>
                <a:path h="4301109" w="6861428">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name="Group 37" id="37"/>
          <p:cNvGrpSpPr/>
          <p:nvPr/>
        </p:nvGrpSpPr>
        <p:grpSpPr>
          <a:xfrm rot="0">
            <a:off x="12618720" y="2651760"/>
            <a:ext cx="4389120" cy="548640"/>
            <a:chOff x="0" y="0"/>
            <a:chExt cx="5852160" cy="731520"/>
          </a:xfrm>
        </p:grpSpPr>
        <p:sp>
          <p:nvSpPr>
            <p:cNvPr name="Freeform 38" id="38"/>
            <p:cNvSpPr/>
            <p:nvPr/>
          </p:nvSpPr>
          <p:spPr>
            <a:xfrm flipH="false" flipV="false" rot="0">
              <a:off x="0" y="0"/>
              <a:ext cx="5852160" cy="731520"/>
            </a:xfrm>
            <a:custGeom>
              <a:avLst/>
              <a:gdLst/>
              <a:ahLst/>
              <a:cxnLst/>
              <a:rect r="r" b="b" t="t" l="l"/>
              <a:pathLst>
                <a:path h="731520" w="5852160">
                  <a:moveTo>
                    <a:pt x="0" y="0"/>
                  </a:moveTo>
                  <a:lnTo>
                    <a:pt x="5852160" y="0"/>
                  </a:lnTo>
                  <a:lnTo>
                    <a:pt x="5852160" y="731520"/>
                  </a:lnTo>
                  <a:lnTo>
                    <a:pt x="0" y="731520"/>
                  </a:lnTo>
                  <a:close/>
                </a:path>
              </a:pathLst>
            </a:custGeom>
            <a:blipFill>
              <a:blip r:embed="rId3">
                <a:alphaModFix amt="0"/>
              </a:blip>
              <a:stretch>
                <a:fillRect l="0" t="-105880" r="0" b="-105880"/>
              </a:stretch>
            </a:blipFill>
          </p:spPr>
        </p:sp>
        <p:sp>
          <p:nvSpPr>
            <p:cNvPr name="TextBox 39" id="39"/>
            <p:cNvSpPr txBox="true"/>
            <p:nvPr/>
          </p:nvSpPr>
          <p:spPr>
            <a:xfrm>
              <a:off x="0" y="-57150"/>
              <a:ext cx="5852160" cy="788670"/>
            </a:xfrm>
            <a:prstGeom prst="rect">
              <a:avLst/>
            </a:prstGeom>
          </p:spPr>
          <p:txBody>
            <a:bodyPr anchor="ctr" rtlCol="false" tIns="0" lIns="0" bIns="0" rIns="0"/>
            <a:lstStyle/>
            <a:p>
              <a:pPr algn="l">
                <a:lnSpc>
                  <a:spcPts val="3120"/>
                </a:lnSpc>
              </a:pPr>
              <a:r>
                <a:rPr lang="en-US" sz="2600" b="true">
                  <a:solidFill>
                    <a:srgbClr val="BFE8E3"/>
                  </a:solidFill>
                  <a:latin typeface="Times New Roman"/>
                  <a:ea typeface="Times New Roman"/>
                  <a:cs typeface="Times New Roman"/>
                  <a:sym typeface="Times New Roman"/>
                </a:rPr>
                <a:t>Client B</a:t>
              </a:r>
            </a:p>
          </p:txBody>
        </p:sp>
      </p:grpSp>
      <p:grpSp>
        <p:nvGrpSpPr>
          <p:cNvPr name="Group 40" id="40"/>
          <p:cNvGrpSpPr/>
          <p:nvPr/>
        </p:nvGrpSpPr>
        <p:grpSpPr>
          <a:xfrm rot="0">
            <a:off x="13794743" y="3644903"/>
            <a:ext cx="793499" cy="793499"/>
            <a:chOff x="0" y="0"/>
            <a:chExt cx="1057999" cy="1057999"/>
          </a:xfrm>
        </p:grpSpPr>
        <p:sp>
          <p:nvSpPr>
            <p:cNvPr name="Freeform 41" id="41"/>
            <p:cNvSpPr/>
            <p:nvPr/>
          </p:nvSpPr>
          <p:spPr>
            <a:xfrm flipH="false" flipV="false" rot="0">
              <a:off x="0" y="0"/>
              <a:ext cx="1058037" cy="1058037"/>
            </a:xfrm>
            <a:custGeom>
              <a:avLst/>
              <a:gdLst/>
              <a:ahLst/>
              <a:cxnLst/>
              <a:rect r="r" b="b" t="t" l="l"/>
              <a:pathLst>
                <a:path h="1058037" w="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name="Group 42" id="42"/>
          <p:cNvGrpSpPr/>
          <p:nvPr/>
        </p:nvGrpSpPr>
        <p:grpSpPr>
          <a:xfrm rot="0">
            <a:off x="15440663" y="3736343"/>
            <a:ext cx="793499" cy="793499"/>
            <a:chOff x="0" y="0"/>
            <a:chExt cx="1057999" cy="1057999"/>
          </a:xfrm>
        </p:grpSpPr>
        <p:sp>
          <p:nvSpPr>
            <p:cNvPr name="Freeform 43" id="43"/>
            <p:cNvSpPr/>
            <p:nvPr/>
          </p:nvSpPr>
          <p:spPr>
            <a:xfrm flipH="false" flipV="false" rot="0">
              <a:off x="0" y="0"/>
              <a:ext cx="1058037" cy="1058037"/>
            </a:xfrm>
            <a:custGeom>
              <a:avLst/>
              <a:gdLst/>
              <a:ahLst/>
              <a:cxnLst/>
              <a:rect r="r" b="b" t="t" l="l"/>
              <a:pathLst>
                <a:path h="1058037" w="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name="Group 44" id="44"/>
          <p:cNvGrpSpPr/>
          <p:nvPr/>
        </p:nvGrpSpPr>
        <p:grpSpPr>
          <a:xfrm rot="0">
            <a:off x="12618720" y="4901184"/>
            <a:ext cx="4389120" cy="548640"/>
            <a:chOff x="0" y="0"/>
            <a:chExt cx="5852160" cy="731520"/>
          </a:xfrm>
        </p:grpSpPr>
        <p:sp>
          <p:nvSpPr>
            <p:cNvPr name="Freeform 45" id="45"/>
            <p:cNvSpPr/>
            <p:nvPr/>
          </p:nvSpPr>
          <p:spPr>
            <a:xfrm flipH="false" flipV="false" rot="0">
              <a:off x="0" y="0"/>
              <a:ext cx="5852160" cy="731520"/>
            </a:xfrm>
            <a:custGeom>
              <a:avLst/>
              <a:gdLst/>
              <a:ahLst/>
              <a:cxnLst/>
              <a:rect r="r" b="b" t="t" l="l"/>
              <a:pathLst>
                <a:path h="731520" w="5852160">
                  <a:moveTo>
                    <a:pt x="0" y="0"/>
                  </a:moveTo>
                  <a:lnTo>
                    <a:pt x="5852160" y="0"/>
                  </a:lnTo>
                  <a:lnTo>
                    <a:pt x="5852160" y="731520"/>
                  </a:lnTo>
                  <a:lnTo>
                    <a:pt x="0" y="731520"/>
                  </a:lnTo>
                  <a:close/>
                </a:path>
              </a:pathLst>
            </a:custGeom>
            <a:blipFill>
              <a:blip r:embed="rId3">
                <a:alphaModFix amt="0"/>
              </a:blip>
              <a:stretch>
                <a:fillRect l="0" t="-105880" r="0" b="-105880"/>
              </a:stretch>
            </a:blipFill>
          </p:spPr>
        </p:sp>
        <p:sp>
          <p:nvSpPr>
            <p:cNvPr name="TextBox 46" id="46"/>
            <p:cNvSpPr txBox="true"/>
            <p:nvPr/>
          </p:nvSpPr>
          <p:spPr>
            <a:xfrm>
              <a:off x="0" y="-47625"/>
              <a:ext cx="5852160" cy="779145"/>
            </a:xfrm>
            <a:prstGeom prst="rect">
              <a:avLst/>
            </a:prstGeom>
          </p:spPr>
          <p:txBody>
            <a:bodyPr anchor="ctr" rtlCol="false" tIns="0" lIns="0" bIns="0" rIns="0"/>
            <a:lstStyle/>
            <a:p>
              <a:pPr algn="l">
                <a:lnSpc>
                  <a:spcPts val="2639"/>
                </a:lnSpc>
              </a:pPr>
              <a:r>
                <a:rPr lang="en-US" sz="2199" i="true">
                  <a:solidFill>
                    <a:srgbClr val="FFFFFF"/>
                  </a:solidFill>
                  <a:latin typeface="Times New Roman"/>
                  <a:ea typeface="Times New Roman"/>
                  <a:cs typeface="Times New Roman"/>
                  <a:sym typeface="Times New Roman"/>
                </a:rPr>
                <a:t>nội suy ô của A</a:t>
              </a:r>
            </a:p>
          </p:txBody>
        </p:sp>
      </p:grpSp>
      <p:grpSp>
        <p:nvGrpSpPr>
          <p:cNvPr name="Group 47" id="47"/>
          <p:cNvGrpSpPr/>
          <p:nvPr/>
        </p:nvGrpSpPr>
        <p:grpSpPr>
          <a:xfrm rot="0">
            <a:off x="914400" y="6089904"/>
            <a:ext cx="2377440" cy="621792"/>
            <a:chOff x="0" y="0"/>
            <a:chExt cx="3169920" cy="829056"/>
          </a:xfrm>
        </p:grpSpPr>
        <p:sp>
          <p:nvSpPr>
            <p:cNvPr name="Freeform 48" id="48"/>
            <p:cNvSpPr/>
            <p:nvPr/>
          </p:nvSpPr>
          <p:spPr>
            <a:xfrm flipH="false" flipV="false" rot="0">
              <a:off x="0" y="0"/>
              <a:ext cx="3169920" cy="829056"/>
            </a:xfrm>
            <a:custGeom>
              <a:avLst/>
              <a:gdLst/>
              <a:ahLst/>
              <a:cxnLst/>
              <a:rect r="r" b="b" t="t" l="l"/>
              <a:pathLst>
                <a:path h="829056" w="3169920">
                  <a:moveTo>
                    <a:pt x="0" y="0"/>
                  </a:moveTo>
                  <a:lnTo>
                    <a:pt x="3169920" y="0"/>
                  </a:lnTo>
                  <a:lnTo>
                    <a:pt x="3169920" y="829056"/>
                  </a:lnTo>
                  <a:lnTo>
                    <a:pt x="0" y="829056"/>
                  </a:lnTo>
                  <a:close/>
                </a:path>
              </a:pathLst>
            </a:custGeom>
            <a:blipFill>
              <a:blip r:embed="rId3">
                <a:alphaModFix amt="0"/>
              </a:blip>
              <a:stretch>
                <a:fillRect l="0" t="-24501" r="0" b="-24501"/>
              </a:stretch>
            </a:blipFill>
          </p:spPr>
        </p:sp>
        <p:sp>
          <p:nvSpPr>
            <p:cNvPr name="TextBox 49" id="49"/>
            <p:cNvSpPr txBox="true"/>
            <p:nvPr/>
          </p:nvSpPr>
          <p:spPr>
            <a:xfrm>
              <a:off x="0" y="-38100"/>
              <a:ext cx="3169920" cy="867156"/>
            </a:xfrm>
            <a:prstGeom prst="rect">
              <a:avLst/>
            </a:prstGeom>
          </p:spPr>
          <p:txBody>
            <a:bodyPr anchor="ctr" rtlCol="false" tIns="0" lIns="0" bIns="0" rIns="0"/>
            <a:lstStyle/>
            <a:p>
              <a:pPr algn="l">
                <a:lnSpc>
                  <a:spcPts val="2400"/>
                </a:lnSpc>
              </a:pPr>
              <a:r>
                <a:rPr lang="en-US" b="true" sz="2000" spc="300">
                  <a:solidFill>
                    <a:srgbClr val="BFE8E3"/>
                  </a:solidFill>
                  <a:latin typeface="Times New Roman"/>
                  <a:ea typeface="Times New Roman"/>
                  <a:cs typeface="Times New Roman"/>
                  <a:sym typeface="Times New Roman"/>
                </a:rPr>
                <a:t>THANH TRƯỢT</a:t>
              </a:r>
            </a:p>
          </p:txBody>
        </p:sp>
      </p:grpSp>
      <p:grpSp>
        <p:nvGrpSpPr>
          <p:cNvPr name="Group 50" id="50"/>
          <p:cNvGrpSpPr/>
          <p:nvPr/>
        </p:nvGrpSpPr>
        <p:grpSpPr>
          <a:xfrm rot="0">
            <a:off x="3373755" y="6080379"/>
            <a:ext cx="1847850" cy="640842"/>
            <a:chOff x="0" y="0"/>
            <a:chExt cx="2463800" cy="854456"/>
          </a:xfrm>
        </p:grpSpPr>
        <p:sp>
          <p:nvSpPr>
            <p:cNvPr name="Freeform 51" id="51"/>
            <p:cNvSpPr/>
            <p:nvPr/>
          </p:nvSpPr>
          <p:spPr>
            <a:xfrm flipH="false" flipV="false" rot="0">
              <a:off x="0" y="0"/>
              <a:ext cx="2463800" cy="854456"/>
            </a:xfrm>
            <a:custGeom>
              <a:avLst/>
              <a:gdLst/>
              <a:ahLst/>
              <a:cxnLst/>
              <a:rect r="r" b="b" t="t" l="l"/>
              <a:pathLst>
                <a:path h="854456" w="2463800">
                  <a:moveTo>
                    <a:pt x="0" y="427228"/>
                  </a:moveTo>
                  <a:cubicBezTo>
                    <a:pt x="0" y="191262"/>
                    <a:pt x="191262" y="0"/>
                    <a:pt x="427228" y="0"/>
                  </a:cubicBezTo>
                  <a:lnTo>
                    <a:pt x="2036572" y="0"/>
                  </a:lnTo>
                  <a:cubicBezTo>
                    <a:pt x="2272538" y="0"/>
                    <a:pt x="2463800" y="191262"/>
                    <a:pt x="2463800" y="427228"/>
                  </a:cubicBezTo>
                  <a:cubicBezTo>
                    <a:pt x="2463800" y="663194"/>
                    <a:pt x="2272538" y="854456"/>
                    <a:pt x="20365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name="Group 52" id="52"/>
          <p:cNvGrpSpPr/>
          <p:nvPr/>
        </p:nvGrpSpPr>
        <p:grpSpPr>
          <a:xfrm rot="0">
            <a:off x="3383280" y="6089904"/>
            <a:ext cx="1828800" cy="621792"/>
            <a:chOff x="0" y="0"/>
            <a:chExt cx="2438400" cy="829056"/>
          </a:xfrm>
        </p:grpSpPr>
        <p:sp>
          <p:nvSpPr>
            <p:cNvPr name="Freeform 53" id="53"/>
            <p:cNvSpPr/>
            <p:nvPr/>
          </p:nvSpPr>
          <p:spPr>
            <a:xfrm flipH="false" flipV="false" rot="0">
              <a:off x="0" y="0"/>
              <a:ext cx="2438400" cy="829056"/>
            </a:xfrm>
            <a:custGeom>
              <a:avLst/>
              <a:gdLst/>
              <a:ahLst/>
              <a:cxnLst/>
              <a:rect r="r" b="b" t="t" l="l"/>
              <a:pathLst>
                <a:path h="829056" w="2438400">
                  <a:moveTo>
                    <a:pt x="0" y="0"/>
                  </a:moveTo>
                  <a:lnTo>
                    <a:pt x="2438400" y="0"/>
                  </a:lnTo>
                  <a:lnTo>
                    <a:pt x="2438400" y="829056"/>
                  </a:lnTo>
                  <a:lnTo>
                    <a:pt x="0" y="829056"/>
                  </a:lnTo>
                  <a:close/>
                </a:path>
              </a:pathLst>
            </a:custGeom>
            <a:blipFill>
              <a:blip r:embed="rId3">
                <a:alphaModFix amt="0"/>
              </a:blip>
              <a:stretch>
                <a:fillRect l="0" t="-7308" r="0" b="-7308"/>
              </a:stretch>
            </a:blipFill>
          </p:spPr>
        </p:sp>
        <p:sp>
          <p:nvSpPr>
            <p:cNvPr name="TextBox 54" id="54"/>
            <p:cNvSpPr txBox="true"/>
            <p:nvPr/>
          </p:nvSpPr>
          <p:spPr>
            <a:xfrm>
              <a:off x="0" y="-47625"/>
              <a:ext cx="2438400" cy="876681"/>
            </a:xfrm>
            <a:prstGeom prst="rect">
              <a:avLst/>
            </a:prstGeom>
          </p:spPr>
          <p:txBody>
            <a:bodyPr anchor="ctr" rtlCol="false" tIns="0" lIns="0" bIns="0" rIns="0"/>
            <a:lstStyle/>
            <a:p>
              <a:pPr algn="ctr">
                <a:lnSpc>
                  <a:spcPts val="2639"/>
                </a:lnSpc>
              </a:pPr>
              <a:r>
                <a:rPr lang="en-US" sz="2199">
                  <a:solidFill>
                    <a:srgbClr val="FFFFFF"/>
                  </a:solidFill>
                  <a:latin typeface="Times New Roman"/>
                  <a:ea typeface="Times New Roman"/>
                  <a:cs typeface="Times New Roman"/>
                  <a:sym typeface="Times New Roman"/>
                </a:rPr>
                <a:t>Độ trễ</a:t>
              </a:r>
            </a:p>
          </p:txBody>
        </p:sp>
      </p:grpSp>
      <p:grpSp>
        <p:nvGrpSpPr>
          <p:cNvPr name="Group 55" id="55"/>
          <p:cNvGrpSpPr/>
          <p:nvPr/>
        </p:nvGrpSpPr>
        <p:grpSpPr>
          <a:xfrm rot="0">
            <a:off x="5422011" y="6080379"/>
            <a:ext cx="2853690" cy="640842"/>
            <a:chOff x="0" y="0"/>
            <a:chExt cx="3804920" cy="854456"/>
          </a:xfrm>
        </p:grpSpPr>
        <p:sp>
          <p:nvSpPr>
            <p:cNvPr name="Freeform 56" id="56"/>
            <p:cNvSpPr/>
            <p:nvPr/>
          </p:nvSpPr>
          <p:spPr>
            <a:xfrm flipH="false" flipV="false" rot="0">
              <a:off x="0" y="0"/>
              <a:ext cx="3804920" cy="854456"/>
            </a:xfrm>
            <a:custGeom>
              <a:avLst/>
              <a:gdLst/>
              <a:ahLst/>
              <a:cxnLst/>
              <a:rect r="r" b="b" t="t" l="l"/>
              <a:pathLst>
                <a:path h="854456" w="3804920">
                  <a:moveTo>
                    <a:pt x="0" y="427228"/>
                  </a:moveTo>
                  <a:cubicBezTo>
                    <a:pt x="0" y="191262"/>
                    <a:pt x="191262" y="0"/>
                    <a:pt x="427228" y="0"/>
                  </a:cubicBezTo>
                  <a:lnTo>
                    <a:pt x="3377692" y="0"/>
                  </a:lnTo>
                  <a:cubicBezTo>
                    <a:pt x="3613658" y="0"/>
                    <a:pt x="3804920" y="191262"/>
                    <a:pt x="3804920" y="427228"/>
                  </a:cubicBezTo>
                  <a:cubicBezTo>
                    <a:pt x="3804920" y="663194"/>
                    <a:pt x="3613658" y="854456"/>
                    <a:pt x="337769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name="Group 57" id="57"/>
          <p:cNvGrpSpPr/>
          <p:nvPr/>
        </p:nvGrpSpPr>
        <p:grpSpPr>
          <a:xfrm rot="0">
            <a:off x="5431536" y="6089904"/>
            <a:ext cx="2834640" cy="621792"/>
            <a:chOff x="0" y="0"/>
            <a:chExt cx="3779520" cy="829056"/>
          </a:xfrm>
        </p:grpSpPr>
        <p:sp>
          <p:nvSpPr>
            <p:cNvPr name="Freeform 58" id="58"/>
            <p:cNvSpPr/>
            <p:nvPr/>
          </p:nvSpPr>
          <p:spPr>
            <a:xfrm flipH="false" flipV="false" rot="0">
              <a:off x="0" y="0"/>
              <a:ext cx="3779520" cy="829056"/>
            </a:xfrm>
            <a:custGeom>
              <a:avLst/>
              <a:gdLst/>
              <a:ahLst/>
              <a:cxnLst/>
              <a:rect r="r" b="b" t="t" l="l"/>
              <a:pathLst>
                <a:path h="829056" w="3779520">
                  <a:moveTo>
                    <a:pt x="0" y="0"/>
                  </a:moveTo>
                  <a:lnTo>
                    <a:pt x="3779520" y="0"/>
                  </a:lnTo>
                  <a:lnTo>
                    <a:pt x="3779520" y="829056"/>
                  </a:lnTo>
                  <a:lnTo>
                    <a:pt x="0" y="829056"/>
                  </a:lnTo>
                  <a:close/>
                </a:path>
              </a:pathLst>
            </a:custGeom>
            <a:blipFill>
              <a:blip r:embed="rId3">
                <a:alphaModFix amt="0"/>
              </a:blip>
              <a:stretch>
                <a:fillRect l="0" t="-38828" r="0" b="-38828"/>
              </a:stretch>
            </a:blipFill>
          </p:spPr>
        </p:sp>
        <p:sp>
          <p:nvSpPr>
            <p:cNvPr name="TextBox 59" id="59"/>
            <p:cNvSpPr txBox="true"/>
            <p:nvPr/>
          </p:nvSpPr>
          <p:spPr>
            <a:xfrm>
              <a:off x="0" y="-47625"/>
              <a:ext cx="3779520" cy="876681"/>
            </a:xfrm>
            <a:prstGeom prst="rect">
              <a:avLst/>
            </a:prstGeom>
          </p:spPr>
          <p:txBody>
            <a:bodyPr anchor="ctr" rtlCol="false" tIns="0" lIns="0" bIns="0" rIns="0"/>
            <a:lstStyle/>
            <a:p>
              <a:pPr algn="ctr">
                <a:lnSpc>
                  <a:spcPts val="2639"/>
                </a:lnSpc>
              </a:pPr>
              <a:r>
                <a:rPr lang="en-US" sz="2199">
                  <a:solidFill>
                    <a:srgbClr val="FFFFFF"/>
                  </a:solidFill>
                  <a:latin typeface="Times New Roman"/>
                  <a:ea typeface="Times New Roman"/>
                  <a:cs typeface="Times New Roman"/>
                  <a:sym typeface="Times New Roman"/>
                </a:rPr>
                <a:t>Dao động độ trễ</a:t>
              </a:r>
            </a:p>
          </p:txBody>
        </p:sp>
      </p:grpSp>
      <p:grpSp>
        <p:nvGrpSpPr>
          <p:cNvPr name="Group 60" id="60"/>
          <p:cNvGrpSpPr/>
          <p:nvPr/>
        </p:nvGrpSpPr>
        <p:grpSpPr>
          <a:xfrm rot="0">
            <a:off x="8476107" y="6080379"/>
            <a:ext cx="1847850" cy="640842"/>
            <a:chOff x="0" y="0"/>
            <a:chExt cx="2463800" cy="854456"/>
          </a:xfrm>
        </p:grpSpPr>
        <p:sp>
          <p:nvSpPr>
            <p:cNvPr name="Freeform 61" id="61"/>
            <p:cNvSpPr/>
            <p:nvPr/>
          </p:nvSpPr>
          <p:spPr>
            <a:xfrm flipH="false" flipV="false" rot="0">
              <a:off x="0" y="0"/>
              <a:ext cx="2463800" cy="854456"/>
            </a:xfrm>
            <a:custGeom>
              <a:avLst/>
              <a:gdLst/>
              <a:ahLst/>
              <a:cxnLst/>
              <a:rect r="r" b="b" t="t" l="l"/>
              <a:pathLst>
                <a:path h="854456" w="2463800">
                  <a:moveTo>
                    <a:pt x="0" y="427228"/>
                  </a:moveTo>
                  <a:cubicBezTo>
                    <a:pt x="0" y="191262"/>
                    <a:pt x="191262" y="0"/>
                    <a:pt x="427228" y="0"/>
                  </a:cubicBezTo>
                  <a:lnTo>
                    <a:pt x="2036572" y="0"/>
                  </a:lnTo>
                  <a:cubicBezTo>
                    <a:pt x="2272538" y="0"/>
                    <a:pt x="2463800" y="191262"/>
                    <a:pt x="2463800" y="427228"/>
                  </a:cubicBezTo>
                  <a:cubicBezTo>
                    <a:pt x="2463800" y="663194"/>
                    <a:pt x="2272538" y="854456"/>
                    <a:pt x="20365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name="Group 62" id="62"/>
          <p:cNvGrpSpPr/>
          <p:nvPr/>
        </p:nvGrpSpPr>
        <p:grpSpPr>
          <a:xfrm rot="0">
            <a:off x="8485632" y="6089904"/>
            <a:ext cx="1828800" cy="621792"/>
            <a:chOff x="0" y="0"/>
            <a:chExt cx="2438400" cy="829056"/>
          </a:xfrm>
        </p:grpSpPr>
        <p:sp>
          <p:nvSpPr>
            <p:cNvPr name="Freeform 63" id="63"/>
            <p:cNvSpPr/>
            <p:nvPr/>
          </p:nvSpPr>
          <p:spPr>
            <a:xfrm flipH="false" flipV="false" rot="0">
              <a:off x="0" y="0"/>
              <a:ext cx="2438400" cy="829056"/>
            </a:xfrm>
            <a:custGeom>
              <a:avLst/>
              <a:gdLst/>
              <a:ahLst/>
              <a:cxnLst/>
              <a:rect r="r" b="b" t="t" l="l"/>
              <a:pathLst>
                <a:path h="829056" w="2438400">
                  <a:moveTo>
                    <a:pt x="0" y="0"/>
                  </a:moveTo>
                  <a:lnTo>
                    <a:pt x="2438400" y="0"/>
                  </a:lnTo>
                  <a:lnTo>
                    <a:pt x="2438400" y="829056"/>
                  </a:lnTo>
                  <a:lnTo>
                    <a:pt x="0" y="829056"/>
                  </a:lnTo>
                  <a:close/>
                </a:path>
              </a:pathLst>
            </a:custGeom>
            <a:blipFill>
              <a:blip r:embed="rId3">
                <a:alphaModFix amt="0"/>
              </a:blip>
              <a:stretch>
                <a:fillRect l="0" t="-7308" r="0" b="-7308"/>
              </a:stretch>
            </a:blipFill>
          </p:spPr>
        </p:sp>
        <p:sp>
          <p:nvSpPr>
            <p:cNvPr name="TextBox 64" id="64"/>
            <p:cNvSpPr txBox="true"/>
            <p:nvPr/>
          </p:nvSpPr>
          <p:spPr>
            <a:xfrm>
              <a:off x="0" y="-47625"/>
              <a:ext cx="2438400" cy="876681"/>
            </a:xfrm>
            <a:prstGeom prst="rect">
              <a:avLst/>
            </a:prstGeom>
          </p:spPr>
          <p:txBody>
            <a:bodyPr anchor="ctr" rtlCol="false" tIns="0" lIns="0" bIns="0" rIns="0"/>
            <a:lstStyle/>
            <a:p>
              <a:pPr algn="ctr">
                <a:lnSpc>
                  <a:spcPts val="2639"/>
                </a:lnSpc>
              </a:pPr>
              <a:r>
                <a:rPr lang="en-US" sz="2199">
                  <a:solidFill>
                    <a:srgbClr val="FFFFFF"/>
                  </a:solidFill>
                  <a:latin typeface="Times New Roman"/>
                  <a:ea typeface="Times New Roman"/>
                  <a:cs typeface="Times New Roman"/>
                  <a:sym typeface="Times New Roman"/>
                </a:rPr>
                <a:t>Mất gói</a:t>
              </a:r>
            </a:p>
          </p:txBody>
        </p:sp>
      </p:grpSp>
      <p:grpSp>
        <p:nvGrpSpPr>
          <p:cNvPr name="Group 65" id="65"/>
          <p:cNvGrpSpPr/>
          <p:nvPr/>
        </p:nvGrpSpPr>
        <p:grpSpPr>
          <a:xfrm rot="0">
            <a:off x="10524363" y="6080379"/>
            <a:ext cx="2762250" cy="640842"/>
            <a:chOff x="0" y="0"/>
            <a:chExt cx="3683000" cy="854456"/>
          </a:xfrm>
        </p:grpSpPr>
        <p:sp>
          <p:nvSpPr>
            <p:cNvPr name="Freeform 66" id="66"/>
            <p:cNvSpPr/>
            <p:nvPr/>
          </p:nvSpPr>
          <p:spPr>
            <a:xfrm flipH="false" flipV="false" rot="0">
              <a:off x="0" y="0"/>
              <a:ext cx="3683000" cy="854456"/>
            </a:xfrm>
            <a:custGeom>
              <a:avLst/>
              <a:gdLst/>
              <a:ahLst/>
              <a:cxnLst/>
              <a:rect r="r" b="b" t="t" l="l"/>
              <a:pathLst>
                <a:path h="854456" w="3683000">
                  <a:moveTo>
                    <a:pt x="0" y="427228"/>
                  </a:moveTo>
                  <a:cubicBezTo>
                    <a:pt x="0" y="191262"/>
                    <a:pt x="191262" y="0"/>
                    <a:pt x="427228" y="0"/>
                  </a:cubicBezTo>
                  <a:lnTo>
                    <a:pt x="3255772" y="0"/>
                  </a:lnTo>
                  <a:cubicBezTo>
                    <a:pt x="3491738" y="0"/>
                    <a:pt x="3683000" y="191262"/>
                    <a:pt x="3683000" y="427228"/>
                  </a:cubicBezTo>
                  <a:cubicBezTo>
                    <a:pt x="3683000" y="663194"/>
                    <a:pt x="3491738" y="854456"/>
                    <a:pt x="32557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name="Group 67" id="67"/>
          <p:cNvGrpSpPr/>
          <p:nvPr/>
        </p:nvGrpSpPr>
        <p:grpSpPr>
          <a:xfrm rot="0">
            <a:off x="10533888" y="6089904"/>
            <a:ext cx="2743200" cy="621792"/>
            <a:chOff x="0" y="0"/>
            <a:chExt cx="3657600" cy="829056"/>
          </a:xfrm>
        </p:grpSpPr>
        <p:sp>
          <p:nvSpPr>
            <p:cNvPr name="Freeform 68" id="68"/>
            <p:cNvSpPr/>
            <p:nvPr/>
          </p:nvSpPr>
          <p:spPr>
            <a:xfrm flipH="false" flipV="false" rot="0">
              <a:off x="0" y="0"/>
              <a:ext cx="3657600" cy="829056"/>
            </a:xfrm>
            <a:custGeom>
              <a:avLst/>
              <a:gdLst/>
              <a:ahLst/>
              <a:cxnLst/>
              <a:rect r="r" b="b" t="t" l="l"/>
              <a:pathLst>
                <a:path h="829056" w="3657600">
                  <a:moveTo>
                    <a:pt x="0" y="0"/>
                  </a:moveTo>
                  <a:lnTo>
                    <a:pt x="3657600" y="0"/>
                  </a:lnTo>
                  <a:lnTo>
                    <a:pt x="3657600" y="829056"/>
                  </a:lnTo>
                  <a:lnTo>
                    <a:pt x="0" y="829056"/>
                  </a:lnTo>
                  <a:close/>
                </a:path>
              </a:pathLst>
            </a:custGeom>
            <a:blipFill>
              <a:blip r:embed="rId3">
                <a:alphaModFix amt="0"/>
              </a:blip>
              <a:stretch>
                <a:fillRect l="0" t="-35963" r="0" b="-35963"/>
              </a:stretch>
            </a:blipFill>
          </p:spPr>
        </p:sp>
        <p:sp>
          <p:nvSpPr>
            <p:cNvPr name="TextBox 69" id="69"/>
            <p:cNvSpPr txBox="true"/>
            <p:nvPr/>
          </p:nvSpPr>
          <p:spPr>
            <a:xfrm>
              <a:off x="0" y="-47625"/>
              <a:ext cx="3657600" cy="876681"/>
            </a:xfrm>
            <a:prstGeom prst="rect">
              <a:avLst/>
            </a:prstGeom>
          </p:spPr>
          <p:txBody>
            <a:bodyPr anchor="ctr" rtlCol="false" tIns="0" lIns="0" bIns="0" rIns="0"/>
            <a:lstStyle/>
            <a:p>
              <a:pPr algn="ctr">
                <a:lnSpc>
                  <a:spcPts val="2639"/>
                </a:lnSpc>
              </a:pPr>
              <a:r>
                <a:rPr lang="en-US" sz="2199">
                  <a:solidFill>
                    <a:srgbClr val="FFFFFF"/>
                  </a:solidFill>
                  <a:latin typeface="Times New Roman"/>
                  <a:ea typeface="Times New Roman"/>
                  <a:cs typeface="Times New Roman"/>
                  <a:sym typeface="Times New Roman"/>
                </a:rPr>
                <a:t>Tần số gửi ảnh</a:t>
              </a:r>
            </a:p>
          </p:txBody>
        </p:sp>
      </p:grpSp>
      <p:grpSp>
        <p:nvGrpSpPr>
          <p:cNvPr name="Group 70" id="70"/>
          <p:cNvGrpSpPr/>
          <p:nvPr/>
        </p:nvGrpSpPr>
        <p:grpSpPr>
          <a:xfrm rot="0">
            <a:off x="901703" y="7211063"/>
            <a:ext cx="683771" cy="683771"/>
            <a:chOff x="0" y="0"/>
            <a:chExt cx="911695" cy="911695"/>
          </a:xfrm>
        </p:grpSpPr>
        <p:sp>
          <p:nvSpPr>
            <p:cNvPr name="Freeform 71" id="71"/>
            <p:cNvSpPr/>
            <p:nvPr/>
          </p:nvSpPr>
          <p:spPr>
            <a:xfrm flipH="false" flipV="false" rot="0">
              <a:off x="0" y="0"/>
              <a:ext cx="911733" cy="911733"/>
            </a:xfrm>
            <a:custGeom>
              <a:avLst/>
              <a:gdLst/>
              <a:ahLst/>
              <a:cxnLst/>
              <a:rect r="r" b="b" t="t" l="l"/>
              <a:pathLst>
                <a:path h="911733" w="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name="Group 72" id="72"/>
          <p:cNvGrpSpPr/>
          <p:nvPr/>
        </p:nvGrpSpPr>
        <p:grpSpPr>
          <a:xfrm rot="0">
            <a:off x="914400" y="7223760"/>
            <a:ext cx="658368" cy="658368"/>
            <a:chOff x="0" y="0"/>
            <a:chExt cx="877824" cy="877824"/>
          </a:xfrm>
        </p:grpSpPr>
        <p:sp>
          <p:nvSpPr>
            <p:cNvPr name="Freeform 73" id="73"/>
            <p:cNvSpPr/>
            <p:nvPr/>
          </p:nvSpPr>
          <p:spPr>
            <a:xfrm flipH="false" flipV="false" rot="0">
              <a:off x="0" y="0"/>
              <a:ext cx="877824" cy="877824"/>
            </a:xfrm>
            <a:custGeom>
              <a:avLst/>
              <a:gdLst/>
              <a:ahLst/>
              <a:cxnLst/>
              <a:rect r="r" b="b" t="t" l="l"/>
              <a:pathLst>
                <a:path h="877824" w="877824">
                  <a:moveTo>
                    <a:pt x="0" y="0"/>
                  </a:moveTo>
                  <a:lnTo>
                    <a:pt x="877824" y="0"/>
                  </a:lnTo>
                  <a:lnTo>
                    <a:pt x="877824" y="877824"/>
                  </a:lnTo>
                  <a:lnTo>
                    <a:pt x="0" y="877824"/>
                  </a:lnTo>
                  <a:close/>
                </a:path>
              </a:pathLst>
            </a:custGeom>
            <a:blipFill>
              <a:blip r:embed="rId3">
                <a:alphaModFix amt="0"/>
              </a:blip>
              <a:stretch>
                <a:fillRect l="-78303" t="0" r="-78303" b="0"/>
              </a:stretch>
            </a:blipFill>
          </p:spPr>
        </p:sp>
        <p:sp>
          <p:nvSpPr>
            <p:cNvPr name="TextBox 74" id="74"/>
            <p:cNvSpPr txBox="true"/>
            <p:nvPr/>
          </p:nvSpPr>
          <p:spPr>
            <a:xfrm>
              <a:off x="0" y="-38100"/>
              <a:ext cx="877824" cy="915924"/>
            </a:xfrm>
            <a:prstGeom prst="rect">
              <a:avLst/>
            </a:prstGeom>
          </p:spPr>
          <p:txBody>
            <a:bodyPr anchor="ctr" rtlCol="false" tIns="0" lIns="0" bIns="0" rIns="0"/>
            <a:lstStyle/>
            <a:p>
              <a:pPr algn="ctr">
                <a:lnSpc>
                  <a:spcPts val="2879"/>
                </a:lnSpc>
              </a:pPr>
              <a:r>
                <a:rPr lang="en-US" sz="2400" b="true">
                  <a:solidFill>
                    <a:srgbClr val="FFFFFF"/>
                  </a:solidFill>
                  <a:latin typeface="Times New Roman"/>
                  <a:ea typeface="Times New Roman"/>
                  <a:cs typeface="Times New Roman"/>
                  <a:sym typeface="Times New Roman"/>
                </a:rPr>
                <a:t>0</a:t>
              </a:r>
            </a:p>
          </p:txBody>
        </p:sp>
      </p:grpSp>
      <p:sp>
        <p:nvSpPr>
          <p:cNvPr name="TextBox 75" id="75"/>
          <p:cNvSpPr txBox="true"/>
          <p:nvPr/>
        </p:nvSpPr>
        <p:spPr>
          <a:xfrm rot="0">
            <a:off x="914400" y="7962519"/>
            <a:ext cx="2596896" cy="1053465"/>
          </a:xfrm>
          <a:prstGeom prst="rect">
            <a:avLst/>
          </a:prstGeom>
        </p:spPr>
        <p:txBody>
          <a:bodyPr anchor="t" rtlCol="false" tIns="0" lIns="0" bIns="0" rIns="0">
            <a:spAutoFit/>
          </a:bodyPr>
          <a:lstStyle/>
          <a:p>
            <a:pPr algn="l">
              <a:lnSpc>
                <a:spcPts val="2639"/>
              </a:lnSpc>
            </a:pPr>
            <a:r>
              <a:rPr lang="en-US" sz="2199">
                <a:solidFill>
                  <a:srgbClr val="FFFFFF"/>
                </a:solidFill>
                <a:latin typeface="Times New Roman"/>
                <a:ea typeface="Times New Roman"/>
                <a:cs typeface="Times New Roman"/>
                <a:sym typeface="Times New Roman"/>
              </a:rPr>
              <a:t>Client tự quyết</a:t>
            </a:r>
          </a:p>
        </p:txBody>
      </p:sp>
      <p:grpSp>
        <p:nvGrpSpPr>
          <p:cNvPr name="Group 76" id="76"/>
          <p:cNvGrpSpPr/>
          <p:nvPr/>
        </p:nvGrpSpPr>
        <p:grpSpPr>
          <a:xfrm rot="0">
            <a:off x="3681479" y="7211063"/>
            <a:ext cx="683771" cy="683771"/>
            <a:chOff x="0" y="0"/>
            <a:chExt cx="911695" cy="911695"/>
          </a:xfrm>
        </p:grpSpPr>
        <p:sp>
          <p:nvSpPr>
            <p:cNvPr name="Freeform 77" id="77"/>
            <p:cNvSpPr/>
            <p:nvPr/>
          </p:nvSpPr>
          <p:spPr>
            <a:xfrm flipH="false" flipV="false" rot="0">
              <a:off x="0" y="0"/>
              <a:ext cx="911733" cy="911733"/>
            </a:xfrm>
            <a:custGeom>
              <a:avLst/>
              <a:gdLst/>
              <a:ahLst/>
              <a:cxnLst/>
              <a:rect r="r" b="b" t="t" l="l"/>
              <a:pathLst>
                <a:path h="911733" w="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name="Group 78" id="78"/>
          <p:cNvGrpSpPr/>
          <p:nvPr/>
        </p:nvGrpSpPr>
        <p:grpSpPr>
          <a:xfrm rot="0">
            <a:off x="3694176" y="7223760"/>
            <a:ext cx="658368" cy="658368"/>
            <a:chOff x="0" y="0"/>
            <a:chExt cx="877824" cy="877824"/>
          </a:xfrm>
        </p:grpSpPr>
        <p:sp>
          <p:nvSpPr>
            <p:cNvPr name="Freeform 79" id="79"/>
            <p:cNvSpPr/>
            <p:nvPr/>
          </p:nvSpPr>
          <p:spPr>
            <a:xfrm flipH="false" flipV="false" rot="0">
              <a:off x="0" y="0"/>
              <a:ext cx="877824" cy="877824"/>
            </a:xfrm>
            <a:custGeom>
              <a:avLst/>
              <a:gdLst/>
              <a:ahLst/>
              <a:cxnLst/>
              <a:rect r="r" b="b" t="t" l="l"/>
              <a:pathLst>
                <a:path h="877824" w="877824">
                  <a:moveTo>
                    <a:pt x="0" y="0"/>
                  </a:moveTo>
                  <a:lnTo>
                    <a:pt x="877824" y="0"/>
                  </a:lnTo>
                  <a:lnTo>
                    <a:pt x="877824" y="877824"/>
                  </a:lnTo>
                  <a:lnTo>
                    <a:pt x="0" y="877824"/>
                  </a:lnTo>
                  <a:close/>
                </a:path>
              </a:pathLst>
            </a:custGeom>
            <a:blipFill>
              <a:blip r:embed="rId3">
                <a:alphaModFix amt="0"/>
              </a:blip>
              <a:stretch>
                <a:fillRect l="-78303" t="0" r="-78303" b="0"/>
              </a:stretch>
            </a:blipFill>
          </p:spPr>
        </p:sp>
        <p:sp>
          <p:nvSpPr>
            <p:cNvPr name="TextBox 80" id="80"/>
            <p:cNvSpPr txBox="true"/>
            <p:nvPr/>
          </p:nvSpPr>
          <p:spPr>
            <a:xfrm>
              <a:off x="0" y="-38100"/>
              <a:ext cx="877824" cy="915924"/>
            </a:xfrm>
            <a:prstGeom prst="rect">
              <a:avLst/>
            </a:prstGeom>
          </p:spPr>
          <p:txBody>
            <a:bodyPr anchor="ctr" rtlCol="false" tIns="0" lIns="0" bIns="0" rIns="0"/>
            <a:lstStyle/>
            <a:p>
              <a:pPr algn="ctr">
                <a:lnSpc>
                  <a:spcPts val="2879"/>
                </a:lnSpc>
              </a:pPr>
              <a:r>
                <a:rPr lang="en-US" sz="2400" b="true">
                  <a:solidFill>
                    <a:srgbClr val="FFFFFF"/>
                  </a:solidFill>
                  <a:latin typeface="Times New Roman"/>
                  <a:ea typeface="Times New Roman"/>
                  <a:cs typeface="Times New Roman"/>
                  <a:sym typeface="Times New Roman"/>
                </a:rPr>
                <a:t>1</a:t>
              </a:r>
            </a:p>
          </p:txBody>
        </p:sp>
      </p:grpSp>
      <p:sp>
        <p:nvSpPr>
          <p:cNvPr name="TextBox 81" id="81"/>
          <p:cNvSpPr txBox="true"/>
          <p:nvPr/>
        </p:nvSpPr>
        <p:spPr>
          <a:xfrm rot="0">
            <a:off x="3694176" y="7962519"/>
            <a:ext cx="2596896" cy="1053465"/>
          </a:xfrm>
          <a:prstGeom prst="rect">
            <a:avLst/>
          </a:prstGeom>
        </p:spPr>
        <p:txBody>
          <a:bodyPr anchor="t" rtlCol="false" tIns="0" lIns="0" bIns="0" rIns="0">
            <a:spAutoFit/>
          </a:bodyPr>
          <a:lstStyle/>
          <a:p>
            <a:pPr algn="l">
              <a:lnSpc>
                <a:spcPts val="2639"/>
              </a:lnSpc>
            </a:pPr>
            <a:r>
              <a:rPr lang="en-US" sz="2199">
                <a:solidFill>
                  <a:srgbClr val="FFFFFF"/>
                </a:solidFill>
                <a:latin typeface="Times New Roman"/>
                <a:ea typeface="Times New Roman"/>
                <a:cs typeface="Times New Roman"/>
                <a:sym typeface="Times New Roman"/>
              </a:rPr>
              <a:t>Server quyết định</a:t>
            </a:r>
          </a:p>
        </p:txBody>
      </p:sp>
      <p:grpSp>
        <p:nvGrpSpPr>
          <p:cNvPr name="Group 82" id="82"/>
          <p:cNvGrpSpPr/>
          <p:nvPr/>
        </p:nvGrpSpPr>
        <p:grpSpPr>
          <a:xfrm rot="0">
            <a:off x="6461255" y="7211063"/>
            <a:ext cx="683771" cy="683771"/>
            <a:chOff x="0" y="0"/>
            <a:chExt cx="911695" cy="911695"/>
          </a:xfrm>
        </p:grpSpPr>
        <p:sp>
          <p:nvSpPr>
            <p:cNvPr name="Freeform 83" id="83"/>
            <p:cNvSpPr/>
            <p:nvPr/>
          </p:nvSpPr>
          <p:spPr>
            <a:xfrm flipH="false" flipV="false" rot="0">
              <a:off x="0" y="0"/>
              <a:ext cx="911733" cy="911733"/>
            </a:xfrm>
            <a:custGeom>
              <a:avLst/>
              <a:gdLst/>
              <a:ahLst/>
              <a:cxnLst/>
              <a:rect r="r" b="b" t="t" l="l"/>
              <a:pathLst>
                <a:path h="911733" w="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name="Group 84" id="84"/>
          <p:cNvGrpSpPr/>
          <p:nvPr/>
        </p:nvGrpSpPr>
        <p:grpSpPr>
          <a:xfrm rot="0">
            <a:off x="6473952" y="7223760"/>
            <a:ext cx="658368" cy="658368"/>
            <a:chOff x="0" y="0"/>
            <a:chExt cx="877824" cy="877824"/>
          </a:xfrm>
        </p:grpSpPr>
        <p:sp>
          <p:nvSpPr>
            <p:cNvPr name="Freeform 85" id="85"/>
            <p:cNvSpPr/>
            <p:nvPr/>
          </p:nvSpPr>
          <p:spPr>
            <a:xfrm flipH="false" flipV="false" rot="0">
              <a:off x="0" y="0"/>
              <a:ext cx="877824" cy="877824"/>
            </a:xfrm>
            <a:custGeom>
              <a:avLst/>
              <a:gdLst/>
              <a:ahLst/>
              <a:cxnLst/>
              <a:rect r="r" b="b" t="t" l="l"/>
              <a:pathLst>
                <a:path h="877824" w="877824">
                  <a:moveTo>
                    <a:pt x="0" y="0"/>
                  </a:moveTo>
                  <a:lnTo>
                    <a:pt x="877824" y="0"/>
                  </a:lnTo>
                  <a:lnTo>
                    <a:pt x="877824" y="877824"/>
                  </a:lnTo>
                  <a:lnTo>
                    <a:pt x="0" y="877824"/>
                  </a:lnTo>
                  <a:close/>
                </a:path>
              </a:pathLst>
            </a:custGeom>
            <a:blipFill>
              <a:blip r:embed="rId3">
                <a:alphaModFix amt="0"/>
              </a:blip>
              <a:stretch>
                <a:fillRect l="-78303" t="0" r="-78303" b="0"/>
              </a:stretch>
            </a:blipFill>
          </p:spPr>
        </p:sp>
        <p:sp>
          <p:nvSpPr>
            <p:cNvPr name="TextBox 86" id="86"/>
            <p:cNvSpPr txBox="true"/>
            <p:nvPr/>
          </p:nvSpPr>
          <p:spPr>
            <a:xfrm>
              <a:off x="0" y="-38100"/>
              <a:ext cx="877824" cy="915924"/>
            </a:xfrm>
            <a:prstGeom prst="rect">
              <a:avLst/>
            </a:prstGeom>
          </p:spPr>
          <p:txBody>
            <a:bodyPr anchor="ctr" rtlCol="false" tIns="0" lIns="0" bIns="0" rIns="0"/>
            <a:lstStyle/>
            <a:p>
              <a:pPr algn="ctr">
                <a:lnSpc>
                  <a:spcPts val="2879"/>
                </a:lnSpc>
              </a:pPr>
              <a:r>
                <a:rPr lang="en-US" sz="2400" b="true">
                  <a:solidFill>
                    <a:srgbClr val="FFFFFF"/>
                  </a:solidFill>
                  <a:latin typeface="Times New Roman"/>
                  <a:ea typeface="Times New Roman"/>
                  <a:cs typeface="Times New Roman"/>
                  <a:sym typeface="Times New Roman"/>
                </a:rPr>
                <a:t>2</a:t>
              </a:r>
            </a:p>
          </p:txBody>
        </p:sp>
      </p:grpSp>
      <p:sp>
        <p:nvSpPr>
          <p:cNvPr name="TextBox 87" id="87"/>
          <p:cNvSpPr txBox="true"/>
          <p:nvPr/>
        </p:nvSpPr>
        <p:spPr>
          <a:xfrm rot="0">
            <a:off x="6473952" y="7962519"/>
            <a:ext cx="2596896" cy="1053465"/>
          </a:xfrm>
          <a:prstGeom prst="rect">
            <a:avLst/>
          </a:prstGeom>
        </p:spPr>
        <p:txBody>
          <a:bodyPr anchor="t" rtlCol="false" tIns="0" lIns="0" bIns="0" rIns="0">
            <a:spAutoFit/>
          </a:bodyPr>
          <a:lstStyle/>
          <a:p>
            <a:pPr algn="l">
              <a:lnSpc>
                <a:spcPts val="2639"/>
              </a:lnSpc>
            </a:pPr>
            <a:r>
              <a:rPr lang="en-US" sz="2199">
                <a:solidFill>
                  <a:srgbClr val="FFFFFF"/>
                </a:solidFill>
                <a:latin typeface="Times New Roman"/>
                <a:ea typeface="Times New Roman"/>
                <a:cs typeface="Times New Roman"/>
                <a:sym typeface="Times New Roman"/>
              </a:rPr>
              <a:t>Bật dự đoán</a:t>
            </a:r>
          </a:p>
        </p:txBody>
      </p:sp>
      <p:grpSp>
        <p:nvGrpSpPr>
          <p:cNvPr name="Group 88" id="88"/>
          <p:cNvGrpSpPr/>
          <p:nvPr/>
        </p:nvGrpSpPr>
        <p:grpSpPr>
          <a:xfrm rot="0">
            <a:off x="9241031" y="7211063"/>
            <a:ext cx="683771" cy="683771"/>
            <a:chOff x="0" y="0"/>
            <a:chExt cx="911695" cy="911695"/>
          </a:xfrm>
        </p:grpSpPr>
        <p:sp>
          <p:nvSpPr>
            <p:cNvPr name="Freeform 89" id="89"/>
            <p:cNvSpPr/>
            <p:nvPr/>
          </p:nvSpPr>
          <p:spPr>
            <a:xfrm flipH="false" flipV="false" rot="0">
              <a:off x="0" y="0"/>
              <a:ext cx="911733" cy="911733"/>
            </a:xfrm>
            <a:custGeom>
              <a:avLst/>
              <a:gdLst/>
              <a:ahLst/>
              <a:cxnLst/>
              <a:rect r="r" b="b" t="t" l="l"/>
              <a:pathLst>
                <a:path h="911733" w="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name="Group 90" id="90"/>
          <p:cNvGrpSpPr/>
          <p:nvPr/>
        </p:nvGrpSpPr>
        <p:grpSpPr>
          <a:xfrm rot="0">
            <a:off x="9253728" y="7223760"/>
            <a:ext cx="658368" cy="658368"/>
            <a:chOff x="0" y="0"/>
            <a:chExt cx="877824" cy="877824"/>
          </a:xfrm>
        </p:grpSpPr>
        <p:sp>
          <p:nvSpPr>
            <p:cNvPr name="Freeform 91" id="91"/>
            <p:cNvSpPr/>
            <p:nvPr/>
          </p:nvSpPr>
          <p:spPr>
            <a:xfrm flipH="false" flipV="false" rot="0">
              <a:off x="0" y="0"/>
              <a:ext cx="877824" cy="877824"/>
            </a:xfrm>
            <a:custGeom>
              <a:avLst/>
              <a:gdLst/>
              <a:ahLst/>
              <a:cxnLst/>
              <a:rect r="r" b="b" t="t" l="l"/>
              <a:pathLst>
                <a:path h="877824" w="877824">
                  <a:moveTo>
                    <a:pt x="0" y="0"/>
                  </a:moveTo>
                  <a:lnTo>
                    <a:pt x="877824" y="0"/>
                  </a:lnTo>
                  <a:lnTo>
                    <a:pt x="877824" y="877824"/>
                  </a:lnTo>
                  <a:lnTo>
                    <a:pt x="0" y="877824"/>
                  </a:lnTo>
                  <a:close/>
                </a:path>
              </a:pathLst>
            </a:custGeom>
            <a:blipFill>
              <a:blip r:embed="rId3">
                <a:alphaModFix amt="0"/>
              </a:blip>
              <a:stretch>
                <a:fillRect l="-78303" t="0" r="-78303" b="0"/>
              </a:stretch>
            </a:blipFill>
          </p:spPr>
        </p:sp>
        <p:sp>
          <p:nvSpPr>
            <p:cNvPr name="TextBox 92" id="92"/>
            <p:cNvSpPr txBox="true"/>
            <p:nvPr/>
          </p:nvSpPr>
          <p:spPr>
            <a:xfrm>
              <a:off x="0" y="-38100"/>
              <a:ext cx="877824" cy="915924"/>
            </a:xfrm>
            <a:prstGeom prst="rect">
              <a:avLst/>
            </a:prstGeom>
          </p:spPr>
          <p:txBody>
            <a:bodyPr anchor="ctr" rtlCol="false" tIns="0" lIns="0" bIns="0" rIns="0"/>
            <a:lstStyle/>
            <a:p>
              <a:pPr algn="ctr">
                <a:lnSpc>
                  <a:spcPts val="2879"/>
                </a:lnSpc>
              </a:pPr>
              <a:r>
                <a:rPr lang="en-US" sz="2400" b="true">
                  <a:solidFill>
                    <a:srgbClr val="FFFFFF"/>
                  </a:solidFill>
                  <a:latin typeface="Times New Roman"/>
                  <a:ea typeface="Times New Roman"/>
                  <a:cs typeface="Times New Roman"/>
                  <a:sym typeface="Times New Roman"/>
                </a:rPr>
                <a:t>3</a:t>
              </a:r>
            </a:p>
          </p:txBody>
        </p:sp>
      </p:grpSp>
      <p:sp>
        <p:nvSpPr>
          <p:cNvPr name="TextBox 93" id="93"/>
          <p:cNvSpPr txBox="true"/>
          <p:nvPr/>
        </p:nvSpPr>
        <p:spPr>
          <a:xfrm rot="0">
            <a:off x="9253728" y="7962519"/>
            <a:ext cx="2596896" cy="1053465"/>
          </a:xfrm>
          <a:prstGeom prst="rect">
            <a:avLst/>
          </a:prstGeom>
        </p:spPr>
        <p:txBody>
          <a:bodyPr anchor="t" rtlCol="false" tIns="0" lIns="0" bIns="0" rIns="0">
            <a:spAutoFit/>
          </a:bodyPr>
          <a:lstStyle/>
          <a:p>
            <a:pPr algn="l">
              <a:lnSpc>
                <a:spcPts val="2639"/>
              </a:lnSpc>
            </a:pPr>
            <a:r>
              <a:rPr lang="en-US" sz="2199">
                <a:solidFill>
                  <a:srgbClr val="FFFFFF"/>
                </a:solidFill>
                <a:latin typeface="Times New Roman"/>
                <a:ea typeface="Times New Roman"/>
                <a:cs typeface="Times New Roman"/>
                <a:sym typeface="Times New Roman"/>
              </a:rPr>
              <a:t>Bật đối chiếu</a:t>
            </a:r>
          </a:p>
        </p:txBody>
      </p:sp>
      <p:grpSp>
        <p:nvGrpSpPr>
          <p:cNvPr name="Group 94" id="94"/>
          <p:cNvGrpSpPr/>
          <p:nvPr/>
        </p:nvGrpSpPr>
        <p:grpSpPr>
          <a:xfrm rot="0">
            <a:off x="12020807" y="7211063"/>
            <a:ext cx="683771" cy="683771"/>
            <a:chOff x="0" y="0"/>
            <a:chExt cx="911695" cy="911695"/>
          </a:xfrm>
        </p:grpSpPr>
        <p:sp>
          <p:nvSpPr>
            <p:cNvPr name="Freeform 95" id="95"/>
            <p:cNvSpPr/>
            <p:nvPr/>
          </p:nvSpPr>
          <p:spPr>
            <a:xfrm flipH="false" flipV="false" rot="0">
              <a:off x="0" y="0"/>
              <a:ext cx="911733" cy="911733"/>
            </a:xfrm>
            <a:custGeom>
              <a:avLst/>
              <a:gdLst/>
              <a:ahLst/>
              <a:cxnLst/>
              <a:rect r="r" b="b" t="t" l="l"/>
              <a:pathLst>
                <a:path h="911733" w="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name="Group 96" id="96"/>
          <p:cNvGrpSpPr/>
          <p:nvPr/>
        </p:nvGrpSpPr>
        <p:grpSpPr>
          <a:xfrm rot="0">
            <a:off x="12033504" y="7223760"/>
            <a:ext cx="658368" cy="658368"/>
            <a:chOff x="0" y="0"/>
            <a:chExt cx="877824" cy="877824"/>
          </a:xfrm>
        </p:grpSpPr>
        <p:sp>
          <p:nvSpPr>
            <p:cNvPr name="Freeform 97" id="97"/>
            <p:cNvSpPr/>
            <p:nvPr/>
          </p:nvSpPr>
          <p:spPr>
            <a:xfrm flipH="false" flipV="false" rot="0">
              <a:off x="0" y="0"/>
              <a:ext cx="877824" cy="877824"/>
            </a:xfrm>
            <a:custGeom>
              <a:avLst/>
              <a:gdLst/>
              <a:ahLst/>
              <a:cxnLst/>
              <a:rect r="r" b="b" t="t" l="l"/>
              <a:pathLst>
                <a:path h="877824" w="877824">
                  <a:moveTo>
                    <a:pt x="0" y="0"/>
                  </a:moveTo>
                  <a:lnTo>
                    <a:pt x="877824" y="0"/>
                  </a:lnTo>
                  <a:lnTo>
                    <a:pt x="877824" y="877824"/>
                  </a:lnTo>
                  <a:lnTo>
                    <a:pt x="0" y="877824"/>
                  </a:lnTo>
                  <a:close/>
                </a:path>
              </a:pathLst>
            </a:custGeom>
            <a:blipFill>
              <a:blip r:embed="rId3">
                <a:alphaModFix amt="0"/>
              </a:blip>
              <a:stretch>
                <a:fillRect l="-78303" t="0" r="-78303" b="0"/>
              </a:stretch>
            </a:blipFill>
          </p:spPr>
        </p:sp>
        <p:sp>
          <p:nvSpPr>
            <p:cNvPr name="TextBox 98" id="98"/>
            <p:cNvSpPr txBox="true"/>
            <p:nvPr/>
          </p:nvSpPr>
          <p:spPr>
            <a:xfrm>
              <a:off x="0" y="-38100"/>
              <a:ext cx="877824" cy="915924"/>
            </a:xfrm>
            <a:prstGeom prst="rect">
              <a:avLst/>
            </a:prstGeom>
          </p:spPr>
          <p:txBody>
            <a:bodyPr anchor="ctr" rtlCol="false" tIns="0" lIns="0" bIns="0" rIns="0"/>
            <a:lstStyle/>
            <a:p>
              <a:pPr algn="ctr">
                <a:lnSpc>
                  <a:spcPts val="2879"/>
                </a:lnSpc>
              </a:pPr>
              <a:r>
                <a:rPr lang="en-US" sz="2400" b="true">
                  <a:solidFill>
                    <a:srgbClr val="FFFFFF"/>
                  </a:solidFill>
                  <a:latin typeface="Times New Roman"/>
                  <a:ea typeface="Times New Roman"/>
                  <a:cs typeface="Times New Roman"/>
                  <a:sym typeface="Times New Roman"/>
                </a:rPr>
                <a:t>4</a:t>
              </a:r>
            </a:p>
          </p:txBody>
        </p:sp>
      </p:grpSp>
      <p:sp>
        <p:nvSpPr>
          <p:cNvPr name="TextBox 99" id="99"/>
          <p:cNvSpPr txBox="true"/>
          <p:nvPr/>
        </p:nvSpPr>
        <p:spPr>
          <a:xfrm rot="0">
            <a:off x="12033504" y="7962519"/>
            <a:ext cx="2596896" cy="1053465"/>
          </a:xfrm>
          <a:prstGeom prst="rect">
            <a:avLst/>
          </a:prstGeom>
        </p:spPr>
        <p:txBody>
          <a:bodyPr anchor="t" rtlCol="false" tIns="0" lIns="0" bIns="0" rIns="0">
            <a:spAutoFit/>
          </a:bodyPr>
          <a:lstStyle/>
          <a:p>
            <a:pPr algn="l">
              <a:lnSpc>
                <a:spcPts val="2639"/>
              </a:lnSpc>
            </a:pPr>
            <a:r>
              <a:rPr lang="en-US" sz="2199">
                <a:solidFill>
                  <a:srgbClr val="FFFFFF"/>
                </a:solidFill>
                <a:latin typeface="Times New Roman"/>
                <a:ea typeface="Times New Roman"/>
                <a:cs typeface="Times New Roman"/>
                <a:sym typeface="Times New Roman"/>
              </a:rPr>
              <a:t>Ảnh thưa, chưa nội suy</a:t>
            </a:r>
          </a:p>
        </p:txBody>
      </p:sp>
      <p:grpSp>
        <p:nvGrpSpPr>
          <p:cNvPr name="Group 100" id="100"/>
          <p:cNvGrpSpPr/>
          <p:nvPr/>
        </p:nvGrpSpPr>
        <p:grpSpPr>
          <a:xfrm rot="0">
            <a:off x="14800583" y="7211063"/>
            <a:ext cx="683771" cy="683771"/>
            <a:chOff x="0" y="0"/>
            <a:chExt cx="911695" cy="911695"/>
          </a:xfrm>
        </p:grpSpPr>
        <p:sp>
          <p:nvSpPr>
            <p:cNvPr name="Freeform 101" id="101"/>
            <p:cNvSpPr/>
            <p:nvPr/>
          </p:nvSpPr>
          <p:spPr>
            <a:xfrm flipH="false" flipV="false" rot="0">
              <a:off x="0" y="0"/>
              <a:ext cx="911733" cy="911733"/>
            </a:xfrm>
            <a:custGeom>
              <a:avLst/>
              <a:gdLst/>
              <a:ahLst/>
              <a:cxnLst/>
              <a:rect r="r" b="b" t="t" l="l"/>
              <a:pathLst>
                <a:path h="911733" w="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name="Group 102" id="102"/>
          <p:cNvGrpSpPr/>
          <p:nvPr/>
        </p:nvGrpSpPr>
        <p:grpSpPr>
          <a:xfrm rot="0">
            <a:off x="14813280" y="7223760"/>
            <a:ext cx="658368" cy="658368"/>
            <a:chOff x="0" y="0"/>
            <a:chExt cx="877824" cy="877824"/>
          </a:xfrm>
        </p:grpSpPr>
        <p:sp>
          <p:nvSpPr>
            <p:cNvPr name="Freeform 103" id="103"/>
            <p:cNvSpPr/>
            <p:nvPr/>
          </p:nvSpPr>
          <p:spPr>
            <a:xfrm flipH="false" flipV="false" rot="0">
              <a:off x="0" y="0"/>
              <a:ext cx="877824" cy="877824"/>
            </a:xfrm>
            <a:custGeom>
              <a:avLst/>
              <a:gdLst/>
              <a:ahLst/>
              <a:cxnLst/>
              <a:rect r="r" b="b" t="t" l="l"/>
              <a:pathLst>
                <a:path h="877824" w="877824">
                  <a:moveTo>
                    <a:pt x="0" y="0"/>
                  </a:moveTo>
                  <a:lnTo>
                    <a:pt x="877824" y="0"/>
                  </a:lnTo>
                  <a:lnTo>
                    <a:pt x="877824" y="877824"/>
                  </a:lnTo>
                  <a:lnTo>
                    <a:pt x="0" y="877824"/>
                  </a:lnTo>
                  <a:close/>
                </a:path>
              </a:pathLst>
            </a:custGeom>
            <a:blipFill>
              <a:blip r:embed="rId3">
                <a:alphaModFix amt="0"/>
              </a:blip>
              <a:stretch>
                <a:fillRect l="-78303" t="0" r="-78303" b="0"/>
              </a:stretch>
            </a:blipFill>
          </p:spPr>
        </p:sp>
        <p:sp>
          <p:nvSpPr>
            <p:cNvPr name="TextBox 104" id="104"/>
            <p:cNvSpPr txBox="true"/>
            <p:nvPr/>
          </p:nvSpPr>
          <p:spPr>
            <a:xfrm>
              <a:off x="0" y="-38100"/>
              <a:ext cx="877824" cy="915924"/>
            </a:xfrm>
            <a:prstGeom prst="rect">
              <a:avLst/>
            </a:prstGeom>
          </p:spPr>
          <p:txBody>
            <a:bodyPr anchor="ctr" rtlCol="false" tIns="0" lIns="0" bIns="0" rIns="0"/>
            <a:lstStyle/>
            <a:p>
              <a:pPr algn="ctr">
                <a:lnSpc>
                  <a:spcPts val="2879"/>
                </a:lnSpc>
              </a:pPr>
              <a:r>
                <a:rPr lang="en-US" sz="2400" b="true">
                  <a:solidFill>
                    <a:srgbClr val="FFFFFF"/>
                  </a:solidFill>
                  <a:latin typeface="Times New Roman"/>
                  <a:ea typeface="Times New Roman"/>
                  <a:cs typeface="Times New Roman"/>
                  <a:sym typeface="Times New Roman"/>
                </a:rPr>
                <a:t>5</a:t>
              </a:r>
            </a:p>
          </p:txBody>
        </p:sp>
      </p:grpSp>
      <p:sp>
        <p:nvSpPr>
          <p:cNvPr name="TextBox 105" id="105"/>
          <p:cNvSpPr txBox="true"/>
          <p:nvPr/>
        </p:nvSpPr>
        <p:spPr>
          <a:xfrm rot="0">
            <a:off x="14813280" y="7962519"/>
            <a:ext cx="2596896" cy="1053465"/>
          </a:xfrm>
          <a:prstGeom prst="rect">
            <a:avLst/>
          </a:prstGeom>
        </p:spPr>
        <p:txBody>
          <a:bodyPr anchor="t" rtlCol="false" tIns="0" lIns="0" bIns="0" rIns="0">
            <a:spAutoFit/>
          </a:bodyPr>
          <a:lstStyle/>
          <a:p>
            <a:pPr algn="l">
              <a:lnSpc>
                <a:spcPts val="2639"/>
              </a:lnSpc>
            </a:pPr>
            <a:r>
              <a:rPr lang="en-US" sz="2199">
                <a:solidFill>
                  <a:srgbClr val="FFFFFF"/>
                </a:solidFill>
                <a:latin typeface="Times New Roman"/>
                <a:ea typeface="Times New Roman"/>
                <a:cs typeface="Times New Roman"/>
                <a:sym typeface="Times New Roman"/>
              </a:rPr>
              <a:t>Bật nội suy</a:t>
            </a:r>
          </a:p>
        </p:txBody>
      </p:sp>
      <p:sp>
        <p:nvSpPr>
          <p:cNvPr name="TextBox 106" id="106"/>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BFE8E3"/>
                </a:solidFill>
                <a:latin typeface="Times New Roman"/>
                <a:ea typeface="Times New Roman"/>
                <a:cs typeface="Times New Roman"/>
                <a:sym typeface="Times New Roman"/>
              </a:rPr>
              <a:t>17</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0B1626"/>
        </a:solidFill>
      </p:bgPr>
    </p:bg>
    <p:spTree>
      <p:nvGrpSpPr>
        <p:cNvPr id="1" name=""/>
        <p:cNvGrpSpPr/>
        <p:nvPr/>
      </p:nvGrpSpPr>
      <p:grpSpPr>
        <a:xfrm>
          <a:off x="0" y="0"/>
          <a:ext cx="0" cy="0"/>
          <a:chOff x="0" y="0"/>
          <a:chExt cx="0" cy="0"/>
        </a:xfrm>
      </p:grpSpPr>
      <p:sp>
        <p:nvSpPr>
          <p:cNvPr name="TextBox 2" id="2"/>
          <p:cNvSpPr txBox="true"/>
          <p:nvPr/>
        </p:nvSpPr>
        <p:spPr>
          <a:xfrm rot="0">
            <a:off x="1097280" y="2377440"/>
            <a:ext cx="10607040" cy="1234440"/>
          </a:xfrm>
          <a:prstGeom prst="rect">
            <a:avLst/>
          </a:prstGeom>
        </p:spPr>
        <p:txBody>
          <a:bodyPr anchor="t" rtlCol="false" tIns="0" lIns="0" bIns="0" rIns="0">
            <a:spAutoFit/>
          </a:bodyPr>
          <a:lstStyle/>
          <a:p>
            <a:pPr algn="l">
              <a:lnSpc>
                <a:spcPct val="90000"/>
              </a:lnSpc>
            </a:pPr>
            <a:r>
              <a:rPr lang="vi-VN" sz="9600" b="true" spc="200">
                <a:solidFill>
                  <a:srgbClr val="BFE8E3"/>
                </a:solidFill>
                <a:latin typeface="Times New Roman"/>
                <a:ea typeface="Times New Roman"/>
                <a:cs typeface="Times New Roman"/>
                <a:sym typeface="Times New Roman"/>
              </a:rPr>
              <a:t>PHẦN </a:t>
            </a:r>
            <a:r>
              <a:rPr lang="vi-VN" sz="9600" b="true" spc="200">
                <a:solidFill>
                  <a:srgbClr val="00897B"/>
                </a:solidFill>
                <a:latin typeface="Times New Roman"/>
                <a:ea typeface="Times New Roman"/>
                <a:cs typeface="Times New Roman"/>
                <a:sym typeface="Times New Roman"/>
              </a:rPr>
              <a:t>4</a:t>
            </a:r>
          </a:p>
        </p:txBody>
      </p:sp>
      <p:sp>
        <p:nvSpPr>
          <p:cNvPr name="TextBox 3" id="3"/>
          <p:cNvSpPr txBox="true"/>
          <p:nvPr/>
        </p:nvSpPr>
        <p:spPr>
          <a:xfrm rot="0">
            <a:off x="1097280" y="4160520"/>
            <a:ext cx="10607040" cy="2661285"/>
          </a:xfrm>
          <a:prstGeom prst="rect">
            <a:avLst/>
          </a:prstGeom>
        </p:spPr>
        <p:txBody>
          <a:bodyPr anchor="t" rtlCol="false" tIns="0" lIns="0" bIns="0" rIns="0">
            <a:spAutoFit/>
          </a:bodyPr>
          <a:lstStyle/>
          <a:p>
            <a:pPr algn="l">
              <a:lnSpc>
                <a:spcPts val="5760"/>
              </a:lnSpc>
            </a:pPr>
            <a:r>
              <a:rPr lang="en-US" sz="4800" b="true">
                <a:solidFill>
                  <a:srgbClr val="FFFFFF"/>
                </a:solidFill>
                <a:latin typeface="Times New Roman"/>
                <a:ea typeface="Times New Roman"/>
                <a:cs typeface="Times New Roman"/>
                <a:sym typeface="Times New Roman"/>
              </a:rPr>
              <a:t>Cảm ơn thầy và các bạn</a:t>
            </a:r>
          </a:p>
        </p:txBody>
      </p:sp>
      <p:sp>
        <p:nvSpPr>
          <p:cNvPr name="TextBox 4" id="4"/>
          <p:cNvSpPr txBox="true"/>
          <p:nvPr/>
        </p:nvSpPr>
        <p:spPr>
          <a:xfrm rot="0">
            <a:off x="1097280" y="5212080"/>
            <a:ext cx="10607040" cy="1000125"/>
          </a:xfrm>
          <a:prstGeom prst="rect">
            <a:avLst/>
          </a:prstGeom>
        </p:spPr>
        <p:txBody>
          <a:bodyPr anchor="t" rtlCol="false" tIns="0" lIns="0" bIns="0" rIns="0">
            <a:spAutoFit/>
          </a:bodyPr>
          <a:lstStyle/>
          <a:p>
            <a:pPr algn="l">
              <a:lnSpc>
                <a:spcPts val="3840"/>
              </a:lnSpc>
            </a:pPr>
            <a:r>
              <a:rPr lang="en-US" sz="3200" b="true">
                <a:solidFill>
                  <a:srgbClr val="BFE8E3"/>
                </a:solidFill>
                <a:latin typeface="Times New Roman"/>
                <a:ea typeface="Times New Roman"/>
                <a:cs typeface="Times New Roman"/>
                <a:sym typeface="Times New Roman"/>
              </a:rPr>
              <a:t>Nhóm T47 sẵn sàng trả lời câu hỏi</a:t>
            </a:r>
          </a:p>
        </p:txBody>
      </p:sp>
      <p:sp>
        <p:nvSpPr>
          <p:cNvPr name="TextBox 5" id="5"/>
          <p:cNvSpPr txBox="true"/>
          <p:nvPr/>
        </p:nvSpPr>
        <p:spPr>
          <a:xfrm rot="0">
            <a:off x="1097280" y="5989320"/>
            <a:ext cx="10607040" cy="2251710"/>
          </a:xfrm>
          <a:prstGeom prst="rect">
            <a:avLst/>
          </a:prstGeom>
        </p:spPr>
        <p:txBody>
          <a:bodyPr anchor="t" rtlCol="false" tIns="0" lIns="0" bIns="0" rIns="0">
            <a:spAutoFit/>
          </a:bodyPr>
          <a:lstStyle/>
          <a:p>
            <a:pPr algn="l">
              <a:lnSpc>
                <a:spcPts val="2880"/>
              </a:lnSpc>
            </a:pPr>
            <a:r>
              <a:rPr lang="en-US" sz="2400">
                <a:solidFill>
                  <a:srgbClr val="FFFFFF"/>
                </a:solidFill>
                <a:latin typeface="Times New Roman"/>
                <a:ea typeface="Times New Roman"/>
                <a:cs typeface="Times New Roman"/>
                <a:sym typeface="Times New Roman"/>
              </a:rPr>
              <a:t>Mỗi người trả lời các câu thuộc vấn đề con của mình</a:t>
            </a:r>
          </a:p>
        </p:txBody>
      </p:sp>
      <p:sp>
        <p:nvSpPr>
          <p:cNvPr name="AutoShape 6" id="6"/>
          <p:cNvSpPr/>
          <p:nvPr/>
        </p:nvSpPr>
        <p:spPr>
          <a:xfrm rot="-3820860">
            <a:off x="11596345" y="4882515"/>
            <a:ext cx="4239301" cy="0"/>
          </a:xfrm>
          <a:prstGeom prst="line">
            <a:avLst/>
          </a:prstGeom>
          <a:ln cap="rnd" w="19050">
            <a:solidFill>
              <a:srgbClr val="BFE8E3"/>
            </a:solidFill>
            <a:prstDash val="solid"/>
            <a:headEnd type="none" len="sm" w="sm"/>
            <a:tailEnd type="none" len="sm" w="sm"/>
          </a:ln>
        </p:spPr>
      </p:sp>
      <p:sp>
        <p:nvSpPr>
          <p:cNvPr name="AutoShape 7" id="7"/>
          <p:cNvSpPr/>
          <p:nvPr/>
        </p:nvSpPr>
        <p:spPr>
          <a:xfrm rot="3820860">
            <a:off x="13425145" y="4882515"/>
            <a:ext cx="4239301" cy="0"/>
          </a:xfrm>
          <a:prstGeom prst="line">
            <a:avLst/>
          </a:prstGeom>
          <a:ln cap="rnd" w="19050">
            <a:solidFill>
              <a:srgbClr val="BFE8E3"/>
            </a:solidFill>
            <a:prstDash val="solid"/>
            <a:headEnd type="none" len="sm" w="sm"/>
            <a:tailEnd type="none" len="sm" w="sm"/>
          </a:ln>
        </p:spPr>
      </p:sp>
      <p:grpSp>
        <p:nvGrpSpPr>
          <p:cNvPr name="Group 8" id="8"/>
          <p:cNvGrpSpPr/>
          <p:nvPr/>
        </p:nvGrpSpPr>
        <p:grpSpPr>
          <a:xfrm rot="0">
            <a:off x="13282679" y="5295395"/>
            <a:ext cx="318011" cy="318011"/>
            <a:chOff x="0" y="0"/>
            <a:chExt cx="424015" cy="424015"/>
          </a:xfrm>
        </p:grpSpPr>
        <p:sp>
          <p:nvSpPr>
            <p:cNvPr name="Freeform 9" id="9"/>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name="Group 10" id="10"/>
          <p:cNvGrpSpPr/>
          <p:nvPr/>
        </p:nvGrpSpPr>
        <p:grpSpPr>
          <a:xfrm rot="0">
            <a:off x="13831319" y="4170683"/>
            <a:ext cx="318011" cy="318011"/>
            <a:chOff x="0" y="0"/>
            <a:chExt cx="424015" cy="424015"/>
          </a:xfrm>
        </p:grpSpPr>
        <p:sp>
          <p:nvSpPr>
            <p:cNvPr name="Freeform 11" id="11"/>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name="Group 12" id="12"/>
          <p:cNvGrpSpPr/>
          <p:nvPr/>
        </p:nvGrpSpPr>
        <p:grpSpPr>
          <a:xfrm rot="0">
            <a:off x="15568679" y="5107943"/>
            <a:ext cx="318011" cy="318011"/>
            <a:chOff x="0" y="0"/>
            <a:chExt cx="424015" cy="424015"/>
          </a:xfrm>
        </p:grpSpPr>
        <p:sp>
          <p:nvSpPr>
            <p:cNvPr name="Freeform 13" id="13"/>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name="Group 14" id="14"/>
          <p:cNvGrpSpPr/>
          <p:nvPr/>
        </p:nvGrpSpPr>
        <p:grpSpPr>
          <a:xfrm rot="0">
            <a:off x="15020039" y="3983231"/>
            <a:ext cx="318011" cy="318011"/>
            <a:chOff x="0" y="0"/>
            <a:chExt cx="424015" cy="424015"/>
          </a:xfrm>
        </p:grpSpPr>
        <p:sp>
          <p:nvSpPr>
            <p:cNvPr name="Freeform 15" id="15"/>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name="Group 16" id="16"/>
          <p:cNvGrpSpPr/>
          <p:nvPr/>
        </p:nvGrpSpPr>
        <p:grpSpPr>
          <a:xfrm rot="0">
            <a:off x="13690597" y="2077717"/>
            <a:ext cx="1879597" cy="1879597"/>
            <a:chOff x="0" y="0"/>
            <a:chExt cx="2506129" cy="2506129"/>
          </a:xfrm>
        </p:grpSpPr>
        <p:sp>
          <p:nvSpPr>
            <p:cNvPr name="Freeform 17" id="17"/>
            <p:cNvSpPr/>
            <p:nvPr/>
          </p:nvSpPr>
          <p:spPr>
            <a:xfrm flipH="false" flipV="false" rot="0">
              <a:off x="0" y="0"/>
              <a:ext cx="2506218" cy="2506218"/>
            </a:xfrm>
            <a:custGeom>
              <a:avLst/>
              <a:gdLst/>
              <a:ahLst/>
              <a:cxnLst/>
              <a:rect r="r" b="b" t="t" l="l"/>
              <a:pathLst>
                <a:path h="2506218" w="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name="Group 18" id="18"/>
          <p:cNvGrpSpPr/>
          <p:nvPr/>
        </p:nvGrpSpPr>
        <p:grpSpPr>
          <a:xfrm rot="0">
            <a:off x="13716000" y="2103120"/>
            <a:ext cx="1828800" cy="1828800"/>
            <a:chOff x="0" y="0"/>
            <a:chExt cx="2438400" cy="2438400"/>
          </a:xfrm>
        </p:grpSpPr>
        <p:sp>
          <p:nvSpPr>
            <p:cNvPr name="Freeform 19" id="19"/>
            <p:cNvSpPr/>
            <p:nvPr/>
          </p:nvSpPr>
          <p:spPr>
            <a:xfrm flipH="false" flipV="false" rot="0">
              <a:off x="0" y="0"/>
              <a:ext cx="2438400" cy="2438400"/>
            </a:xfrm>
            <a:custGeom>
              <a:avLst/>
              <a:gdLst/>
              <a:ahLst/>
              <a:cxnLst/>
              <a:rect r="r" b="b" t="t" l="l"/>
              <a:pathLst>
                <a:path h="2438400" w="2438400">
                  <a:moveTo>
                    <a:pt x="0" y="0"/>
                  </a:moveTo>
                  <a:lnTo>
                    <a:pt x="2438400" y="0"/>
                  </a:lnTo>
                  <a:lnTo>
                    <a:pt x="2438400" y="2438400"/>
                  </a:lnTo>
                  <a:lnTo>
                    <a:pt x="0" y="2438400"/>
                  </a:lnTo>
                  <a:close/>
                </a:path>
              </a:pathLst>
            </a:custGeom>
            <a:blipFill>
              <a:blip r:embed="rId3">
                <a:alphaModFix amt="0"/>
              </a:blip>
              <a:stretch>
                <a:fillRect l="-78303" t="0" r="-78303" b="0"/>
              </a:stretch>
            </a:blipFill>
          </p:spPr>
        </p:sp>
        <p:sp>
          <p:nvSpPr>
            <p:cNvPr name="TextBox 20" id="20"/>
            <p:cNvSpPr txBox="true"/>
            <p:nvPr/>
          </p:nvSpPr>
          <p:spPr>
            <a:xfrm>
              <a:off x="0" y="-57150"/>
              <a:ext cx="2438400" cy="2495550"/>
            </a:xfrm>
            <a:prstGeom prst="rect">
              <a:avLst/>
            </a:prstGeom>
          </p:spPr>
          <p:txBody>
            <a:bodyPr anchor="ctr" rtlCol="false" tIns="0" lIns="0" bIns="0" rIns="0"/>
            <a:lstStyle/>
            <a:p>
              <a:pPr algn="ctr">
                <a:lnSpc>
                  <a:spcPts val="3120"/>
                </a:lnSpc>
              </a:pPr>
              <a:r>
                <a:rPr lang="en-US" sz="2600" b="true">
                  <a:solidFill>
                    <a:srgbClr val="FFFFFF"/>
                  </a:solidFill>
                  <a:latin typeface="Times New Roman"/>
                  <a:ea typeface="Times New Roman"/>
                  <a:cs typeface="Times New Roman"/>
                  <a:sym typeface="Times New Roman"/>
                </a:rPr>
                <a:t>Server</a:t>
              </a:r>
            </a:p>
          </p:txBody>
        </p:sp>
      </p:grpSp>
      <p:grpSp>
        <p:nvGrpSpPr>
          <p:cNvPr name="Group 21" id="21"/>
          <p:cNvGrpSpPr/>
          <p:nvPr/>
        </p:nvGrpSpPr>
        <p:grpSpPr>
          <a:xfrm rot="0">
            <a:off x="11953237" y="5918197"/>
            <a:ext cx="1696717" cy="1696717"/>
            <a:chOff x="0" y="0"/>
            <a:chExt cx="2262289" cy="2262289"/>
          </a:xfrm>
        </p:grpSpPr>
        <p:sp>
          <p:nvSpPr>
            <p:cNvPr name="Freeform 22" id="22"/>
            <p:cNvSpPr/>
            <p:nvPr/>
          </p:nvSpPr>
          <p:spPr>
            <a:xfrm flipH="false" flipV="false" rot="0">
              <a:off x="0" y="0"/>
              <a:ext cx="2262378" cy="2262378"/>
            </a:xfrm>
            <a:custGeom>
              <a:avLst/>
              <a:gdLst/>
              <a:ahLst/>
              <a:cxnLst/>
              <a:rect r="r" b="b" t="t" l="l"/>
              <a:pathLst>
                <a:path h="2262378" w="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name="Group 23" id="23"/>
          <p:cNvGrpSpPr/>
          <p:nvPr/>
        </p:nvGrpSpPr>
        <p:grpSpPr>
          <a:xfrm rot="0">
            <a:off x="11978640" y="5943600"/>
            <a:ext cx="1645920" cy="1645920"/>
            <a:chOff x="0" y="0"/>
            <a:chExt cx="2194560" cy="2194560"/>
          </a:xfrm>
        </p:grpSpPr>
        <p:sp>
          <p:nvSpPr>
            <p:cNvPr name="Freeform 24" id="24"/>
            <p:cNvSpPr/>
            <p:nvPr/>
          </p:nvSpPr>
          <p:spPr>
            <a:xfrm flipH="false" flipV="false" rot="0">
              <a:off x="0" y="0"/>
              <a:ext cx="2194560" cy="2194560"/>
            </a:xfrm>
            <a:custGeom>
              <a:avLst/>
              <a:gdLst/>
              <a:ahLst/>
              <a:cxnLst/>
              <a:rect r="r" b="b" t="t" l="l"/>
              <a:pathLst>
                <a:path h="2194560" w="2194560">
                  <a:moveTo>
                    <a:pt x="0" y="0"/>
                  </a:moveTo>
                  <a:lnTo>
                    <a:pt x="2194560" y="0"/>
                  </a:lnTo>
                  <a:lnTo>
                    <a:pt x="2194560" y="2194560"/>
                  </a:lnTo>
                  <a:lnTo>
                    <a:pt x="0" y="2194560"/>
                  </a:lnTo>
                  <a:close/>
                </a:path>
              </a:pathLst>
            </a:custGeom>
            <a:blipFill>
              <a:blip r:embed="rId3">
                <a:alphaModFix amt="0"/>
              </a:blip>
              <a:stretch>
                <a:fillRect l="-78303" t="0" r="-78303" b="0"/>
              </a:stretch>
            </a:blipFill>
          </p:spPr>
        </p:sp>
        <p:sp>
          <p:nvSpPr>
            <p:cNvPr name="TextBox 25" id="25"/>
            <p:cNvSpPr txBox="true"/>
            <p:nvPr/>
          </p:nvSpPr>
          <p:spPr>
            <a:xfrm>
              <a:off x="0" y="-47625"/>
              <a:ext cx="2194560" cy="2242185"/>
            </a:xfrm>
            <a:prstGeom prst="rect">
              <a:avLst/>
            </a:prstGeom>
          </p:spPr>
          <p:txBody>
            <a:bodyPr anchor="ctr" rtlCol="false" tIns="0" lIns="0" bIns="0" rIns="0"/>
            <a:lstStyle/>
            <a:p>
              <a:pPr algn="ctr">
                <a:lnSpc>
                  <a:spcPts val="2639"/>
                </a:lnSpc>
              </a:pPr>
              <a:r>
                <a:rPr lang="en-US" sz="2199" b="true">
                  <a:solidFill>
                    <a:srgbClr val="BFE8E3"/>
                  </a:solidFill>
                  <a:latin typeface="Times New Roman"/>
                  <a:ea typeface="Times New Roman"/>
                  <a:cs typeface="Times New Roman"/>
                  <a:sym typeface="Times New Roman"/>
                </a:rPr>
                <a:t>Client</a:t>
              </a:r>
            </a:p>
            <a:p>
              <a:pPr algn="ctr">
                <a:lnSpc>
                  <a:spcPts val="2639"/>
                </a:lnSpc>
              </a:pPr>
              <a:r>
                <a:rPr lang="en-US" sz="2199" b="true">
                  <a:solidFill>
                    <a:srgbClr val="BFE8E3"/>
                  </a:solidFill>
                  <a:latin typeface="Times New Roman"/>
                  <a:ea typeface="Times New Roman"/>
                  <a:cs typeface="Times New Roman"/>
                  <a:sym typeface="Times New Roman"/>
                </a:rPr>
                <a:t>A</a:t>
              </a:r>
            </a:p>
          </p:txBody>
        </p:sp>
      </p:grpSp>
      <p:grpSp>
        <p:nvGrpSpPr>
          <p:cNvPr name="Group 26" id="26"/>
          <p:cNvGrpSpPr/>
          <p:nvPr/>
        </p:nvGrpSpPr>
        <p:grpSpPr>
          <a:xfrm rot="0">
            <a:off x="15610837" y="5918197"/>
            <a:ext cx="1696717" cy="1696717"/>
            <a:chOff x="0" y="0"/>
            <a:chExt cx="2262289" cy="2262289"/>
          </a:xfrm>
        </p:grpSpPr>
        <p:sp>
          <p:nvSpPr>
            <p:cNvPr name="Freeform 27" id="27"/>
            <p:cNvSpPr/>
            <p:nvPr/>
          </p:nvSpPr>
          <p:spPr>
            <a:xfrm flipH="false" flipV="false" rot="0">
              <a:off x="0" y="0"/>
              <a:ext cx="2262378" cy="2262378"/>
            </a:xfrm>
            <a:custGeom>
              <a:avLst/>
              <a:gdLst/>
              <a:ahLst/>
              <a:cxnLst/>
              <a:rect r="r" b="b" t="t" l="l"/>
              <a:pathLst>
                <a:path h="2262378" w="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name="Group 28" id="28"/>
          <p:cNvGrpSpPr/>
          <p:nvPr/>
        </p:nvGrpSpPr>
        <p:grpSpPr>
          <a:xfrm rot="0">
            <a:off x="15636240" y="5943600"/>
            <a:ext cx="1645920" cy="1645920"/>
            <a:chOff x="0" y="0"/>
            <a:chExt cx="2194560" cy="2194560"/>
          </a:xfrm>
        </p:grpSpPr>
        <p:sp>
          <p:nvSpPr>
            <p:cNvPr name="Freeform 29" id="29"/>
            <p:cNvSpPr/>
            <p:nvPr/>
          </p:nvSpPr>
          <p:spPr>
            <a:xfrm flipH="false" flipV="false" rot="0">
              <a:off x="0" y="0"/>
              <a:ext cx="2194560" cy="2194560"/>
            </a:xfrm>
            <a:custGeom>
              <a:avLst/>
              <a:gdLst/>
              <a:ahLst/>
              <a:cxnLst/>
              <a:rect r="r" b="b" t="t" l="l"/>
              <a:pathLst>
                <a:path h="2194560" w="2194560">
                  <a:moveTo>
                    <a:pt x="0" y="0"/>
                  </a:moveTo>
                  <a:lnTo>
                    <a:pt x="2194560" y="0"/>
                  </a:lnTo>
                  <a:lnTo>
                    <a:pt x="2194560" y="2194560"/>
                  </a:lnTo>
                  <a:lnTo>
                    <a:pt x="0" y="2194560"/>
                  </a:lnTo>
                  <a:close/>
                </a:path>
              </a:pathLst>
            </a:custGeom>
            <a:blipFill>
              <a:blip r:embed="rId3">
                <a:alphaModFix amt="0"/>
              </a:blip>
              <a:stretch>
                <a:fillRect l="-78303" t="0" r="-78303" b="0"/>
              </a:stretch>
            </a:blipFill>
          </p:spPr>
        </p:sp>
        <p:sp>
          <p:nvSpPr>
            <p:cNvPr name="TextBox 30" id="30"/>
            <p:cNvSpPr txBox="true"/>
            <p:nvPr/>
          </p:nvSpPr>
          <p:spPr>
            <a:xfrm>
              <a:off x="0" y="-47625"/>
              <a:ext cx="2194560" cy="2242185"/>
            </a:xfrm>
            <a:prstGeom prst="rect">
              <a:avLst/>
            </a:prstGeom>
          </p:spPr>
          <p:txBody>
            <a:bodyPr anchor="ctr" rtlCol="false" tIns="0" lIns="0" bIns="0" rIns="0"/>
            <a:lstStyle/>
            <a:p>
              <a:pPr algn="ctr">
                <a:lnSpc>
                  <a:spcPts val="2639"/>
                </a:lnSpc>
              </a:pPr>
              <a:r>
                <a:rPr lang="en-US" sz="2199" b="true">
                  <a:solidFill>
                    <a:srgbClr val="BFE8E3"/>
                  </a:solidFill>
                  <a:latin typeface="Times New Roman"/>
                  <a:ea typeface="Times New Roman"/>
                  <a:cs typeface="Times New Roman"/>
                  <a:sym typeface="Times New Roman"/>
                </a:rPr>
                <a:t>Client</a:t>
              </a:r>
            </a:p>
            <a:p>
              <a:pPr algn="ctr">
                <a:lnSpc>
                  <a:spcPts val="2639"/>
                </a:lnSpc>
              </a:pPr>
              <a:r>
                <a:rPr lang="en-US" sz="2199" b="true">
                  <a:solidFill>
                    <a:srgbClr val="BFE8E3"/>
                  </a:solidFill>
                  <a:latin typeface="Times New Roman"/>
                  <a:ea typeface="Times New Roman"/>
                  <a:cs typeface="Times New Roman"/>
                  <a:sym typeface="Times New Roman"/>
                </a:rPr>
                <a:t>B</a:t>
              </a:r>
            </a:p>
          </p:txBody>
        </p:sp>
      </p:grpSp>
      <p:grpSp>
        <p:nvGrpSpPr>
          <p:cNvPr name="Group 31" id="31"/>
          <p:cNvGrpSpPr/>
          <p:nvPr/>
        </p:nvGrpSpPr>
        <p:grpSpPr>
          <a:xfrm rot="0">
            <a:off x="12801600" y="7808976"/>
            <a:ext cx="3657600" cy="548640"/>
            <a:chOff x="0" y="0"/>
            <a:chExt cx="4876800" cy="731520"/>
          </a:xfrm>
        </p:grpSpPr>
        <p:sp>
          <p:nvSpPr>
            <p:cNvPr name="Freeform 32" id="32"/>
            <p:cNvSpPr/>
            <p:nvPr/>
          </p:nvSpPr>
          <p:spPr>
            <a:xfrm flipH="false" flipV="false" rot="0">
              <a:off x="0" y="0"/>
              <a:ext cx="4876800" cy="731520"/>
            </a:xfrm>
            <a:custGeom>
              <a:avLst/>
              <a:gdLst/>
              <a:ahLst/>
              <a:cxnLst/>
              <a:rect r="r" b="b" t="t" l="l"/>
              <a:pathLst>
                <a:path h="731520" w="4876800">
                  <a:moveTo>
                    <a:pt x="0" y="0"/>
                  </a:moveTo>
                  <a:lnTo>
                    <a:pt x="4876800" y="0"/>
                  </a:lnTo>
                  <a:lnTo>
                    <a:pt x="4876800" y="731520"/>
                  </a:lnTo>
                  <a:lnTo>
                    <a:pt x="0" y="731520"/>
                  </a:lnTo>
                  <a:close/>
                </a:path>
              </a:pathLst>
            </a:custGeom>
            <a:blipFill>
              <a:blip r:embed="rId3">
                <a:alphaModFix amt="0"/>
              </a:blip>
              <a:stretch>
                <a:fillRect l="0" t="-79900" r="0" b="-79900"/>
              </a:stretch>
            </a:blipFill>
          </p:spPr>
        </p:sp>
        <p:sp>
          <p:nvSpPr>
            <p:cNvPr name="TextBox 33" id="33"/>
            <p:cNvSpPr txBox="true"/>
            <p:nvPr/>
          </p:nvSpPr>
          <p:spPr>
            <a:xfrm>
              <a:off x="0" y="-47625"/>
              <a:ext cx="4876800" cy="779145"/>
            </a:xfrm>
            <a:prstGeom prst="rect">
              <a:avLst/>
            </a:prstGeom>
          </p:spPr>
          <p:txBody>
            <a:bodyPr anchor="ctr" rtlCol="false" tIns="0" lIns="0" bIns="0" rIns="0"/>
            <a:lstStyle/>
            <a:p>
              <a:pPr algn="ctr">
                <a:lnSpc>
                  <a:spcPts val="2639"/>
                </a:lnSpc>
              </a:pPr>
              <a:r>
                <a:rPr lang="en-US" sz="2199" i="true">
                  <a:solidFill>
                    <a:srgbClr val="BFE8E3"/>
                  </a:solidFill>
                  <a:latin typeface="Times New Roman"/>
                  <a:ea typeface="Times New Roman"/>
                  <a:cs typeface="Times New Roman"/>
                  <a:sym typeface="Times New Roman"/>
                </a:rPr>
                <a:t>RTT 100–200 ms</a:t>
              </a:r>
            </a:p>
          </p:txBody>
        </p:sp>
      </p:grpSp>
      <p:sp>
        <p:nvSpPr>
          <p:cNvPr id="9008"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0B1626"/>
        </a:solidFill>
      </p:bgPr>
    </p:bg>
    <p:spTree>
      <p:nvGrpSpPr>
        <p:cNvPr id="1" name=""/>
        <p:cNvGrpSpPr/>
        <p:nvPr/>
      </p:nvGrpSpPr>
      <p:grpSpPr>
        <a:xfrm>
          <a:off x="0" y="0"/>
          <a:ext cx="0" cy="0"/>
          <a:chOff x="0" y="0"/>
          <a:chExt cx="0" cy="0"/>
        </a:xfrm>
      </p:grpSpPr>
      <p:sp>
        <p:nvSpPr>
          <p:cNvPr name="TextBox 2" id="2"/>
          <p:cNvSpPr txBox="true"/>
          <p:nvPr/>
        </p:nvSpPr>
        <p:spPr>
          <a:xfrm rot="0">
            <a:off x="1097280" y="2377440"/>
            <a:ext cx="10607040" cy="1234440"/>
          </a:xfrm>
          <a:prstGeom prst="rect">
            <a:avLst/>
          </a:prstGeom>
        </p:spPr>
        <p:txBody>
          <a:bodyPr anchor="t" rtlCol="false" tIns="0" lIns="0" bIns="0" rIns="0">
            <a:spAutoFit/>
          </a:bodyPr>
          <a:lstStyle/>
          <a:p>
            <a:pPr algn="l">
              <a:lnSpc>
                <a:spcPct val="90000"/>
              </a:lnSpc>
            </a:pPr>
            <a:r>
              <a:rPr lang="vi-VN" sz="9600" b="true" spc="200">
                <a:solidFill>
                  <a:srgbClr val="BFE8E3"/>
                </a:solidFill>
                <a:latin typeface="Times New Roman"/>
                <a:ea typeface="Times New Roman"/>
                <a:cs typeface="Times New Roman"/>
                <a:sym typeface="Times New Roman"/>
              </a:rPr>
              <a:t>PHỤ LỤC</a:t>
            </a:r>
          </a:p>
        </p:txBody>
      </p:sp>
      <p:sp>
        <p:nvSpPr>
          <p:cNvPr name="TextBox 3" id="3"/>
          <p:cNvSpPr txBox="true"/>
          <p:nvPr/>
        </p:nvSpPr>
        <p:spPr>
          <a:xfrm rot="0">
            <a:off x="1097280" y="4160520"/>
            <a:ext cx="10607040" cy="2661285"/>
          </a:xfrm>
          <a:prstGeom prst="rect">
            <a:avLst/>
          </a:prstGeom>
        </p:spPr>
        <p:txBody>
          <a:bodyPr anchor="t" rtlCol="false" tIns="0" lIns="0" bIns="0" rIns="0">
            <a:spAutoFit/>
          </a:bodyPr>
          <a:lstStyle/>
          <a:p>
            <a:pPr algn="l">
              <a:lnSpc>
                <a:spcPts val="5760"/>
              </a:lnSpc>
            </a:pPr>
            <a:r>
              <a:rPr lang="en-US" sz="4800" b="true">
                <a:solidFill>
                  <a:srgbClr val="FFFFFF"/>
                </a:solidFill>
                <a:latin typeface="Times New Roman"/>
                <a:ea typeface="Times New Roman"/>
                <a:cs typeface="Times New Roman"/>
                <a:sym typeface="Times New Roman"/>
              </a:rPr>
              <a:t>Slide dự phòng cho Q&amp;A</a:t>
            </a:r>
          </a:p>
        </p:txBody>
      </p:sp>
      <p:sp>
        <p:nvSpPr>
          <p:cNvPr name="TextBox 4" id="4"/>
          <p:cNvSpPr txBox="true"/>
          <p:nvPr/>
        </p:nvSpPr>
        <p:spPr>
          <a:xfrm rot="0">
            <a:off x="1097280" y="5212080"/>
            <a:ext cx="10607040" cy="1000125"/>
          </a:xfrm>
          <a:prstGeom prst="rect">
            <a:avLst/>
          </a:prstGeom>
        </p:spPr>
        <p:txBody>
          <a:bodyPr anchor="t" rtlCol="false" tIns="0" lIns="0" bIns="0" rIns="0">
            <a:spAutoFit/>
          </a:bodyPr>
          <a:lstStyle/>
          <a:p>
            <a:pPr algn="l">
              <a:lnSpc>
                <a:spcPts val="3840"/>
              </a:lnSpc>
            </a:pPr>
            <a:r>
              <a:rPr lang="en-US" sz="3200" b="true">
                <a:solidFill>
                  <a:srgbClr val="BFE8E3"/>
                </a:solidFill>
                <a:latin typeface="Times New Roman"/>
                <a:ea typeface="Times New Roman"/>
                <a:cs typeface="Times New Roman"/>
                <a:sym typeface="Times New Roman"/>
              </a:rPr>
              <a:t>Chỉ mở khi bị hỏi</a:t>
            </a:r>
          </a:p>
        </p:txBody>
      </p:sp>
      <p:sp>
        <p:nvSpPr>
          <p:cNvPr name="TextBox 5" id="5"/>
          <p:cNvSpPr txBox="true"/>
          <p:nvPr/>
        </p:nvSpPr>
        <p:spPr>
          <a:xfrm rot="0">
            <a:off x="1097280" y="5989320"/>
            <a:ext cx="10607040" cy="2251710"/>
          </a:xfrm>
          <a:prstGeom prst="rect">
            <a:avLst/>
          </a:prstGeom>
        </p:spPr>
        <p:txBody>
          <a:bodyPr anchor="t" rtlCol="false" tIns="0" lIns="0" bIns="0" rIns="0">
            <a:spAutoFit/>
          </a:bodyPr>
          <a:lstStyle/>
          <a:p>
            <a:pPr algn="l">
              <a:lnSpc>
                <a:spcPts val="2880"/>
              </a:lnSpc>
            </a:pPr>
            <a:r>
              <a:rPr lang="en-US" sz="2400">
                <a:solidFill>
                  <a:srgbClr val="FFFFFF"/>
                </a:solidFill>
                <a:latin typeface="Times New Roman"/>
                <a:ea typeface="Times New Roman"/>
                <a:cs typeface="Times New Roman"/>
                <a:sym typeface="Times New Roman"/>
              </a:rPr>
              <a:t>Nội dung lấy từ NoiDung_ChiTiet.md. Câu trả lời mẫu ở phụ lục A, thuật ngữ Việt – Anh ở phụ lục B.</a:t>
            </a:r>
          </a:p>
        </p:txBody>
      </p:sp>
      <p:sp>
        <p:nvSpPr>
          <p:cNvPr name="AutoShape 6" id="6"/>
          <p:cNvSpPr/>
          <p:nvPr/>
        </p:nvSpPr>
        <p:spPr>
          <a:xfrm rot="-3820860">
            <a:off x="11596345" y="4882515"/>
            <a:ext cx="4239301" cy="0"/>
          </a:xfrm>
          <a:prstGeom prst="line">
            <a:avLst/>
          </a:prstGeom>
          <a:ln cap="rnd" w="19050">
            <a:solidFill>
              <a:srgbClr val="BFE8E3"/>
            </a:solidFill>
            <a:prstDash val="solid"/>
            <a:headEnd type="none" len="sm" w="sm"/>
            <a:tailEnd type="none" len="sm" w="sm"/>
          </a:ln>
        </p:spPr>
      </p:sp>
      <p:sp>
        <p:nvSpPr>
          <p:cNvPr name="AutoShape 7" id="7"/>
          <p:cNvSpPr/>
          <p:nvPr/>
        </p:nvSpPr>
        <p:spPr>
          <a:xfrm rot="3820860">
            <a:off x="13425145" y="4882515"/>
            <a:ext cx="4239301" cy="0"/>
          </a:xfrm>
          <a:prstGeom prst="line">
            <a:avLst/>
          </a:prstGeom>
          <a:ln cap="rnd" w="19050">
            <a:solidFill>
              <a:srgbClr val="BFE8E3"/>
            </a:solidFill>
            <a:prstDash val="solid"/>
            <a:headEnd type="none" len="sm" w="sm"/>
            <a:tailEnd type="none" len="sm" w="sm"/>
          </a:ln>
        </p:spPr>
      </p:sp>
      <p:grpSp>
        <p:nvGrpSpPr>
          <p:cNvPr name="Group 8" id="8"/>
          <p:cNvGrpSpPr/>
          <p:nvPr/>
        </p:nvGrpSpPr>
        <p:grpSpPr>
          <a:xfrm rot="0">
            <a:off x="13282679" y="5295395"/>
            <a:ext cx="318011" cy="318011"/>
            <a:chOff x="0" y="0"/>
            <a:chExt cx="424015" cy="424015"/>
          </a:xfrm>
        </p:grpSpPr>
        <p:sp>
          <p:nvSpPr>
            <p:cNvPr name="Freeform 9" id="9"/>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name="Group 10" id="10"/>
          <p:cNvGrpSpPr/>
          <p:nvPr/>
        </p:nvGrpSpPr>
        <p:grpSpPr>
          <a:xfrm rot="0">
            <a:off x="13831319" y="4170683"/>
            <a:ext cx="318011" cy="318011"/>
            <a:chOff x="0" y="0"/>
            <a:chExt cx="424015" cy="424015"/>
          </a:xfrm>
        </p:grpSpPr>
        <p:sp>
          <p:nvSpPr>
            <p:cNvPr name="Freeform 11" id="11"/>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name="Group 12" id="12"/>
          <p:cNvGrpSpPr/>
          <p:nvPr/>
        </p:nvGrpSpPr>
        <p:grpSpPr>
          <a:xfrm rot="0">
            <a:off x="15568679" y="5107943"/>
            <a:ext cx="318011" cy="318011"/>
            <a:chOff x="0" y="0"/>
            <a:chExt cx="424015" cy="424015"/>
          </a:xfrm>
        </p:grpSpPr>
        <p:sp>
          <p:nvSpPr>
            <p:cNvPr name="Freeform 13" id="13"/>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name="Group 14" id="14"/>
          <p:cNvGrpSpPr/>
          <p:nvPr/>
        </p:nvGrpSpPr>
        <p:grpSpPr>
          <a:xfrm rot="0">
            <a:off x="15020039" y="3983231"/>
            <a:ext cx="318011" cy="318011"/>
            <a:chOff x="0" y="0"/>
            <a:chExt cx="424015" cy="424015"/>
          </a:xfrm>
        </p:grpSpPr>
        <p:sp>
          <p:nvSpPr>
            <p:cNvPr name="Freeform 15" id="15"/>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name="Group 16" id="16"/>
          <p:cNvGrpSpPr/>
          <p:nvPr/>
        </p:nvGrpSpPr>
        <p:grpSpPr>
          <a:xfrm rot="0">
            <a:off x="13690597" y="2077717"/>
            <a:ext cx="1879597" cy="1879597"/>
            <a:chOff x="0" y="0"/>
            <a:chExt cx="2506129" cy="2506129"/>
          </a:xfrm>
        </p:grpSpPr>
        <p:sp>
          <p:nvSpPr>
            <p:cNvPr name="Freeform 17" id="17"/>
            <p:cNvSpPr/>
            <p:nvPr/>
          </p:nvSpPr>
          <p:spPr>
            <a:xfrm flipH="false" flipV="false" rot="0">
              <a:off x="0" y="0"/>
              <a:ext cx="2506218" cy="2506218"/>
            </a:xfrm>
            <a:custGeom>
              <a:avLst/>
              <a:gdLst/>
              <a:ahLst/>
              <a:cxnLst/>
              <a:rect r="r" b="b" t="t" l="l"/>
              <a:pathLst>
                <a:path h="2506218" w="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name="Group 18" id="18"/>
          <p:cNvGrpSpPr/>
          <p:nvPr/>
        </p:nvGrpSpPr>
        <p:grpSpPr>
          <a:xfrm rot="0">
            <a:off x="13716000" y="2103120"/>
            <a:ext cx="1828800" cy="1828800"/>
            <a:chOff x="0" y="0"/>
            <a:chExt cx="2438400" cy="2438400"/>
          </a:xfrm>
        </p:grpSpPr>
        <p:sp>
          <p:nvSpPr>
            <p:cNvPr name="Freeform 19" id="19"/>
            <p:cNvSpPr/>
            <p:nvPr/>
          </p:nvSpPr>
          <p:spPr>
            <a:xfrm flipH="false" flipV="false" rot="0">
              <a:off x="0" y="0"/>
              <a:ext cx="2438400" cy="2438400"/>
            </a:xfrm>
            <a:custGeom>
              <a:avLst/>
              <a:gdLst/>
              <a:ahLst/>
              <a:cxnLst/>
              <a:rect r="r" b="b" t="t" l="l"/>
              <a:pathLst>
                <a:path h="2438400" w="2438400">
                  <a:moveTo>
                    <a:pt x="0" y="0"/>
                  </a:moveTo>
                  <a:lnTo>
                    <a:pt x="2438400" y="0"/>
                  </a:lnTo>
                  <a:lnTo>
                    <a:pt x="2438400" y="2438400"/>
                  </a:lnTo>
                  <a:lnTo>
                    <a:pt x="0" y="2438400"/>
                  </a:lnTo>
                  <a:close/>
                </a:path>
              </a:pathLst>
            </a:custGeom>
            <a:blipFill>
              <a:blip r:embed="rId3">
                <a:alphaModFix amt="0"/>
              </a:blip>
              <a:stretch>
                <a:fillRect l="-78303" t="0" r="-78303" b="0"/>
              </a:stretch>
            </a:blipFill>
          </p:spPr>
        </p:sp>
        <p:sp>
          <p:nvSpPr>
            <p:cNvPr name="TextBox 20" id="20"/>
            <p:cNvSpPr txBox="true"/>
            <p:nvPr/>
          </p:nvSpPr>
          <p:spPr>
            <a:xfrm>
              <a:off x="0" y="-57150"/>
              <a:ext cx="2438400" cy="2495550"/>
            </a:xfrm>
            <a:prstGeom prst="rect">
              <a:avLst/>
            </a:prstGeom>
          </p:spPr>
          <p:txBody>
            <a:bodyPr anchor="ctr" rtlCol="false" tIns="0" lIns="0" bIns="0" rIns="0"/>
            <a:lstStyle/>
            <a:p>
              <a:pPr algn="ctr">
                <a:lnSpc>
                  <a:spcPts val="3120"/>
                </a:lnSpc>
              </a:pPr>
              <a:r>
                <a:rPr lang="en-US" sz="2600" b="true">
                  <a:solidFill>
                    <a:srgbClr val="FFFFFF"/>
                  </a:solidFill>
                  <a:latin typeface="Times New Roman"/>
                  <a:ea typeface="Times New Roman"/>
                  <a:cs typeface="Times New Roman"/>
                  <a:sym typeface="Times New Roman"/>
                </a:rPr>
                <a:t>Server</a:t>
              </a:r>
            </a:p>
          </p:txBody>
        </p:sp>
      </p:grpSp>
      <p:grpSp>
        <p:nvGrpSpPr>
          <p:cNvPr name="Group 21" id="21"/>
          <p:cNvGrpSpPr/>
          <p:nvPr/>
        </p:nvGrpSpPr>
        <p:grpSpPr>
          <a:xfrm rot="0">
            <a:off x="11953237" y="5918197"/>
            <a:ext cx="1696717" cy="1696717"/>
            <a:chOff x="0" y="0"/>
            <a:chExt cx="2262289" cy="2262289"/>
          </a:xfrm>
        </p:grpSpPr>
        <p:sp>
          <p:nvSpPr>
            <p:cNvPr name="Freeform 22" id="22"/>
            <p:cNvSpPr/>
            <p:nvPr/>
          </p:nvSpPr>
          <p:spPr>
            <a:xfrm flipH="false" flipV="false" rot="0">
              <a:off x="0" y="0"/>
              <a:ext cx="2262378" cy="2262378"/>
            </a:xfrm>
            <a:custGeom>
              <a:avLst/>
              <a:gdLst/>
              <a:ahLst/>
              <a:cxnLst/>
              <a:rect r="r" b="b" t="t" l="l"/>
              <a:pathLst>
                <a:path h="2262378" w="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name="Group 23" id="23"/>
          <p:cNvGrpSpPr/>
          <p:nvPr/>
        </p:nvGrpSpPr>
        <p:grpSpPr>
          <a:xfrm rot="0">
            <a:off x="11978640" y="5943600"/>
            <a:ext cx="1645920" cy="1645920"/>
            <a:chOff x="0" y="0"/>
            <a:chExt cx="2194560" cy="2194560"/>
          </a:xfrm>
        </p:grpSpPr>
        <p:sp>
          <p:nvSpPr>
            <p:cNvPr name="Freeform 24" id="24"/>
            <p:cNvSpPr/>
            <p:nvPr/>
          </p:nvSpPr>
          <p:spPr>
            <a:xfrm flipH="false" flipV="false" rot="0">
              <a:off x="0" y="0"/>
              <a:ext cx="2194560" cy="2194560"/>
            </a:xfrm>
            <a:custGeom>
              <a:avLst/>
              <a:gdLst/>
              <a:ahLst/>
              <a:cxnLst/>
              <a:rect r="r" b="b" t="t" l="l"/>
              <a:pathLst>
                <a:path h="2194560" w="2194560">
                  <a:moveTo>
                    <a:pt x="0" y="0"/>
                  </a:moveTo>
                  <a:lnTo>
                    <a:pt x="2194560" y="0"/>
                  </a:lnTo>
                  <a:lnTo>
                    <a:pt x="2194560" y="2194560"/>
                  </a:lnTo>
                  <a:lnTo>
                    <a:pt x="0" y="2194560"/>
                  </a:lnTo>
                  <a:close/>
                </a:path>
              </a:pathLst>
            </a:custGeom>
            <a:blipFill>
              <a:blip r:embed="rId3">
                <a:alphaModFix amt="0"/>
              </a:blip>
              <a:stretch>
                <a:fillRect l="-78303" t="0" r="-78303" b="0"/>
              </a:stretch>
            </a:blipFill>
          </p:spPr>
        </p:sp>
        <p:sp>
          <p:nvSpPr>
            <p:cNvPr name="TextBox 25" id="25"/>
            <p:cNvSpPr txBox="true"/>
            <p:nvPr/>
          </p:nvSpPr>
          <p:spPr>
            <a:xfrm>
              <a:off x="0" y="-47625"/>
              <a:ext cx="2194560" cy="2242185"/>
            </a:xfrm>
            <a:prstGeom prst="rect">
              <a:avLst/>
            </a:prstGeom>
          </p:spPr>
          <p:txBody>
            <a:bodyPr anchor="ctr" rtlCol="false" tIns="0" lIns="0" bIns="0" rIns="0"/>
            <a:lstStyle/>
            <a:p>
              <a:pPr algn="ctr">
                <a:lnSpc>
                  <a:spcPts val="2639"/>
                </a:lnSpc>
              </a:pPr>
              <a:r>
                <a:rPr lang="en-US" sz="2199" b="true">
                  <a:solidFill>
                    <a:srgbClr val="BFE8E3"/>
                  </a:solidFill>
                  <a:latin typeface="Times New Roman"/>
                  <a:ea typeface="Times New Roman"/>
                  <a:cs typeface="Times New Roman"/>
                  <a:sym typeface="Times New Roman"/>
                </a:rPr>
                <a:t>Client</a:t>
              </a:r>
            </a:p>
            <a:p>
              <a:pPr algn="ctr">
                <a:lnSpc>
                  <a:spcPts val="2639"/>
                </a:lnSpc>
              </a:pPr>
              <a:r>
                <a:rPr lang="en-US" sz="2199" b="true">
                  <a:solidFill>
                    <a:srgbClr val="BFE8E3"/>
                  </a:solidFill>
                  <a:latin typeface="Times New Roman"/>
                  <a:ea typeface="Times New Roman"/>
                  <a:cs typeface="Times New Roman"/>
                  <a:sym typeface="Times New Roman"/>
                </a:rPr>
                <a:t>A</a:t>
              </a:r>
            </a:p>
          </p:txBody>
        </p:sp>
      </p:grpSp>
      <p:grpSp>
        <p:nvGrpSpPr>
          <p:cNvPr name="Group 26" id="26"/>
          <p:cNvGrpSpPr/>
          <p:nvPr/>
        </p:nvGrpSpPr>
        <p:grpSpPr>
          <a:xfrm rot="0">
            <a:off x="15610837" y="5918197"/>
            <a:ext cx="1696717" cy="1696717"/>
            <a:chOff x="0" y="0"/>
            <a:chExt cx="2262289" cy="2262289"/>
          </a:xfrm>
        </p:grpSpPr>
        <p:sp>
          <p:nvSpPr>
            <p:cNvPr name="Freeform 27" id="27"/>
            <p:cNvSpPr/>
            <p:nvPr/>
          </p:nvSpPr>
          <p:spPr>
            <a:xfrm flipH="false" flipV="false" rot="0">
              <a:off x="0" y="0"/>
              <a:ext cx="2262378" cy="2262378"/>
            </a:xfrm>
            <a:custGeom>
              <a:avLst/>
              <a:gdLst/>
              <a:ahLst/>
              <a:cxnLst/>
              <a:rect r="r" b="b" t="t" l="l"/>
              <a:pathLst>
                <a:path h="2262378" w="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name="Group 28" id="28"/>
          <p:cNvGrpSpPr/>
          <p:nvPr/>
        </p:nvGrpSpPr>
        <p:grpSpPr>
          <a:xfrm rot="0">
            <a:off x="15636240" y="5943600"/>
            <a:ext cx="1645920" cy="1645920"/>
            <a:chOff x="0" y="0"/>
            <a:chExt cx="2194560" cy="2194560"/>
          </a:xfrm>
        </p:grpSpPr>
        <p:sp>
          <p:nvSpPr>
            <p:cNvPr name="Freeform 29" id="29"/>
            <p:cNvSpPr/>
            <p:nvPr/>
          </p:nvSpPr>
          <p:spPr>
            <a:xfrm flipH="false" flipV="false" rot="0">
              <a:off x="0" y="0"/>
              <a:ext cx="2194560" cy="2194560"/>
            </a:xfrm>
            <a:custGeom>
              <a:avLst/>
              <a:gdLst/>
              <a:ahLst/>
              <a:cxnLst/>
              <a:rect r="r" b="b" t="t" l="l"/>
              <a:pathLst>
                <a:path h="2194560" w="2194560">
                  <a:moveTo>
                    <a:pt x="0" y="0"/>
                  </a:moveTo>
                  <a:lnTo>
                    <a:pt x="2194560" y="0"/>
                  </a:lnTo>
                  <a:lnTo>
                    <a:pt x="2194560" y="2194560"/>
                  </a:lnTo>
                  <a:lnTo>
                    <a:pt x="0" y="2194560"/>
                  </a:lnTo>
                  <a:close/>
                </a:path>
              </a:pathLst>
            </a:custGeom>
            <a:blipFill>
              <a:blip r:embed="rId3">
                <a:alphaModFix amt="0"/>
              </a:blip>
              <a:stretch>
                <a:fillRect l="-78303" t="0" r="-78303" b="0"/>
              </a:stretch>
            </a:blipFill>
          </p:spPr>
        </p:sp>
        <p:sp>
          <p:nvSpPr>
            <p:cNvPr name="TextBox 30" id="30"/>
            <p:cNvSpPr txBox="true"/>
            <p:nvPr/>
          </p:nvSpPr>
          <p:spPr>
            <a:xfrm>
              <a:off x="0" y="-47625"/>
              <a:ext cx="2194560" cy="2242185"/>
            </a:xfrm>
            <a:prstGeom prst="rect">
              <a:avLst/>
            </a:prstGeom>
          </p:spPr>
          <p:txBody>
            <a:bodyPr anchor="ctr" rtlCol="false" tIns="0" lIns="0" bIns="0" rIns="0"/>
            <a:lstStyle/>
            <a:p>
              <a:pPr algn="ctr">
                <a:lnSpc>
                  <a:spcPts val="2639"/>
                </a:lnSpc>
              </a:pPr>
              <a:r>
                <a:rPr lang="en-US" sz="2199" b="true">
                  <a:solidFill>
                    <a:srgbClr val="BFE8E3"/>
                  </a:solidFill>
                  <a:latin typeface="Times New Roman"/>
                  <a:ea typeface="Times New Roman"/>
                  <a:cs typeface="Times New Roman"/>
                  <a:sym typeface="Times New Roman"/>
                </a:rPr>
                <a:t>Client</a:t>
              </a:r>
            </a:p>
            <a:p>
              <a:pPr algn="ctr">
                <a:lnSpc>
                  <a:spcPts val="2639"/>
                </a:lnSpc>
              </a:pPr>
              <a:r>
                <a:rPr lang="en-US" sz="2199" b="true">
                  <a:solidFill>
                    <a:srgbClr val="BFE8E3"/>
                  </a:solidFill>
                  <a:latin typeface="Times New Roman"/>
                  <a:ea typeface="Times New Roman"/>
                  <a:cs typeface="Times New Roman"/>
                  <a:sym typeface="Times New Roman"/>
                </a:rPr>
                <a:t>B</a:t>
              </a:r>
            </a:p>
          </p:txBody>
        </p:sp>
      </p:grpSp>
      <p:grpSp>
        <p:nvGrpSpPr>
          <p:cNvPr name="Group 31" id="31"/>
          <p:cNvGrpSpPr/>
          <p:nvPr/>
        </p:nvGrpSpPr>
        <p:grpSpPr>
          <a:xfrm rot="0">
            <a:off x="12801600" y="7808976"/>
            <a:ext cx="3657600" cy="548640"/>
            <a:chOff x="0" y="0"/>
            <a:chExt cx="4876800" cy="731520"/>
          </a:xfrm>
        </p:grpSpPr>
        <p:sp>
          <p:nvSpPr>
            <p:cNvPr name="Freeform 32" id="32"/>
            <p:cNvSpPr/>
            <p:nvPr/>
          </p:nvSpPr>
          <p:spPr>
            <a:xfrm flipH="false" flipV="false" rot="0">
              <a:off x="0" y="0"/>
              <a:ext cx="4876800" cy="731520"/>
            </a:xfrm>
            <a:custGeom>
              <a:avLst/>
              <a:gdLst/>
              <a:ahLst/>
              <a:cxnLst/>
              <a:rect r="r" b="b" t="t" l="l"/>
              <a:pathLst>
                <a:path h="731520" w="4876800">
                  <a:moveTo>
                    <a:pt x="0" y="0"/>
                  </a:moveTo>
                  <a:lnTo>
                    <a:pt x="4876800" y="0"/>
                  </a:lnTo>
                  <a:lnTo>
                    <a:pt x="4876800" y="731520"/>
                  </a:lnTo>
                  <a:lnTo>
                    <a:pt x="0" y="731520"/>
                  </a:lnTo>
                  <a:close/>
                </a:path>
              </a:pathLst>
            </a:custGeom>
            <a:blipFill>
              <a:blip r:embed="rId3">
                <a:alphaModFix amt="0"/>
              </a:blip>
              <a:stretch>
                <a:fillRect l="0" t="-79900" r="0" b="-79900"/>
              </a:stretch>
            </a:blipFill>
          </p:spPr>
        </p:sp>
        <p:sp>
          <p:nvSpPr>
            <p:cNvPr name="TextBox 33" id="33"/>
            <p:cNvSpPr txBox="true"/>
            <p:nvPr/>
          </p:nvSpPr>
          <p:spPr>
            <a:xfrm>
              <a:off x="0" y="-47625"/>
              <a:ext cx="4876800" cy="779145"/>
            </a:xfrm>
            <a:prstGeom prst="rect">
              <a:avLst/>
            </a:prstGeom>
          </p:spPr>
          <p:txBody>
            <a:bodyPr anchor="ctr" rtlCol="false" tIns="0" lIns="0" bIns="0" rIns="0"/>
            <a:lstStyle/>
            <a:p>
              <a:pPr algn="ctr">
                <a:lnSpc>
                  <a:spcPts val="2639"/>
                </a:lnSpc>
              </a:pPr>
              <a:r>
                <a:rPr lang="en-US" sz="2199" i="true">
                  <a:solidFill>
                    <a:srgbClr val="BFE8E3"/>
                  </a:solidFill>
                  <a:latin typeface="Times New Roman"/>
                  <a:ea typeface="Times New Roman"/>
                  <a:cs typeface="Times New Roman"/>
                  <a:sym typeface="Times New Roman"/>
                </a:rPr>
                <a:t>RTT 100–200 ms</a:t>
              </a:r>
            </a:p>
          </p:txBody>
        </p:sp>
      </p:grpSp>
      <p:sp>
        <p:nvSpPr>
          <p:cNvPr id="9009"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10" name="Header band"/>
          <p:cNvSpPr/>
          <p:nvPr/>
        </p:nvSpPr>
        <p:spPr>
          <a:xfrm>
            <a:off x="0" y="0"/>
            <a:ext cx="18288000" cy="2103120"/>
          </a:xfrm>
          <a:prstGeom prst="rect">
            <a:avLst/>
          </a:prstGeom>
          <a:solidFill>
            <a:srgbClr val="14213D"/>
          </a:solidFill>
          <a:ln>
            <a:noFill/>
          </a:ln>
        </p:spPr>
      </p:sp>
      <p:sp>
        <p:nvSpPr>
          <p:cNvPr id="9011"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DỰ PHÒNG D1 · NGUỒN: MỤC 2.1</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Thành phần của độ trễ</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Q&amp;A</a:t>
              </a:r>
            </a:p>
          </p:txBody>
        </p:sp>
      </p:grpSp>
      <p:grpSp>
        <p:nvGrpSpPr>
          <p:cNvPr name="Group 14" id="14"/>
          <p:cNvGrpSpPr/>
          <p:nvPr/>
        </p:nvGrpSpPr>
        <p:grpSpPr>
          <a:xfrm rot="0">
            <a:off x="901703" y="2456183"/>
            <a:ext cx="16484603" cy="1488443"/>
            <a:chOff x="0" y="0"/>
            <a:chExt cx="21979471" cy="1984591"/>
          </a:xfrm>
        </p:grpSpPr>
        <p:sp>
          <p:nvSpPr>
            <p:cNvPr name="Freeform 15" id="15"/>
            <p:cNvSpPr/>
            <p:nvPr/>
          </p:nvSpPr>
          <p:spPr>
            <a:xfrm flipH="false" flipV="false" rot="0">
              <a:off x="0" y="0"/>
              <a:ext cx="21979382" cy="1984502"/>
            </a:xfrm>
            <a:custGeom>
              <a:avLst/>
              <a:gdLst/>
              <a:ahLst/>
              <a:cxnLst/>
              <a:rect r="r" b="b" t="t" l="l"/>
              <a:pathLst>
                <a:path h="1984502" w="2197938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name="Group 16" id="16"/>
          <p:cNvGrpSpPr/>
          <p:nvPr/>
        </p:nvGrpSpPr>
        <p:grpSpPr>
          <a:xfrm rot="0">
            <a:off x="1371600" y="2468880"/>
            <a:ext cx="2377440" cy="1463040"/>
            <a:chOff x="0" y="0"/>
            <a:chExt cx="3169920" cy="1950720"/>
          </a:xfrm>
        </p:grpSpPr>
        <p:sp>
          <p:nvSpPr>
            <p:cNvPr name="Freeform 17" id="17"/>
            <p:cNvSpPr/>
            <p:nvPr/>
          </p:nvSpPr>
          <p:spPr>
            <a:xfrm flipH="false" flipV="false" rot="0">
              <a:off x="0" y="0"/>
              <a:ext cx="3169920" cy="1950720"/>
            </a:xfrm>
            <a:custGeom>
              <a:avLst/>
              <a:gdLst/>
              <a:ahLst/>
              <a:cxnLst/>
              <a:rect r="r" b="b" t="t" l="l"/>
              <a:pathLst>
                <a:path h="1950720" w="3169920">
                  <a:moveTo>
                    <a:pt x="0" y="0"/>
                  </a:moveTo>
                  <a:lnTo>
                    <a:pt x="3169920" y="0"/>
                  </a:lnTo>
                  <a:lnTo>
                    <a:pt x="3169920" y="1950720"/>
                  </a:lnTo>
                  <a:lnTo>
                    <a:pt x="0" y="1950720"/>
                  </a:lnTo>
                  <a:close/>
                </a:path>
              </a:pathLst>
            </a:custGeom>
            <a:blipFill>
              <a:blip r:embed="rId3">
                <a:alphaModFix amt="0"/>
              </a:blip>
              <a:stretch>
                <a:fillRect l="-28956" t="0" r="-28956" b="0"/>
              </a:stretch>
            </a:blipFill>
          </p:spPr>
        </p:sp>
        <p:sp>
          <p:nvSpPr>
            <p:cNvPr name="TextBox 18" id="18"/>
            <p:cNvSpPr txBox="true"/>
            <p:nvPr/>
          </p:nvSpPr>
          <p:spPr>
            <a:xfrm>
              <a:off x="0" y="-38100"/>
              <a:ext cx="3169920" cy="1988820"/>
            </a:xfrm>
            <a:prstGeom prst="rect">
              <a:avLst/>
            </a:prstGeom>
          </p:spPr>
          <p:txBody>
            <a:bodyPr anchor="ctr" rtlCol="false" tIns="0" lIns="0" bIns="0" rIns="0"/>
            <a:lstStyle/>
            <a:p>
              <a:pPr algn="l">
                <a:lnSpc>
                  <a:spcPts val="2400"/>
                </a:lnSpc>
              </a:pPr>
              <a:r>
                <a:rPr lang="en-US" b="true" sz="2000" spc="300">
                  <a:solidFill>
                    <a:srgbClr val="BFE8E3"/>
                  </a:solidFill>
                  <a:latin typeface="Times New Roman"/>
                  <a:ea typeface="Times New Roman"/>
                  <a:cs typeface="Times New Roman"/>
                  <a:sym typeface="Times New Roman"/>
                </a:rPr>
                <a:t>KHI BỊ HỎI</a:t>
              </a:r>
            </a:p>
          </p:txBody>
        </p:sp>
      </p:grpSp>
      <p:grpSp>
        <p:nvGrpSpPr>
          <p:cNvPr name="Group 19" id="19"/>
          <p:cNvGrpSpPr/>
          <p:nvPr/>
        </p:nvGrpSpPr>
        <p:grpSpPr>
          <a:xfrm rot="0">
            <a:off x="3749040" y="2468880"/>
            <a:ext cx="13167360" cy="1463040"/>
            <a:chOff x="0" y="0"/>
            <a:chExt cx="17556480" cy="1950720"/>
          </a:xfrm>
        </p:grpSpPr>
        <p:sp>
          <p:nvSpPr>
            <p:cNvPr name="Freeform 20" id="20"/>
            <p:cNvSpPr/>
            <p:nvPr/>
          </p:nvSpPr>
          <p:spPr>
            <a:xfrm flipH="false" flipV="false" rot="0">
              <a:off x="0" y="0"/>
              <a:ext cx="17556480" cy="1950720"/>
            </a:xfrm>
            <a:custGeom>
              <a:avLst/>
              <a:gdLst/>
              <a:ahLst/>
              <a:cxnLst/>
              <a:rect r="r" b="b" t="t" l="l"/>
              <a:pathLst>
                <a:path h="1950720" w="17556480">
                  <a:moveTo>
                    <a:pt x="0" y="0"/>
                  </a:moveTo>
                  <a:lnTo>
                    <a:pt x="17556480" y="0"/>
                  </a:lnTo>
                  <a:lnTo>
                    <a:pt x="17556480" y="1950720"/>
                  </a:lnTo>
                  <a:lnTo>
                    <a:pt x="0" y="1950720"/>
                  </a:lnTo>
                  <a:close/>
                </a:path>
              </a:pathLst>
            </a:custGeom>
            <a:blipFill>
              <a:blip r:embed="rId3">
                <a:alphaModFix amt="0"/>
              </a:blip>
              <a:stretch>
                <a:fillRect l="0" t="-125365" r="0" b="-125365"/>
              </a:stretch>
            </a:blipFill>
          </p:spPr>
        </p:sp>
        <p:sp>
          <p:nvSpPr>
            <p:cNvPr name="TextBox 21" id="21"/>
            <p:cNvSpPr txBox="true"/>
            <p:nvPr/>
          </p:nvSpPr>
          <p:spPr>
            <a:xfrm>
              <a:off x="0" y="-57150"/>
              <a:ext cx="17556480" cy="2007870"/>
            </a:xfrm>
            <a:prstGeom prst="rect">
              <a:avLst/>
            </a:prstGeom>
          </p:spPr>
          <p:txBody>
            <a:bodyPr anchor="ctr" rtlCol="false" tIns="0" lIns="0" bIns="0" rIns="0"/>
            <a:lstStyle/>
            <a:p>
              <a:pPr algn="l">
                <a:lnSpc>
                  <a:spcPts val="3840"/>
                </a:lnSpc>
              </a:pPr>
              <a:r>
                <a:rPr lang="en-US" sz="3200" i="true">
                  <a:solidFill>
                    <a:srgbClr val="FFFFFF"/>
                  </a:solidFill>
                  <a:latin typeface="Times New Roman"/>
                  <a:ea typeface="Times New Roman"/>
                  <a:cs typeface="Times New Roman"/>
                  <a:sym typeface="Times New Roman"/>
                </a:rPr>
                <a:t>“Độ trễ đến từ đâu, giảm được không?”</a:t>
              </a:r>
            </a:p>
          </p:txBody>
        </p:sp>
      </p:grpSp>
      <p:grpSp>
        <p:nvGrpSpPr>
          <p:cNvPr name="Group 22" id="22"/>
          <p:cNvGrpSpPr/>
          <p:nvPr/>
        </p:nvGrpSpPr>
        <p:grpSpPr>
          <a:xfrm rot="0">
            <a:off x="898522" y="4373242"/>
            <a:ext cx="16490947" cy="4786627"/>
            <a:chOff x="0" y="0"/>
            <a:chExt cx="21987929" cy="6382169"/>
          </a:xfrm>
        </p:grpSpPr>
        <p:sp>
          <p:nvSpPr>
            <p:cNvPr name="Freeform 23" id="23"/>
            <p:cNvSpPr/>
            <p:nvPr/>
          </p:nvSpPr>
          <p:spPr>
            <a:xfrm flipH="false" flipV="false" rot="0">
              <a:off x="0" y="0"/>
              <a:ext cx="21987890" cy="6382131"/>
            </a:xfrm>
            <a:custGeom>
              <a:avLst/>
              <a:gdLst/>
              <a:ahLst/>
              <a:cxnLst/>
              <a:rect r="r" b="b" t="t" l="l"/>
              <a:pathLst>
                <a:path h="6382131" w="21987890">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name="Group 24" id="24"/>
          <p:cNvGrpSpPr/>
          <p:nvPr/>
        </p:nvGrpSpPr>
        <p:grpSpPr>
          <a:xfrm rot="0">
            <a:off x="1280160" y="4663440"/>
            <a:ext cx="15727680" cy="512064"/>
            <a:chOff x="0" y="0"/>
            <a:chExt cx="20970240" cy="682752"/>
          </a:xfrm>
        </p:grpSpPr>
        <p:sp>
          <p:nvSpPr>
            <p:cNvPr name="Freeform 25" id="25"/>
            <p:cNvSpPr/>
            <p:nvPr/>
          </p:nvSpPr>
          <p:spPr>
            <a:xfrm flipH="false" flipV="false" rot="0">
              <a:off x="0" y="0"/>
              <a:ext cx="20970239" cy="682752"/>
            </a:xfrm>
            <a:custGeom>
              <a:avLst/>
              <a:gdLst/>
              <a:ahLst/>
              <a:cxnLst/>
              <a:rect r="r" b="b" t="t" l="l"/>
              <a:pathLst>
                <a:path h="682752" w="20970239">
                  <a:moveTo>
                    <a:pt x="0" y="0"/>
                  </a:moveTo>
                  <a:lnTo>
                    <a:pt x="20970239" y="0"/>
                  </a:lnTo>
                  <a:lnTo>
                    <a:pt x="20970239" y="682752"/>
                  </a:lnTo>
                  <a:lnTo>
                    <a:pt x="0" y="682752"/>
                  </a:lnTo>
                  <a:close/>
                </a:path>
              </a:pathLst>
            </a:custGeom>
            <a:blipFill>
              <a:blip r:embed="rId3">
                <a:alphaModFix amt="0"/>
              </a:blip>
              <a:stretch>
                <a:fillRect l="0" t="-548469" r="0" b="-548469"/>
              </a:stretch>
            </a:blipFill>
          </p:spPr>
        </p:sp>
        <p:sp>
          <p:nvSpPr>
            <p:cNvPr name="TextBox 26" id="26"/>
            <p:cNvSpPr txBox="true"/>
            <p:nvPr/>
          </p:nvSpPr>
          <p:spPr>
            <a:xfrm>
              <a:off x="0" y="-38100"/>
              <a:ext cx="20970240" cy="720852"/>
            </a:xfrm>
            <a:prstGeom prst="rect">
              <a:avLst/>
            </a:prstGeom>
          </p:spPr>
          <p:txBody>
            <a:bodyPr anchor="ctr" rtlCol="false" tIns="0" lIns="0" bIns="0" rIns="0"/>
            <a:lstStyle/>
            <a:p>
              <a:pPr algn="l">
                <a:lnSpc>
                  <a:spcPts val="2400"/>
                </a:lnSpc>
              </a:pPr>
              <a:r>
                <a:rPr lang="en-US" b="true" sz="2000" spc="300">
                  <a:solidFill>
                    <a:srgbClr val="00897B"/>
                  </a:solidFill>
                  <a:latin typeface="Times New Roman"/>
                  <a:ea typeface="Times New Roman"/>
                  <a:cs typeface="Times New Roman"/>
                  <a:sym typeface="Times New Roman"/>
                </a:rPr>
                <a:t>NỘI DUNG CẦN ĐIỀN</a:t>
              </a:r>
            </a:p>
          </p:txBody>
        </p:sp>
      </p:grpSp>
      <p:sp>
        <p:nvSpPr>
          <p:cNvPr name="TextBox 27" id="27"/>
          <p:cNvSpPr txBox="true"/>
          <p:nvPr/>
        </p:nvSpPr>
        <p:spPr>
          <a:xfrm rot="0">
            <a:off x="1280160" y="5265420"/>
            <a:ext cx="15727680" cy="3604260"/>
          </a:xfrm>
          <a:prstGeom prst="rect">
            <a:avLst/>
          </a:prstGeom>
        </p:spPr>
        <p:txBody>
          <a:bodyPr anchor="t" rtlCol="false" tIns="0" lIns="0" bIns="0" rIns="0">
            <a:spAutoFit/>
          </a:bodyPr>
          <a:lstStyle/>
          <a:p>
            <a:pPr algn="l">
              <a:lnSpc>
                <a:spcPts val="2879"/>
              </a:lnSpc>
            </a:pPr>
            <a:r>
              <a:rPr lang="en-US" sz="2400">
                <a:solidFill>
                  <a:srgbClr val="5B6B82"/>
                </a:solidFill>
                <a:latin typeface="Times New Roman"/>
                <a:ea typeface="Times New Roman"/>
                <a:cs typeface="Times New Roman"/>
                <a:sym typeface="Times New Roman"/>
              </a:rPr>
              <a:t>Phạm vi: lan truyền, truyền, xếp hàng, xử lý</a:t>
            </a:r>
          </a:p>
          <a:p>
            <a:pPr algn="l">
              <a:lnSpc>
                <a:spcPts val="2879"/>
              </a:lnSpc>
            </a:pPr>
            <a:r>
              <a:rPr lang="en-US" sz="2400">
                <a:solidFill>
                  <a:srgbClr val="5B6B82"/>
                </a:solidFill>
                <a:latin typeface="Times New Roman"/>
                <a:ea typeface="Times New Roman"/>
                <a:cs typeface="Times New Roman"/>
                <a:sym typeface="Times New Roman"/>
              </a:rPr>
              <a:t>Lấy từ NoiDung_ChiTiet.md, Mục 2.1. Câu trả lời mẫu: phụ lục A.</a:t>
            </a:r>
          </a:p>
        </p:txBody>
      </p:sp>
      <p:sp>
        <p:nvSpPr>
          <p:cNvPr name="TextBox 28" id="28"/>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22</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12" name="Header band"/>
          <p:cNvSpPr/>
          <p:nvPr/>
        </p:nvSpPr>
        <p:spPr>
          <a:xfrm>
            <a:off x="0" y="0"/>
            <a:ext cx="18288000" cy="2103120"/>
          </a:xfrm>
          <a:prstGeom prst="rect">
            <a:avLst/>
          </a:prstGeom>
          <a:solidFill>
            <a:srgbClr val="14213D"/>
          </a:solidFill>
          <a:ln>
            <a:noFill/>
          </a:ln>
        </p:spPr>
      </p:sp>
      <p:sp>
        <p:nvSpPr>
          <p:cNvPr id="9013"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DỰ PHÒNG D2 · NGUỒN: MỤC 2.3</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TCP chi tiết</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Q&amp;A</a:t>
              </a:r>
            </a:p>
          </p:txBody>
        </p:sp>
      </p:grpSp>
      <p:grpSp>
        <p:nvGrpSpPr>
          <p:cNvPr name="Group 14" id="14"/>
          <p:cNvGrpSpPr/>
          <p:nvPr/>
        </p:nvGrpSpPr>
        <p:grpSpPr>
          <a:xfrm rot="0">
            <a:off x="901703" y="2456183"/>
            <a:ext cx="16484603" cy="1488443"/>
            <a:chOff x="0" y="0"/>
            <a:chExt cx="21979471" cy="1984591"/>
          </a:xfrm>
        </p:grpSpPr>
        <p:sp>
          <p:nvSpPr>
            <p:cNvPr name="Freeform 15" id="15"/>
            <p:cNvSpPr/>
            <p:nvPr/>
          </p:nvSpPr>
          <p:spPr>
            <a:xfrm flipH="false" flipV="false" rot="0">
              <a:off x="0" y="0"/>
              <a:ext cx="21979382" cy="1984502"/>
            </a:xfrm>
            <a:custGeom>
              <a:avLst/>
              <a:gdLst/>
              <a:ahLst/>
              <a:cxnLst/>
              <a:rect r="r" b="b" t="t" l="l"/>
              <a:pathLst>
                <a:path h="1984502" w="2197938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name="Group 16" id="16"/>
          <p:cNvGrpSpPr/>
          <p:nvPr/>
        </p:nvGrpSpPr>
        <p:grpSpPr>
          <a:xfrm rot="0">
            <a:off x="1371600" y="2468880"/>
            <a:ext cx="2377440" cy="1463040"/>
            <a:chOff x="0" y="0"/>
            <a:chExt cx="3169920" cy="1950720"/>
          </a:xfrm>
        </p:grpSpPr>
        <p:sp>
          <p:nvSpPr>
            <p:cNvPr name="Freeform 17" id="17"/>
            <p:cNvSpPr/>
            <p:nvPr/>
          </p:nvSpPr>
          <p:spPr>
            <a:xfrm flipH="false" flipV="false" rot="0">
              <a:off x="0" y="0"/>
              <a:ext cx="3169920" cy="1950720"/>
            </a:xfrm>
            <a:custGeom>
              <a:avLst/>
              <a:gdLst/>
              <a:ahLst/>
              <a:cxnLst/>
              <a:rect r="r" b="b" t="t" l="l"/>
              <a:pathLst>
                <a:path h="1950720" w="3169920">
                  <a:moveTo>
                    <a:pt x="0" y="0"/>
                  </a:moveTo>
                  <a:lnTo>
                    <a:pt x="3169920" y="0"/>
                  </a:lnTo>
                  <a:lnTo>
                    <a:pt x="3169920" y="1950720"/>
                  </a:lnTo>
                  <a:lnTo>
                    <a:pt x="0" y="1950720"/>
                  </a:lnTo>
                  <a:close/>
                </a:path>
              </a:pathLst>
            </a:custGeom>
            <a:blipFill>
              <a:blip r:embed="rId3">
                <a:alphaModFix amt="0"/>
              </a:blip>
              <a:stretch>
                <a:fillRect l="-28956" t="0" r="-28956" b="0"/>
              </a:stretch>
            </a:blipFill>
          </p:spPr>
        </p:sp>
        <p:sp>
          <p:nvSpPr>
            <p:cNvPr name="TextBox 18" id="18"/>
            <p:cNvSpPr txBox="true"/>
            <p:nvPr/>
          </p:nvSpPr>
          <p:spPr>
            <a:xfrm>
              <a:off x="0" y="-38100"/>
              <a:ext cx="3169920" cy="1988820"/>
            </a:xfrm>
            <a:prstGeom prst="rect">
              <a:avLst/>
            </a:prstGeom>
          </p:spPr>
          <p:txBody>
            <a:bodyPr anchor="ctr" rtlCol="false" tIns="0" lIns="0" bIns="0" rIns="0"/>
            <a:lstStyle/>
            <a:p>
              <a:pPr algn="l">
                <a:lnSpc>
                  <a:spcPts val="2400"/>
                </a:lnSpc>
              </a:pPr>
              <a:r>
                <a:rPr lang="en-US" b="true" sz="2000" spc="300">
                  <a:solidFill>
                    <a:srgbClr val="BFE8E3"/>
                  </a:solidFill>
                  <a:latin typeface="Times New Roman"/>
                  <a:ea typeface="Times New Roman"/>
                  <a:cs typeface="Times New Roman"/>
                  <a:sym typeface="Times New Roman"/>
                </a:rPr>
                <a:t>KHI BỊ HỎI</a:t>
              </a:r>
            </a:p>
          </p:txBody>
        </p:sp>
      </p:grpSp>
      <p:grpSp>
        <p:nvGrpSpPr>
          <p:cNvPr name="Group 19" id="19"/>
          <p:cNvGrpSpPr/>
          <p:nvPr/>
        </p:nvGrpSpPr>
        <p:grpSpPr>
          <a:xfrm rot="0">
            <a:off x="3749040" y="2468880"/>
            <a:ext cx="13167360" cy="1463040"/>
            <a:chOff x="0" y="0"/>
            <a:chExt cx="17556480" cy="1950720"/>
          </a:xfrm>
        </p:grpSpPr>
        <p:sp>
          <p:nvSpPr>
            <p:cNvPr name="Freeform 20" id="20"/>
            <p:cNvSpPr/>
            <p:nvPr/>
          </p:nvSpPr>
          <p:spPr>
            <a:xfrm flipH="false" flipV="false" rot="0">
              <a:off x="0" y="0"/>
              <a:ext cx="17556480" cy="1950720"/>
            </a:xfrm>
            <a:custGeom>
              <a:avLst/>
              <a:gdLst/>
              <a:ahLst/>
              <a:cxnLst/>
              <a:rect r="r" b="b" t="t" l="l"/>
              <a:pathLst>
                <a:path h="1950720" w="17556480">
                  <a:moveTo>
                    <a:pt x="0" y="0"/>
                  </a:moveTo>
                  <a:lnTo>
                    <a:pt x="17556480" y="0"/>
                  </a:lnTo>
                  <a:lnTo>
                    <a:pt x="17556480" y="1950720"/>
                  </a:lnTo>
                  <a:lnTo>
                    <a:pt x="0" y="1950720"/>
                  </a:lnTo>
                  <a:close/>
                </a:path>
              </a:pathLst>
            </a:custGeom>
            <a:blipFill>
              <a:blip r:embed="rId3">
                <a:alphaModFix amt="0"/>
              </a:blip>
              <a:stretch>
                <a:fillRect l="0" t="-125365" r="0" b="-125365"/>
              </a:stretch>
            </a:blipFill>
          </p:spPr>
        </p:sp>
        <p:sp>
          <p:nvSpPr>
            <p:cNvPr name="TextBox 21" id="21"/>
            <p:cNvSpPr txBox="true"/>
            <p:nvPr/>
          </p:nvSpPr>
          <p:spPr>
            <a:xfrm>
              <a:off x="0" y="-57150"/>
              <a:ext cx="17556480" cy="2007870"/>
            </a:xfrm>
            <a:prstGeom prst="rect">
              <a:avLst/>
            </a:prstGeom>
          </p:spPr>
          <p:txBody>
            <a:bodyPr anchor="ctr" rtlCol="false" tIns="0" lIns="0" bIns="0" rIns="0"/>
            <a:lstStyle/>
            <a:p>
              <a:pPr algn="l">
                <a:lnSpc>
                  <a:spcPts val="3840"/>
                </a:lnSpc>
              </a:pPr>
              <a:r>
                <a:rPr lang="en-US" sz="3200" i="true">
                  <a:solidFill>
                    <a:srgbClr val="FFFFFF"/>
                  </a:solidFill>
                  <a:latin typeface="Times New Roman"/>
                  <a:ea typeface="Times New Roman"/>
                  <a:cs typeface="Times New Roman"/>
                  <a:sym typeface="Times New Roman"/>
                </a:rPr>
                <a:t>“Sao không dùng TCP cho tất cả, tắt Nagle là xong?”</a:t>
              </a:r>
            </a:p>
          </p:txBody>
        </p:sp>
      </p:grpSp>
      <p:grpSp>
        <p:nvGrpSpPr>
          <p:cNvPr name="Group 22" id="22"/>
          <p:cNvGrpSpPr/>
          <p:nvPr/>
        </p:nvGrpSpPr>
        <p:grpSpPr>
          <a:xfrm rot="0">
            <a:off x="898522" y="4373242"/>
            <a:ext cx="16490947" cy="4786627"/>
            <a:chOff x="0" y="0"/>
            <a:chExt cx="21987929" cy="6382169"/>
          </a:xfrm>
        </p:grpSpPr>
        <p:sp>
          <p:nvSpPr>
            <p:cNvPr name="Freeform 23" id="23"/>
            <p:cNvSpPr/>
            <p:nvPr/>
          </p:nvSpPr>
          <p:spPr>
            <a:xfrm flipH="false" flipV="false" rot="0">
              <a:off x="0" y="0"/>
              <a:ext cx="21987890" cy="6382131"/>
            </a:xfrm>
            <a:custGeom>
              <a:avLst/>
              <a:gdLst/>
              <a:ahLst/>
              <a:cxnLst/>
              <a:rect r="r" b="b" t="t" l="l"/>
              <a:pathLst>
                <a:path h="6382131" w="21987890">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name="Group 24" id="24"/>
          <p:cNvGrpSpPr/>
          <p:nvPr/>
        </p:nvGrpSpPr>
        <p:grpSpPr>
          <a:xfrm rot="0">
            <a:off x="1280160" y="4663440"/>
            <a:ext cx="15727680" cy="512064"/>
            <a:chOff x="0" y="0"/>
            <a:chExt cx="20970240" cy="682752"/>
          </a:xfrm>
        </p:grpSpPr>
        <p:sp>
          <p:nvSpPr>
            <p:cNvPr name="Freeform 25" id="25"/>
            <p:cNvSpPr/>
            <p:nvPr/>
          </p:nvSpPr>
          <p:spPr>
            <a:xfrm flipH="false" flipV="false" rot="0">
              <a:off x="0" y="0"/>
              <a:ext cx="20970239" cy="682752"/>
            </a:xfrm>
            <a:custGeom>
              <a:avLst/>
              <a:gdLst/>
              <a:ahLst/>
              <a:cxnLst/>
              <a:rect r="r" b="b" t="t" l="l"/>
              <a:pathLst>
                <a:path h="682752" w="20970239">
                  <a:moveTo>
                    <a:pt x="0" y="0"/>
                  </a:moveTo>
                  <a:lnTo>
                    <a:pt x="20970239" y="0"/>
                  </a:lnTo>
                  <a:lnTo>
                    <a:pt x="20970239" y="682752"/>
                  </a:lnTo>
                  <a:lnTo>
                    <a:pt x="0" y="682752"/>
                  </a:lnTo>
                  <a:close/>
                </a:path>
              </a:pathLst>
            </a:custGeom>
            <a:blipFill>
              <a:blip r:embed="rId3">
                <a:alphaModFix amt="0"/>
              </a:blip>
              <a:stretch>
                <a:fillRect l="0" t="-548469" r="0" b="-548469"/>
              </a:stretch>
            </a:blipFill>
          </p:spPr>
        </p:sp>
        <p:sp>
          <p:nvSpPr>
            <p:cNvPr name="TextBox 26" id="26"/>
            <p:cNvSpPr txBox="true"/>
            <p:nvPr/>
          </p:nvSpPr>
          <p:spPr>
            <a:xfrm>
              <a:off x="0" y="-38100"/>
              <a:ext cx="20970240" cy="720852"/>
            </a:xfrm>
            <a:prstGeom prst="rect">
              <a:avLst/>
            </a:prstGeom>
          </p:spPr>
          <p:txBody>
            <a:bodyPr anchor="ctr" rtlCol="false" tIns="0" lIns="0" bIns="0" rIns="0"/>
            <a:lstStyle/>
            <a:p>
              <a:pPr algn="l">
                <a:lnSpc>
                  <a:spcPts val="2400"/>
                </a:lnSpc>
              </a:pPr>
              <a:r>
                <a:rPr lang="en-US" b="true" sz="2000" spc="300">
                  <a:solidFill>
                    <a:srgbClr val="00897B"/>
                  </a:solidFill>
                  <a:latin typeface="Times New Roman"/>
                  <a:ea typeface="Times New Roman"/>
                  <a:cs typeface="Times New Roman"/>
                  <a:sym typeface="Times New Roman"/>
                </a:rPr>
                <a:t>NỘI DUNG CẦN ĐIỀN</a:t>
              </a:r>
            </a:p>
          </p:txBody>
        </p:sp>
      </p:grpSp>
      <p:sp>
        <p:nvSpPr>
          <p:cNvPr name="TextBox 27" id="27"/>
          <p:cNvSpPr txBox="true"/>
          <p:nvPr/>
        </p:nvSpPr>
        <p:spPr>
          <a:xfrm rot="0">
            <a:off x="1280160" y="5265420"/>
            <a:ext cx="15727680" cy="3604260"/>
          </a:xfrm>
          <a:prstGeom prst="rect">
            <a:avLst/>
          </a:prstGeom>
        </p:spPr>
        <p:txBody>
          <a:bodyPr anchor="t" rtlCol="false" tIns="0" lIns="0" bIns="0" rIns="0">
            <a:spAutoFit/>
          </a:bodyPr>
          <a:lstStyle/>
          <a:p>
            <a:pPr algn="l">
              <a:lnSpc>
                <a:spcPts val="2879"/>
              </a:lnSpc>
            </a:pPr>
            <a:r>
              <a:rPr lang="en-US" sz="2400">
                <a:solidFill>
                  <a:srgbClr val="5B6B82"/>
                </a:solidFill>
                <a:latin typeface="Times New Roman"/>
                <a:ea typeface="Times New Roman"/>
                <a:cs typeface="Times New Roman"/>
                <a:sym typeface="Times New Roman"/>
              </a:rPr>
              <a:t>Phạm vi: thời gian chờ gửi lại, thuật toán Nagle</a:t>
            </a:r>
          </a:p>
          <a:p>
            <a:pPr algn="l">
              <a:lnSpc>
                <a:spcPts val="2879"/>
              </a:lnSpc>
            </a:pPr>
            <a:r>
              <a:rPr lang="en-US" sz="2400">
                <a:solidFill>
                  <a:srgbClr val="5B6B82"/>
                </a:solidFill>
                <a:latin typeface="Times New Roman"/>
                <a:ea typeface="Times New Roman"/>
                <a:cs typeface="Times New Roman"/>
                <a:sym typeface="Times New Roman"/>
              </a:rPr>
              <a:t>Lấy từ NoiDung_ChiTiet.md, Mục 2.3. Câu trả lời mẫu: phụ lục A.</a:t>
            </a:r>
          </a:p>
        </p:txBody>
      </p:sp>
      <p:sp>
        <p:nvSpPr>
          <p:cNvPr name="TextBox 28" id="28"/>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23</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14" name="Header band"/>
          <p:cNvSpPr/>
          <p:nvPr/>
        </p:nvSpPr>
        <p:spPr>
          <a:xfrm>
            <a:off x="0" y="0"/>
            <a:ext cx="18288000" cy="2103120"/>
          </a:xfrm>
          <a:prstGeom prst="rect">
            <a:avLst/>
          </a:prstGeom>
          <a:solidFill>
            <a:srgbClr val="14213D"/>
          </a:solidFill>
          <a:ln>
            <a:noFill/>
          </a:ln>
        </p:spPr>
      </p:sp>
      <p:sp>
        <p:nvSpPr>
          <p:cNvPr id="9015"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DỰ PHÒNG D3 · NGUỒN: VĐ1</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Bộ tích luỹ thời gian</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Q&amp;A</a:t>
              </a:r>
            </a:p>
          </p:txBody>
        </p:sp>
      </p:grpSp>
      <p:grpSp>
        <p:nvGrpSpPr>
          <p:cNvPr name="Group 14" id="14"/>
          <p:cNvGrpSpPr/>
          <p:nvPr/>
        </p:nvGrpSpPr>
        <p:grpSpPr>
          <a:xfrm rot="0">
            <a:off x="901703" y="2456183"/>
            <a:ext cx="16484603" cy="1488443"/>
            <a:chOff x="0" y="0"/>
            <a:chExt cx="21979471" cy="1984591"/>
          </a:xfrm>
        </p:grpSpPr>
        <p:sp>
          <p:nvSpPr>
            <p:cNvPr name="Freeform 15" id="15"/>
            <p:cNvSpPr/>
            <p:nvPr/>
          </p:nvSpPr>
          <p:spPr>
            <a:xfrm flipH="false" flipV="false" rot="0">
              <a:off x="0" y="0"/>
              <a:ext cx="21979382" cy="1984502"/>
            </a:xfrm>
            <a:custGeom>
              <a:avLst/>
              <a:gdLst/>
              <a:ahLst/>
              <a:cxnLst/>
              <a:rect r="r" b="b" t="t" l="l"/>
              <a:pathLst>
                <a:path h="1984502" w="2197938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name="Group 16" id="16"/>
          <p:cNvGrpSpPr/>
          <p:nvPr/>
        </p:nvGrpSpPr>
        <p:grpSpPr>
          <a:xfrm rot="0">
            <a:off x="1371600" y="2468880"/>
            <a:ext cx="2377440" cy="1463040"/>
            <a:chOff x="0" y="0"/>
            <a:chExt cx="3169920" cy="1950720"/>
          </a:xfrm>
        </p:grpSpPr>
        <p:sp>
          <p:nvSpPr>
            <p:cNvPr name="Freeform 17" id="17"/>
            <p:cNvSpPr/>
            <p:nvPr/>
          </p:nvSpPr>
          <p:spPr>
            <a:xfrm flipH="false" flipV="false" rot="0">
              <a:off x="0" y="0"/>
              <a:ext cx="3169920" cy="1950720"/>
            </a:xfrm>
            <a:custGeom>
              <a:avLst/>
              <a:gdLst/>
              <a:ahLst/>
              <a:cxnLst/>
              <a:rect r="r" b="b" t="t" l="l"/>
              <a:pathLst>
                <a:path h="1950720" w="3169920">
                  <a:moveTo>
                    <a:pt x="0" y="0"/>
                  </a:moveTo>
                  <a:lnTo>
                    <a:pt x="3169920" y="0"/>
                  </a:lnTo>
                  <a:lnTo>
                    <a:pt x="3169920" y="1950720"/>
                  </a:lnTo>
                  <a:lnTo>
                    <a:pt x="0" y="1950720"/>
                  </a:lnTo>
                  <a:close/>
                </a:path>
              </a:pathLst>
            </a:custGeom>
            <a:blipFill>
              <a:blip r:embed="rId3">
                <a:alphaModFix amt="0"/>
              </a:blip>
              <a:stretch>
                <a:fillRect l="-28956" t="0" r="-28956" b="0"/>
              </a:stretch>
            </a:blipFill>
          </p:spPr>
        </p:sp>
        <p:sp>
          <p:nvSpPr>
            <p:cNvPr name="TextBox 18" id="18"/>
            <p:cNvSpPr txBox="true"/>
            <p:nvPr/>
          </p:nvSpPr>
          <p:spPr>
            <a:xfrm>
              <a:off x="0" y="-38100"/>
              <a:ext cx="3169920" cy="1988820"/>
            </a:xfrm>
            <a:prstGeom prst="rect">
              <a:avLst/>
            </a:prstGeom>
          </p:spPr>
          <p:txBody>
            <a:bodyPr anchor="ctr" rtlCol="false" tIns="0" lIns="0" bIns="0" rIns="0"/>
            <a:lstStyle/>
            <a:p>
              <a:pPr algn="l">
                <a:lnSpc>
                  <a:spcPts val="2400"/>
                </a:lnSpc>
              </a:pPr>
              <a:r>
                <a:rPr lang="en-US" b="true" sz="2000" spc="300">
                  <a:solidFill>
                    <a:srgbClr val="BFE8E3"/>
                  </a:solidFill>
                  <a:latin typeface="Times New Roman"/>
                  <a:ea typeface="Times New Roman"/>
                  <a:cs typeface="Times New Roman"/>
                  <a:sym typeface="Times New Roman"/>
                </a:rPr>
                <a:t>KHI BỊ HỎI</a:t>
              </a:r>
            </a:p>
          </p:txBody>
        </p:sp>
      </p:grpSp>
      <p:grpSp>
        <p:nvGrpSpPr>
          <p:cNvPr name="Group 19" id="19"/>
          <p:cNvGrpSpPr/>
          <p:nvPr/>
        </p:nvGrpSpPr>
        <p:grpSpPr>
          <a:xfrm rot="0">
            <a:off x="3749040" y="2468880"/>
            <a:ext cx="13167360" cy="1463040"/>
            <a:chOff x="0" y="0"/>
            <a:chExt cx="17556480" cy="1950720"/>
          </a:xfrm>
        </p:grpSpPr>
        <p:sp>
          <p:nvSpPr>
            <p:cNvPr name="Freeform 20" id="20"/>
            <p:cNvSpPr/>
            <p:nvPr/>
          </p:nvSpPr>
          <p:spPr>
            <a:xfrm flipH="false" flipV="false" rot="0">
              <a:off x="0" y="0"/>
              <a:ext cx="17556480" cy="1950720"/>
            </a:xfrm>
            <a:custGeom>
              <a:avLst/>
              <a:gdLst/>
              <a:ahLst/>
              <a:cxnLst/>
              <a:rect r="r" b="b" t="t" l="l"/>
              <a:pathLst>
                <a:path h="1950720" w="17556480">
                  <a:moveTo>
                    <a:pt x="0" y="0"/>
                  </a:moveTo>
                  <a:lnTo>
                    <a:pt x="17556480" y="0"/>
                  </a:lnTo>
                  <a:lnTo>
                    <a:pt x="17556480" y="1950720"/>
                  </a:lnTo>
                  <a:lnTo>
                    <a:pt x="0" y="1950720"/>
                  </a:lnTo>
                  <a:close/>
                </a:path>
              </a:pathLst>
            </a:custGeom>
            <a:blipFill>
              <a:blip r:embed="rId3">
                <a:alphaModFix amt="0"/>
              </a:blip>
              <a:stretch>
                <a:fillRect l="0" t="-125365" r="0" b="-125365"/>
              </a:stretch>
            </a:blipFill>
          </p:spPr>
        </p:sp>
        <p:sp>
          <p:nvSpPr>
            <p:cNvPr name="TextBox 21" id="21"/>
            <p:cNvSpPr txBox="true"/>
            <p:nvPr/>
          </p:nvSpPr>
          <p:spPr>
            <a:xfrm>
              <a:off x="0" y="-57150"/>
              <a:ext cx="17556480" cy="2007870"/>
            </a:xfrm>
            <a:prstGeom prst="rect">
              <a:avLst/>
            </a:prstGeom>
          </p:spPr>
          <p:txBody>
            <a:bodyPr anchor="ctr" rtlCol="false" tIns="0" lIns="0" bIns="0" rIns="0"/>
            <a:lstStyle/>
            <a:p>
              <a:pPr algn="l">
                <a:lnSpc>
                  <a:spcPts val="3840"/>
                </a:lnSpc>
              </a:pPr>
              <a:r>
                <a:rPr lang="en-US" sz="3200" i="true">
                  <a:solidFill>
                    <a:srgbClr val="FFFFFF"/>
                  </a:solidFill>
                  <a:latin typeface="Times New Roman"/>
                  <a:ea typeface="Times New Roman"/>
                  <a:cs typeface="Times New Roman"/>
                  <a:sym typeface="Times New Roman"/>
                </a:rPr>
                <a:t>“Chọn 30 nhịp/giây thế nào? Client 144 Hz thì sao?”</a:t>
              </a:r>
            </a:p>
          </p:txBody>
        </p:sp>
      </p:grpSp>
      <p:grpSp>
        <p:nvGrpSpPr>
          <p:cNvPr name="Group 22" id="22"/>
          <p:cNvGrpSpPr/>
          <p:nvPr/>
        </p:nvGrpSpPr>
        <p:grpSpPr>
          <a:xfrm rot="0">
            <a:off x="898522" y="4373242"/>
            <a:ext cx="16490947" cy="4786627"/>
            <a:chOff x="0" y="0"/>
            <a:chExt cx="21987929" cy="6382169"/>
          </a:xfrm>
        </p:grpSpPr>
        <p:sp>
          <p:nvSpPr>
            <p:cNvPr name="Freeform 23" id="23"/>
            <p:cNvSpPr/>
            <p:nvPr/>
          </p:nvSpPr>
          <p:spPr>
            <a:xfrm flipH="false" flipV="false" rot="0">
              <a:off x="0" y="0"/>
              <a:ext cx="21987890" cy="6382131"/>
            </a:xfrm>
            <a:custGeom>
              <a:avLst/>
              <a:gdLst/>
              <a:ahLst/>
              <a:cxnLst/>
              <a:rect r="r" b="b" t="t" l="l"/>
              <a:pathLst>
                <a:path h="6382131" w="21987890">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name="Group 24" id="24"/>
          <p:cNvGrpSpPr/>
          <p:nvPr/>
        </p:nvGrpSpPr>
        <p:grpSpPr>
          <a:xfrm rot="0">
            <a:off x="1280160" y="4663440"/>
            <a:ext cx="15727680" cy="512064"/>
            <a:chOff x="0" y="0"/>
            <a:chExt cx="20970240" cy="682752"/>
          </a:xfrm>
        </p:grpSpPr>
        <p:sp>
          <p:nvSpPr>
            <p:cNvPr name="Freeform 25" id="25"/>
            <p:cNvSpPr/>
            <p:nvPr/>
          </p:nvSpPr>
          <p:spPr>
            <a:xfrm flipH="false" flipV="false" rot="0">
              <a:off x="0" y="0"/>
              <a:ext cx="20970239" cy="682752"/>
            </a:xfrm>
            <a:custGeom>
              <a:avLst/>
              <a:gdLst/>
              <a:ahLst/>
              <a:cxnLst/>
              <a:rect r="r" b="b" t="t" l="l"/>
              <a:pathLst>
                <a:path h="682752" w="20970239">
                  <a:moveTo>
                    <a:pt x="0" y="0"/>
                  </a:moveTo>
                  <a:lnTo>
                    <a:pt x="20970239" y="0"/>
                  </a:lnTo>
                  <a:lnTo>
                    <a:pt x="20970239" y="682752"/>
                  </a:lnTo>
                  <a:lnTo>
                    <a:pt x="0" y="682752"/>
                  </a:lnTo>
                  <a:close/>
                </a:path>
              </a:pathLst>
            </a:custGeom>
            <a:blipFill>
              <a:blip r:embed="rId3">
                <a:alphaModFix amt="0"/>
              </a:blip>
              <a:stretch>
                <a:fillRect l="0" t="-548469" r="0" b="-548469"/>
              </a:stretch>
            </a:blipFill>
          </p:spPr>
        </p:sp>
        <p:sp>
          <p:nvSpPr>
            <p:cNvPr name="TextBox 26" id="26"/>
            <p:cNvSpPr txBox="true"/>
            <p:nvPr/>
          </p:nvSpPr>
          <p:spPr>
            <a:xfrm>
              <a:off x="0" y="-38100"/>
              <a:ext cx="20970240" cy="720852"/>
            </a:xfrm>
            <a:prstGeom prst="rect">
              <a:avLst/>
            </a:prstGeom>
          </p:spPr>
          <p:txBody>
            <a:bodyPr anchor="ctr" rtlCol="false" tIns="0" lIns="0" bIns="0" rIns="0"/>
            <a:lstStyle/>
            <a:p>
              <a:pPr algn="l">
                <a:lnSpc>
                  <a:spcPts val="2400"/>
                </a:lnSpc>
              </a:pPr>
              <a:r>
                <a:rPr lang="en-US" b="true" sz="2000" spc="300">
                  <a:solidFill>
                    <a:srgbClr val="00897B"/>
                  </a:solidFill>
                  <a:latin typeface="Times New Roman"/>
                  <a:ea typeface="Times New Roman"/>
                  <a:cs typeface="Times New Roman"/>
                  <a:sym typeface="Times New Roman"/>
                </a:rPr>
                <a:t>NỘI DUNG CẦN ĐIỀN</a:t>
              </a:r>
            </a:p>
          </p:txBody>
        </p:sp>
      </p:grpSp>
      <p:sp>
        <p:nvSpPr>
          <p:cNvPr name="TextBox 27" id="27"/>
          <p:cNvSpPr txBox="true"/>
          <p:nvPr/>
        </p:nvSpPr>
        <p:spPr>
          <a:xfrm rot="0">
            <a:off x="1280160" y="5265420"/>
            <a:ext cx="15727680" cy="3604260"/>
          </a:xfrm>
          <a:prstGeom prst="rect">
            <a:avLst/>
          </a:prstGeom>
        </p:spPr>
        <p:txBody>
          <a:bodyPr anchor="t" rtlCol="false" tIns="0" lIns="0" bIns="0" rIns="0">
            <a:spAutoFit/>
          </a:bodyPr>
          <a:lstStyle/>
          <a:p>
            <a:pPr algn="l">
              <a:lnSpc>
                <a:spcPts val="2879"/>
              </a:lnSpc>
            </a:pPr>
            <a:r>
              <a:rPr lang="en-US" sz="2400">
                <a:solidFill>
                  <a:srgbClr val="5B6B82"/>
                </a:solidFill>
                <a:latin typeface="Times New Roman"/>
                <a:ea typeface="Times New Roman"/>
                <a:cs typeface="Times New Roman"/>
                <a:sym typeface="Times New Roman"/>
              </a:rPr>
              <a:t>Phạm vi: tần số mô phỏng và tần số gửi ảnh</a:t>
            </a:r>
          </a:p>
          <a:p>
            <a:pPr algn="l">
              <a:lnSpc>
                <a:spcPts val="2879"/>
              </a:lnSpc>
            </a:pPr>
            <a:r>
              <a:rPr lang="en-US" sz="2400">
                <a:solidFill>
                  <a:srgbClr val="5B6B82"/>
                </a:solidFill>
                <a:latin typeface="Times New Roman"/>
                <a:ea typeface="Times New Roman"/>
                <a:cs typeface="Times New Roman"/>
                <a:sym typeface="Times New Roman"/>
              </a:rPr>
              <a:t>Lấy từ NoiDung_ChiTiet.md, VĐ1. Câu trả lời mẫu: phụ lục A.</a:t>
            </a:r>
          </a:p>
        </p:txBody>
      </p:sp>
      <p:sp>
        <p:nvSpPr>
          <p:cNvPr name="TextBox 28" id="28"/>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24</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18" name="Header band"/>
          <p:cNvSpPr/>
          <p:nvPr/>
        </p:nvSpPr>
        <p:spPr>
          <a:xfrm>
            <a:off x="0" y="0"/>
            <a:ext cx="18288000" cy="2103120"/>
          </a:xfrm>
          <a:prstGeom prst="rect">
            <a:avLst/>
          </a:prstGeom>
          <a:solidFill>
            <a:srgbClr val="14213D"/>
          </a:solidFill>
          <a:ln>
            <a:noFill/>
          </a:ln>
        </p:spPr>
      </p:sp>
      <p:sp>
        <p:nvSpPr>
          <p:cNvPr id="9019"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DỰ PHÒNG D4 · NGUỒN: VĐ1</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Hàng đợi lệnh ở server</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Q&amp;A</a:t>
              </a:r>
            </a:p>
          </p:txBody>
        </p:sp>
      </p:grpSp>
      <p:grpSp>
        <p:nvGrpSpPr>
          <p:cNvPr name="Group 14" id="14"/>
          <p:cNvGrpSpPr/>
          <p:nvPr/>
        </p:nvGrpSpPr>
        <p:grpSpPr>
          <a:xfrm rot="0">
            <a:off x="901703" y="2456183"/>
            <a:ext cx="16484603" cy="1488443"/>
            <a:chOff x="0" y="0"/>
            <a:chExt cx="21979471" cy="1984591"/>
          </a:xfrm>
        </p:grpSpPr>
        <p:sp>
          <p:nvSpPr>
            <p:cNvPr name="Freeform 15" id="15"/>
            <p:cNvSpPr/>
            <p:nvPr/>
          </p:nvSpPr>
          <p:spPr>
            <a:xfrm flipH="false" flipV="false" rot="0">
              <a:off x="0" y="0"/>
              <a:ext cx="21979382" cy="1984502"/>
            </a:xfrm>
            <a:custGeom>
              <a:avLst/>
              <a:gdLst/>
              <a:ahLst/>
              <a:cxnLst/>
              <a:rect r="r" b="b" t="t" l="l"/>
              <a:pathLst>
                <a:path h="1984502" w="2197938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name="Group 16" id="16"/>
          <p:cNvGrpSpPr/>
          <p:nvPr/>
        </p:nvGrpSpPr>
        <p:grpSpPr>
          <a:xfrm rot="0">
            <a:off x="1371600" y="2468880"/>
            <a:ext cx="2377440" cy="1463040"/>
            <a:chOff x="0" y="0"/>
            <a:chExt cx="3169920" cy="1950720"/>
          </a:xfrm>
        </p:grpSpPr>
        <p:sp>
          <p:nvSpPr>
            <p:cNvPr name="Freeform 17" id="17"/>
            <p:cNvSpPr/>
            <p:nvPr/>
          </p:nvSpPr>
          <p:spPr>
            <a:xfrm flipH="false" flipV="false" rot="0">
              <a:off x="0" y="0"/>
              <a:ext cx="3169920" cy="1950720"/>
            </a:xfrm>
            <a:custGeom>
              <a:avLst/>
              <a:gdLst/>
              <a:ahLst/>
              <a:cxnLst/>
              <a:rect r="r" b="b" t="t" l="l"/>
              <a:pathLst>
                <a:path h="1950720" w="3169920">
                  <a:moveTo>
                    <a:pt x="0" y="0"/>
                  </a:moveTo>
                  <a:lnTo>
                    <a:pt x="3169920" y="0"/>
                  </a:lnTo>
                  <a:lnTo>
                    <a:pt x="3169920" y="1950720"/>
                  </a:lnTo>
                  <a:lnTo>
                    <a:pt x="0" y="1950720"/>
                  </a:lnTo>
                  <a:close/>
                </a:path>
              </a:pathLst>
            </a:custGeom>
            <a:blipFill>
              <a:blip r:embed="rId3">
                <a:alphaModFix amt="0"/>
              </a:blip>
              <a:stretch>
                <a:fillRect l="-28956" t="0" r="-28956" b="0"/>
              </a:stretch>
            </a:blipFill>
          </p:spPr>
        </p:sp>
        <p:sp>
          <p:nvSpPr>
            <p:cNvPr name="TextBox 18" id="18"/>
            <p:cNvSpPr txBox="true"/>
            <p:nvPr/>
          </p:nvSpPr>
          <p:spPr>
            <a:xfrm>
              <a:off x="0" y="-38100"/>
              <a:ext cx="3169920" cy="1988820"/>
            </a:xfrm>
            <a:prstGeom prst="rect">
              <a:avLst/>
            </a:prstGeom>
          </p:spPr>
          <p:txBody>
            <a:bodyPr anchor="ctr" rtlCol="false" tIns="0" lIns="0" bIns="0" rIns="0"/>
            <a:lstStyle/>
            <a:p>
              <a:pPr algn="l">
                <a:lnSpc>
                  <a:spcPts val="2400"/>
                </a:lnSpc>
              </a:pPr>
              <a:r>
                <a:rPr lang="en-US" b="true" sz="2000" spc="300">
                  <a:solidFill>
                    <a:srgbClr val="BFE8E3"/>
                  </a:solidFill>
                  <a:latin typeface="Times New Roman"/>
                  <a:ea typeface="Times New Roman"/>
                  <a:cs typeface="Times New Roman"/>
                  <a:sym typeface="Times New Roman"/>
                </a:rPr>
                <a:t>KHI BỊ HỎI</a:t>
              </a:r>
            </a:p>
          </p:txBody>
        </p:sp>
      </p:grpSp>
      <p:grpSp>
        <p:nvGrpSpPr>
          <p:cNvPr name="Group 19" id="19"/>
          <p:cNvGrpSpPr/>
          <p:nvPr/>
        </p:nvGrpSpPr>
        <p:grpSpPr>
          <a:xfrm rot="0">
            <a:off x="3749040" y="2468880"/>
            <a:ext cx="13167360" cy="1463040"/>
            <a:chOff x="0" y="0"/>
            <a:chExt cx="17556480" cy="1950720"/>
          </a:xfrm>
        </p:grpSpPr>
        <p:sp>
          <p:nvSpPr>
            <p:cNvPr name="Freeform 20" id="20"/>
            <p:cNvSpPr/>
            <p:nvPr/>
          </p:nvSpPr>
          <p:spPr>
            <a:xfrm flipH="false" flipV="false" rot="0">
              <a:off x="0" y="0"/>
              <a:ext cx="17556480" cy="1950720"/>
            </a:xfrm>
            <a:custGeom>
              <a:avLst/>
              <a:gdLst/>
              <a:ahLst/>
              <a:cxnLst/>
              <a:rect r="r" b="b" t="t" l="l"/>
              <a:pathLst>
                <a:path h="1950720" w="17556480">
                  <a:moveTo>
                    <a:pt x="0" y="0"/>
                  </a:moveTo>
                  <a:lnTo>
                    <a:pt x="17556480" y="0"/>
                  </a:lnTo>
                  <a:lnTo>
                    <a:pt x="17556480" y="1950720"/>
                  </a:lnTo>
                  <a:lnTo>
                    <a:pt x="0" y="1950720"/>
                  </a:lnTo>
                  <a:close/>
                </a:path>
              </a:pathLst>
            </a:custGeom>
            <a:blipFill>
              <a:blip r:embed="rId3">
                <a:alphaModFix amt="0"/>
              </a:blip>
              <a:stretch>
                <a:fillRect l="0" t="-125365" r="0" b="-125365"/>
              </a:stretch>
            </a:blipFill>
          </p:spPr>
        </p:sp>
        <p:sp>
          <p:nvSpPr>
            <p:cNvPr name="TextBox 21" id="21"/>
            <p:cNvSpPr txBox="true"/>
            <p:nvPr/>
          </p:nvSpPr>
          <p:spPr>
            <a:xfrm>
              <a:off x="0" y="-57150"/>
              <a:ext cx="17556480" cy="2007870"/>
            </a:xfrm>
            <a:prstGeom prst="rect">
              <a:avLst/>
            </a:prstGeom>
          </p:spPr>
          <p:txBody>
            <a:bodyPr anchor="ctr" rtlCol="false" tIns="0" lIns="0" bIns="0" rIns="0"/>
            <a:lstStyle/>
            <a:p>
              <a:pPr algn="l">
                <a:lnSpc>
                  <a:spcPts val="3840"/>
                </a:lnSpc>
              </a:pPr>
              <a:r>
                <a:rPr lang="en-US" sz="3200" i="true">
                  <a:solidFill>
                    <a:srgbClr val="FFFFFF"/>
                  </a:solidFill>
                  <a:latin typeface="Times New Roman"/>
                  <a:ea typeface="Times New Roman"/>
                  <a:cs typeface="Times New Roman"/>
                  <a:sym typeface="Times New Roman"/>
                </a:rPr>
                <a:t>“Lệnh đến không đều thì server làm gì?”</a:t>
              </a:r>
            </a:p>
          </p:txBody>
        </p:sp>
      </p:grpSp>
      <p:grpSp>
        <p:nvGrpSpPr>
          <p:cNvPr name="Group 22" id="22"/>
          <p:cNvGrpSpPr/>
          <p:nvPr/>
        </p:nvGrpSpPr>
        <p:grpSpPr>
          <a:xfrm rot="0">
            <a:off x="898522" y="4373242"/>
            <a:ext cx="16490947" cy="4786627"/>
            <a:chOff x="0" y="0"/>
            <a:chExt cx="21987929" cy="6382169"/>
          </a:xfrm>
        </p:grpSpPr>
        <p:sp>
          <p:nvSpPr>
            <p:cNvPr name="Freeform 23" id="23"/>
            <p:cNvSpPr/>
            <p:nvPr/>
          </p:nvSpPr>
          <p:spPr>
            <a:xfrm flipH="false" flipV="false" rot="0">
              <a:off x="0" y="0"/>
              <a:ext cx="21987890" cy="6382131"/>
            </a:xfrm>
            <a:custGeom>
              <a:avLst/>
              <a:gdLst/>
              <a:ahLst/>
              <a:cxnLst/>
              <a:rect r="r" b="b" t="t" l="l"/>
              <a:pathLst>
                <a:path h="6382131" w="21987890">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name="Group 24" id="24"/>
          <p:cNvGrpSpPr/>
          <p:nvPr/>
        </p:nvGrpSpPr>
        <p:grpSpPr>
          <a:xfrm rot="0">
            <a:off x="1280160" y="4663440"/>
            <a:ext cx="15727680" cy="512064"/>
            <a:chOff x="0" y="0"/>
            <a:chExt cx="20970240" cy="682752"/>
          </a:xfrm>
        </p:grpSpPr>
        <p:sp>
          <p:nvSpPr>
            <p:cNvPr name="Freeform 25" id="25"/>
            <p:cNvSpPr/>
            <p:nvPr/>
          </p:nvSpPr>
          <p:spPr>
            <a:xfrm flipH="false" flipV="false" rot="0">
              <a:off x="0" y="0"/>
              <a:ext cx="20970239" cy="682752"/>
            </a:xfrm>
            <a:custGeom>
              <a:avLst/>
              <a:gdLst/>
              <a:ahLst/>
              <a:cxnLst/>
              <a:rect r="r" b="b" t="t" l="l"/>
              <a:pathLst>
                <a:path h="682752" w="20970239">
                  <a:moveTo>
                    <a:pt x="0" y="0"/>
                  </a:moveTo>
                  <a:lnTo>
                    <a:pt x="20970239" y="0"/>
                  </a:lnTo>
                  <a:lnTo>
                    <a:pt x="20970239" y="682752"/>
                  </a:lnTo>
                  <a:lnTo>
                    <a:pt x="0" y="682752"/>
                  </a:lnTo>
                  <a:close/>
                </a:path>
              </a:pathLst>
            </a:custGeom>
            <a:blipFill>
              <a:blip r:embed="rId3">
                <a:alphaModFix amt="0"/>
              </a:blip>
              <a:stretch>
                <a:fillRect l="0" t="-548469" r="0" b="-548469"/>
              </a:stretch>
            </a:blipFill>
          </p:spPr>
        </p:sp>
        <p:sp>
          <p:nvSpPr>
            <p:cNvPr name="TextBox 26" id="26"/>
            <p:cNvSpPr txBox="true"/>
            <p:nvPr/>
          </p:nvSpPr>
          <p:spPr>
            <a:xfrm>
              <a:off x="0" y="-38100"/>
              <a:ext cx="20970240" cy="720852"/>
            </a:xfrm>
            <a:prstGeom prst="rect">
              <a:avLst/>
            </a:prstGeom>
          </p:spPr>
          <p:txBody>
            <a:bodyPr anchor="ctr" rtlCol="false" tIns="0" lIns="0" bIns="0" rIns="0"/>
            <a:lstStyle/>
            <a:p>
              <a:pPr algn="l">
                <a:lnSpc>
                  <a:spcPts val="2400"/>
                </a:lnSpc>
              </a:pPr>
              <a:r>
                <a:rPr lang="en-US" b="true" sz="2000" spc="300">
                  <a:solidFill>
                    <a:srgbClr val="00897B"/>
                  </a:solidFill>
                  <a:latin typeface="Times New Roman"/>
                  <a:ea typeface="Times New Roman"/>
                  <a:cs typeface="Times New Roman"/>
                  <a:sym typeface="Times New Roman"/>
                </a:rPr>
                <a:t>NỘI DUNG CẦN ĐIỀN</a:t>
              </a:r>
            </a:p>
          </p:txBody>
        </p:sp>
      </p:grpSp>
      <p:sp>
        <p:nvSpPr>
          <p:cNvPr name="TextBox 27" id="27"/>
          <p:cNvSpPr txBox="true"/>
          <p:nvPr/>
        </p:nvSpPr>
        <p:spPr>
          <a:xfrm rot="0">
            <a:off x="1280160" y="5265420"/>
            <a:ext cx="15727680" cy="3604260"/>
          </a:xfrm>
          <a:prstGeom prst="rect">
            <a:avLst/>
          </a:prstGeom>
        </p:spPr>
        <p:txBody>
          <a:bodyPr anchor="t" rtlCol="false" tIns="0" lIns="0" bIns="0" rIns="0">
            <a:spAutoFit/>
          </a:bodyPr>
          <a:lstStyle/>
          <a:p>
            <a:pPr algn="l">
              <a:lnSpc>
                <a:spcPts val="2879"/>
              </a:lnSpc>
            </a:pPr>
            <a:r>
              <a:rPr lang="en-US" sz="2400">
                <a:solidFill>
                  <a:srgbClr val="5B6B82"/>
                </a:solidFill>
                <a:latin typeface="Times New Roman"/>
                <a:ea typeface="Times New Roman"/>
                <a:cs typeface="Times New Roman"/>
                <a:sym typeface="Times New Roman"/>
              </a:rPr>
              <a:t>Phạm vi: thiếu lệnh, dồn lệnh, chống hack tốc độ</a:t>
            </a:r>
          </a:p>
          <a:p>
            <a:pPr algn="l">
              <a:lnSpc>
                <a:spcPts val="2879"/>
              </a:lnSpc>
            </a:pPr>
            <a:r>
              <a:rPr lang="en-US" sz="2400">
                <a:solidFill>
                  <a:srgbClr val="5B6B82"/>
                </a:solidFill>
                <a:latin typeface="Times New Roman"/>
                <a:ea typeface="Times New Roman"/>
                <a:cs typeface="Times New Roman"/>
                <a:sym typeface="Times New Roman"/>
              </a:rPr>
              <a:t>Lấy từ NoiDung_ChiTiet.md, VĐ1. Câu trả lời mẫu: phụ lục A.</a:t>
            </a:r>
          </a:p>
        </p:txBody>
      </p:sp>
      <p:sp>
        <p:nvSpPr>
          <p:cNvPr name="TextBox 28" id="28"/>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25</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20" name="Header band"/>
          <p:cNvSpPr/>
          <p:nvPr/>
        </p:nvSpPr>
        <p:spPr>
          <a:xfrm>
            <a:off x="0" y="0"/>
            <a:ext cx="18288000" cy="2103120"/>
          </a:xfrm>
          <a:prstGeom prst="rect">
            <a:avLst/>
          </a:prstGeom>
          <a:solidFill>
            <a:srgbClr val="14213D"/>
          </a:solidFill>
          <a:ln>
            <a:noFill/>
          </a:ln>
        </p:spPr>
      </p:sp>
      <p:sp>
        <p:nvSpPr>
          <p:cNvPr id="9021"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DỰ PHÒNG D5 · NGUỒN: MỤC 5</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Bảng giao thức</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Q&amp;A</a:t>
              </a:r>
            </a:p>
          </p:txBody>
        </p:sp>
      </p:grpSp>
      <p:grpSp>
        <p:nvGrpSpPr>
          <p:cNvPr name="Group 14" id="14"/>
          <p:cNvGrpSpPr/>
          <p:nvPr/>
        </p:nvGrpSpPr>
        <p:grpSpPr>
          <a:xfrm rot="0">
            <a:off x="901703" y="2456183"/>
            <a:ext cx="16484603" cy="1488443"/>
            <a:chOff x="0" y="0"/>
            <a:chExt cx="21979471" cy="1984591"/>
          </a:xfrm>
        </p:grpSpPr>
        <p:sp>
          <p:nvSpPr>
            <p:cNvPr name="Freeform 15" id="15"/>
            <p:cNvSpPr/>
            <p:nvPr/>
          </p:nvSpPr>
          <p:spPr>
            <a:xfrm flipH="false" flipV="false" rot="0">
              <a:off x="0" y="0"/>
              <a:ext cx="21979382" cy="1984502"/>
            </a:xfrm>
            <a:custGeom>
              <a:avLst/>
              <a:gdLst/>
              <a:ahLst/>
              <a:cxnLst/>
              <a:rect r="r" b="b" t="t" l="l"/>
              <a:pathLst>
                <a:path h="1984502" w="2197938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name="Group 16" id="16"/>
          <p:cNvGrpSpPr/>
          <p:nvPr/>
        </p:nvGrpSpPr>
        <p:grpSpPr>
          <a:xfrm rot="0">
            <a:off x="1371600" y="2468880"/>
            <a:ext cx="2377440" cy="1463040"/>
            <a:chOff x="0" y="0"/>
            <a:chExt cx="3169920" cy="1950720"/>
          </a:xfrm>
        </p:grpSpPr>
        <p:sp>
          <p:nvSpPr>
            <p:cNvPr name="Freeform 17" id="17"/>
            <p:cNvSpPr/>
            <p:nvPr/>
          </p:nvSpPr>
          <p:spPr>
            <a:xfrm flipH="false" flipV="false" rot="0">
              <a:off x="0" y="0"/>
              <a:ext cx="3169920" cy="1950720"/>
            </a:xfrm>
            <a:custGeom>
              <a:avLst/>
              <a:gdLst/>
              <a:ahLst/>
              <a:cxnLst/>
              <a:rect r="r" b="b" t="t" l="l"/>
              <a:pathLst>
                <a:path h="1950720" w="3169920">
                  <a:moveTo>
                    <a:pt x="0" y="0"/>
                  </a:moveTo>
                  <a:lnTo>
                    <a:pt x="3169920" y="0"/>
                  </a:lnTo>
                  <a:lnTo>
                    <a:pt x="3169920" y="1950720"/>
                  </a:lnTo>
                  <a:lnTo>
                    <a:pt x="0" y="1950720"/>
                  </a:lnTo>
                  <a:close/>
                </a:path>
              </a:pathLst>
            </a:custGeom>
            <a:blipFill>
              <a:blip r:embed="rId3">
                <a:alphaModFix amt="0"/>
              </a:blip>
              <a:stretch>
                <a:fillRect l="-28956" t="0" r="-28956" b="0"/>
              </a:stretch>
            </a:blipFill>
          </p:spPr>
        </p:sp>
        <p:sp>
          <p:nvSpPr>
            <p:cNvPr name="TextBox 18" id="18"/>
            <p:cNvSpPr txBox="true"/>
            <p:nvPr/>
          </p:nvSpPr>
          <p:spPr>
            <a:xfrm>
              <a:off x="0" y="-38100"/>
              <a:ext cx="3169920" cy="1988820"/>
            </a:xfrm>
            <a:prstGeom prst="rect">
              <a:avLst/>
            </a:prstGeom>
          </p:spPr>
          <p:txBody>
            <a:bodyPr anchor="ctr" rtlCol="false" tIns="0" lIns="0" bIns="0" rIns="0"/>
            <a:lstStyle/>
            <a:p>
              <a:pPr algn="l">
                <a:lnSpc>
                  <a:spcPts val="2400"/>
                </a:lnSpc>
              </a:pPr>
              <a:r>
                <a:rPr lang="en-US" b="true" sz="2000" spc="300">
                  <a:solidFill>
                    <a:srgbClr val="BFE8E3"/>
                  </a:solidFill>
                  <a:latin typeface="Times New Roman"/>
                  <a:ea typeface="Times New Roman"/>
                  <a:cs typeface="Times New Roman"/>
                  <a:sym typeface="Times New Roman"/>
                </a:rPr>
                <a:t>KHI BỊ HỎI</a:t>
              </a:r>
            </a:p>
          </p:txBody>
        </p:sp>
      </p:grpSp>
      <p:grpSp>
        <p:nvGrpSpPr>
          <p:cNvPr name="Group 19" id="19"/>
          <p:cNvGrpSpPr/>
          <p:nvPr/>
        </p:nvGrpSpPr>
        <p:grpSpPr>
          <a:xfrm rot="0">
            <a:off x="3749040" y="2468880"/>
            <a:ext cx="13167360" cy="1463040"/>
            <a:chOff x="0" y="0"/>
            <a:chExt cx="17556480" cy="1950720"/>
          </a:xfrm>
        </p:grpSpPr>
        <p:sp>
          <p:nvSpPr>
            <p:cNvPr name="Freeform 20" id="20"/>
            <p:cNvSpPr/>
            <p:nvPr/>
          </p:nvSpPr>
          <p:spPr>
            <a:xfrm flipH="false" flipV="false" rot="0">
              <a:off x="0" y="0"/>
              <a:ext cx="17556480" cy="1950720"/>
            </a:xfrm>
            <a:custGeom>
              <a:avLst/>
              <a:gdLst/>
              <a:ahLst/>
              <a:cxnLst/>
              <a:rect r="r" b="b" t="t" l="l"/>
              <a:pathLst>
                <a:path h="1950720" w="17556480">
                  <a:moveTo>
                    <a:pt x="0" y="0"/>
                  </a:moveTo>
                  <a:lnTo>
                    <a:pt x="17556480" y="0"/>
                  </a:lnTo>
                  <a:lnTo>
                    <a:pt x="17556480" y="1950720"/>
                  </a:lnTo>
                  <a:lnTo>
                    <a:pt x="0" y="1950720"/>
                  </a:lnTo>
                  <a:close/>
                </a:path>
              </a:pathLst>
            </a:custGeom>
            <a:blipFill>
              <a:blip r:embed="rId3">
                <a:alphaModFix amt="0"/>
              </a:blip>
              <a:stretch>
                <a:fillRect l="0" t="-125365" r="0" b="-125365"/>
              </a:stretch>
            </a:blipFill>
          </p:spPr>
        </p:sp>
        <p:sp>
          <p:nvSpPr>
            <p:cNvPr name="TextBox 21" id="21"/>
            <p:cNvSpPr txBox="true"/>
            <p:nvPr/>
          </p:nvSpPr>
          <p:spPr>
            <a:xfrm>
              <a:off x="0" y="-57150"/>
              <a:ext cx="17556480" cy="2007870"/>
            </a:xfrm>
            <a:prstGeom prst="rect">
              <a:avLst/>
            </a:prstGeom>
          </p:spPr>
          <p:txBody>
            <a:bodyPr anchor="ctr" rtlCol="false" tIns="0" lIns="0" bIns="0" rIns="0"/>
            <a:lstStyle/>
            <a:p>
              <a:pPr algn="l">
                <a:lnSpc>
                  <a:spcPts val="3840"/>
                </a:lnSpc>
              </a:pPr>
              <a:r>
                <a:rPr lang="en-US" sz="3200" i="true">
                  <a:solidFill>
                    <a:srgbClr val="FFFFFF"/>
                  </a:solidFill>
                  <a:latin typeface="Times New Roman"/>
                  <a:ea typeface="Times New Roman"/>
                  <a:cs typeface="Times New Roman"/>
                  <a:sym typeface="Times New Roman"/>
                </a:rPr>
                <a:t>“Định dạng gói tin thế nào?”</a:t>
              </a:r>
            </a:p>
          </p:txBody>
        </p:sp>
      </p:grpSp>
      <p:grpSp>
        <p:nvGrpSpPr>
          <p:cNvPr name="Group 22" id="22"/>
          <p:cNvGrpSpPr/>
          <p:nvPr/>
        </p:nvGrpSpPr>
        <p:grpSpPr>
          <a:xfrm rot="0">
            <a:off x="898522" y="4373242"/>
            <a:ext cx="16490947" cy="4786627"/>
            <a:chOff x="0" y="0"/>
            <a:chExt cx="21987929" cy="6382169"/>
          </a:xfrm>
        </p:grpSpPr>
        <p:sp>
          <p:nvSpPr>
            <p:cNvPr name="Freeform 23" id="23"/>
            <p:cNvSpPr/>
            <p:nvPr/>
          </p:nvSpPr>
          <p:spPr>
            <a:xfrm flipH="false" flipV="false" rot="0">
              <a:off x="0" y="0"/>
              <a:ext cx="21987890" cy="6382131"/>
            </a:xfrm>
            <a:custGeom>
              <a:avLst/>
              <a:gdLst/>
              <a:ahLst/>
              <a:cxnLst/>
              <a:rect r="r" b="b" t="t" l="l"/>
              <a:pathLst>
                <a:path h="6382131" w="21987890">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name="Group 24" id="24"/>
          <p:cNvGrpSpPr/>
          <p:nvPr/>
        </p:nvGrpSpPr>
        <p:grpSpPr>
          <a:xfrm rot="0">
            <a:off x="1280160" y="4663440"/>
            <a:ext cx="15727680" cy="512064"/>
            <a:chOff x="0" y="0"/>
            <a:chExt cx="20970240" cy="682752"/>
          </a:xfrm>
        </p:grpSpPr>
        <p:sp>
          <p:nvSpPr>
            <p:cNvPr name="Freeform 25" id="25"/>
            <p:cNvSpPr/>
            <p:nvPr/>
          </p:nvSpPr>
          <p:spPr>
            <a:xfrm flipH="false" flipV="false" rot="0">
              <a:off x="0" y="0"/>
              <a:ext cx="20970239" cy="682752"/>
            </a:xfrm>
            <a:custGeom>
              <a:avLst/>
              <a:gdLst/>
              <a:ahLst/>
              <a:cxnLst/>
              <a:rect r="r" b="b" t="t" l="l"/>
              <a:pathLst>
                <a:path h="682752" w="20970239">
                  <a:moveTo>
                    <a:pt x="0" y="0"/>
                  </a:moveTo>
                  <a:lnTo>
                    <a:pt x="20970239" y="0"/>
                  </a:lnTo>
                  <a:lnTo>
                    <a:pt x="20970239" y="682752"/>
                  </a:lnTo>
                  <a:lnTo>
                    <a:pt x="0" y="682752"/>
                  </a:lnTo>
                  <a:close/>
                </a:path>
              </a:pathLst>
            </a:custGeom>
            <a:blipFill>
              <a:blip r:embed="rId3">
                <a:alphaModFix amt="0"/>
              </a:blip>
              <a:stretch>
                <a:fillRect l="0" t="-548469" r="0" b="-548469"/>
              </a:stretch>
            </a:blipFill>
          </p:spPr>
        </p:sp>
        <p:sp>
          <p:nvSpPr>
            <p:cNvPr name="TextBox 26" id="26"/>
            <p:cNvSpPr txBox="true"/>
            <p:nvPr/>
          </p:nvSpPr>
          <p:spPr>
            <a:xfrm>
              <a:off x="0" y="-38100"/>
              <a:ext cx="20970240" cy="720852"/>
            </a:xfrm>
            <a:prstGeom prst="rect">
              <a:avLst/>
            </a:prstGeom>
          </p:spPr>
          <p:txBody>
            <a:bodyPr anchor="ctr" rtlCol="false" tIns="0" lIns="0" bIns="0" rIns="0"/>
            <a:lstStyle/>
            <a:p>
              <a:pPr algn="l">
                <a:lnSpc>
                  <a:spcPts val="2400"/>
                </a:lnSpc>
              </a:pPr>
              <a:r>
                <a:rPr lang="en-US" b="true" sz="2000" spc="300">
                  <a:solidFill>
                    <a:srgbClr val="00897B"/>
                  </a:solidFill>
                  <a:latin typeface="Times New Roman"/>
                  <a:ea typeface="Times New Roman"/>
                  <a:cs typeface="Times New Roman"/>
                  <a:sym typeface="Times New Roman"/>
                </a:rPr>
                <a:t>NỘI DUNG CẦN ĐIỀN</a:t>
              </a:r>
            </a:p>
          </p:txBody>
        </p:sp>
      </p:grpSp>
      <p:sp>
        <p:nvSpPr>
          <p:cNvPr name="TextBox 27" id="27"/>
          <p:cNvSpPr txBox="true"/>
          <p:nvPr/>
        </p:nvSpPr>
        <p:spPr>
          <a:xfrm rot="0">
            <a:off x="1280160" y="5293995"/>
            <a:ext cx="15727680" cy="3575685"/>
          </a:xfrm>
          <a:prstGeom prst="rect">
            <a:avLst/>
          </a:prstGeom>
        </p:spPr>
        <p:txBody>
          <a:bodyPr anchor="t" rtlCol="false" tIns="0" lIns="0" bIns="0" rIns="0">
            <a:spAutoFit/>
          </a:bodyPr>
          <a:lstStyle/>
          <a:p>
            <a:pPr algn="l">
              <a:lnSpc>
                <a:spcPts val="2879"/>
              </a:lnSpc>
            </a:pPr>
            <a:r>
              <a:rPr lang="en-US" sz="2400">
                <a:solidFill>
                  <a:srgbClr val="5B6B82"/>
                </a:solidFill>
                <a:latin typeface="Courier New"/>
                <a:ea typeface="Courier New"/>
                <a:cs typeface="Courier New"/>
                <a:sym typeface="Courier New"/>
              </a:rPr>
              <a:t>Phạm vi: INPUT, SNAPSHOT, ITEM_*</a:t>
            </a:r>
          </a:p>
          <a:p>
            <a:pPr algn="l">
              <a:lnSpc>
                <a:spcPts val="2879"/>
              </a:lnSpc>
            </a:pPr>
            <a:r>
              <a:rPr lang="en-US" sz="2400">
                <a:solidFill>
                  <a:srgbClr val="5B6B82"/>
                </a:solidFill>
                <a:latin typeface="Times New Roman"/>
                <a:ea typeface="Times New Roman"/>
                <a:cs typeface="Times New Roman"/>
                <a:sym typeface="Times New Roman"/>
              </a:rPr>
              <a:t>Lấy từ NoiDung_ChiTiet.md, Mục 5. Câu trả lời mẫu: phụ lục A.</a:t>
            </a:r>
          </a:p>
        </p:txBody>
      </p:sp>
      <p:sp>
        <p:nvSpPr>
          <p:cNvPr name="TextBox 28" id="28"/>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26</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22" name="Header band"/>
          <p:cNvSpPr/>
          <p:nvPr/>
        </p:nvSpPr>
        <p:spPr>
          <a:xfrm>
            <a:off x="0" y="0"/>
            <a:ext cx="18288000" cy="2103120"/>
          </a:xfrm>
          <a:prstGeom prst="rect">
            <a:avLst/>
          </a:prstGeom>
          <a:solidFill>
            <a:srgbClr val="14213D"/>
          </a:solidFill>
          <a:ln>
            <a:noFill/>
          </a:ln>
        </p:spPr>
      </p:sp>
      <p:sp>
        <p:nvSpPr>
          <p:cNvPr id="9023"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DỰ PHÒNG D6 · NGUỒN: VĐ3</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Chọn độ trễ nội suy</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Q&amp;A</a:t>
              </a:r>
            </a:p>
          </p:txBody>
        </p:sp>
      </p:grpSp>
      <p:grpSp>
        <p:nvGrpSpPr>
          <p:cNvPr name="Group 14" id="14"/>
          <p:cNvGrpSpPr/>
          <p:nvPr/>
        </p:nvGrpSpPr>
        <p:grpSpPr>
          <a:xfrm rot="0">
            <a:off x="901703" y="2456183"/>
            <a:ext cx="16484603" cy="1488443"/>
            <a:chOff x="0" y="0"/>
            <a:chExt cx="21979471" cy="1984591"/>
          </a:xfrm>
        </p:grpSpPr>
        <p:sp>
          <p:nvSpPr>
            <p:cNvPr name="Freeform 15" id="15"/>
            <p:cNvSpPr/>
            <p:nvPr/>
          </p:nvSpPr>
          <p:spPr>
            <a:xfrm flipH="false" flipV="false" rot="0">
              <a:off x="0" y="0"/>
              <a:ext cx="21979382" cy="1984502"/>
            </a:xfrm>
            <a:custGeom>
              <a:avLst/>
              <a:gdLst/>
              <a:ahLst/>
              <a:cxnLst/>
              <a:rect r="r" b="b" t="t" l="l"/>
              <a:pathLst>
                <a:path h="1984502" w="2197938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name="Group 16" id="16"/>
          <p:cNvGrpSpPr/>
          <p:nvPr/>
        </p:nvGrpSpPr>
        <p:grpSpPr>
          <a:xfrm rot="0">
            <a:off x="1371600" y="2468880"/>
            <a:ext cx="2377440" cy="1463040"/>
            <a:chOff x="0" y="0"/>
            <a:chExt cx="3169920" cy="1950720"/>
          </a:xfrm>
        </p:grpSpPr>
        <p:sp>
          <p:nvSpPr>
            <p:cNvPr name="Freeform 17" id="17"/>
            <p:cNvSpPr/>
            <p:nvPr/>
          </p:nvSpPr>
          <p:spPr>
            <a:xfrm flipH="false" flipV="false" rot="0">
              <a:off x="0" y="0"/>
              <a:ext cx="3169920" cy="1950720"/>
            </a:xfrm>
            <a:custGeom>
              <a:avLst/>
              <a:gdLst/>
              <a:ahLst/>
              <a:cxnLst/>
              <a:rect r="r" b="b" t="t" l="l"/>
              <a:pathLst>
                <a:path h="1950720" w="3169920">
                  <a:moveTo>
                    <a:pt x="0" y="0"/>
                  </a:moveTo>
                  <a:lnTo>
                    <a:pt x="3169920" y="0"/>
                  </a:lnTo>
                  <a:lnTo>
                    <a:pt x="3169920" y="1950720"/>
                  </a:lnTo>
                  <a:lnTo>
                    <a:pt x="0" y="1950720"/>
                  </a:lnTo>
                  <a:close/>
                </a:path>
              </a:pathLst>
            </a:custGeom>
            <a:blipFill>
              <a:blip r:embed="rId3">
                <a:alphaModFix amt="0"/>
              </a:blip>
              <a:stretch>
                <a:fillRect l="-28956" t="0" r="-28956" b="0"/>
              </a:stretch>
            </a:blipFill>
          </p:spPr>
        </p:sp>
        <p:sp>
          <p:nvSpPr>
            <p:cNvPr name="TextBox 18" id="18"/>
            <p:cNvSpPr txBox="true"/>
            <p:nvPr/>
          </p:nvSpPr>
          <p:spPr>
            <a:xfrm>
              <a:off x="0" y="-38100"/>
              <a:ext cx="3169920" cy="1988820"/>
            </a:xfrm>
            <a:prstGeom prst="rect">
              <a:avLst/>
            </a:prstGeom>
          </p:spPr>
          <p:txBody>
            <a:bodyPr anchor="ctr" rtlCol="false" tIns="0" lIns="0" bIns="0" rIns="0"/>
            <a:lstStyle/>
            <a:p>
              <a:pPr algn="l">
                <a:lnSpc>
                  <a:spcPts val="2400"/>
                </a:lnSpc>
              </a:pPr>
              <a:r>
                <a:rPr lang="en-US" b="true" sz="2000" spc="300">
                  <a:solidFill>
                    <a:srgbClr val="BFE8E3"/>
                  </a:solidFill>
                  <a:latin typeface="Times New Roman"/>
                  <a:ea typeface="Times New Roman"/>
                  <a:cs typeface="Times New Roman"/>
                  <a:sym typeface="Times New Roman"/>
                </a:rPr>
                <a:t>KHI BỊ HỎI</a:t>
              </a:r>
            </a:p>
          </p:txBody>
        </p:sp>
      </p:grpSp>
      <p:grpSp>
        <p:nvGrpSpPr>
          <p:cNvPr name="Group 19" id="19"/>
          <p:cNvGrpSpPr/>
          <p:nvPr/>
        </p:nvGrpSpPr>
        <p:grpSpPr>
          <a:xfrm rot="0">
            <a:off x="3749040" y="2468880"/>
            <a:ext cx="13167360" cy="1463040"/>
            <a:chOff x="0" y="0"/>
            <a:chExt cx="17556480" cy="1950720"/>
          </a:xfrm>
        </p:grpSpPr>
        <p:sp>
          <p:nvSpPr>
            <p:cNvPr name="Freeform 20" id="20"/>
            <p:cNvSpPr/>
            <p:nvPr/>
          </p:nvSpPr>
          <p:spPr>
            <a:xfrm flipH="false" flipV="false" rot="0">
              <a:off x="0" y="0"/>
              <a:ext cx="17556480" cy="1950720"/>
            </a:xfrm>
            <a:custGeom>
              <a:avLst/>
              <a:gdLst/>
              <a:ahLst/>
              <a:cxnLst/>
              <a:rect r="r" b="b" t="t" l="l"/>
              <a:pathLst>
                <a:path h="1950720" w="17556480">
                  <a:moveTo>
                    <a:pt x="0" y="0"/>
                  </a:moveTo>
                  <a:lnTo>
                    <a:pt x="17556480" y="0"/>
                  </a:lnTo>
                  <a:lnTo>
                    <a:pt x="17556480" y="1950720"/>
                  </a:lnTo>
                  <a:lnTo>
                    <a:pt x="0" y="1950720"/>
                  </a:lnTo>
                  <a:close/>
                </a:path>
              </a:pathLst>
            </a:custGeom>
            <a:blipFill>
              <a:blip r:embed="rId3">
                <a:alphaModFix amt="0"/>
              </a:blip>
              <a:stretch>
                <a:fillRect l="0" t="-125365" r="0" b="-125365"/>
              </a:stretch>
            </a:blipFill>
          </p:spPr>
        </p:sp>
        <p:sp>
          <p:nvSpPr>
            <p:cNvPr name="TextBox 21" id="21"/>
            <p:cNvSpPr txBox="true"/>
            <p:nvPr/>
          </p:nvSpPr>
          <p:spPr>
            <a:xfrm>
              <a:off x="0" y="-57150"/>
              <a:ext cx="17556480" cy="2007870"/>
            </a:xfrm>
            <a:prstGeom prst="rect">
              <a:avLst/>
            </a:prstGeom>
          </p:spPr>
          <p:txBody>
            <a:bodyPr anchor="ctr" rtlCol="false" tIns="0" lIns="0" bIns="0" rIns="0"/>
            <a:lstStyle/>
            <a:p>
              <a:pPr algn="l">
                <a:lnSpc>
                  <a:spcPts val="3840"/>
                </a:lnSpc>
              </a:pPr>
              <a:r>
                <a:rPr lang="en-US" sz="3200" i="true">
                  <a:solidFill>
                    <a:srgbClr val="FFFFFF"/>
                  </a:solidFill>
                  <a:latin typeface="Times New Roman"/>
                  <a:ea typeface="Times New Roman"/>
                  <a:cs typeface="Times New Roman"/>
                  <a:sym typeface="Times New Roman"/>
                </a:rPr>
                <a:t>“Độ trễ nội suy chọn bao nhiêu? Mất nhiều gói thì sao?”</a:t>
              </a:r>
            </a:p>
          </p:txBody>
        </p:sp>
      </p:grpSp>
      <p:grpSp>
        <p:nvGrpSpPr>
          <p:cNvPr name="Group 22" id="22"/>
          <p:cNvGrpSpPr/>
          <p:nvPr/>
        </p:nvGrpSpPr>
        <p:grpSpPr>
          <a:xfrm rot="0">
            <a:off x="898522" y="4373242"/>
            <a:ext cx="16490947" cy="4786627"/>
            <a:chOff x="0" y="0"/>
            <a:chExt cx="21987929" cy="6382169"/>
          </a:xfrm>
        </p:grpSpPr>
        <p:sp>
          <p:nvSpPr>
            <p:cNvPr name="Freeform 23" id="23"/>
            <p:cNvSpPr/>
            <p:nvPr/>
          </p:nvSpPr>
          <p:spPr>
            <a:xfrm flipH="false" flipV="false" rot="0">
              <a:off x="0" y="0"/>
              <a:ext cx="21987890" cy="6382131"/>
            </a:xfrm>
            <a:custGeom>
              <a:avLst/>
              <a:gdLst/>
              <a:ahLst/>
              <a:cxnLst/>
              <a:rect r="r" b="b" t="t" l="l"/>
              <a:pathLst>
                <a:path h="6382131" w="21987890">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name="Group 24" id="24"/>
          <p:cNvGrpSpPr/>
          <p:nvPr/>
        </p:nvGrpSpPr>
        <p:grpSpPr>
          <a:xfrm rot="0">
            <a:off x="1280160" y="4663440"/>
            <a:ext cx="15727680" cy="512064"/>
            <a:chOff x="0" y="0"/>
            <a:chExt cx="20970240" cy="682752"/>
          </a:xfrm>
        </p:grpSpPr>
        <p:sp>
          <p:nvSpPr>
            <p:cNvPr name="Freeform 25" id="25"/>
            <p:cNvSpPr/>
            <p:nvPr/>
          </p:nvSpPr>
          <p:spPr>
            <a:xfrm flipH="false" flipV="false" rot="0">
              <a:off x="0" y="0"/>
              <a:ext cx="20970239" cy="682752"/>
            </a:xfrm>
            <a:custGeom>
              <a:avLst/>
              <a:gdLst/>
              <a:ahLst/>
              <a:cxnLst/>
              <a:rect r="r" b="b" t="t" l="l"/>
              <a:pathLst>
                <a:path h="682752" w="20970239">
                  <a:moveTo>
                    <a:pt x="0" y="0"/>
                  </a:moveTo>
                  <a:lnTo>
                    <a:pt x="20970239" y="0"/>
                  </a:lnTo>
                  <a:lnTo>
                    <a:pt x="20970239" y="682752"/>
                  </a:lnTo>
                  <a:lnTo>
                    <a:pt x="0" y="682752"/>
                  </a:lnTo>
                  <a:close/>
                </a:path>
              </a:pathLst>
            </a:custGeom>
            <a:blipFill>
              <a:blip r:embed="rId3">
                <a:alphaModFix amt="0"/>
              </a:blip>
              <a:stretch>
                <a:fillRect l="0" t="-548469" r="0" b="-548469"/>
              </a:stretch>
            </a:blipFill>
          </p:spPr>
        </p:sp>
        <p:sp>
          <p:nvSpPr>
            <p:cNvPr name="TextBox 26" id="26"/>
            <p:cNvSpPr txBox="true"/>
            <p:nvPr/>
          </p:nvSpPr>
          <p:spPr>
            <a:xfrm>
              <a:off x="0" y="-38100"/>
              <a:ext cx="20970240" cy="720852"/>
            </a:xfrm>
            <a:prstGeom prst="rect">
              <a:avLst/>
            </a:prstGeom>
          </p:spPr>
          <p:txBody>
            <a:bodyPr anchor="ctr" rtlCol="false" tIns="0" lIns="0" bIns="0" rIns="0"/>
            <a:lstStyle/>
            <a:p>
              <a:pPr algn="l">
                <a:lnSpc>
                  <a:spcPts val="2400"/>
                </a:lnSpc>
              </a:pPr>
              <a:r>
                <a:rPr lang="en-US" b="true" sz="2000" spc="300">
                  <a:solidFill>
                    <a:srgbClr val="00897B"/>
                  </a:solidFill>
                  <a:latin typeface="Times New Roman"/>
                  <a:ea typeface="Times New Roman"/>
                  <a:cs typeface="Times New Roman"/>
                  <a:sym typeface="Times New Roman"/>
                </a:rPr>
                <a:t>NỘI DUNG CẦN ĐIỀN</a:t>
              </a:r>
            </a:p>
          </p:txBody>
        </p:sp>
      </p:grpSp>
      <p:sp>
        <p:nvSpPr>
          <p:cNvPr name="TextBox 27" id="27"/>
          <p:cNvSpPr txBox="true"/>
          <p:nvPr/>
        </p:nvSpPr>
        <p:spPr>
          <a:xfrm rot="0">
            <a:off x="1280160" y="5265420"/>
            <a:ext cx="15727680" cy="3604260"/>
          </a:xfrm>
          <a:prstGeom prst="rect">
            <a:avLst/>
          </a:prstGeom>
        </p:spPr>
        <p:txBody>
          <a:bodyPr anchor="t" rtlCol="false" tIns="0" lIns="0" bIns="0" rIns="0">
            <a:spAutoFit/>
          </a:bodyPr>
          <a:lstStyle/>
          <a:p>
            <a:pPr algn="l">
              <a:lnSpc>
                <a:spcPts val="2879"/>
              </a:lnSpc>
            </a:pPr>
            <a:r>
              <a:rPr lang="en-US" sz="2400">
                <a:solidFill>
                  <a:srgbClr val="5B6B82"/>
                </a:solidFill>
                <a:latin typeface="Times New Roman"/>
                <a:ea typeface="Times New Roman"/>
                <a:cs typeface="Times New Roman"/>
                <a:sym typeface="Times New Roman"/>
              </a:rPr>
              <a:t>Phạm vi: bảng theo tần số gửi ảnh, ngoại suy dự phòng</a:t>
            </a:r>
          </a:p>
          <a:p>
            <a:pPr algn="l">
              <a:lnSpc>
                <a:spcPts val="2879"/>
              </a:lnSpc>
            </a:pPr>
            <a:r>
              <a:rPr lang="en-US" sz="2400">
                <a:solidFill>
                  <a:srgbClr val="5B6B82"/>
                </a:solidFill>
                <a:latin typeface="Times New Roman"/>
                <a:ea typeface="Times New Roman"/>
                <a:cs typeface="Times New Roman"/>
                <a:sym typeface="Times New Roman"/>
              </a:rPr>
              <a:t>Lấy từ NoiDung_ChiTiet.md, VĐ3. Câu trả lời mẫu: phụ lục A.</a:t>
            </a:r>
          </a:p>
        </p:txBody>
      </p:sp>
      <p:sp>
        <p:nvSpPr>
          <p:cNvPr name="TextBox 28" id="28"/>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27</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24" name="Header band"/>
          <p:cNvSpPr/>
          <p:nvPr/>
        </p:nvSpPr>
        <p:spPr>
          <a:xfrm>
            <a:off x="0" y="0"/>
            <a:ext cx="18288000" cy="2103120"/>
          </a:xfrm>
          <a:prstGeom prst="rect">
            <a:avLst/>
          </a:prstGeom>
          <a:solidFill>
            <a:srgbClr val="14213D"/>
          </a:solidFill>
          <a:ln>
            <a:noFill/>
          </a:ln>
        </p:spPr>
      </p:sp>
      <p:sp>
        <p:nvSpPr>
          <p:cNvPr id="9025"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DỰ PHÒNG D7 · NGUỒN: VĐ4</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Phân xử món hàng hiếm</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Q&amp;A</a:t>
              </a:r>
            </a:p>
          </p:txBody>
        </p:sp>
      </p:grpSp>
      <p:grpSp>
        <p:nvGrpSpPr>
          <p:cNvPr name="Group 14" id="14"/>
          <p:cNvGrpSpPr/>
          <p:nvPr/>
        </p:nvGrpSpPr>
        <p:grpSpPr>
          <a:xfrm rot="0">
            <a:off x="901703" y="2456183"/>
            <a:ext cx="16484603" cy="1488443"/>
            <a:chOff x="0" y="0"/>
            <a:chExt cx="21979471" cy="1984591"/>
          </a:xfrm>
        </p:grpSpPr>
        <p:sp>
          <p:nvSpPr>
            <p:cNvPr name="Freeform 15" id="15"/>
            <p:cNvSpPr/>
            <p:nvPr/>
          </p:nvSpPr>
          <p:spPr>
            <a:xfrm flipH="false" flipV="false" rot="0">
              <a:off x="0" y="0"/>
              <a:ext cx="21979382" cy="1984502"/>
            </a:xfrm>
            <a:custGeom>
              <a:avLst/>
              <a:gdLst/>
              <a:ahLst/>
              <a:cxnLst/>
              <a:rect r="r" b="b" t="t" l="l"/>
              <a:pathLst>
                <a:path h="1984502" w="2197938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name="Group 16" id="16"/>
          <p:cNvGrpSpPr/>
          <p:nvPr/>
        </p:nvGrpSpPr>
        <p:grpSpPr>
          <a:xfrm rot="0">
            <a:off x="1371600" y="2468880"/>
            <a:ext cx="2377440" cy="1463040"/>
            <a:chOff x="0" y="0"/>
            <a:chExt cx="3169920" cy="1950720"/>
          </a:xfrm>
        </p:grpSpPr>
        <p:sp>
          <p:nvSpPr>
            <p:cNvPr name="Freeform 17" id="17"/>
            <p:cNvSpPr/>
            <p:nvPr/>
          </p:nvSpPr>
          <p:spPr>
            <a:xfrm flipH="false" flipV="false" rot="0">
              <a:off x="0" y="0"/>
              <a:ext cx="3169920" cy="1950720"/>
            </a:xfrm>
            <a:custGeom>
              <a:avLst/>
              <a:gdLst/>
              <a:ahLst/>
              <a:cxnLst/>
              <a:rect r="r" b="b" t="t" l="l"/>
              <a:pathLst>
                <a:path h="1950720" w="3169920">
                  <a:moveTo>
                    <a:pt x="0" y="0"/>
                  </a:moveTo>
                  <a:lnTo>
                    <a:pt x="3169920" y="0"/>
                  </a:lnTo>
                  <a:lnTo>
                    <a:pt x="3169920" y="1950720"/>
                  </a:lnTo>
                  <a:lnTo>
                    <a:pt x="0" y="1950720"/>
                  </a:lnTo>
                  <a:close/>
                </a:path>
              </a:pathLst>
            </a:custGeom>
            <a:blipFill>
              <a:blip r:embed="rId3">
                <a:alphaModFix amt="0"/>
              </a:blip>
              <a:stretch>
                <a:fillRect l="-28956" t="0" r="-28956" b="0"/>
              </a:stretch>
            </a:blipFill>
          </p:spPr>
        </p:sp>
        <p:sp>
          <p:nvSpPr>
            <p:cNvPr name="TextBox 18" id="18"/>
            <p:cNvSpPr txBox="true"/>
            <p:nvPr/>
          </p:nvSpPr>
          <p:spPr>
            <a:xfrm>
              <a:off x="0" y="-38100"/>
              <a:ext cx="3169920" cy="1988820"/>
            </a:xfrm>
            <a:prstGeom prst="rect">
              <a:avLst/>
            </a:prstGeom>
          </p:spPr>
          <p:txBody>
            <a:bodyPr anchor="ctr" rtlCol="false" tIns="0" lIns="0" bIns="0" rIns="0"/>
            <a:lstStyle/>
            <a:p>
              <a:pPr algn="l">
                <a:lnSpc>
                  <a:spcPts val="2400"/>
                </a:lnSpc>
              </a:pPr>
              <a:r>
                <a:rPr lang="en-US" b="true" sz="2000" spc="300">
                  <a:solidFill>
                    <a:srgbClr val="BFE8E3"/>
                  </a:solidFill>
                  <a:latin typeface="Times New Roman"/>
                  <a:ea typeface="Times New Roman"/>
                  <a:cs typeface="Times New Roman"/>
                  <a:sym typeface="Times New Roman"/>
                </a:rPr>
                <a:t>KHI BỊ HỎI</a:t>
              </a:r>
            </a:p>
          </p:txBody>
        </p:sp>
      </p:grpSp>
      <p:grpSp>
        <p:nvGrpSpPr>
          <p:cNvPr name="Group 19" id="19"/>
          <p:cNvGrpSpPr/>
          <p:nvPr/>
        </p:nvGrpSpPr>
        <p:grpSpPr>
          <a:xfrm rot="0">
            <a:off x="3749040" y="2468880"/>
            <a:ext cx="13167360" cy="1463040"/>
            <a:chOff x="0" y="0"/>
            <a:chExt cx="17556480" cy="1950720"/>
          </a:xfrm>
        </p:grpSpPr>
        <p:sp>
          <p:nvSpPr>
            <p:cNvPr name="Freeform 20" id="20"/>
            <p:cNvSpPr/>
            <p:nvPr/>
          </p:nvSpPr>
          <p:spPr>
            <a:xfrm flipH="false" flipV="false" rot="0">
              <a:off x="0" y="0"/>
              <a:ext cx="17556480" cy="1950720"/>
            </a:xfrm>
            <a:custGeom>
              <a:avLst/>
              <a:gdLst/>
              <a:ahLst/>
              <a:cxnLst/>
              <a:rect r="r" b="b" t="t" l="l"/>
              <a:pathLst>
                <a:path h="1950720" w="17556480">
                  <a:moveTo>
                    <a:pt x="0" y="0"/>
                  </a:moveTo>
                  <a:lnTo>
                    <a:pt x="17556480" y="0"/>
                  </a:lnTo>
                  <a:lnTo>
                    <a:pt x="17556480" y="1950720"/>
                  </a:lnTo>
                  <a:lnTo>
                    <a:pt x="0" y="1950720"/>
                  </a:lnTo>
                  <a:close/>
                </a:path>
              </a:pathLst>
            </a:custGeom>
            <a:blipFill>
              <a:blip r:embed="rId3">
                <a:alphaModFix amt="0"/>
              </a:blip>
              <a:stretch>
                <a:fillRect l="0" t="-125365" r="0" b="-125365"/>
              </a:stretch>
            </a:blipFill>
          </p:spPr>
        </p:sp>
        <p:sp>
          <p:nvSpPr>
            <p:cNvPr name="TextBox 21" id="21"/>
            <p:cNvSpPr txBox="true"/>
            <p:nvPr/>
          </p:nvSpPr>
          <p:spPr>
            <a:xfrm>
              <a:off x="0" y="-57150"/>
              <a:ext cx="17556480" cy="2007870"/>
            </a:xfrm>
            <a:prstGeom prst="rect">
              <a:avLst/>
            </a:prstGeom>
          </p:spPr>
          <p:txBody>
            <a:bodyPr anchor="ctr" rtlCol="false" tIns="0" lIns="0" bIns="0" rIns="0"/>
            <a:lstStyle/>
            <a:p>
              <a:pPr algn="l">
                <a:lnSpc>
                  <a:spcPts val="3840"/>
                </a:lnSpc>
              </a:pPr>
              <a:r>
                <a:rPr lang="en-US" sz="3200" i="true">
                  <a:solidFill>
                    <a:srgbClr val="FFFFFF"/>
                  </a:solidFill>
                  <a:latin typeface="Times New Roman"/>
                  <a:ea typeface="Times New Roman"/>
                  <a:cs typeface="Times New Roman"/>
                  <a:sym typeface="Times New Roman"/>
                </a:rPr>
                <a:t>“Hai người cùng nhặt thì xử thế nào? Gửi nhịp giả thì sao?”</a:t>
              </a:r>
            </a:p>
          </p:txBody>
        </p:sp>
      </p:grpSp>
      <p:grpSp>
        <p:nvGrpSpPr>
          <p:cNvPr name="Group 22" id="22"/>
          <p:cNvGrpSpPr/>
          <p:nvPr/>
        </p:nvGrpSpPr>
        <p:grpSpPr>
          <a:xfrm rot="0">
            <a:off x="898522" y="4373242"/>
            <a:ext cx="16490947" cy="4786627"/>
            <a:chOff x="0" y="0"/>
            <a:chExt cx="21987929" cy="6382169"/>
          </a:xfrm>
        </p:grpSpPr>
        <p:sp>
          <p:nvSpPr>
            <p:cNvPr name="Freeform 23" id="23"/>
            <p:cNvSpPr/>
            <p:nvPr/>
          </p:nvSpPr>
          <p:spPr>
            <a:xfrm flipH="false" flipV="false" rot="0">
              <a:off x="0" y="0"/>
              <a:ext cx="21987890" cy="6382131"/>
            </a:xfrm>
            <a:custGeom>
              <a:avLst/>
              <a:gdLst/>
              <a:ahLst/>
              <a:cxnLst/>
              <a:rect r="r" b="b" t="t" l="l"/>
              <a:pathLst>
                <a:path h="6382131" w="21987890">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name="Group 24" id="24"/>
          <p:cNvGrpSpPr/>
          <p:nvPr/>
        </p:nvGrpSpPr>
        <p:grpSpPr>
          <a:xfrm rot="0">
            <a:off x="1280160" y="4663440"/>
            <a:ext cx="15727680" cy="512064"/>
            <a:chOff x="0" y="0"/>
            <a:chExt cx="20970240" cy="682752"/>
          </a:xfrm>
        </p:grpSpPr>
        <p:sp>
          <p:nvSpPr>
            <p:cNvPr name="Freeform 25" id="25"/>
            <p:cNvSpPr/>
            <p:nvPr/>
          </p:nvSpPr>
          <p:spPr>
            <a:xfrm flipH="false" flipV="false" rot="0">
              <a:off x="0" y="0"/>
              <a:ext cx="20970239" cy="682752"/>
            </a:xfrm>
            <a:custGeom>
              <a:avLst/>
              <a:gdLst/>
              <a:ahLst/>
              <a:cxnLst/>
              <a:rect r="r" b="b" t="t" l="l"/>
              <a:pathLst>
                <a:path h="682752" w="20970239">
                  <a:moveTo>
                    <a:pt x="0" y="0"/>
                  </a:moveTo>
                  <a:lnTo>
                    <a:pt x="20970239" y="0"/>
                  </a:lnTo>
                  <a:lnTo>
                    <a:pt x="20970239" y="682752"/>
                  </a:lnTo>
                  <a:lnTo>
                    <a:pt x="0" y="682752"/>
                  </a:lnTo>
                  <a:close/>
                </a:path>
              </a:pathLst>
            </a:custGeom>
            <a:blipFill>
              <a:blip r:embed="rId3">
                <a:alphaModFix amt="0"/>
              </a:blip>
              <a:stretch>
                <a:fillRect l="0" t="-548469" r="0" b="-548469"/>
              </a:stretch>
            </a:blipFill>
          </p:spPr>
        </p:sp>
        <p:sp>
          <p:nvSpPr>
            <p:cNvPr name="TextBox 26" id="26"/>
            <p:cNvSpPr txBox="true"/>
            <p:nvPr/>
          </p:nvSpPr>
          <p:spPr>
            <a:xfrm>
              <a:off x="0" y="-38100"/>
              <a:ext cx="20970240" cy="720852"/>
            </a:xfrm>
            <a:prstGeom prst="rect">
              <a:avLst/>
            </a:prstGeom>
          </p:spPr>
          <p:txBody>
            <a:bodyPr anchor="ctr" rtlCol="false" tIns="0" lIns="0" bIns="0" rIns="0"/>
            <a:lstStyle/>
            <a:p>
              <a:pPr algn="l">
                <a:lnSpc>
                  <a:spcPts val="2400"/>
                </a:lnSpc>
              </a:pPr>
              <a:r>
                <a:rPr lang="en-US" b="true" sz="2000" spc="300">
                  <a:solidFill>
                    <a:srgbClr val="00897B"/>
                  </a:solidFill>
                  <a:latin typeface="Times New Roman"/>
                  <a:ea typeface="Times New Roman"/>
                  <a:cs typeface="Times New Roman"/>
                  <a:sym typeface="Times New Roman"/>
                </a:rPr>
                <a:t>NỘI DUNG CẦN ĐIỀN</a:t>
              </a:r>
            </a:p>
          </p:txBody>
        </p:sp>
      </p:grpSp>
      <p:sp>
        <p:nvSpPr>
          <p:cNvPr name="TextBox 27" id="27"/>
          <p:cNvSpPr txBox="true"/>
          <p:nvPr/>
        </p:nvSpPr>
        <p:spPr>
          <a:xfrm rot="0">
            <a:off x="1280160" y="5265420"/>
            <a:ext cx="15727680" cy="3604260"/>
          </a:xfrm>
          <a:prstGeom prst="rect">
            <a:avLst/>
          </a:prstGeom>
        </p:spPr>
        <p:txBody>
          <a:bodyPr anchor="t" rtlCol="false" tIns="0" lIns="0" bIns="0" rIns="0">
            <a:spAutoFit/>
          </a:bodyPr>
          <a:lstStyle/>
          <a:p>
            <a:pPr algn="l">
              <a:lnSpc>
                <a:spcPts val="2879"/>
              </a:lnSpc>
            </a:pPr>
            <a:r>
              <a:rPr lang="en-US" sz="2400">
                <a:solidFill>
                  <a:srgbClr val="5B6B82"/>
                </a:solidFill>
                <a:latin typeface="Times New Roman"/>
                <a:ea typeface="Times New Roman"/>
                <a:cs typeface="Times New Roman"/>
                <a:sym typeface="Times New Roman"/>
              </a:rPr>
              <a:t>Phạm vi: cửa sổ phân xử, kiểm tra số nhịp giả</a:t>
            </a:r>
          </a:p>
          <a:p>
            <a:pPr algn="l">
              <a:lnSpc>
                <a:spcPts val="2879"/>
              </a:lnSpc>
            </a:pPr>
            <a:r>
              <a:rPr lang="en-US" sz="2400">
                <a:solidFill>
                  <a:srgbClr val="5B6B82"/>
                </a:solidFill>
                <a:latin typeface="Times New Roman"/>
                <a:ea typeface="Times New Roman"/>
                <a:cs typeface="Times New Roman"/>
                <a:sym typeface="Times New Roman"/>
              </a:rPr>
              <a:t>Lấy từ NoiDung_ChiTiet.md, VĐ4. Câu trả lời mẫu: phụ lục A.</a:t>
            </a:r>
          </a:p>
        </p:txBody>
      </p:sp>
      <p:sp>
        <p:nvSpPr>
          <p:cNvPr name="TextBox 28" id="28"/>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28</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26" name="Header band"/>
          <p:cNvSpPr/>
          <p:nvPr/>
        </p:nvSpPr>
        <p:spPr>
          <a:xfrm>
            <a:off x="0" y="0"/>
            <a:ext cx="18288000" cy="2103120"/>
          </a:xfrm>
          <a:prstGeom prst="rect">
            <a:avLst/>
          </a:prstGeom>
          <a:solidFill>
            <a:srgbClr val="14213D"/>
          </a:solidFill>
          <a:ln>
            <a:noFill/>
          </a:ln>
        </p:spPr>
      </p:sp>
      <p:sp>
        <p:nvSpPr>
          <p:cNvPr id="9027"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DỰ PHÒNG D8 · NGUỒN: VĐ5</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Các nguồn phá tính tất định</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Q&amp;A</a:t>
              </a:r>
            </a:p>
          </p:txBody>
        </p:sp>
      </p:grpSp>
      <p:grpSp>
        <p:nvGrpSpPr>
          <p:cNvPr name="Group 14" id="14"/>
          <p:cNvGrpSpPr/>
          <p:nvPr/>
        </p:nvGrpSpPr>
        <p:grpSpPr>
          <a:xfrm rot="0">
            <a:off x="901703" y="2456183"/>
            <a:ext cx="16484603" cy="1488443"/>
            <a:chOff x="0" y="0"/>
            <a:chExt cx="21979471" cy="1984591"/>
          </a:xfrm>
        </p:grpSpPr>
        <p:sp>
          <p:nvSpPr>
            <p:cNvPr name="Freeform 15" id="15"/>
            <p:cNvSpPr/>
            <p:nvPr/>
          </p:nvSpPr>
          <p:spPr>
            <a:xfrm flipH="false" flipV="false" rot="0">
              <a:off x="0" y="0"/>
              <a:ext cx="21979382" cy="1984502"/>
            </a:xfrm>
            <a:custGeom>
              <a:avLst/>
              <a:gdLst/>
              <a:ahLst/>
              <a:cxnLst/>
              <a:rect r="r" b="b" t="t" l="l"/>
              <a:pathLst>
                <a:path h="1984502" w="2197938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name="Group 16" id="16"/>
          <p:cNvGrpSpPr/>
          <p:nvPr/>
        </p:nvGrpSpPr>
        <p:grpSpPr>
          <a:xfrm rot="0">
            <a:off x="1371600" y="2468880"/>
            <a:ext cx="2377440" cy="1463040"/>
            <a:chOff x="0" y="0"/>
            <a:chExt cx="3169920" cy="1950720"/>
          </a:xfrm>
        </p:grpSpPr>
        <p:sp>
          <p:nvSpPr>
            <p:cNvPr name="Freeform 17" id="17"/>
            <p:cNvSpPr/>
            <p:nvPr/>
          </p:nvSpPr>
          <p:spPr>
            <a:xfrm flipH="false" flipV="false" rot="0">
              <a:off x="0" y="0"/>
              <a:ext cx="3169920" cy="1950720"/>
            </a:xfrm>
            <a:custGeom>
              <a:avLst/>
              <a:gdLst/>
              <a:ahLst/>
              <a:cxnLst/>
              <a:rect r="r" b="b" t="t" l="l"/>
              <a:pathLst>
                <a:path h="1950720" w="3169920">
                  <a:moveTo>
                    <a:pt x="0" y="0"/>
                  </a:moveTo>
                  <a:lnTo>
                    <a:pt x="3169920" y="0"/>
                  </a:lnTo>
                  <a:lnTo>
                    <a:pt x="3169920" y="1950720"/>
                  </a:lnTo>
                  <a:lnTo>
                    <a:pt x="0" y="1950720"/>
                  </a:lnTo>
                  <a:close/>
                </a:path>
              </a:pathLst>
            </a:custGeom>
            <a:blipFill>
              <a:blip r:embed="rId3">
                <a:alphaModFix amt="0"/>
              </a:blip>
              <a:stretch>
                <a:fillRect l="-28956" t="0" r="-28956" b="0"/>
              </a:stretch>
            </a:blipFill>
          </p:spPr>
        </p:sp>
        <p:sp>
          <p:nvSpPr>
            <p:cNvPr name="TextBox 18" id="18"/>
            <p:cNvSpPr txBox="true"/>
            <p:nvPr/>
          </p:nvSpPr>
          <p:spPr>
            <a:xfrm>
              <a:off x="0" y="-38100"/>
              <a:ext cx="3169920" cy="1988820"/>
            </a:xfrm>
            <a:prstGeom prst="rect">
              <a:avLst/>
            </a:prstGeom>
          </p:spPr>
          <p:txBody>
            <a:bodyPr anchor="ctr" rtlCol="false" tIns="0" lIns="0" bIns="0" rIns="0"/>
            <a:lstStyle/>
            <a:p>
              <a:pPr algn="l">
                <a:lnSpc>
                  <a:spcPts val="2400"/>
                </a:lnSpc>
              </a:pPr>
              <a:r>
                <a:rPr lang="en-US" b="true" sz="2000" spc="300">
                  <a:solidFill>
                    <a:srgbClr val="BFE8E3"/>
                  </a:solidFill>
                  <a:latin typeface="Times New Roman"/>
                  <a:ea typeface="Times New Roman"/>
                  <a:cs typeface="Times New Roman"/>
                  <a:sym typeface="Times New Roman"/>
                </a:rPr>
                <a:t>KHI BỊ HỎI</a:t>
              </a:r>
            </a:p>
          </p:txBody>
        </p:sp>
      </p:grpSp>
      <p:grpSp>
        <p:nvGrpSpPr>
          <p:cNvPr name="Group 19" id="19"/>
          <p:cNvGrpSpPr/>
          <p:nvPr/>
        </p:nvGrpSpPr>
        <p:grpSpPr>
          <a:xfrm rot="0">
            <a:off x="3749040" y="2468880"/>
            <a:ext cx="13167360" cy="1463040"/>
            <a:chOff x="0" y="0"/>
            <a:chExt cx="17556480" cy="1950720"/>
          </a:xfrm>
        </p:grpSpPr>
        <p:sp>
          <p:nvSpPr>
            <p:cNvPr name="Freeform 20" id="20"/>
            <p:cNvSpPr/>
            <p:nvPr/>
          </p:nvSpPr>
          <p:spPr>
            <a:xfrm flipH="false" flipV="false" rot="0">
              <a:off x="0" y="0"/>
              <a:ext cx="17556480" cy="1950720"/>
            </a:xfrm>
            <a:custGeom>
              <a:avLst/>
              <a:gdLst/>
              <a:ahLst/>
              <a:cxnLst/>
              <a:rect r="r" b="b" t="t" l="l"/>
              <a:pathLst>
                <a:path h="1950720" w="17556480">
                  <a:moveTo>
                    <a:pt x="0" y="0"/>
                  </a:moveTo>
                  <a:lnTo>
                    <a:pt x="17556480" y="0"/>
                  </a:lnTo>
                  <a:lnTo>
                    <a:pt x="17556480" y="1950720"/>
                  </a:lnTo>
                  <a:lnTo>
                    <a:pt x="0" y="1950720"/>
                  </a:lnTo>
                  <a:close/>
                </a:path>
              </a:pathLst>
            </a:custGeom>
            <a:blipFill>
              <a:blip r:embed="rId3">
                <a:alphaModFix amt="0"/>
              </a:blip>
              <a:stretch>
                <a:fillRect l="0" t="-125365" r="0" b="-125365"/>
              </a:stretch>
            </a:blipFill>
          </p:spPr>
        </p:sp>
        <p:sp>
          <p:nvSpPr>
            <p:cNvPr name="TextBox 21" id="21"/>
            <p:cNvSpPr txBox="true"/>
            <p:nvPr/>
          </p:nvSpPr>
          <p:spPr>
            <a:xfrm>
              <a:off x="0" y="-57150"/>
              <a:ext cx="17556480" cy="2007870"/>
            </a:xfrm>
            <a:prstGeom prst="rect">
              <a:avLst/>
            </a:prstGeom>
          </p:spPr>
          <p:txBody>
            <a:bodyPr anchor="ctr" rtlCol="false" tIns="0" lIns="0" bIns="0" rIns="0"/>
            <a:lstStyle/>
            <a:p>
              <a:pPr algn="l">
                <a:lnSpc>
                  <a:spcPts val="3840"/>
                </a:lnSpc>
              </a:pPr>
              <a:r>
                <a:rPr lang="en-US" sz="3200" i="true">
                  <a:solidFill>
                    <a:srgbClr val="FFFFFF"/>
                  </a:solidFill>
                  <a:latin typeface="Times New Roman"/>
                  <a:ea typeface="Times New Roman"/>
                  <a:cs typeface="Times New Roman"/>
                  <a:sym typeface="Times New Roman"/>
                </a:rPr>
                <a:t>“Tính tất định ảnh hưởng thế nào?”</a:t>
              </a:r>
            </a:p>
          </p:txBody>
        </p:sp>
      </p:grpSp>
      <p:grpSp>
        <p:nvGrpSpPr>
          <p:cNvPr name="Group 22" id="22"/>
          <p:cNvGrpSpPr/>
          <p:nvPr/>
        </p:nvGrpSpPr>
        <p:grpSpPr>
          <a:xfrm rot="0">
            <a:off x="898522" y="4373242"/>
            <a:ext cx="16490947" cy="4786627"/>
            <a:chOff x="0" y="0"/>
            <a:chExt cx="21987929" cy="6382169"/>
          </a:xfrm>
        </p:grpSpPr>
        <p:sp>
          <p:nvSpPr>
            <p:cNvPr name="Freeform 23" id="23"/>
            <p:cNvSpPr/>
            <p:nvPr/>
          </p:nvSpPr>
          <p:spPr>
            <a:xfrm flipH="false" flipV="false" rot="0">
              <a:off x="0" y="0"/>
              <a:ext cx="21987890" cy="6382131"/>
            </a:xfrm>
            <a:custGeom>
              <a:avLst/>
              <a:gdLst/>
              <a:ahLst/>
              <a:cxnLst/>
              <a:rect r="r" b="b" t="t" l="l"/>
              <a:pathLst>
                <a:path h="6382131" w="21987890">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name="Group 24" id="24"/>
          <p:cNvGrpSpPr/>
          <p:nvPr/>
        </p:nvGrpSpPr>
        <p:grpSpPr>
          <a:xfrm rot="0">
            <a:off x="1280160" y="4663440"/>
            <a:ext cx="15727680" cy="512064"/>
            <a:chOff x="0" y="0"/>
            <a:chExt cx="20970240" cy="682752"/>
          </a:xfrm>
        </p:grpSpPr>
        <p:sp>
          <p:nvSpPr>
            <p:cNvPr name="Freeform 25" id="25"/>
            <p:cNvSpPr/>
            <p:nvPr/>
          </p:nvSpPr>
          <p:spPr>
            <a:xfrm flipH="false" flipV="false" rot="0">
              <a:off x="0" y="0"/>
              <a:ext cx="20970239" cy="682752"/>
            </a:xfrm>
            <a:custGeom>
              <a:avLst/>
              <a:gdLst/>
              <a:ahLst/>
              <a:cxnLst/>
              <a:rect r="r" b="b" t="t" l="l"/>
              <a:pathLst>
                <a:path h="682752" w="20970239">
                  <a:moveTo>
                    <a:pt x="0" y="0"/>
                  </a:moveTo>
                  <a:lnTo>
                    <a:pt x="20970239" y="0"/>
                  </a:lnTo>
                  <a:lnTo>
                    <a:pt x="20970239" y="682752"/>
                  </a:lnTo>
                  <a:lnTo>
                    <a:pt x="0" y="682752"/>
                  </a:lnTo>
                  <a:close/>
                </a:path>
              </a:pathLst>
            </a:custGeom>
            <a:blipFill>
              <a:blip r:embed="rId3">
                <a:alphaModFix amt="0"/>
              </a:blip>
              <a:stretch>
                <a:fillRect l="0" t="-548469" r="0" b="-548469"/>
              </a:stretch>
            </a:blipFill>
          </p:spPr>
        </p:sp>
        <p:sp>
          <p:nvSpPr>
            <p:cNvPr name="TextBox 26" id="26"/>
            <p:cNvSpPr txBox="true"/>
            <p:nvPr/>
          </p:nvSpPr>
          <p:spPr>
            <a:xfrm>
              <a:off x="0" y="-38100"/>
              <a:ext cx="20970240" cy="720852"/>
            </a:xfrm>
            <a:prstGeom prst="rect">
              <a:avLst/>
            </a:prstGeom>
          </p:spPr>
          <p:txBody>
            <a:bodyPr anchor="ctr" rtlCol="false" tIns="0" lIns="0" bIns="0" rIns="0"/>
            <a:lstStyle/>
            <a:p>
              <a:pPr algn="l">
                <a:lnSpc>
                  <a:spcPts val="2400"/>
                </a:lnSpc>
              </a:pPr>
              <a:r>
                <a:rPr lang="en-US" b="true" sz="2000" spc="300">
                  <a:solidFill>
                    <a:srgbClr val="00897B"/>
                  </a:solidFill>
                  <a:latin typeface="Times New Roman"/>
                  <a:ea typeface="Times New Roman"/>
                  <a:cs typeface="Times New Roman"/>
                  <a:sym typeface="Times New Roman"/>
                </a:rPr>
                <a:t>NỘI DUNG CẦN ĐIỀN</a:t>
              </a:r>
            </a:p>
          </p:txBody>
        </p:sp>
      </p:grpSp>
      <p:sp>
        <p:nvSpPr>
          <p:cNvPr name="TextBox 27" id="27"/>
          <p:cNvSpPr txBox="true"/>
          <p:nvPr/>
        </p:nvSpPr>
        <p:spPr>
          <a:xfrm rot="0">
            <a:off x="1280160" y="5265420"/>
            <a:ext cx="15727680" cy="3604260"/>
          </a:xfrm>
          <a:prstGeom prst="rect">
            <a:avLst/>
          </a:prstGeom>
        </p:spPr>
        <p:txBody>
          <a:bodyPr anchor="t" rtlCol="false" tIns="0" lIns="0" bIns="0" rIns="0">
            <a:spAutoFit/>
          </a:bodyPr>
          <a:lstStyle/>
          <a:p>
            <a:pPr algn="l">
              <a:lnSpc>
                <a:spcPts val="2879"/>
              </a:lnSpc>
            </a:pPr>
            <a:r>
              <a:rPr lang="en-US" sz="2400">
                <a:solidFill>
                  <a:srgbClr val="5B6B82"/>
                </a:solidFill>
                <a:latin typeface="Times New Roman"/>
                <a:ea typeface="Times New Roman"/>
                <a:cs typeface="Times New Roman"/>
                <a:sym typeface="Times New Roman"/>
              </a:rPr>
              <a:t>Phạm vi: số thực, thứ tự duyệt, số ngẫu nhiên</a:t>
            </a:r>
          </a:p>
          <a:p>
            <a:pPr algn="l">
              <a:lnSpc>
                <a:spcPts val="2879"/>
              </a:lnSpc>
            </a:pPr>
            <a:r>
              <a:rPr lang="en-US" sz="2400">
                <a:solidFill>
                  <a:srgbClr val="5B6B82"/>
                </a:solidFill>
                <a:latin typeface="Times New Roman"/>
                <a:ea typeface="Times New Roman"/>
                <a:cs typeface="Times New Roman"/>
                <a:sym typeface="Times New Roman"/>
              </a:rPr>
              <a:t>Lấy từ NoiDung_ChiTiet.md, VĐ5. Câu trả lời mẫu: phụ lục A.</a:t>
            </a:r>
          </a:p>
        </p:txBody>
      </p:sp>
      <p:sp>
        <p:nvSpPr>
          <p:cNvPr name="TextBox 28" id="28"/>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29</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28" name="Header band"/>
          <p:cNvSpPr/>
          <p:nvPr/>
        </p:nvSpPr>
        <p:spPr>
          <a:xfrm>
            <a:off x="0" y="0"/>
            <a:ext cx="18288000" cy="2103120"/>
          </a:xfrm>
          <a:prstGeom prst="rect">
            <a:avLst/>
          </a:prstGeom>
          <a:solidFill>
            <a:srgbClr val="14213D"/>
          </a:solidFill>
          <a:ln>
            <a:noFill/>
          </a:ln>
        </p:spPr>
      </p:sp>
      <p:sp>
        <p:nvSpPr>
          <p:cNvPr id="9029"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DỰ PHÒNG D9 · NGUỒN: VĐ1, VĐ5</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5750"/>
                </a:lnSpc>
              </a:pPr>
              <a:r>
                <a:rPr lang="en-US" sz="5000" b="true">
                  <a:solidFill>
                    <a:srgbClr val="FFFFFF"/>
                  </a:solidFill>
                  <a:latin typeface="Times New Roman"/>
                  <a:ea typeface="Times New Roman"/>
                  <a:cs typeface="Times New Roman"/>
                  <a:sym typeface="Times New Roman"/>
                </a:rPr>
                <a:t>Đồng bộ theo bước / GGPO vs mô hình của nhóm</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Q&amp;A</a:t>
              </a:r>
            </a:p>
          </p:txBody>
        </p:sp>
      </p:grpSp>
      <p:grpSp>
        <p:nvGrpSpPr>
          <p:cNvPr name="Group 14" id="14"/>
          <p:cNvGrpSpPr/>
          <p:nvPr/>
        </p:nvGrpSpPr>
        <p:grpSpPr>
          <a:xfrm rot="0">
            <a:off x="901703" y="2456183"/>
            <a:ext cx="16484603" cy="1488443"/>
            <a:chOff x="0" y="0"/>
            <a:chExt cx="21979471" cy="1984591"/>
          </a:xfrm>
        </p:grpSpPr>
        <p:sp>
          <p:nvSpPr>
            <p:cNvPr name="Freeform 15" id="15"/>
            <p:cNvSpPr/>
            <p:nvPr/>
          </p:nvSpPr>
          <p:spPr>
            <a:xfrm flipH="false" flipV="false" rot="0">
              <a:off x="0" y="0"/>
              <a:ext cx="21979382" cy="1984502"/>
            </a:xfrm>
            <a:custGeom>
              <a:avLst/>
              <a:gdLst/>
              <a:ahLst/>
              <a:cxnLst/>
              <a:rect r="r" b="b" t="t" l="l"/>
              <a:pathLst>
                <a:path h="1984502" w="2197938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name="Group 16" id="16"/>
          <p:cNvGrpSpPr/>
          <p:nvPr/>
        </p:nvGrpSpPr>
        <p:grpSpPr>
          <a:xfrm rot="0">
            <a:off x="1371600" y="2468880"/>
            <a:ext cx="2377440" cy="1463040"/>
            <a:chOff x="0" y="0"/>
            <a:chExt cx="3169920" cy="1950720"/>
          </a:xfrm>
        </p:grpSpPr>
        <p:sp>
          <p:nvSpPr>
            <p:cNvPr name="Freeform 17" id="17"/>
            <p:cNvSpPr/>
            <p:nvPr/>
          </p:nvSpPr>
          <p:spPr>
            <a:xfrm flipH="false" flipV="false" rot="0">
              <a:off x="0" y="0"/>
              <a:ext cx="3169920" cy="1950720"/>
            </a:xfrm>
            <a:custGeom>
              <a:avLst/>
              <a:gdLst/>
              <a:ahLst/>
              <a:cxnLst/>
              <a:rect r="r" b="b" t="t" l="l"/>
              <a:pathLst>
                <a:path h="1950720" w="3169920">
                  <a:moveTo>
                    <a:pt x="0" y="0"/>
                  </a:moveTo>
                  <a:lnTo>
                    <a:pt x="3169920" y="0"/>
                  </a:lnTo>
                  <a:lnTo>
                    <a:pt x="3169920" y="1950720"/>
                  </a:lnTo>
                  <a:lnTo>
                    <a:pt x="0" y="1950720"/>
                  </a:lnTo>
                  <a:close/>
                </a:path>
              </a:pathLst>
            </a:custGeom>
            <a:blipFill>
              <a:blip r:embed="rId3">
                <a:alphaModFix amt="0"/>
              </a:blip>
              <a:stretch>
                <a:fillRect l="-28956" t="0" r="-28956" b="0"/>
              </a:stretch>
            </a:blipFill>
          </p:spPr>
        </p:sp>
        <p:sp>
          <p:nvSpPr>
            <p:cNvPr name="TextBox 18" id="18"/>
            <p:cNvSpPr txBox="true"/>
            <p:nvPr/>
          </p:nvSpPr>
          <p:spPr>
            <a:xfrm>
              <a:off x="0" y="-38100"/>
              <a:ext cx="3169920" cy="1988820"/>
            </a:xfrm>
            <a:prstGeom prst="rect">
              <a:avLst/>
            </a:prstGeom>
          </p:spPr>
          <p:txBody>
            <a:bodyPr anchor="ctr" rtlCol="false" tIns="0" lIns="0" bIns="0" rIns="0"/>
            <a:lstStyle/>
            <a:p>
              <a:pPr algn="l">
                <a:lnSpc>
                  <a:spcPts val="2400"/>
                </a:lnSpc>
              </a:pPr>
              <a:r>
                <a:rPr lang="en-US" b="true" sz="2000" spc="300">
                  <a:solidFill>
                    <a:srgbClr val="BFE8E3"/>
                  </a:solidFill>
                  <a:latin typeface="Times New Roman"/>
                  <a:ea typeface="Times New Roman"/>
                  <a:cs typeface="Times New Roman"/>
                  <a:sym typeface="Times New Roman"/>
                </a:rPr>
                <a:t>KHI BỊ HỎI</a:t>
              </a:r>
            </a:p>
          </p:txBody>
        </p:sp>
      </p:grpSp>
      <p:grpSp>
        <p:nvGrpSpPr>
          <p:cNvPr name="Group 19" id="19"/>
          <p:cNvGrpSpPr/>
          <p:nvPr/>
        </p:nvGrpSpPr>
        <p:grpSpPr>
          <a:xfrm rot="0">
            <a:off x="3749040" y="2468880"/>
            <a:ext cx="13167360" cy="1463040"/>
            <a:chOff x="0" y="0"/>
            <a:chExt cx="17556480" cy="1950720"/>
          </a:xfrm>
        </p:grpSpPr>
        <p:sp>
          <p:nvSpPr>
            <p:cNvPr name="Freeform 20" id="20"/>
            <p:cNvSpPr/>
            <p:nvPr/>
          </p:nvSpPr>
          <p:spPr>
            <a:xfrm flipH="false" flipV="false" rot="0">
              <a:off x="0" y="0"/>
              <a:ext cx="17556480" cy="1950720"/>
            </a:xfrm>
            <a:custGeom>
              <a:avLst/>
              <a:gdLst/>
              <a:ahLst/>
              <a:cxnLst/>
              <a:rect r="r" b="b" t="t" l="l"/>
              <a:pathLst>
                <a:path h="1950720" w="17556480">
                  <a:moveTo>
                    <a:pt x="0" y="0"/>
                  </a:moveTo>
                  <a:lnTo>
                    <a:pt x="17556480" y="0"/>
                  </a:lnTo>
                  <a:lnTo>
                    <a:pt x="17556480" y="1950720"/>
                  </a:lnTo>
                  <a:lnTo>
                    <a:pt x="0" y="1950720"/>
                  </a:lnTo>
                  <a:close/>
                </a:path>
              </a:pathLst>
            </a:custGeom>
            <a:blipFill>
              <a:blip r:embed="rId3">
                <a:alphaModFix amt="0"/>
              </a:blip>
              <a:stretch>
                <a:fillRect l="0" t="-125365" r="0" b="-125365"/>
              </a:stretch>
            </a:blipFill>
          </p:spPr>
        </p:sp>
        <p:sp>
          <p:nvSpPr>
            <p:cNvPr name="TextBox 21" id="21"/>
            <p:cNvSpPr txBox="true"/>
            <p:nvPr/>
          </p:nvSpPr>
          <p:spPr>
            <a:xfrm>
              <a:off x="0" y="-57150"/>
              <a:ext cx="17556480" cy="2007870"/>
            </a:xfrm>
            <a:prstGeom prst="rect">
              <a:avLst/>
            </a:prstGeom>
          </p:spPr>
          <p:txBody>
            <a:bodyPr anchor="ctr" rtlCol="false" tIns="0" lIns="0" bIns="0" rIns="0"/>
            <a:lstStyle/>
            <a:p>
              <a:pPr algn="l">
                <a:lnSpc>
                  <a:spcPts val="3840"/>
                </a:lnSpc>
              </a:pPr>
              <a:r>
                <a:rPr lang="en-US" sz="3200" i="true">
                  <a:solidFill>
                    <a:srgbClr val="FFFFFF"/>
                  </a:solidFill>
                  <a:latin typeface="Times New Roman"/>
                  <a:ea typeface="Times New Roman"/>
                  <a:cs typeface="Times New Roman"/>
                  <a:sym typeface="Times New Roman"/>
                </a:rPr>
                <a:t>“Sao không làm ngang hàng?”</a:t>
              </a:r>
            </a:p>
          </p:txBody>
        </p:sp>
      </p:grpSp>
      <p:grpSp>
        <p:nvGrpSpPr>
          <p:cNvPr name="Group 22" id="22"/>
          <p:cNvGrpSpPr/>
          <p:nvPr/>
        </p:nvGrpSpPr>
        <p:grpSpPr>
          <a:xfrm rot="0">
            <a:off x="898522" y="4373242"/>
            <a:ext cx="16490947" cy="4786627"/>
            <a:chOff x="0" y="0"/>
            <a:chExt cx="21987929" cy="6382169"/>
          </a:xfrm>
        </p:grpSpPr>
        <p:sp>
          <p:nvSpPr>
            <p:cNvPr name="Freeform 23" id="23"/>
            <p:cNvSpPr/>
            <p:nvPr/>
          </p:nvSpPr>
          <p:spPr>
            <a:xfrm flipH="false" flipV="false" rot="0">
              <a:off x="0" y="0"/>
              <a:ext cx="21987890" cy="6382131"/>
            </a:xfrm>
            <a:custGeom>
              <a:avLst/>
              <a:gdLst/>
              <a:ahLst/>
              <a:cxnLst/>
              <a:rect r="r" b="b" t="t" l="l"/>
              <a:pathLst>
                <a:path h="6382131" w="21987890">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name="Group 24" id="24"/>
          <p:cNvGrpSpPr/>
          <p:nvPr/>
        </p:nvGrpSpPr>
        <p:grpSpPr>
          <a:xfrm rot="0">
            <a:off x="1280160" y="4663440"/>
            <a:ext cx="15727680" cy="512064"/>
            <a:chOff x="0" y="0"/>
            <a:chExt cx="20970240" cy="682752"/>
          </a:xfrm>
        </p:grpSpPr>
        <p:sp>
          <p:nvSpPr>
            <p:cNvPr name="Freeform 25" id="25"/>
            <p:cNvSpPr/>
            <p:nvPr/>
          </p:nvSpPr>
          <p:spPr>
            <a:xfrm flipH="false" flipV="false" rot="0">
              <a:off x="0" y="0"/>
              <a:ext cx="20970239" cy="682752"/>
            </a:xfrm>
            <a:custGeom>
              <a:avLst/>
              <a:gdLst/>
              <a:ahLst/>
              <a:cxnLst/>
              <a:rect r="r" b="b" t="t" l="l"/>
              <a:pathLst>
                <a:path h="682752" w="20970239">
                  <a:moveTo>
                    <a:pt x="0" y="0"/>
                  </a:moveTo>
                  <a:lnTo>
                    <a:pt x="20970239" y="0"/>
                  </a:lnTo>
                  <a:lnTo>
                    <a:pt x="20970239" y="682752"/>
                  </a:lnTo>
                  <a:lnTo>
                    <a:pt x="0" y="682752"/>
                  </a:lnTo>
                  <a:close/>
                </a:path>
              </a:pathLst>
            </a:custGeom>
            <a:blipFill>
              <a:blip r:embed="rId3">
                <a:alphaModFix amt="0"/>
              </a:blip>
              <a:stretch>
                <a:fillRect l="0" t="-548469" r="0" b="-548469"/>
              </a:stretch>
            </a:blipFill>
          </p:spPr>
        </p:sp>
        <p:sp>
          <p:nvSpPr>
            <p:cNvPr name="TextBox 26" id="26"/>
            <p:cNvSpPr txBox="true"/>
            <p:nvPr/>
          </p:nvSpPr>
          <p:spPr>
            <a:xfrm>
              <a:off x="0" y="-38100"/>
              <a:ext cx="20970240" cy="720852"/>
            </a:xfrm>
            <a:prstGeom prst="rect">
              <a:avLst/>
            </a:prstGeom>
          </p:spPr>
          <p:txBody>
            <a:bodyPr anchor="ctr" rtlCol="false" tIns="0" lIns="0" bIns="0" rIns="0"/>
            <a:lstStyle/>
            <a:p>
              <a:pPr algn="l">
                <a:lnSpc>
                  <a:spcPts val="2400"/>
                </a:lnSpc>
              </a:pPr>
              <a:r>
                <a:rPr lang="en-US" b="true" sz="2000" spc="300">
                  <a:solidFill>
                    <a:srgbClr val="00897B"/>
                  </a:solidFill>
                  <a:latin typeface="Times New Roman"/>
                  <a:ea typeface="Times New Roman"/>
                  <a:cs typeface="Times New Roman"/>
                  <a:sym typeface="Times New Roman"/>
                </a:rPr>
                <a:t>NỘI DUNG CẦN ĐIỀN</a:t>
              </a:r>
            </a:p>
          </p:txBody>
        </p:sp>
      </p:grpSp>
      <p:sp>
        <p:nvSpPr>
          <p:cNvPr name="TextBox 27" id="27"/>
          <p:cNvSpPr txBox="true"/>
          <p:nvPr/>
        </p:nvSpPr>
        <p:spPr>
          <a:xfrm rot="0">
            <a:off x="1280160" y="5265420"/>
            <a:ext cx="15727680" cy="3604260"/>
          </a:xfrm>
          <a:prstGeom prst="rect">
            <a:avLst/>
          </a:prstGeom>
        </p:spPr>
        <p:txBody>
          <a:bodyPr anchor="t" rtlCol="false" tIns="0" lIns="0" bIns="0" rIns="0">
            <a:spAutoFit/>
          </a:bodyPr>
          <a:lstStyle/>
          <a:p>
            <a:pPr algn="l">
              <a:lnSpc>
                <a:spcPts val="2879"/>
              </a:lnSpc>
            </a:pPr>
            <a:r>
              <a:rPr lang="en-US" sz="2400">
                <a:solidFill>
                  <a:srgbClr val="5B6B82"/>
                </a:solidFill>
                <a:latin typeface="Times New Roman"/>
                <a:ea typeface="Times New Roman"/>
                <a:cs typeface="Times New Roman"/>
                <a:sym typeface="Times New Roman"/>
              </a:rPr>
              <a:t>Phạm vi: so sánh hai mô hình</a:t>
            </a:r>
          </a:p>
          <a:p>
            <a:pPr algn="l">
              <a:lnSpc>
                <a:spcPts val="2879"/>
              </a:lnSpc>
            </a:pPr>
            <a:r>
              <a:rPr lang="en-US" sz="2400">
                <a:solidFill>
                  <a:srgbClr val="5B6B82"/>
                </a:solidFill>
                <a:latin typeface="Times New Roman"/>
                <a:ea typeface="Times New Roman"/>
                <a:cs typeface="Times New Roman"/>
                <a:sym typeface="Times New Roman"/>
              </a:rPr>
              <a:t>Lấy từ NoiDung_ChiTiet.md, VĐ1, VĐ5. Câu trả lời mẫu: phụ lục A.</a:t>
            </a:r>
          </a:p>
        </p:txBody>
      </p:sp>
      <p:sp>
        <p:nvSpPr>
          <p:cNvPr name="TextBox 28" id="28"/>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30</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30" name="Header band"/>
          <p:cNvSpPr/>
          <p:nvPr/>
        </p:nvSpPr>
        <p:spPr>
          <a:xfrm>
            <a:off x="0" y="0"/>
            <a:ext cx="18288000" cy="2103120"/>
          </a:xfrm>
          <a:prstGeom prst="rect">
            <a:avLst/>
          </a:prstGeom>
          <a:solidFill>
            <a:srgbClr val="14213D"/>
          </a:solidFill>
          <a:ln>
            <a:noFill/>
          </a:ln>
        </p:spPr>
      </p:sp>
      <p:sp>
        <p:nvSpPr>
          <p:cNvPr id="9031"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DỰ PHÒNG D10 · NGUỒN: MỤC 7.2</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Mạng giả lập</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Q&amp;A</a:t>
              </a:r>
            </a:p>
          </p:txBody>
        </p:sp>
      </p:grpSp>
      <p:grpSp>
        <p:nvGrpSpPr>
          <p:cNvPr name="Group 14" id="14"/>
          <p:cNvGrpSpPr/>
          <p:nvPr/>
        </p:nvGrpSpPr>
        <p:grpSpPr>
          <a:xfrm rot="0">
            <a:off x="901703" y="2456183"/>
            <a:ext cx="16484603" cy="1488443"/>
            <a:chOff x="0" y="0"/>
            <a:chExt cx="21979471" cy="1984591"/>
          </a:xfrm>
        </p:grpSpPr>
        <p:sp>
          <p:nvSpPr>
            <p:cNvPr name="Freeform 15" id="15"/>
            <p:cNvSpPr/>
            <p:nvPr/>
          </p:nvSpPr>
          <p:spPr>
            <a:xfrm flipH="false" flipV="false" rot="0">
              <a:off x="0" y="0"/>
              <a:ext cx="21979382" cy="1984502"/>
            </a:xfrm>
            <a:custGeom>
              <a:avLst/>
              <a:gdLst/>
              <a:ahLst/>
              <a:cxnLst/>
              <a:rect r="r" b="b" t="t" l="l"/>
              <a:pathLst>
                <a:path h="1984502" w="2197938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name="Group 16" id="16"/>
          <p:cNvGrpSpPr/>
          <p:nvPr/>
        </p:nvGrpSpPr>
        <p:grpSpPr>
          <a:xfrm rot="0">
            <a:off x="1371600" y="2468880"/>
            <a:ext cx="2377440" cy="1463040"/>
            <a:chOff x="0" y="0"/>
            <a:chExt cx="3169920" cy="1950720"/>
          </a:xfrm>
        </p:grpSpPr>
        <p:sp>
          <p:nvSpPr>
            <p:cNvPr name="Freeform 17" id="17"/>
            <p:cNvSpPr/>
            <p:nvPr/>
          </p:nvSpPr>
          <p:spPr>
            <a:xfrm flipH="false" flipV="false" rot="0">
              <a:off x="0" y="0"/>
              <a:ext cx="3169920" cy="1950720"/>
            </a:xfrm>
            <a:custGeom>
              <a:avLst/>
              <a:gdLst/>
              <a:ahLst/>
              <a:cxnLst/>
              <a:rect r="r" b="b" t="t" l="l"/>
              <a:pathLst>
                <a:path h="1950720" w="3169920">
                  <a:moveTo>
                    <a:pt x="0" y="0"/>
                  </a:moveTo>
                  <a:lnTo>
                    <a:pt x="3169920" y="0"/>
                  </a:lnTo>
                  <a:lnTo>
                    <a:pt x="3169920" y="1950720"/>
                  </a:lnTo>
                  <a:lnTo>
                    <a:pt x="0" y="1950720"/>
                  </a:lnTo>
                  <a:close/>
                </a:path>
              </a:pathLst>
            </a:custGeom>
            <a:blipFill>
              <a:blip r:embed="rId3">
                <a:alphaModFix amt="0"/>
              </a:blip>
              <a:stretch>
                <a:fillRect l="-28956" t="0" r="-28956" b="0"/>
              </a:stretch>
            </a:blipFill>
          </p:spPr>
        </p:sp>
        <p:sp>
          <p:nvSpPr>
            <p:cNvPr name="TextBox 18" id="18"/>
            <p:cNvSpPr txBox="true"/>
            <p:nvPr/>
          </p:nvSpPr>
          <p:spPr>
            <a:xfrm>
              <a:off x="0" y="-38100"/>
              <a:ext cx="3169920" cy="1988820"/>
            </a:xfrm>
            <a:prstGeom prst="rect">
              <a:avLst/>
            </a:prstGeom>
          </p:spPr>
          <p:txBody>
            <a:bodyPr anchor="ctr" rtlCol="false" tIns="0" lIns="0" bIns="0" rIns="0"/>
            <a:lstStyle/>
            <a:p>
              <a:pPr algn="l">
                <a:lnSpc>
                  <a:spcPts val="2400"/>
                </a:lnSpc>
              </a:pPr>
              <a:r>
                <a:rPr lang="en-US" b="true" sz="2000" spc="300">
                  <a:solidFill>
                    <a:srgbClr val="BFE8E3"/>
                  </a:solidFill>
                  <a:latin typeface="Times New Roman"/>
                  <a:ea typeface="Times New Roman"/>
                  <a:cs typeface="Times New Roman"/>
                  <a:sym typeface="Times New Roman"/>
                </a:rPr>
                <a:t>KHI BỊ HỎI</a:t>
              </a:r>
            </a:p>
          </p:txBody>
        </p:sp>
      </p:grpSp>
      <p:grpSp>
        <p:nvGrpSpPr>
          <p:cNvPr name="Group 19" id="19"/>
          <p:cNvGrpSpPr/>
          <p:nvPr/>
        </p:nvGrpSpPr>
        <p:grpSpPr>
          <a:xfrm rot="0">
            <a:off x="3749040" y="2468880"/>
            <a:ext cx="13167360" cy="1463040"/>
            <a:chOff x="0" y="0"/>
            <a:chExt cx="17556480" cy="1950720"/>
          </a:xfrm>
        </p:grpSpPr>
        <p:sp>
          <p:nvSpPr>
            <p:cNvPr name="Freeform 20" id="20"/>
            <p:cNvSpPr/>
            <p:nvPr/>
          </p:nvSpPr>
          <p:spPr>
            <a:xfrm flipH="false" flipV="false" rot="0">
              <a:off x="0" y="0"/>
              <a:ext cx="17556480" cy="1950720"/>
            </a:xfrm>
            <a:custGeom>
              <a:avLst/>
              <a:gdLst/>
              <a:ahLst/>
              <a:cxnLst/>
              <a:rect r="r" b="b" t="t" l="l"/>
              <a:pathLst>
                <a:path h="1950720" w="17556480">
                  <a:moveTo>
                    <a:pt x="0" y="0"/>
                  </a:moveTo>
                  <a:lnTo>
                    <a:pt x="17556480" y="0"/>
                  </a:lnTo>
                  <a:lnTo>
                    <a:pt x="17556480" y="1950720"/>
                  </a:lnTo>
                  <a:lnTo>
                    <a:pt x="0" y="1950720"/>
                  </a:lnTo>
                  <a:close/>
                </a:path>
              </a:pathLst>
            </a:custGeom>
            <a:blipFill>
              <a:blip r:embed="rId3">
                <a:alphaModFix amt="0"/>
              </a:blip>
              <a:stretch>
                <a:fillRect l="0" t="-125365" r="0" b="-125365"/>
              </a:stretch>
            </a:blipFill>
          </p:spPr>
        </p:sp>
        <p:sp>
          <p:nvSpPr>
            <p:cNvPr name="TextBox 21" id="21"/>
            <p:cNvSpPr txBox="true"/>
            <p:nvPr/>
          </p:nvSpPr>
          <p:spPr>
            <a:xfrm>
              <a:off x="0" y="-57150"/>
              <a:ext cx="17556480" cy="2007870"/>
            </a:xfrm>
            <a:prstGeom prst="rect">
              <a:avLst/>
            </a:prstGeom>
          </p:spPr>
          <p:txBody>
            <a:bodyPr anchor="ctr" rtlCol="false" tIns="0" lIns="0" bIns="0" rIns="0"/>
            <a:lstStyle/>
            <a:p>
              <a:pPr algn="l">
                <a:lnSpc>
                  <a:spcPts val="3840"/>
                </a:lnSpc>
              </a:pPr>
              <a:r>
                <a:rPr lang="en-US" sz="3200" i="true">
                  <a:solidFill>
                    <a:srgbClr val="FFFFFF"/>
                  </a:solidFill>
                  <a:latin typeface="Times New Roman"/>
                  <a:ea typeface="Times New Roman"/>
                  <a:cs typeface="Times New Roman"/>
                  <a:sym typeface="Times New Roman"/>
                </a:rPr>
                <a:t>“Demo có phản ánh mạng thật không?”</a:t>
              </a:r>
            </a:p>
          </p:txBody>
        </p:sp>
      </p:grpSp>
      <p:grpSp>
        <p:nvGrpSpPr>
          <p:cNvPr name="Group 22" id="22"/>
          <p:cNvGrpSpPr/>
          <p:nvPr/>
        </p:nvGrpSpPr>
        <p:grpSpPr>
          <a:xfrm rot="0">
            <a:off x="898522" y="4373242"/>
            <a:ext cx="16490947" cy="4786627"/>
            <a:chOff x="0" y="0"/>
            <a:chExt cx="21987929" cy="6382169"/>
          </a:xfrm>
        </p:grpSpPr>
        <p:sp>
          <p:nvSpPr>
            <p:cNvPr name="Freeform 23" id="23"/>
            <p:cNvSpPr/>
            <p:nvPr/>
          </p:nvSpPr>
          <p:spPr>
            <a:xfrm flipH="false" flipV="false" rot="0">
              <a:off x="0" y="0"/>
              <a:ext cx="21987890" cy="6382131"/>
            </a:xfrm>
            <a:custGeom>
              <a:avLst/>
              <a:gdLst/>
              <a:ahLst/>
              <a:cxnLst/>
              <a:rect r="r" b="b" t="t" l="l"/>
              <a:pathLst>
                <a:path h="6382131" w="21987890">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name="Group 24" id="24"/>
          <p:cNvGrpSpPr/>
          <p:nvPr/>
        </p:nvGrpSpPr>
        <p:grpSpPr>
          <a:xfrm rot="0">
            <a:off x="1280160" y="4663440"/>
            <a:ext cx="15727680" cy="512064"/>
            <a:chOff x="0" y="0"/>
            <a:chExt cx="20970240" cy="682752"/>
          </a:xfrm>
        </p:grpSpPr>
        <p:sp>
          <p:nvSpPr>
            <p:cNvPr name="Freeform 25" id="25"/>
            <p:cNvSpPr/>
            <p:nvPr/>
          </p:nvSpPr>
          <p:spPr>
            <a:xfrm flipH="false" flipV="false" rot="0">
              <a:off x="0" y="0"/>
              <a:ext cx="20970239" cy="682752"/>
            </a:xfrm>
            <a:custGeom>
              <a:avLst/>
              <a:gdLst/>
              <a:ahLst/>
              <a:cxnLst/>
              <a:rect r="r" b="b" t="t" l="l"/>
              <a:pathLst>
                <a:path h="682752" w="20970239">
                  <a:moveTo>
                    <a:pt x="0" y="0"/>
                  </a:moveTo>
                  <a:lnTo>
                    <a:pt x="20970239" y="0"/>
                  </a:lnTo>
                  <a:lnTo>
                    <a:pt x="20970239" y="682752"/>
                  </a:lnTo>
                  <a:lnTo>
                    <a:pt x="0" y="682752"/>
                  </a:lnTo>
                  <a:close/>
                </a:path>
              </a:pathLst>
            </a:custGeom>
            <a:blipFill>
              <a:blip r:embed="rId3">
                <a:alphaModFix amt="0"/>
              </a:blip>
              <a:stretch>
                <a:fillRect l="0" t="-548469" r="0" b="-548469"/>
              </a:stretch>
            </a:blipFill>
          </p:spPr>
        </p:sp>
        <p:sp>
          <p:nvSpPr>
            <p:cNvPr name="TextBox 26" id="26"/>
            <p:cNvSpPr txBox="true"/>
            <p:nvPr/>
          </p:nvSpPr>
          <p:spPr>
            <a:xfrm>
              <a:off x="0" y="-38100"/>
              <a:ext cx="20970240" cy="720852"/>
            </a:xfrm>
            <a:prstGeom prst="rect">
              <a:avLst/>
            </a:prstGeom>
          </p:spPr>
          <p:txBody>
            <a:bodyPr anchor="ctr" rtlCol="false" tIns="0" lIns="0" bIns="0" rIns="0"/>
            <a:lstStyle/>
            <a:p>
              <a:pPr algn="l">
                <a:lnSpc>
                  <a:spcPts val="2400"/>
                </a:lnSpc>
              </a:pPr>
              <a:r>
                <a:rPr lang="en-US" b="true" sz="2000" spc="300">
                  <a:solidFill>
                    <a:srgbClr val="00897B"/>
                  </a:solidFill>
                  <a:latin typeface="Times New Roman"/>
                  <a:ea typeface="Times New Roman"/>
                  <a:cs typeface="Times New Roman"/>
                  <a:sym typeface="Times New Roman"/>
                </a:rPr>
                <a:t>NỘI DUNG CẦN ĐIỀN</a:t>
              </a:r>
            </a:p>
          </p:txBody>
        </p:sp>
      </p:grpSp>
      <p:sp>
        <p:nvSpPr>
          <p:cNvPr name="TextBox 27" id="27"/>
          <p:cNvSpPr txBox="true"/>
          <p:nvPr/>
        </p:nvSpPr>
        <p:spPr>
          <a:xfrm rot="0">
            <a:off x="1280160" y="5265420"/>
            <a:ext cx="15727680" cy="3604260"/>
          </a:xfrm>
          <a:prstGeom prst="rect">
            <a:avLst/>
          </a:prstGeom>
        </p:spPr>
        <p:txBody>
          <a:bodyPr anchor="t" rtlCol="false" tIns="0" lIns="0" bIns="0" rIns="0">
            <a:spAutoFit/>
          </a:bodyPr>
          <a:lstStyle/>
          <a:p>
            <a:pPr algn="l">
              <a:lnSpc>
                <a:spcPts val="2879"/>
              </a:lnSpc>
            </a:pPr>
            <a:r>
              <a:rPr lang="en-US" sz="2400">
                <a:solidFill>
                  <a:srgbClr val="5B6B82"/>
                </a:solidFill>
                <a:latin typeface="Times New Roman"/>
                <a:ea typeface="Times New Roman"/>
                <a:cs typeface="Times New Roman"/>
                <a:sym typeface="Times New Roman"/>
              </a:rPr>
              <a:t>Phạm vi: netsim.js (độ trễ, jitter, mất gói); WebSocket vì trình duyệt không mở được UDP</a:t>
            </a:r>
          </a:p>
          <a:p>
            <a:pPr algn="l">
              <a:lnSpc>
                <a:spcPts val="2879"/>
              </a:lnSpc>
            </a:pPr>
            <a:r>
              <a:rPr lang="en-US" sz="2400">
                <a:solidFill>
                  <a:srgbClr val="5B6B82"/>
                </a:solidFill>
                <a:latin typeface="Times New Roman"/>
                <a:ea typeface="Times New Roman"/>
                <a:cs typeface="Times New Roman"/>
                <a:sym typeface="Times New Roman"/>
              </a:rPr>
              <a:t>Lấy từ NoiDung_ChiTiet.md, Mục 7.2. Câu trả lời mẫu: phụ lục A.</a:t>
            </a:r>
          </a:p>
        </p:txBody>
      </p:sp>
      <p:sp>
        <p:nvSpPr>
          <p:cNvPr name="TextBox 28" id="28"/>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31</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bg>
      <p:bgPr>
        <a:solidFill>
          <a:srgbClr val="0B1626"/>
        </a:solidFill>
      </p:bgPr>
    </p:bg>
    <p:spTree>
      <p:nvGrpSpPr>
        <p:cNvPr id="1" name=""/>
        <p:cNvGrpSpPr/>
        <p:nvPr/>
      </p:nvGrpSpPr>
      <p:grpSpPr>
        <a:xfrm>
          <a:off x="0" y="0"/>
          <a:ext cx="0" cy="0"/>
          <a:chOff x="0" y="0"/>
          <a:chExt cx="0" cy="0"/>
        </a:xfrm>
      </p:grpSpPr>
      <p:sp>
        <p:nvSpPr>
          <p:cNvPr name="TextBox 2" id="2"/>
          <p:cNvSpPr txBox="true"/>
          <p:nvPr/>
        </p:nvSpPr>
        <p:spPr>
          <a:xfrm rot="0">
            <a:off x="1097280" y="2377440"/>
            <a:ext cx="10607040" cy="1234440"/>
          </a:xfrm>
          <a:prstGeom prst="rect">
            <a:avLst/>
          </a:prstGeom>
        </p:spPr>
        <p:txBody>
          <a:bodyPr anchor="t" rtlCol="false" tIns="0" lIns="0" bIns="0" rIns="0">
            <a:spAutoFit/>
          </a:bodyPr>
          <a:lstStyle/>
          <a:p>
            <a:pPr algn="l">
              <a:lnSpc>
                <a:spcPct val="90000"/>
              </a:lnSpc>
            </a:pPr>
            <a:r>
              <a:rPr lang="vi-VN" sz="9600" b="true" spc="200">
                <a:solidFill>
                  <a:srgbClr val="BFE8E3"/>
                </a:solidFill>
                <a:latin typeface="Times New Roman"/>
                <a:ea typeface="Times New Roman"/>
                <a:cs typeface="Times New Roman"/>
                <a:sym typeface="Times New Roman"/>
              </a:rPr>
              <a:t>PHẦN </a:t>
            </a:r>
            <a:r>
              <a:rPr lang="vi-VN" sz="9600" b="true" spc="200">
                <a:solidFill>
                  <a:srgbClr val="00897B"/>
                </a:solidFill>
                <a:latin typeface="Times New Roman"/>
                <a:ea typeface="Times New Roman"/>
                <a:cs typeface="Times New Roman"/>
                <a:sym typeface="Times New Roman"/>
              </a:rPr>
              <a:t>1</a:t>
            </a:r>
          </a:p>
        </p:txBody>
      </p:sp>
      <p:sp>
        <p:nvSpPr>
          <p:cNvPr name="TextBox 3" id="3"/>
          <p:cNvSpPr txBox="true"/>
          <p:nvPr/>
        </p:nvSpPr>
        <p:spPr>
          <a:xfrm rot="0">
            <a:off x="1097280" y="4160520"/>
            <a:ext cx="10607040" cy="2661285"/>
          </a:xfrm>
          <a:prstGeom prst="rect">
            <a:avLst/>
          </a:prstGeom>
        </p:spPr>
        <p:txBody>
          <a:bodyPr anchor="t" rtlCol="false" tIns="0" lIns="0" bIns="0" rIns="0">
            <a:spAutoFit/>
          </a:bodyPr>
          <a:lstStyle/>
          <a:p>
            <a:pPr algn="l">
              <a:lnSpc>
                <a:spcPts val="5760"/>
              </a:lnSpc>
            </a:pPr>
            <a:r>
              <a:rPr lang="en-US" sz="4800" b="true">
                <a:solidFill>
                  <a:srgbClr val="FFFFFF"/>
                </a:solidFill>
                <a:latin typeface="Times New Roman"/>
                <a:ea typeface="Times New Roman"/>
                <a:cs typeface="Times New Roman"/>
                <a:sym typeface="Times New Roman"/>
              </a:rPr>
              <a:t>Vấn đề gốc: bài toán đường truyền mạng</a:t>
            </a:r>
          </a:p>
        </p:txBody>
      </p:sp>
      <p:sp>
        <p:nvSpPr>
          <p:cNvPr name="TextBox 4" id="4"/>
          <p:cNvSpPr txBox="true"/>
          <p:nvPr/>
        </p:nvSpPr>
        <p:spPr>
          <a:xfrm rot="0">
            <a:off x="1097280" y="5943600"/>
            <a:ext cx="10607040" cy="1000125"/>
          </a:xfrm>
          <a:prstGeom prst="rect">
            <a:avLst/>
          </a:prstGeom>
        </p:spPr>
        <p:txBody>
          <a:bodyPr anchor="t" rtlCol="false" tIns="0" lIns="0" bIns="0" rIns="0">
            <a:spAutoFit/>
          </a:bodyPr>
          <a:lstStyle/>
          <a:p>
            <a:pPr algn="l">
              <a:lnSpc>
                <a:spcPts val="3840"/>
              </a:lnSpc>
            </a:pPr>
            <a:r>
              <a:rPr lang="en-US" sz="3200" b="true">
                <a:solidFill>
                  <a:srgbClr val="BFE8E3"/>
                </a:solidFill>
                <a:latin typeface="Times New Roman"/>
                <a:ea typeface="Times New Roman"/>
                <a:cs typeface="Times New Roman"/>
                <a:sym typeface="Times New Roman"/>
              </a:rPr>
              <a:t>Mạng luôn có độ trễ, dao động độ trễ và mất gói</a:t>
            </a:r>
          </a:p>
        </p:txBody>
      </p:sp>
      <p:sp>
        <p:nvSpPr>
          <p:cNvPr name="TextBox 5" id="5"/>
          <p:cNvSpPr txBox="true"/>
          <p:nvPr/>
        </p:nvSpPr>
        <p:spPr>
          <a:xfrm rot="0">
            <a:off x="1097280" y="6720840"/>
            <a:ext cx="10607040" cy="2251710"/>
          </a:xfrm>
          <a:prstGeom prst="rect">
            <a:avLst/>
          </a:prstGeom>
        </p:spPr>
        <p:txBody>
          <a:bodyPr anchor="t" rtlCol="false" tIns="0" lIns="0" bIns="0" rIns="0">
            <a:spAutoFit/>
          </a:bodyPr>
          <a:lstStyle/>
          <a:p>
            <a:pPr algn="l">
              <a:lnSpc>
                <a:spcPts val="2880"/>
              </a:lnSpc>
            </a:pPr>
            <a:r>
              <a:rPr lang="en-US" sz="2400">
                <a:solidFill>
                  <a:srgbClr val="FFFFFF"/>
                </a:solidFill>
                <a:latin typeface="Times New Roman"/>
                <a:ea typeface="Times New Roman"/>
                <a:cs typeface="Times New Roman"/>
                <a:sym typeface="Times New Roman"/>
              </a:rPr>
              <a:t>Bài toán · Hai yêu cầu mâu thuẫn · Mạng không hoàn hảo  ·  Trình bày: #1</a:t>
            </a:r>
          </a:p>
        </p:txBody>
      </p:sp>
      <p:sp>
        <p:nvSpPr>
          <p:cNvPr name="AutoShape 6" id="6"/>
          <p:cNvSpPr/>
          <p:nvPr/>
        </p:nvSpPr>
        <p:spPr>
          <a:xfrm rot="-3820860">
            <a:off x="11596345" y="4882515"/>
            <a:ext cx="4239301" cy="0"/>
          </a:xfrm>
          <a:prstGeom prst="line">
            <a:avLst/>
          </a:prstGeom>
          <a:ln cap="rnd" w="19050">
            <a:solidFill>
              <a:srgbClr val="BFE8E3"/>
            </a:solidFill>
            <a:prstDash val="solid"/>
            <a:headEnd type="none" len="sm" w="sm"/>
            <a:tailEnd type="none" len="sm" w="sm"/>
          </a:ln>
        </p:spPr>
      </p:sp>
      <p:sp>
        <p:nvSpPr>
          <p:cNvPr name="AutoShape 7" id="7"/>
          <p:cNvSpPr/>
          <p:nvPr/>
        </p:nvSpPr>
        <p:spPr>
          <a:xfrm rot="3820860">
            <a:off x="13425145" y="4882515"/>
            <a:ext cx="4239301" cy="0"/>
          </a:xfrm>
          <a:prstGeom prst="line">
            <a:avLst/>
          </a:prstGeom>
          <a:ln cap="rnd" w="19050">
            <a:solidFill>
              <a:srgbClr val="BFE8E3"/>
            </a:solidFill>
            <a:prstDash val="solid"/>
            <a:headEnd type="none" len="sm" w="sm"/>
            <a:tailEnd type="none" len="sm" w="sm"/>
          </a:ln>
        </p:spPr>
      </p:sp>
      <p:grpSp>
        <p:nvGrpSpPr>
          <p:cNvPr name="Group 8" id="8"/>
          <p:cNvGrpSpPr/>
          <p:nvPr/>
        </p:nvGrpSpPr>
        <p:grpSpPr>
          <a:xfrm rot="0">
            <a:off x="13282679" y="5295395"/>
            <a:ext cx="318011" cy="318011"/>
            <a:chOff x="0" y="0"/>
            <a:chExt cx="424015" cy="424015"/>
          </a:xfrm>
        </p:grpSpPr>
        <p:sp>
          <p:nvSpPr>
            <p:cNvPr name="Freeform 9" id="9"/>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name="Group 10" id="10"/>
          <p:cNvGrpSpPr/>
          <p:nvPr/>
        </p:nvGrpSpPr>
        <p:grpSpPr>
          <a:xfrm rot="0">
            <a:off x="13831319" y="4170683"/>
            <a:ext cx="318011" cy="318011"/>
            <a:chOff x="0" y="0"/>
            <a:chExt cx="424015" cy="424015"/>
          </a:xfrm>
        </p:grpSpPr>
        <p:sp>
          <p:nvSpPr>
            <p:cNvPr name="Freeform 11" id="11"/>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name="Group 12" id="12"/>
          <p:cNvGrpSpPr/>
          <p:nvPr/>
        </p:nvGrpSpPr>
        <p:grpSpPr>
          <a:xfrm rot="0">
            <a:off x="15568679" y="5107943"/>
            <a:ext cx="318011" cy="318011"/>
            <a:chOff x="0" y="0"/>
            <a:chExt cx="424015" cy="424015"/>
          </a:xfrm>
        </p:grpSpPr>
        <p:sp>
          <p:nvSpPr>
            <p:cNvPr name="Freeform 13" id="13"/>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name="Group 14" id="14"/>
          <p:cNvGrpSpPr/>
          <p:nvPr/>
        </p:nvGrpSpPr>
        <p:grpSpPr>
          <a:xfrm rot="0">
            <a:off x="15020039" y="3983231"/>
            <a:ext cx="318011" cy="318011"/>
            <a:chOff x="0" y="0"/>
            <a:chExt cx="424015" cy="424015"/>
          </a:xfrm>
        </p:grpSpPr>
        <p:sp>
          <p:nvSpPr>
            <p:cNvPr name="Freeform 15" id="15"/>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name="Group 16" id="16"/>
          <p:cNvGrpSpPr/>
          <p:nvPr/>
        </p:nvGrpSpPr>
        <p:grpSpPr>
          <a:xfrm rot="0">
            <a:off x="13690597" y="2077717"/>
            <a:ext cx="1879597" cy="1879597"/>
            <a:chOff x="0" y="0"/>
            <a:chExt cx="2506129" cy="2506129"/>
          </a:xfrm>
        </p:grpSpPr>
        <p:sp>
          <p:nvSpPr>
            <p:cNvPr name="Freeform 17" id="17"/>
            <p:cNvSpPr/>
            <p:nvPr/>
          </p:nvSpPr>
          <p:spPr>
            <a:xfrm flipH="false" flipV="false" rot="0">
              <a:off x="0" y="0"/>
              <a:ext cx="2506218" cy="2506218"/>
            </a:xfrm>
            <a:custGeom>
              <a:avLst/>
              <a:gdLst/>
              <a:ahLst/>
              <a:cxnLst/>
              <a:rect r="r" b="b" t="t" l="l"/>
              <a:pathLst>
                <a:path h="2506218" w="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name="Group 18" id="18"/>
          <p:cNvGrpSpPr/>
          <p:nvPr/>
        </p:nvGrpSpPr>
        <p:grpSpPr>
          <a:xfrm rot="0">
            <a:off x="13716000" y="2103120"/>
            <a:ext cx="1828800" cy="1828800"/>
            <a:chOff x="0" y="0"/>
            <a:chExt cx="2438400" cy="2438400"/>
          </a:xfrm>
        </p:grpSpPr>
        <p:sp>
          <p:nvSpPr>
            <p:cNvPr name="Freeform 19" id="19"/>
            <p:cNvSpPr/>
            <p:nvPr/>
          </p:nvSpPr>
          <p:spPr>
            <a:xfrm flipH="false" flipV="false" rot="0">
              <a:off x="0" y="0"/>
              <a:ext cx="2438400" cy="2438400"/>
            </a:xfrm>
            <a:custGeom>
              <a:avLst/>
              <a:gdLst/>
              <a:ahLst/>
              <a:cxnLst/>
              <a:rect r="r" b="b" t="t" l="l"/>
              <a:pathLst>
                <a:path h="2438400" w="2438400">
                  <a:moveTo>
                    <a:pt x="0" y="0"/>
                  </a:moveTo>
                  <a:lnTo>
                    <a:pt x="2438400" y="0"/>
                  </a:lnTo>
                  <a:lnTo>
                    <a:pt x="2438400" y="2438400"/>
                  </a:lnTo>
                  <a:lnTo>
                    <a:pt x="0" y="2438400"/>
                  </a:lnTo>
                  <a:close/>
                </a:path>
              </a:pathLst>
            </a:custGeom>
            <a:blipFill>
              <a:blip r:embed="rId3">
                <a:alphaModFix amt="0"/>
              </a:blip>
              <a:stretch>
                <a:fillRect l="-78303" t="0" r="-78303" b="0"/>
              </a:stretch>
            </a:blipFill>
          </p:spPr>
        </p:sp>
        <p:sp>
          <p:nvSpPr>
            <p:cNvPr name="TextBox 20" id="20"/>
            <p:cNvSpPr txBox="true"/>
            <p:nvPr/>
          </p:nvSpPr>
          <p:spPr>
            <a:xfrm>
              <a:off x="0" y="-57150"/>
              <a:ext cx="2438400" cy="2495550"/>
            </a:xfrm>
            <a:prstGeom prst="rect">
              <a:avLst/>
            </a:prstGeom>
          </p:spPr>
          <p:txBody>
            <a:bodyPr anchor="ctr" rtlCol="false" tIns="0" lIns="0" bIns="0" rIns="0"/>
            <a:lstStyle/>
            <a:p>
              <a:pPr algn="ctr">
                <a:lnSpc>
                  <a:spcPts val="3120"/>
                </a:lnSpc>
              </a:pPr>
              <a:r>
                <a:rPr lang="en-US" sz="2600" b="true">
                  <a:solidFill>
                    <a:srgbClr val="FFFFFF"/>
                  </a:solidFill>
                  <a:latin typeface="Times New Roman"/>
                  <a:ea typeface="Times New Roman"/>
                  <a:cs typeface="Times New Roman"/>
                  <a:sym typeface="Times New Roman"/>
                </a:rPr>
                <a:t>Server</a:t>
              </a:r>
            </a:p>
          </p:txBody>
        </p:sp>
      </p:grpSp>
      <p:grpSp>
        <p:nvGrpSpPr>
          <p:cNvPr name="Group 21" id="21"/>
          <p:cNvGrpSpPr/>
          <p:nvPr/>
        </p:nvGrpSpPr>
        <p:grpSpPr>
          <a:xfrm rot="0">
            <a:off x="11953237" y="5918197"/>
            <a:ext cx="1696717" cy="1696717"/>
            <a:chOff x="0" y="0"/>
            <a:chExt cx="2262289" cy="2262289"/>
          </a:xfrm>
        </p:grpSpPr>
        <p:sp>
          <p:nvSpPr>
            <p:cNvPr name="Freeform 22" id="22"/>
            <p:cNvSpPr/>
            <p:nvPr/>
          </p:nvSpPr>
          <p:spPr>
            <a:xfrm flipH="false" flipV="false" rot="0">
              <a:off x="0" y="0"/>
              <a:ext cx="2262378" cy="2262378"/>
            </a:xfrm>
            <a:custGeom>
              <a:avLst/>
              <a:gdLst/>
              <a:ahLst/>
              <a:cxnLst/>
              <a:rect r="r" b="b" t="t" l="l"/>
              <a:pathLst>
                <a:path h="2262378" w="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name="Group 23" id="23"/>
          <p:cNvGrpSpPr/>
          <p:nvPr/>
        </p:nvGrpSpPr>
        <p:grpSpPr>
          <a:xfrm rot="0">
            <a:off x="11978640" y="5943600"/>
            <a:ext cx="1645920" cy="1645920"/>
            <a:chOff x="0" y="0"/>
            <a:chExt cx="2194560" cy="2194560"/>
          </a:xfrm>
        </p:grpSpPr>
        <p:sp>
          <p:nvSpPr>
            <p:cNvPr name="Freeform 24" id="24"/>
            <p:cNvSpPr/>
            <p:nvPr/>
          </p:nvSpPr>
          <p:spPr>
            <a:xfrm flipH="false" flipV="false" rot="0">
              <a:off x="0" y="0"/>
              <a:ext cx="2194560" cy="2194560"/>
            </a:xfrm>
            <a:custGeom>
              <a:avLst/>
              <a:gdLst/>
              <a:ahLst/>
              <a:cxnLst/>
              <a:rect r="r" b="b" t="t" l="l"/>
              <a:pathLst>
                <a:path h="2194560" w="2194560">
                  <a:moveTo>
                    <a:pt x="0" y="0"/>
                  </a:moveTo>
                  <a:lnTo>
                    <a:pt x="2194560" y="0"/>
                  </a:lnTo>
                  <a:lnTo>
                    <a:pt x="2194560" y="2194560"/>
                  </a:lnTo>
                  <a:lnTo>
                    <a:pt x="0" y="2194560"/>
                  </a:lnTo>
                  <a:close/>
                </a:path>
              </a:pathLst>
            </a:custGeom>
            <a:blipFill>
              <a:blip r:embed="rId3">
                <a:alphaModFix amt="0"/>
              </a:blip>
              <a:stretch>
                <a:fillRect l="-78303" t="0" r="-78303" b="0"/>
              </a:stretch>
            </a:blipFill>
          </p:spPr>
        </p:sp>
        <p:sp>
          <p:nvSpPr>
            <p:cNvPr name="TextBox 25" id="25"/>
            <p:cNvSpPr txBox="true"/>
            <p:nvPr/>
          </p:nvSpPr>
          <p:spPr>
            <a:xfrm>
              <a:off x="0" y="-47625"/>
              <a:ext cx="2194560" cy="2242185"/>
            </a:xfrm>
            <a:prstGeom prst="rect">
              <a:avLst/>
            </a:prstGeom>
          </p:spPr>
          <p:txBody>
            <a:bodyPr anchor="ctr" rtlCol="false" tIns="0" lIns="0" bIns="0" rIns="0"/>
            <a:lstStyle/>
            <a:p>
              <a:pPr algn="ctr">
                <a:lnSpc>
                  <a:spcPts val="2639"/>
                </a:lnSpc>
              </a:pPr>
              <a:r>
                <a:rPr lang="en-US" sz="2199" b="true">
                  <a:solidFill>
                    <a:srgbClr val="BFE8E3"/>
                  </a:solidFill>
                  <a:latin typeface="Times New Roman"/>
                  <a:ea typeface="Times New Roman"/>
                  <a:cs typeface="Times New Roman"/>
                  <a:sym typeface="Times New Roman"/>
                </a:rPr>
                <a:t>Client</a:t>
              </a:r>
            </a:p>
            <a:p>
              <a:pPr algn="ctr">
                <a:lnSpc>
                  <a:spcPts val="2639"/>
                </a:lnSpc>
              </a:pPr>
              <a:r>
                <a:rPr lang="en-US" sz="2199" b="true">
                  <a:solidFill>
                    <a:srgbClr val="BFE8E3"/>
                  </a:solidFill>
                  <a:latin typeface="Times New Roman"/>
                  <a:ea typeface="Times New Roman"/>
                  <a:cs typeface="Times New Roman"/>
                  <a:sym typeface="Times New Roman"/>
                </a:rPr>
                <a:t>A</a:t>
              </a:r>
            </a:p>
          </p:txBody>
        </p:sp>
      </p:grpSp>
      <p:grpSp>
        <p:nvGrpSpPr>
          <p:cNvPr name="Group 26" id="26"/>
          <p:cNvGrpSpPr/>
          <p:nvPr/>
        </p:nvGrpSpPr>
        <p:grpSpPr>
          <a:xfrm rot="0">
            <a:off x="15610837" y="5918197"/>
            <a:ext cx="1696717" cy="1696717"/>
            <a:chOff x="0" y="0"/>
            <a:chExt cx="2262289" cy="2262289"/>
          </a:xfrm>
        </p:grpSpPr>
        <p:sp>
          <p:nvSpPr>
            <p:cNvPr name="Freeform 27" id="27"/>
            <p:cNvSpPr/>
            <p:nvPr/>
          </p:nvSpPr>
          <p:spPr>
            <a:xfrm flipH="false" flipV="false" rot="0">
              <a:off x="0" y="0"/>
              <a:ext cx="2262378" cy="2262378"/>
            </a:xfrm>
            <a:custGeom>
              <a:avLst/>
              <a:gdLst/>
              <a:ahLst/>
              <a:cxnLst/>
              <a:rect r="r" b="b" t="t" l="l"/>
              <a:pathLst>
                <a:path h="2262378" w="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name="Group 28" id="28"/>
          <p:cNvGrpSpPr/>
          <p:nvPr/>
        </p:nvGrpSpPr>
        <p:grpSpPr>
          <a:xfrm rot="0">
            <a:off x="15636240" y="5943600"/>
            <a:ext cx="1645920" cy="1645920"/>
            <a:chOff x="0" y="0"/>
            <a:chExt cx="2194560" cy="2194560"/>
          </a:xfrm>
        </p:grpSpPr>
        <p:sp>
          <p:nvSpPr>
            <p:cNvPr name="Freeform 29" id="29"/>
            <p:cNvSpPr/>
            <p:nvPr/>
          </p:nvSpPr>
          <p:spPr>
            <a:xfrm flipH="false" flipV="false" rot="0">
              <a:off x="0" y="0"/>
              <a:ext cx="2194560" cy="2194560"/>
            </a:xfrm>
            <a:custGeom>
              <a:avLst/>
              <a:gdLst/>
              <a:ahLst/>
              <a:cxnLst/>
              <a:rect r="r" b="b" t="t" l="l"/>
              <a:pathLst>
                <a:path h="2194560" w="2194560">
                  <a:moveTo>
                    <a:pt x="0" y="0"/>
                  </a:moveTo>
                  <a:lnTo>
                    <a:pt x="2194560" y="0"/>
                  </a:lnTo>
                  <a:lnTo>
                    <a:pt x="2194560" y="2194560"/>
                  </a:lnTo>
                  <a:lnTo>
                    <a:pt x="0" y="2194560"/>
                  </a:lnTo>
                  <a:close/>
                </a:path>
              </a:pathLst>
            </a:custGeom>
            <a:blipFill>
              <a:blip r:embed="rId3">
                <a:alphaModFix amt="0"/>
              </a:blip>
              <a:stretch>
                <a:fillRect l="-78303" t="0" r="-78303" b="0"/>
              </a:stretch>
            </a:blipFill>
          </p:spPr>
        </p:sp>
        <p:sp>
          <p:nvSpPr>
            <p:cNvPr name="TextBox 30" id="30"/>
            <p:cNvSpPr txBox="true"/>
            <p:nvPr/>
          </p:nvSpPr>
          <p:spPr>
            <a:xfrm>
              <a:off x="0" y="-47625"/>
              <a:ext cx="2194560" cy="2242185"/>
            </a:xfrm>
            <a:prstGeom prst="rect">
              <a:avLst/>
            </a:prstGeom>
          </p:spPr>
          <p:txBody>
            <a:bodyPr anchor="ctr" rtlCol="false" tIns="0" lIns="0" bIns="0" rIns="0"/>
            <a:lstStyle/>
            <a:p>
              <a:pPr algn="ctr">
                <a:lnSpc>
                  <a:spcPts val="2639"/>
                </a:lnSpc>
              </a:pPr>
              <a:r>
                <a:rPr lang="en-US" sz="2199" b="true">
                  <a:solidFill>
                    <a:srgbClr val="BFE8E3"/>
                  </a:solidFill>
                  <a:latin typeface="Times New Roman"/>
                  <a:ea typeface="Times New Roman"/>
                  <a:cs typeface="Times New Roman"/>
                  <a:sym typeface="Times New Roman"/>
                </a:rPr>
                <a:t>Client</a:t>
              </a:r>
            </a:p>
            <a:p>
              <a:pPr algn="ctr">
                <a:lnSpc>
                  <a:spcPts val="2639"/>
                </a:lnSpc>
              </a:pPr>
              <a:r>
                <a:rPr lang="en-US" sz="2199" b="true">
                  <a:solidFill>
                    <a:srgbClr val="BFE8E3"/>
                  </a:solidFill>
                  <a:latin typeface="Times New Roman"/>
                  <a:ea typeface="Times New Roman"/>
                  <a:cs typeface="Times New Roman"/>
                  <a:sym typeface="Times New Roman"/>
                </a:rPr>
                <a:t>B</a:t>
              </a:r>
            </a:p>
          </p:txBody>
        </p:sp>
      </p:grpSp>
      <p:grpSp>
        <p:nvGrpSpPr>
          <p:cNvPr name="Group 31" id="31"/>
          <p:cNvGrpSpPr/>
          <p:nvPr/>
        </p:nvGrpSpPr>
        <p:grpSpPr>
          <a:xfrm rot="0">
            <a:off x="12801600" y="7808976"/>
            <a:ext cx="3657600" cy="548640"/>
            <a:chOff x="0" y="0"/>
            <a:chExt cx="4876800" cy="731520"/>
          </a:xfrm>
        </p:grpSpPr>
        <p:sp>
          <p:nvSpPr>
            <p:cNvPr name="Freeform 32" id="32"/>
            <p:cNvSpPr/>
            <p:nvPr/>
          </p:nvSpPr>
          <p:spPr>
            <a:xfrm flipH="false" flipV="false" rot="0">
              <a:off x="0" y="0"/>
              <a:ext cx="4876800" cy="731520"/>
            </a:xfrm>
            <a:custGeom>
              <a:avLst/>
              <a:gdLst/>
              <a:ahLst/>
              <a:cxnLst/>
              <a:rect r="r" b="b" t="t" l="l"/>
              <a:pathLst>
                <a:path h="731520" w="4876800">
                  <a:moveTo>
                    <a:pt x="0" y="0"/>
                  </a:moveTo>
                  <a:lnTo>
                    <a:pt x="4876800" y="0"/>
                  </a:lnTo>
                  <a:lnTo>
                    <a:pt x="4876800" y="731520"/>
                  </a:lnTo>
                  <a:lnTo>
                    <a:pt x="0" y="731520"/>
                  </a:lnTo>
                  <a:close/>
                </a:path>
              </a:pathLst>
            </a:custGeom>
            <a:blipFill>
              <a:blip r:embed="rId3">
                <a:alphaModFix amt="0"/>
              </a:blip>
              <a:stretch>
                <a:fillRect l="0" t="-79900" r="0" b="-79900"/>
              </a:stretch>
            </a:blipFill>
          </p:spPr>
        </p:sp>
        <p:sp>
          <p:nvSpPr>
            <p:cNvPr name="TextBox 33" id="33"/>
            <p:cNvSpPr txBox="true"/>
            <p:nvPr/>
          </p:nvSpPr>
          <p:spPr>
            <a:xfrm>
              <a:off x="0" y="-47625"/>
              <a:ext cx="4876800" cy="779145"/>
            </a:xfrm>
            <a:prstGeom prst="rect">
              <a:avLst/>
            </a:prstGeom>
          </p:spPr>
          <p:txBody>
            <a:bodyPr anchor="ctr" rtlCol="false" tIns="0" lIns="0" bIns="0" rIns="0"/>
            <a:lstStyle/>
            <a:p>
              <a:pPr algn="ctr">
                <a:lnSpc>
                  <a:spcPts val="2639"/>
                </a:lnSpc>
              </a:pPr>
              <a:r>
                <a:rPr lang="en-US" sz="2199" i="true">
                  <a:solidFill>
                    <a:srgbClr val="BFE8E3"/>
                  </a:solidFill>
                  <a:latin typeface="Times New Roman"/>
                  <a:ea typeface="Times New Roman"/>
                  <a:cs typeface="Times New Roman"/>
                  <a:sym typeface="Times New Roman"/>
                </a:rPr>
                <a:t>RTT 100–200 ms</a:t>
              </a:r>
            </a:p>
          </p:txBody>
        </p:sp>
      </p:grpSp>
      <p:sp>
        <p:nvSpPr>
          <p:cNvPr id="9032"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bg>
      <p:bgPr>
        <a:solidFill>
          <a:srgbClr val="0B1626"/>
        </a:solidFill>
      </p:bgPr>
    </p:bg>
    <p:spTree>
      <p:nvGrpSpPr>
        <p:cNvPr id="1" name=""/>
        <p:cNvGrpSpPr/>
        <p:nvPr/>
      </p:nvGrpSpPr>
      <p:grpSpPr>
        <a:xfrm>
          <a:off x="0" y="0"/>
          <a:ext cx="0" cy="0"/>
          <a:chOff x="0" y="0"/>
          <a:chExt cx="0" cy="0"/>
        </a:xfrm>
      </p:grpSpPr>
      <p:sp>
        <p:nvSpPr>
          <p:cNvPr name="TextBox 2" id="2"/>
          <p:cNvSpPr txBox="true"/>
          <p:nvPr/>
        </p:nvSpPr>
        <p:spPr>
          <a:xfrm rot="0">
            <a:off x="1097280" y="2377440"/>
            <a:ext cx="10607040" cy="1234440"/>
          </a:xfrm>
          <a:prstGeom prst="rect">
            <a:avLst/>
          </a:prstGeom>
        </p:spPr>
        <p:txBody>
          <a:bodyPr anchor="t" rtlCol="false" tIns="0" lIns="0" bIns="0" rIns="0">
            <a:spAutoFit/>
          </a:bodyPr>
          <a:lstStyle/>
          <a:p>
            <a:pPr algn="l">
              <a:lnSpc>
                <a:spcPct val="90000"/>
              </a:lnSpc>
            </a:pPr>
            <a:r>
              <a:rPr lang="vi-VN" sz="9600" b="true" spc="200">
                <a:solidFill>
                  <a:srgbClr val="BFE8E3"/>
                </a:solidFill>
                <a:latin typeface="Times New Roman"/>
                <a:ea typeface="Times New Roman"/>
                <a:cs typeface="Times New Roman"/>
                <a:sym typeface="Times New Roman"/>
              </a:rPr>
              <a:t>PHẦN </a:t>
            </a:r>
            <a:r>
              <a:rPr lang="vi-VN" sz="9600" b="true" spc="200">
                <a:solidFill>
                  <a:srgbClr val="00897B"/>
                </a:solidFill>
                <a:latin typeface="Times New Roman"/>
                <a:ea typeface="Times New Roman"/>
                <a:cs typeface="Times New Roman"/>
                <a:sym typeface="Times New Roman"/>
              </a:rPr>
              <a:t>2</a:t>
            </a:r>
          </a:p>
        </p:txBody>
      </p:sp>
      <p:sp>
        <p:nvSpPr>
          <p:cNvPr name="TextBox 3" id="3"/>
          <p:cNvSpPr txBox="true"/>
          <p:nvPr/>
        </p:nvSpPr>
        <p:spPr>
          <a:xfrm rot="0">
            <a:off x="1097280" y="4160520"/>
            <a:ext cx="10607040" cy="2661285"/>
          </a:xfrm>
          <a:prstGeom prst="rect">
            <a:avLst/>
          </a:prstGeom>
        </p:spPr>
        <p:txBody>
          <a:bodyPr anchor="t" rtlCol="false" tIns="0" lIns="0" bIns="0" rIns="0">
            <a:spAutoFit/>
          </a:bodyPr>
          <a:lstStyle/>
          <a:p>
            <a:pPr algn="l">
              <a:lnSpc>
                <a:spcPts val="5760"/>
              </a:lnSpc>
            </a:pPr>
            <a:r>
              <a:rPr lang="en-US" sz="4800" b="true">
                <a:solidFill>
                  <a:srgbClr val="FFFFFF"/>
                </a:solidFill>
                <a:latin typeface="Times New Roman"/>
                <a:ea typeface="Times New Roman"/>
                <a:cs typeface="Times New Roman"/>
                <a:sym typeface="Times New Roman"/>
              </a:rPr>
              <a:t>Các vấn đề con và giải pháp</a:t>
            </a:r>
          </a:p>
        </p:txBody>
      </p:sp>
      <p:sp>
        <p:nvSpPr>
          <p:cNvPr name="TextBox 4" id="4"/>
          <p:cNvSpPr txBox="true"/>
          <p:nvPr/>
        </p:nvSpPr>
        <p:spPr>
          <a:xfrm rot="0">
            <a:off x="1097280" y="5212080"/>
            <a:ext cx="10607040" cy="1000125"/>
          </a:xfrm>
          <a:prstGeom prst="rect">
            <a:avLst/>
          </a:prstGeom>
        </p:spPr>
        <p:txBody>
          <a:bodyPr anchor="t" rtlCol="false" tIns="0" lIns="0" bIns="0" rIns="0">
            <a:spAutoFit/>
          </a:bodyPr>
          <a:lstStyle/>
          <a:p>
            <a:pPr algn="l">
              <a:lnSpc>
                <a:spcPts val="3840"/>
              </a:lnSpc>
            </a:pPr>
            <a:r>
              <a:rPr lang="en-US" sz="3200" b="true">
                <a:solidFill>
                  <a:srgbClr val="BFE8E3"/>
                </a:solidFill>
                <a:latin typeface="Times New Roman"/>
                <a:ea typeface="Times New Roman"/>
                <a:cs typeface="Times New Roman"/>
                <a:sym typeface="Times New Roman"/>
              </a:rPr>
              <a:t>Giải pháp của vấn đề trước làm lộ ra vấn đề sau</a:t>
            </a:r>
          </a:p>
        </p:txBody>
      </p:sp>
      <p:sp>
        <p:nvSpPr>
          <p:cNvPr name="TextBox 5" id="5"/>
          <p:cNvSpPr txBox="true"/>
          <p:nvPr/>
        </p:nvSpPr>
        <p:spPr>
          <a:xfrm rot="0">
            <a:off x="1097280" y="5989320"/>
            <a:ext cx="10607040" cy="2251710"/>
          </a:xfrm>
          <a:prstGeom prst="rect">
            <a:avLst/>
          </a:prstGeom>
        </p:spPr>
        <p:txBody>
          <a:bodyPr anchor="t" rtlCol="false" tIns="0" lIns="0" bIns="0" rIns="0">
            <a:spAutoFit/>
          </a:bodyPr>
          <a:lstStyle/>
          <a:p>
            <a:pPr algn="l">
              <a:lnSpc>
                <a:spcPts val="2880"/>
              </a:lnSpc>
            </a:pPr>
            <a:r>
              <a:rPr lang="en-US" sz="2400">
                <a:solidFill>
                  <a:srgbClr val="FFFFFF"/>
                </a:solidFill>
                <a:latin typeface="Times New Roman"/>
                <a:ea typeface="Times New Roman"/>
                <a:cs typeface="Times New Roman"/>
                <a:sym typeface="Times New Roman"/>
              </a:rPr>
              <a:t>VĐ1 → VĐ5  ·  Trình bày: #1 (VĐ1), #2 (VĐ2, VĐ3), #3 (VĐ4, VĐ5)</a:t>
            </a:r>
          </a:p>
        </p:txBody>
      </p:sp>
      <p:sp>
        <p:nvSpPr>
          <p:cNvPr name="AutoShape 6" id="6"/>
          <p:cNvSpPr/>
          <p:nvPr/>
        </p:nvSpPr>
        <p:spPr>
          <a:xfrm rot="-3820860">
            <a:off x="11596345" y="4882515"/>
            <a:ext cx="4239301" cy="0"/>
          </a:xfrm>
          <a:prstGeom prst="line">
            <a:avLst/>
          </a:prstGeom>
          <a:ln cap="rnd" w="19050">
            <a:solidFill>
              <a:srgbClr val="BFE8E3"/>
            </a:solidFill>
            <a:prstDash val="solid"/>
            <a:headEnd type="none" len="sm" w="sm"/>
            <a:tailEnd type="none" len="sm" w="sm"/>
          </a:ln>
        </p:spPr>
      </p:sp>
      <p:sp>
        <p:nvSpPr>
          <p:cNvPr name="AutoShape 7" id="7"/>
          <p:cNvSpPr/>
          <p:nvPr/>
        </p:nvSpPr>
        <p:spPr>
          <a:xfrm rot="3820860">
            <a:off x="13425145" y="4882515"/>
            <a:ext cx="4239301" cy="0"/>
          </a:xfrm>
          <a:prstGeom prst="line">
            <a:avLst/>
          </a:prstGeom>
          <a:ln cap="rnd" w="19050">
            <a:solidFill>
              <a:srgbClr val="BFE8E3"/>
            </a:solidFill>
            <a:prstDash val="solid"/>
            <a:headEnd type="none" len="sm" w="sm"/>
            <a:tailEnd type="none" len="sm" w="sm"/>
          </a:ln>
        </p:spPr>
      </p:sp>
      <p:grpSp>
        <p:nvGrpSpPr>
          <p:cNvPr name="Group 8" id="8"/>
          <p:cNvGrpSpPr/>
          <p:nvPr/>
        </p:nvGrpSpPr>
        <p:grpSpPr>
          <a:xfrm rot="0">
            <a:off x="13282679" y="5295395"/>
            <a:ext cx="318011" cy="318011"/>
            <a:chOff x="0" y="0"/>
            <a:chExt cx="424015" cy="424015"/>
          </a:xfrm>
        </p:grpSpPr>
        <p:sp>
          <p:nvSpPr>
            <p:cNvPr name="Freeform 9" id="9"/>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name="Group 10" id="10"/>
          <p:cNvGrpSpPr/>
          <p:nvPr/>
        </p:nvGrpSpPr>
        <p:grpSpPr>
          <a:xfrm rot="0">
            <a:off x="13831319" y="4170683"/>
            <a:ext cx="318011" cy="318011"/>
            <a:chOff x="0" y="0"/>
            <a:chExt cx="424015" cy="424015"/>
          </a:xfrm>
        </p:grpSpPr>
        <p:sp>
          <p:nvSpPr>
            <p:cNvPr name="Freeform 11" id="11"/>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name="Group 12" id="12"/>
          <p:cNvGrpSpPr/>
          <p:nvPr/>
        </p:nvGrpSpPr>
        <p:grpSpPr>
          <a:xfrm rot="0">
            <a:off x="15568679" y="5107943"/>
            <a:ext cx="318011" cy="318011"/>
            <a:chOff x="0" y="0"/>
            <a:chExt cx="424015" cy="424015"/>
          </a:xfrm>
        </p:grpSpPr>
        <p:sp>
          <p:nvSpPr>
            <p:cNvPr name="Freeform 13" id="13"/>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name="Group 14" id="14"/>
          <p:cNvGrpSpPr/>
          <p:nvPr/>
        </p:nvGrpSpPr>
        <p:grpSpPr>
          <a:xfrm rot="0">
            <a:off x="15020039" y="3983231"/>
            <a:ext cx="318011" cy="318011"/>
            <a:chOff x="0" y="0"/>
            <a:chExt cx="424015" cy="424015"/>
          </a:xfrm>
        </p:grpSpPr>
        <p:sp>
          <p:nvSpPr>
            <p:cNvPr name="Freeform 15" id="15"/>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name="Group 16" id="16"/>
          <p:cNvGrpSpPr/>
          <p:nvPr/>
        </p:nvGrpSpPr>
        <p:grpSpPr>
          <a:xfrm rot="0">
            <a:off x="13690597" y="2077717"/>
            <a:ext cx="1879597" cy="1879597"/>
            <a:chOff x="0" y="0"/>
            <a:chExt cx="2506129" cy="2506129"/>
          </a:xfrm>
        </p:grpSpPr>
        <p:sp>
          <p:nvSpPr>
            <p:cNvPr name="Freeform 17" id="17"/>
            <p:cNvSpPr/>
            <p:nvPr/>
          </p:nvSpPr>
          <p:spPr>
            <a:xfrm flipH="false" flipV="false" rot="0">
              <a:off x="0" y="0"/>
              <a:ext cx="2506218" cy="2506218"/>
            </a:xfrm>
            <a:custGeom>
              <a:avLst/>
              <a:gdLst/>
              <a:ahLst/>
              <a:cxnLst/>
              <a:rect r="r" b="b" t="t" l="l"/>
              <a:pathLst>
                <a:path h="2506218" w="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name="Group 18" id="18"/>
          <p:cNvGrpSpPr/>
          <p:nvPr/>
        </p:nvGrpSpPr>
        <p:grpSpPr>
          <a:xfrm rot="0">
            <a:off x="13716000" y="2103120"/>
            <a:ext cx="1828800" cy="1828800"/>
            <a:chOff x="0" y="0"/>
            <a:chExt cx="2438400" cy="2438400"/>
          </a:xfrm>
        </p:grpSpPr>
        <p:sp>
          <p:nvSpPr>
            <p:cNvPr name="Freeform 19" id="19"/>
            <p:cNvSpPr/>
            <p:nvPr/>
          </p:nvSpPr>
          <p:spPr>
            <a:xfrm flipH="false" flipV="false" rot="0">
              <a:off x="0" y="0"/>
              <a:ext cx="2438400" cy="2438400"/>
            </a:xfrm>
            <a:custGeom>
              <a:avLst/>
              <a:gdLst/>
              <a:ahLst/>
              <a:cxnLst/>
              <a:rect r="r" b="b" t="t" l="l"/>
              <a:pathLst>
                <a:path h="2438400" w="2438400">
                  <a:moveTo>
                    <a:pt x="0" y="0"/>
                  </a:moveTo>
                  <a:lnTo>
                    <a:pt x="2438400" y="0"/>
                  </a:lnTo>
                  <a:lnTo>
                    <a:pt x="2438400" y="2438400"/>
                  </a:lnTo>
                  <a:lnTo>
                    <a:pt x="0" y="2438400"/>
                  </a:lnTo>
                  <a:close/>
                </a:path>
              </a:pathLst>
            </a:custGeom>
            <a:blipFill>
              <a:blip r:embed="rId3">
                <a:alphaModFix amt="0"/>
              </a:blip>
              <a:stretch>
                <a:fillRect l="-78303" t="0" r="-78303" b="0"/>
              </a:stretch>
            </a:blipFill>
          </p:spPr>
        </p:sp>
        <p:sp>
          <p:nvSpPr>
            <p:cNvPr name="TextBox 20" id="20"/>
            <p:cNvSpPr txBox="true"/>
            <p:nvPr/>
          </p:nvSpPr>
          <p:spPr>
            <a:xfrm>
              <a:off x="0" y="-57150"/>
              <a:ext cx="2438400" cy="2495550"/>
            </a:xfrm>
            <a:prstGeom prst="rect">
              <a:avLst/>
            </a:prstGeom>
          </p:spPr>
          <p:txBody>
            <a:bodyPr anchor="ctr" rtlCol="false" tIns="0" lIns="0" bIns="0" rIns="0"/>
            <a:lstStyle/>
            <a:p>
              <a:pPr algn="ctr">
                <a:lnSpc>
                  <a:spcPts val="3120"/>
                </a:lnSpc>
              </a:pPr>
              <a:r>
                <a:rPr lang="en-US" sz="2600" b="true">
                  <a:solidFill>
                    <a:srgbClr val="FFFFFF"/>
                  </a:solidFill>
                  <a:latin typeface="Times New Roman"/>
                  <a:ea typeface="Times New Roman"/>
                  <a:cs typeface="Times New Roman"/>
                  <a:sym typeface="Times New Roman"/>
                </a:rPr>
                <a:t>Server</a:t>
              </a:r>
            </a:p>
          </p:txBody>
        </p:sp>
      </p:grpSp>
      <p:grpSp>
        <p:nvGrpSpPr>
          <p:cNvPr name="Group 21" id="21"/>
          <p:cNvGrpSpPr/>
          <p:nvPr/>
        </p:nvGrpSpPr>
        <p:grpSpPr>
          <a:xfrm rot="0">
            <a:off x="11953237" y="5918197"/>
            <a:ext cx="1696717" cy="1696717"/>
            <a:chOff x="0" y="0"/>
            <a:chExt cx="2262289" cy="2262289"/>
          </a:xfrm>
        </p:grpSpPr>
        <p:sp>
          <p:nvSpPr>
            <p:cNvPr name="Freeform 22" id="22"/>
            <p:cNvSpPr/>
            <p:nvPr/>
          </p:nvSpPr>
          <p:spPr>
            <a:xfrm flipH="false" flipV="false" rot="0">
              <a:off x="0" y="0"/>
              <a:ext cx="2262378" cy="2262378"/>
            </a:xfrm>
            <a:custGeom>
              <a:avLst/>
              <a:gdLst/>
              <a:ahLst/>
              <a:cxnLst/>
              <a:rect r="r" b="b" t="t" l="l"/>
              <a:pathLst>
                <a:path h="2262378" w="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name="Group 23" id="23"/>
          <p:cNvGrpSpPr/>
          <p:nvPr/>
        </p:nvGrpSpPr>
        <p:grpSpPr>
          <a:xfrm rot="0">
            <a:off x="11978640" y="5943600"/>
            <a:ext cx="1645920" cy="1645920"/>
            <a:chOff x="0" y="0"/>
            <a:chExt cx="2194560" cy="2194560"/>
          </a:xfrm>
        </p:grpSpPr>
        <p:sp>
          <p:nvSpPr>
            <p:cNvPr name="Freeform 24" id="24"/>
            <p:cNvSpPr/>
            <p:nvPr/>
          </p:nvSpPr>
          <p:spPr>
            <a:xfrm flipH="false" flipV="false" rot="0">
              <a:off x="0" y="0"/>
              <a:ext cx="2194560" cy="2194560"/>
            </a:xfrm>
            <a:custGeom>
              <a:avLst/>
              <a:gdLst/>
              <a:ahLst/>
              <a:cxnLst/>
              <a:rect r="r" b="b" t="t" l="l"/>
              <a:pathLst>
                <a:path h="2194560" w="2194560">
                  <a:moveTo>
                    <a:pt x="0" y="0"/>
                  </a:moveTo>
                  <a:lnTo>
                    <a:pt x="2194560" y="0"/>
                  </a:lnTo>
                  <a:lnTo>
                    <a:pt x="2194560" y="2194560"/>
                  </a:lnTo>
                  <a:lnTo>
                    <a:pt x="0" y="2194560"/>
                  </a:lnTo>
                  <a:close/>
                </a:path>
              </a:pathLst>
            </a:custGeom>
            <a:blipFill>
              <a:blip r:embed="rId3">
                <a:alphaModFix amt="0"/>
              </a:blip>
              <a:stretch>
                <a:fillRect l="-78303" t="0" r="-78303" b="0"/>
              </a:stretch>
            </a:blipFill>
          </p:spPr>
        </p:sp>
        <p:sp>
          <p:nvSpPr>
            <p:cNvPr name="TextBox 25" id="25"/>
            <p:cNvSpPr txBox="true"/>
            <p:nvPr/>
          </p:nvSpPr>
          <p:spPr>
            <a:xfrm>
              <a:off x="0" y="-47625"/>
              <a:ext cx="2194560" cy="2242185"/>
            </a:xfrm>
            <a:prstGeom prst="rect">
              <a:avLst/>
            </a:prstGeom>
          </p:spPr>
          <p:txBody>
            <a:bodyPr anchor="ctr" rtlCol="false" tIns="0" lIns="0" bIns="0" rIns="0"/>
            <a:lstStyle/>
            <a:p>
              <a:pPr algn="ctr">
                <a:lnSpc>
                  <a:spcPts val="2639"/>
                </a:lnSpc>
              </a:pPr>
              <a:r>
                <a:rPr lang="en-US" sz="2199" b="true">
                  <a:solidFill>
                    <a:srgbClr val="BFE8E3"/>
                  </a:solidFill>
                  <a:latin typeface="Times New Roman"/>
                  <a:ea typeface="Times New Roman"/>
                  <a:cs typeface="Times New Roman"/>
                  <a:sym typeface="Times New Roman"/>
                </a:rPr>
                <a:t>Client</a:t>
              </a:r>
            </a:p>
            <a:p>
              <a:pPr algn="ctr">
                <a:lnSpc>
                  <a:spcPts val="2639"/>
                </a:lnSpc>
              </a:pPr>
              <a:r>
                <a:rPr lang="en-US" sz="2199" b="true">
                  <a:solidFill>
                    <a:srgbClr val="BFE8E3"/>
                  </a:solidFill>
                  <a:latin typeface="Times New Roman"/>
                  <a:ea typeface="Times New Roman"/>
                  <a:cs typeface="Times New Roman"/>
                  <a:sym typeface="Times New Roman"/>
                </a:rPr>
                <a:t>A</a:t>
              </a:r>
            </a:p>
          </p:txBody>
        </p:sp>
      </p:grpSp>
      <p:grpSp>
        <p:nvGrpSpPr>
          <p:cNvPr name="Group 26" id="26"/>
          <p:cNvGrpSpPr/>
          <p:nvPr/>
        </p:nvGrpSpPr>
        <p:grpSpPr>
          <a:xfrm rot="0">
            <a:off x="15610837" y="5918197"/>
            <a:ext cx="1696717" cy="1696717"/>
            <a:chOff x="0" y="0"/>
            <a:chExt cx="2262289" cy="2262289"/>
          </a:xfrm>
        </p:grpSpPr>
        <p:sp>
          <p:nvSpPr>
            <p:cNvPr name="Freeform 27" id="27"/>
            <p:cNvSpPr/>
            <p:nvPr/>
          </p:nvSpPr>
          <p:spPr>
            <a:xfrm flipH="false" flipV="false" rot="0">
              <a:off x="0" y="0"/>
              <a:ext cx="2262378" cy="2262378"/>
            </a:xfrm>
            <a:custGeom>
              <a:avLst/>
              <a:gdLst/>
              <a:ahLst/>
              <a:cxnLst/>
              <a:rect r="r" b="b" t="t" l="l"/>
              <a:pathLst>
                <a:path h="2262378" w="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name="Group 28" id="28"/>
          <p:cNvGrpSpPr/>
          <p:nvPr/>
        </p:nvGrpSpPr>
        <p:grpSpPr>
          <a:xfrm rot="0">
            <a:off x="15636240" y="5943600"/>
            <a:ext cx="1645920" cy="1645920"/>
            <a:chOff x="0" y="0"/>
            <a:chExt cx="2194560" cy="2194560"/>
          </a:xfrm>
        </p:grpSpPr>
        <p:sp>
          <p:nvSpPr>
            <p:cNvPr name="Freeform 29" id="29"/>
            <p:cNvSpPr/>
            <p:nvPr/>
          </p:nvSpPr>
          <p:spPr>
            <a:xfrm flipH="false" flipV="false" rot="0">
              <a:off x="0" y="0"/>
              <a:ext cx="2194560" cy="2194560"/>
            </a:xfrm>
            <a:custGeom>
              <a:avLst/>
              <a:gdLst/>
              <a:ahLst/>
              <a:cxnLst/>
              <a:rect r="r" b="b" t="t" l="l"/>
              <a:pathLst>
                <a:path h="2194560" w="2194560">
                  <a:moveTo>
                    <a:pt x="0" y="0"/>
                  </a:moveTo>
                  <a:lnTo>
                    <a:pt x="2194560" y="0"/>
                  </a:lnTo>
                  <a:lnTo>
                    <a:pt x="2194560" y="2194560"/>
                  </a:lnTo>
                  <a:lnTo>
                    <a:pt x="0" y="2194560"/>
                  </a:lnTo>
                  <a:close/>
                </a:path>
              </a:pathLst>
            </a:custGeom>
            <a:blipFill>
              <a:blip r:embed="rId3">
                <a:alphaModFix amt="0"/>
              </a:blip>
              <a:stretch>
                <a:fillRect l="-78303" t="0" r="-78303" b="0"/>
              </a:stretch>
            </a:blipFill>
          </p:spPr>
        </p:sp>
        <p:sp>
          <p:nvSpPr>
            <p:cNvPr name="TextBox 30" id="30"/>
            <p:cNvSpPr txBox="true"/>
            <p:nvPr/>
          </p:nvSpPr>
          <p:spPr>
            <a:xfrm>
              <a:off x="0" y="-47625"/>
              <a:ext cx="2194560" cy="2242185"/>
            </a:xfrm>
            <a:prstGeom prst="rect">
              <a:avLst/>
            </a:prstGeom>
          </p:spPr>
          <p:txBody>
            <a:bodyPr anchor="ctr" rtlCol="false" tIns="0" lIns="0" bIns="0" rIns="0"/>
            <a:lstStyle/>
            <a:p>
              <a:pPr algn="ctr">
                <a:lnSpc>
                  <a:spcPts val="2639"/>
                </a:lnSpc>
              </a:pPr>
              <a:r>
                <a:rPr lang="en-US" sz="2199" b="true">
                  <a:solidFill>
                    <a:srgbClr val="BFE8E3"/>
                  </a:solidFill>
                  <a:latin typeface="Times New Roman"/>
                  <a:ea typeface="Times New Roman"/>
                  <a:cs typeface="Times New Roman"/>
                  <a:sym typeface="Times New Roman"/>
                </a:rPr>
                <a:t>Client</a:t>
              </a:r>
            </a:p>
            <a:p>
              <a:pPr algn="ctr">
                <a:lnSpc>
                  <a:spcPts val="2639"/>
                </a:lnSpc>
              </a:pPr>
              <a:r>
                <a:rPr lang="en-US" sz="2199" b="true">
                  <a:solidFill>
                    <a:srgbClr val="BFE8E3"/>
                  </a:solidFill>
                  <a:latin typeface="Times New Roman"/>
                  <a:ea typeface="Times New Roman"/>
                  <a:cs typeface="Times New Roman"/>
                  <a:sym typeface="Times New Roman"/>
                </a:rPr>
                <a:t>B</a:t>
              </a:r>
            </a:p>
          </p:txBody>
        </p:sp>
      </p:grpSp>
      <p:grpSp>
        <p:nvGrpSpPr>
          <p:cNvPr name="Group 31" id="31"/>
          <p:cNvGrpSpPr/>
          <p:nvPr/>
        </p:nvGrpSpPr>
        <p:grpSpPr>
          <a:xfrm rot="0">
            <a:off x="12801600" y="7808976"/>
            <a:ext cx="3657600" cy="548640"/>
            <a:chOff x="0" y="0"/>
            <a:chExt cx="4876800" cy="731520"/>
          </a:xfrm>
        </p:grpSpPr>
        <p:sp>
          <p:nvSpPr>
            <p:cNvPr name="Freeform 32" id="32"/>
            <p:cNvSpPr/>
            <p:nvPr/>
          </p:nvSpPr>
          <p:spPr>
            <a:xfrm flipH="false" flipV="false" rot="0">
              <a:off x="0" y="0"/>
              <a:ext cx="4876800" cy="731520"/>
            </a:xfrm>
            <a:custGeom>
              <a:avLst/>
              <a:gdLst/>
              <a:ahLst/>
              <a:cxnLst/>
              <a:rect r="r" b="b" t="t" l="l"/>
              <a:pathLst>
                <a:path h="731520" w="4876800">
                  <a:moveTo>
                    <a:pt x="0" y="0"/>
                  </a:moveTo>
                  <a:lnTo>
                    <a:pt x="4876800" y="0"/>
                  </a:lnTo>
                  <a:lnTo>
                    <a:pt x="4876800" y="731520"/>
                  </a:lnTo>
                  <a:lnTo>
                    <a:pt x="0" y="731520"/>
                  </a:lnTo>
                  <a:close/>
                </a:path>
              </a:pathLst>
            </a:custGeom>
            <a:blipFill>
              <a:blip r:embed="rId3">
                <a:alphaModFix amt="0"/>
              </a:blip>
              <a:stretch>
                <a:fillRect l="0" t="-79900" r="0" b="-79900"/>
              </a:stretch>
            </a:blipFill>
          </p:spPr>
        </p:sp>
        <p:sp>
          <p:nvSpPr>
            <p:cNvPr name="TextBox 33" id="33"/>
            <p:cNvSpPr txBox="true"/>
            <p:nvPr/>
          </p:nvSpPr>
          <p:spPr>
            <a:xfrm>
              <a:off x="0" y="-47625"/>
              <a:ext cx="4876800" cy="779145"/>
            </a:xfrm>
            <a:prstGeom prst="rect">
              <a:avLst/>
            </a:prstGeom>
          </p:spPr>
          <p:txBody>
            <a:bodyPr anchor="ctr" rtlCol="false" tIns="0" lIns="0" bIns="0" rIns="0"/>
            <a:lstStyle/>
            <a:p>
              <a:pPr algn="ctr">
                <a:lnSpc>
                  <a:spcPts val="2639"/>
                </a:lnSpc>
              </a:pPr>
              <a:r>
                <a:rPr lang="en-US" sz="2199" i="true">
                  <a:solidFill>
                    <a:srgbClr val="BFE8E3"/>
                  </a:solidFill>
                  <a:latin typeface="Times New Roman"/>
                  <a:ea typeface="Times New Roman"/>
                  <a:cs typeface="Times New Roman"/>
                  <a:sym typeface="Times New Roman"/>
                </a:rPr>
                <a:t>RTT 100–200 ms</a:t>
              </a:r>
            </a:p>
          </p:txBody>
        </p:sp>
      </p:grpSp>
      <p:sp>
        <p:nvSpPr>
          <p:cNvPr id="9033"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bg>
      <p:bgPr>
        <a:solidFill>
          <a:srgbClr val="0B1626"/>
        </a:solidFill>
      </p:bgPr>
    </p:bg>
    <p:spTree>
      <p:nvGrpSpPr>
        <p:cNvPr id="1" name=""/>
        <p:cNvGrpSpPr/>
        <p:nvPr/>
      </p:nvGrpSpPr>
      <p:grpSpPr>
        <a:xfrm>
          <a:off x="0" y="0"/>
          <a:ext cx="0" cy="0"/>
          <a:chOff x="0" y="0"/>
          <a:chExt cx="0" cy="0"/>
        </a:xfrm>
      </p:grpSpPr>
      <p:sp>
        <p:nvSpPr>
          <p:cNvPr name="TextBox 2" id="2"/>
          <p:cNvSpPr txBox="true"/>
          <p:nvPr/>
        </p:nvSpPr>
        <p:spPr>
          <a:xfrm rot="0">
            <a:off x="1097280" y="2377440"/>
            <a:ext cx="10607040" cy="1234440"/>
          </a:xfrm>
          <a:prstGeom prst="rect">
            <a:avLst/>
          </a:prstGeom>
        </p:spPr>
        <p:txBody>
          <a:bodyPr anchor="t" rtlCol="false" tIns="0" lIns="0" bIns="0" rIns="0">
            <a:spAutoFit/>
          </a:bodyPr>
          <a:lstStyle/>
          <a:p>
            <a:pPr algn="l">
              <a:lnSpc>
                <a:spcPct val="90000"/>
              </a:lnSpc>
            </a:pPr>
            <a:r>
              <a:rPr lang="vi-VN" sz="9600" b="true" spc="200">
                <a:solidFill>
                  <a:srgbClr val="BFE8E3"/>
                </a:solidFill>
                <a:latin typeface="Times New Roman"/>
                <a:ea typeface="Times New Roman"/>
                <a:cs typeface="Times New Roman"/>
                <a:sym typeface="Times New Roman"/>
              </a:rPr>
              <a:t>PHẦN </a:t>
            </a:r>
            <a:r>
              <a:rPr lang="vi-VN" sz="9600" b="true" spc="200">
                <a:solidFill>
                  <a:srgbClr val="00897B"/>
                </a:solidFill>
                <a:latin typeface="Times New Roman"/>
                <a:ea typeface="Times New Roman"/>
                <a:cs typeface="Times New Roman"/>
                <a:sym typeface="Times New Roman"/>
              </a:rPr>
              <a:t>3</a:t>
            </a:r>
          </a:p>
        </p:txBody>
      </p:sp>
      <p:sp>
        <p:nvSpPr>
          <p:cNvPr name="TextBox 3" id="3"/>
          <p:cNvSpPr txBox="true"/>
          <p:nvPr/>
        </p:nvSpPr>
        <p:spPr>
          <a:xfrm rot="0">
            <a:off x="1097280" y="4160520"/>
            <a:ext cx="10607040" cy="2661285"/>
          </a:xfrm>
          <a:prstGeom prst="rect">
            <a:avLst/>
          </a:prstGeom>
        </p:spPr>
        <p:txBody>
          <a:bodyPr anchor="t" rtlCol="false" tIns="0" lIns="0" bIns="0" rIns="0">
            <a:spAutoFit/>
          </a:bodyPr>
          <a:lstStyle/>
          <a:p>
            <a:pPr algn="l">
              <a:lnSpc>
                <a:spcPts val="5760"/>
              </a:lnSpc>
            </a:pPr>
            <a:r>
              <a:rPr lang="en-US" sz="4800" b="true">
                <a:solidFill>
                  <a:srgbClr val="FFFFFF"/>
                </a:solidFill>
                <a:latin typeface="Times New Roman"/>
                <a:ea typeface="Times New Roman"/>
                <a:cs typeface="Times New Roman"/>
                <a:sym typeface="Times New Roman"/>
              </a:rPr>
              <a:t>Áp dụng và demo</a:t>
            </a:r>
          </a:p>
        </p:txBody>
      </p:sp>
      <p:sp>
        <p:nvSpPr>
          <p:cNvPr name="TextBox 4" id="4"/>
          <p:cNvSpPr txBox="true"/>
          <p:nvPr/>
        </p:nvSpPr>
        <p:spPr>
          <a:xfrm rot="0">
            <a:off x="1097280" y="5212080"/>
            <a:ext cx="10607040" cy="1000125"/>
          </a:xfrm>
          <a:prstGeom prst="rect">
            <a:avLst/>
          </a:prstGeom>
        </p:spPr>
        <p:txBody>
          <a:bodyPr anchor="t" rtlCol="false" tIns="0" lIns="0" bIns="0" rIns="0">
            <a:spAutoFit/>
          </a:bodyPr>
          <a:lstStyle/>
          <a:p>
            <a:pPr algn="l">
              <a:lnSpc>
                <a:spcPts val="3840"/>
              </a:lnSpc>
            </a:pPr>
            <a:r>
              <a:rPr lang="en-US" sz="3200" b="true">
                <a:solidFill>
                  <a:srgbClr val="BFE8E3"/>
                </a:solidFill>
                <a:latin typeface="Times New Roman"/>
                <a:ea typeface="Times New Roman"/>
                <a:cs typeface="Times New Roman"/>
                <a:sym typeface="Times New Roman"/>
              </a:rPr>
              <a:t>Game xếp đơn hàng siêu thị · demo sơ bộ</a:t>
            </a:r>
          </a:p>
        </p:txBody>
      </p:sp>
      <p:sp>
        <p:nvSpPr>
          <p:cNvPr name="TextBox 5" id="5"/>
          <p:cNvSpPr txBox="true"/>
          <p:nvPr/>
        </p:nvSpPr>
        <p:spPr>
          <a:xfrm rot="0">
            <a:off x="1097280" y="5989320"/>
            <a:ext cx="10607040" cy="2251710"/>
          </a:xfrm>
          <a:prstGeom prst="rect">
            <a:avLst/>
          </a:prstGeom>
        </p:spPr>
        <p:txBody>
          <a:bodyPr anchor="t" rtlCol="false" tIns="0" lIns="0" bIns="0" rIns="0">
            <a:spAutoFit/>
          </a:bodyPr>
          <a:lstStyle/>
          <a:p>
            <a:pPr algn="l">
              <a:lnSpc>
                <a:spcPts val="2880"/>
              </a:lnSpc>
            </a:pPr>
            <a:r>
              <a:rPr lang="en-US" sz="2400">
                <a:solidFill>
                  <a:srgbClr val="FFFFFF"/>
                </a:solidFill>
                <a:latin typeface="Times New Roman"/>
                <a:ea typeface="Times New Roman"/>
                <a:cs typeface="Times New Roman"/>
                <a:sym typeface="Times New Roman"/>
              </a:rPr>
              <a:t>Trình bày: #3  ·  #2 điều khiển client B trong demo</a:t>
            </a:r>
          </a:p>
        </p:txBody>
      </p:sp>
      <p:sp>
        <p:nvSpPr>
          <p:cNvPr name="AutoShape 6" id="6"/>
          <p:cNvSpPr/>
          <p:nvPr/>
        </p:nvSpPr>
        <p:spPr>
          <a:xfrm rot="-3820860">
            <a:off x="11596345" y="4882515"/>
            <a:ext cx="4239301" cy="0"/>
          </a:xfrm>
          <a:prstGeom prst="line">
            <a:avLst/>
          </a:prstGeom>
          <a:ln cap="rnd" w="19050">
            <a:solidFill>
              <a:srgbClr val="BFE8E3"/>
            </a:solidFill>
            <a:prstDash val="solid"/>
            <a:headEnd type="none" len="sm" w="sm"/>
            <a:tailEnd type="none" len="sm" w="sm"/>
          </a:ln>
        </p:spPr>
      </p:sp>
      <p:sp>
        <p:nvSpPr>
          <p:cNvPr name="AutoShape 7" id="7"/>
          <p:cNvSpPr/>
          <p:nvPr/>
        </p:nvSpPr>
        <p:spPr>
          <a:xfrm rot="3820860">
            <a:off x="13425145" y="4882515"/>
            <a:ext cx="4239301" cy="0"/>
          </a:xfrm>
          <a:prstGeom prst="line">
            <a:avLst/>
          </a:prstGeom>
          <a:ln cap="rnd" w="19050">
            <a:solidFill>
              <a:srgbClr val="BFE8E3"/>
            </a:solidFill>
            <a:prstDash val="solid"/>
            <a:headEnd type="none" len="sm" w="sm"/>
            <a:tailEnd type="none" len="sm" w="sm"/>
          </a:ln>
        </p:spPr>
      </p:sp>
      <p:grpSp>
        <p:nvGrpSpPr>
          <p:cNvPr name="Group 8" id="8"/>
          <p:cNvGrpSpPr/>
          <p:nvPr/>
        </p:nvGrpSpPr>
        <p:grpSpPr>
          <a:xfrm rot="0">
            <a:off x="13282679" y="5295395"/>
            <a:ext cx="318011" cy="318011"/>
            <a:chOff x="0" y="0"/>
            <a:chExt cx="424015" cy="424015"/>
          </a:xfrm>
        </p:grpSpPr>
        <p:sp>
          <p:nvSpPr>
            <p:cNvPr name="Freeform 9" id="9"/>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name="Group 10" id="10"/>
          <p:cNvGrpSpPr/>
          <p:nvPr/>
        </p:nvGrpSpPr>
        <p:grpSpPr>
          <a:xfrm rot="0">
            <a:off x="13831319" y="4170683"/>
            <a:ext cx="318011" cy="318011"/>
            <a:chOff x="0" y="0"/>
            <a:chExt cx="424015" cy="424015"/>
          </a:xfrm>
        </p:grpSpPr>
        <p:sp>
          <p:nvSpPr>
            <p:cNvPr name="Freeform 11" id="11"/>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name="Group 12" id="12"/>
          <p:cNvGrpSpPr/>
          <p:nvPr/>
        </p:nvGrpSpPr>
        <p:grpSpPr>
          <a:xfrm rot="0">
            <a:off x="15568679" y="5107943"/>
            <a:ext cx="318011" cy="318011"/>
            <a:chOff x="0" y="0"/>
            <a:chExt cx="424015" cy="424015"/>
          </a:xfrm>
        </p:grpSpPr>
        <p:sp>
          <p:nvSpPr>
            <p:cNvPr name="Freeform 13" id="13"/>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name="Group 14" id="14"/>
          <p:cNvGrpSpPr/>
          <p:nvPr/>
        </p:nvGrpSpPr>
        <p:grpSpPr>
          <a:xfrm rot="0">
            <a:off x="15020039" y="3983231"/>
            <a:ext cx="318011" cy="318011"/>
            <a:chOff x="0" y="0"/>
            <a:chExt cx="424015" cy="424015"/>
          </a:xfrm>
        </p:grpSpPr>
        <p:sp>
          <p:nvSpPr>
            <p:cNvPr name="Freeform 15" id="15"/>
            <p:cNvSpPr/>
            <p:nvPr/>
          </p:nvSpPr>
          <p:spPr>
            <a:xfrm flipH="false" flipV="false" rot="0">
              <a:off x="0" y="0"/>
              <a:ext cx="424053" cy="424053"/>
            </a:xfrm>
            <a:custGeom>
              <a:avLst/>
              <a:gdLst/>
              <a:ahLst/>
              <a:cxnLst/>
              <a:rect r="r" b="b" t="t" l="l"/>
              <a:pathLst>
                <a:path h="424053" w="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name="Group 16" id="16"/>
          <p:cNvGrpSpPr/>
          <p:nvPr/>
        </p:nvGrpSpPr>
        <p:grpSpPr>
          <a:xfrm rot="0">
            <a:off x="13690597" y="2077717"/>
            <a:ext cx="1879597" cy="1879597"/>
            <a:chOff x="0" y="0"/>
            <a:chExt cx="2506129" cy="2506129"/>
          </a:xfrm>
        </p:grpSpPr>
        <p:sp>
          <p:nvSpPr>
            <p:cNvPr name="Freeform 17" id="17"/>
            <p:cNvSpPr/>
            <p:nvPr/>
          </p:nvSpPr>
          <p:spPr>
            <a:xfrm flipH="false" flipV="false" rot="0">
              <a:off x="0" y="0"/>
              <a:ext cx="2506218" cy="2506218"/>
            </a:xfrm>
            <a:custGeom>
              <a:avLst/>
              <a:gdLst/>
              <a:ahLst/>
              <a:cxnLst/>
              <a:rect r="r" b="b" t="t" l="l"/>
              <a:pathLst>
                <a:path h="2506218" w="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name="Group 18" id="18"/>
          <p:cNvGrpSpPr/>
          <p:nvPr/>
        </p:nvGrpSpPr>
        <p:grpSpPr>
          <a:xfrm rot="0">
            <a:off x="13716000" y="2103120"/>
            <a:ext cx="1828800" cy="1828800"/>
            <a:chOff x="0" y="0"/>
            <a:chExt cx="2438400" cy="2438400"/>
          </a:xfrm>
        </p:grpSpPr>
        <p:sp>
          <p:nvSpPr>
            <p:cNvPr name="Freeform 19" id="19"/>
            <p:cNvSpPr/>
            <p:nvPr/>
          </p:nvSpPr>
          <p:spPr>
            <a:xfrm flipH="false" flipV="false" rot="0">
              <a:off x="0" y="0"/>
              <a:ext cx="2438400" cy="2438400"/>
            </a:xfrm>
            <a:custGeom>
              <a:avLst/>
              <a:gdLst/>
              <a:ahLst/>
              <a:cxnLst/>
              <a:rect r="r" b="b" t="t" l="l"/>
              <a:pathLst>
                <a:path h="2438400" w="2438400">
                  <a:moveTo>
                    <a:pt x="0" y="0"/>
                  </a:moveTo>
                  <a:lnTo>
                    <a:pt x="2438400" y="0"/>
                  </a:lnTo>
                  <a:lnTo>
                    <a:pt x="2438400" y="2438400"/>
                  </a:lnTo>
                  <a:lnTo>
                    <a:pt x="0" y="2438400"/>
                  </a:lnTo>
                  <a:close/>
                </a:path>
              </a:pathLst>
            </a:custGeom>
            <a:blipFill>
              <a:blip r:embed="rId3">
                <a:alphaModFix amt="0"/>
              </a:blip>
              <a:stretch>
                <a:fillRect l="-78303" t="0" r="-78303" b="0"/>
              </a:stretch>
            </a:blipFill>
          </p:spPr>
        </p:sp>
        <p:sp>
          <p:nvSpPr>
            <p:cNvPr name="TextBox 20" id="20"/>
            <p:cNvSpPr txBox="true"/>
            <p:nvPr/>
          </p:nvSpPr>
          <p:spPr>
            <a:xfrm>
              <a:off x="0" y="-57150"/>
              <a:ext cx="2438400" cy="2495550"/>
            </a:xfrm>
            <a:prstGeom prst="rect">
              <a:avLst/>
            </a:prstGeom>
          </p:spPr>
          <p:txBody>
            <a:bodyPr anchor="ctr" rtlCol="false" tIns="0" lIns="0" bIns="0" rIns="0"/>
            <a:lstStyle/>
            <a:p>
              <a:pPr algn="ctr">
                <a:lnSpc>
                  <a:spcPts val="3120"/>
                </a:lnSpc>
              </a:pPr>
              <a:r>
                <a:rPr lang="en-US" sz="2600" b="true">
                  <a:solidFill>
                    <a:srgbClr val="FFFFFF"/>
                  </a:solidFill>
                  <a:latin typeface="Times New Roman"/>
                  <a:ea typeface="Times New Roman"/>
                  <a:cs typeface="Times New Roman"/>
                  <a:sym typeface="Times New Roman"/>
                </a:rPr>
                <a:t>Server</a:t>
              </a:r>
            </a:p>
          </p:txBody>
        </p:sp>
      </p:grpSp>
      <p:grpSp>
        <p:nvGrpSpPr>
          <p:cNvPr name="Group 21" id="21"/>
          <p:cNvGrpSpPr/>
          <p:nvPr/>
        </p:nvGrpSpPr>
        <p:grpSpPr>
          <a:xfrm rot="0">
            <a:off x="11953237" y="5918197"/>
            <a:ext cx="1696717" cy="1696717"/>
            <a:chOff x="0" y="0"/>
            <a:chExt cx="2262289" cy="2262289"/>
          </a:xfrm>
        </p:grpSpPr>
        <p:sp>
          <p:nvSpPr>
            <p:cNvPr name="Freeform 22" id="22"/>
            <p:cNvSpPr/>
            <p:nvPr/>
          </p:nvSpPr>
          <p:spPr>
            <a:xfrm flipH="false" flipV="false" rot="0">
              <a:off x="0" y="0"/>
              <a:ext cx="2262378" cy="2262378"/>
            </a:xfrm>
            <a:custGeom>
              <a:avLst/>
              <a:gdLst/>
              <a:ahLst/>
              <a:cxnLst/>
              <a:rect r="r" b="b" t="t" l="l"/>
              <a:pathLst>
                <a:path h="2262378" w="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name="Group 23" id="23"/>
          <p:cNvGrpSpPr/>
          <p:nvPr/>
        </p:nvGrpSpPr>
        <p:grpSpPr>
          <a:xfrm rot="0">
            <a:off x="11978640" y="5943600"/>
            <a:ext cx="1645920" cy="1645920"/>
            <a:chOff x="0" y="0"/>
            <a:chExt cx="2194560" cy="2194560"/>
          </a:xfrm>
        </p:grpSpPr>
        <p:sp>
          <p:nvSpPr>
            <p:cNvPr name="Freeform 24" id="24"/>
            <p:cNvSpPr/>
            <p:nvPr/>
          </p:nvSpPr>
          <p:spPr>
            <a:xfrm flipH="false" flipV="false" rot="0">
              <a:off x="0" y="0"/>
              <a:ext cx="2194560" cy="2194560"/>
            </a:xfrm>
            <a:custGeom>
              <a:avLst/>
              <a:gdLst/>
              <a:ahLst/>
              <a:cxnLst/>
              <a:rect r="r" b="b" t="t" l="l"/>
              <a:pathLst>
                <a:path h="2194560" w="2194560">
                  <a:moveTo>
                    <a:pt x="0" y="0"/>
                  </a:moveTo>
                  <a:lnTo>
                    <a:pt x="2194560" y="0"/>
                  </a:lnTo>
                  <a:lnTo>
                    <a:pt x="2194560" y="2194560"/>
                  </a:lnTo>
                  <a:lnTo>
                    <a:pt x="0" y="2194560"/>
                  </a:lnTo>
                  <a:close/>
                </a:path>
              </a:pathLst>
            </a:custGeom>
            <a:blipFill>
              <a:blip r:embed="rId3">
                <a:alphaModFix amt="0"/>
              </a:blip>
              <a:stretch>
                <a:fillRect l="-78303" t="0" r="-78303" b="0"/>
              </a:stretch>
            </a:blipFill>
          </p:spPr>
        </p:sp>
        <p:sp>
          <p:nvSpPr>
            <p:cNvPr name="TextBox 25" id="25"/>
            <p:cNvSpPr txBox="true"/>
            <p:nvPr/>
          </p:nvSpPr>
          <p:spPr>
            <a:xfrm>
              <a:off x="0" y="-47625"/>
              <a:ext cx="2194560" cy="2242185"/>
            </a:xfrm>
            <a:prstGeom prst="rect">
              <a:avLst/>
            </a:prstGeom>
          </p:spPr>
          <p:txBody>
            <a:bodyPr anchor="ctr" rtlCol="false" tIns="0" lIns="0" bIns="0" rIns="0"/>
            <a:lstStyle/>
            <a:p>
              <a:pPr algn="ctr">
                <a:lnSpc>
                  <a:spcPts val="2639"/>
                </a:lnSpc>
              </a:pPr>
              <a:r>
                <a:rPr lang="en-US" sz="2199" b="true">
                  <a:solidFill>
                    <a:srgbClr val="BFE8E3"/>
                  </a:solidFill>
                  <a:latin typeface="Times New Roman"/>
                  <a:ea typeface="Times New Roman"/>
                  <a:cs typeface="Times New Roman"/>
                  <a:sym typeface="Times New Roman"/>
                </a:rPr>
                <a:t>Client</a:t>
              </a:r>
            </a:p>
            <a:p>
              <a:pPr algn="ctr">
                <a:lnSpc>
                  <a:spcPts val="2639"/>
                </a:lnSpc>
              </a:pPr>
              <a:r>
                <a:rPr lang="en-US" sz="2199" b="true">
                  <a:solidFill>
                    <a:srgbClr val="BFE8E3"/>
                  </a:solidFill>
                  <a:latin typeface="Times New Roman"/>
                  <a:ea typeface="Times New Roman"/>
                  <a:cs typeface="Times New Roman"/>
                  <a:sym typeface="Times New Roman"/>
                </a:rPr>
                <a:t>A</a:t>
              </a:r>
            </a:p>
          </p:txBody>
        </p:sp>
      </p:grpSp>
      <p:grpSp>
        <p:nvGrpSpPr>
          <p:cNvPr name="Group 26" id="26"/>
          <p:cNvGrpSpPr/>
          <p:nvPr/>
        </p:nvGrpSpPr>
        <p:grpSpPr>
          <a:xfrm rot="0">
            <a:off x="15610837" y="5918197"/>
            <a:ext cx="1696717" cy="1696717"/>
            <a:chOff x="0" y="0"/>
            <a:chExt cx="2262289" cy="2262289"/>
          </a:xfrm>
        </p:grpSpPr>
        <p:sp>
          <p:nvSpPr>
            <p:cNvPr name="Freeform 27" id="27"/>
            <p:cNvSpPr/>
            <p:nvPr/>
          </p:nvSpPr>
          <p:spPr>
            <a:xfrm flipH="false" flipV="false" rot="0">
              <a:off x="0" y="0"/>
              <a:ext cx="2262378" cy="2262378"/>
            </a:xfrm>
            <a:custGeom>
              <a:avLst/>
              <a:gdLst/>
              <a:ahLst/>
              <a:cxnLst/>
              <a:rect r="r" b="b" t="t" l="l"/>
              <a:pathLst>
                <a:path h="2262378" w="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name="Group 28" id="28"/>
          <p:cNvGrpSpPr/>
          <p:nvPr/>
        </p:nvGrpSpPr>
        <p:grpSpPr>
          <a:xfrm rot="0">
            <a:off x="15636240" y="5943600"/>
            <a:ext cx="1645920" cy="1645920"/>
            <a:chOff x="0" y="0"/>
            <a:chExt cx="2194560" cy="2194560"/>
          </a:xfrm>
        </p:grpSpPr>
        <p:sp>
          <p:nvSpPr>
            <p:cNvPr name="Freeform 29" id="29"/>
            <p:cNvSpPr/>
            <p:nvPr/>
          </p:nvSpPr>
          <p:spPr>
            <a:xfrm flipH="false" flipV="false" rot="0">
              <a:off x="0" y="0"/>
              <a:ext cx="2194560" cy="2194560"/>
            </a:xfrm>
            <a:custGeom>
              <a:avLst/>
              <a:gdLst/>
              <a:ahLst/>
              <a:cxnLst/>
              <a:rect r="r" b="b" t="t" l="l"/>
              <a:pathLst>
                <a:path h="2194560" w="2194560">
                  <a:moveTo>
                    <a:pt x="0" y="0"/>
                  </a:moveTo>
                  <a:lnTo>
                    <a:pt x="2194560" y="0"/>
                  </a:lnTo>
                  <a:lnTo>
                    <a:pt x="2194560" y="2194560"/>
                  </a:lnTo>
                  <a:lnTo>
                    <a:pt x="0" y="2194560"/>
                  </a:lnTo>
                  <a:close/>
                </a:path>
              </a:pathLst>
            </a:custGeom>
            <a:blipFill>
              <a:blip r:embed="rId3">
                <a:alphaModFix amt="0"/>
              </a:blip>
              <a:stretch>
                <a:fillRect l="-78303" t="0" r="-78303" b="0"/>
              </a:stretch>
            </a:blipFill>
          </p:spPr>
        </p:sp>
        <p:sp>
          <p:nvSpPr>
            <p:cNvPr name="TextBox 30" id="30"/>
            <p:cNvSpPr txBox="true"/>
            <p:nvPr/>
          </p:nvSpPr>
          <p:spPr>
            <a:xfrm>
              <a:off x="0" y="-47625"/>
              <a:ext cx="2194560" cy="2242185"/>
            </a:xfrm>
            <a:prstGeom prst="rect">
              <a:avLst/>
            </a:prstGeom>
          </p:spPr>
          <p:txBody>
            <a:bodyPr anchor="ctr" rtlCol="false" tIns="0" lIns="0" bIns="0" rIns="0"/>
            <a:lstStyle/>
            <a:p>
              <a:pPr algn="ctr">
                <a:lnSpc>
                  <a:spcPts val="2639"/>
                </a:lnSpc>
              </a:pPr>
              <a:r>
                <a:rPr lang="en-US" sz="2199" b="true">
                  <a:solidFill>
                    <a:srgbClr val="BFE8E3"/>
                  </a:solidFill>
                  <a:latin typeface="Times New Roman"/>
                  <a:ea typeface="Times New Roman"/>
                  <a:cs typeface="Times New Roman"/>
                  <a:sym typeface="Times New Roman"/>
                </a:rPr>
                <a:t>Client</a:t>
              </a:r>
            </a:p>
            <a:p>
              <a:pPr algn="ctr">
                <a:lnSpc>
                  <a:spcPts val="2639"/>
                </a:lnSpc>
              </a:pPr>
              <a:r>
                <a:rPr lang="en-US" sz="2199" b="true">
                  <a:solidFill>
                    <a:srgbClr val="BFE8E3"/>
                  </a:solidFill>
                  <a:latin typeface="Times New Roman"/>
                  <a:ea typeface="Times New Roman"/>
                  <a:cs typeface="Times New Roman"/>
                  <a:sym typeface="Times New Roman"/>
                </a:rPr>
                <a:t>B</a:t>
              </a:r>
            </a:p>
          </p:txBody>
        </p:sp>
      </p:grpSp>
      <p:grpSp>
        <p:nvGrpSpPr>
          <p:cNvPr name="Group 31" id="31"/>
          <p:cNvGrpSpPr/>
          <p:nvPr/>
        </p:nvGrpSpPr>
        <p:grpSpPr>
          <a:xfrm rot="0">
            <a:off x="12801600" y="7808976"/>
            <a:ext cx="3657600" cy="548640"/>
            <a:chOff x="0" y="0"/>
            <a:chExt cx="4876800" cy="731520"/>
          </a:xfrm>
        </p:grpSpPr>
        <p:sp>
          <p:nvSpPr>
            <p:cNvPr name="Freeform 32" id="32"/>
            <p:cNvSpPr/>
            <p:nvPr/>
          </p:nvSpPr>
          <p:spPr>
            <a:xfrm flipH="false" flipV="false" rot="0">
              <a:off x="0" y="0"/>
              <a:ext cx="4876800" cy="731520"/>
            </a:xfrm>
            <a:custGeom>
              <a:avLst/>
              <a:gdLst/>
              <a:ahLst/>
              <a:cxnLst/>
              <a:rect r="r" b="b" t="t" l="l"/>
              <a:pathLst>
                <a:path h="731520" w="4876800">
                  <a:moveTo>
                    <a:pt x="0" y="0"/>
                  </a:moveTo>
                  <a:lnTo>
                    <a:pt x="4876800" y="0"/>
                  </a:lnTo>
                  <a:lnTo>
                    <a:pt x="4876800" y="731520"/>
                  </a:lnTo>
                  <a:lnTo>
                    <a:pt x="0" y="731520"/>
                  </a:lnTo>
                  <a:close/>
                </a:path>
              </a:pathLst>
            </a:custGeom>
            <a:blipFill>
              <a:blip r:embed="rId3">
                <a:alphaModFix amt="0"/>
              </a:blip>
              <a:stretch>
                <a:fillRect l="0" t="-79900" r="0" b="-79900"/>
              </a:stretch>
            </a:blipFill>
          </p:spPr>
        </p:sp>
        <p:sp>
          <p:nvSpPr>
            <p:cNvPr name="TextBox 33" id="33"/>
            <p:cNvSpPr txBox="true"/>
            <p:nvPr/>
          </p:nvSpPr>
          <p:spPr>
            <a:xfrm>
              <a:off x="0" y="-47625"/>
              <a:ext cx="4876800" cy="779145"/>
            </a:xfrm>
            <a:prstGeom prst="rect">
              <a:avLst/>
            </a:prstGeom>
          </p:spPr>
          <p:txBody>
            <a:bodyPr anchor="ctr" rtlCol="false" tIns="0" lIns="0" bIns="0" rIns="0"/>
            <a:lstStyle/>
            <a:p>
              <a:pPr algn="ctr">
                <a:lnSpc>
                  <a:spcPts val="2639"/>
                </a:lnSpc>
              </a:pPr>
              <a:r>
                <a:rPr lang="en-US" sz="2199" i="true">
                  <a:solidFill>
                    <a:srgbClr val="BFE8E3"/>
                  </a:solidFill>
                  <a:latin typeface="Times New Roman"/>
                  <a:ea typeface="Times New Roman"/>
                  <a:cs typeface="Times New Roman"/>
                  <a:sym typeface="Times New Roman"/>
                </a:rPr>
                <a:t>RTT 100–200 ms</a:t>
              </a:r>
            </a:p>
          </p:txBody>
        </p:sp>
      </p:grpSp>
      <p:sp>
        <p:nvSpPr>
          <p:cNvPr id="9034"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37" name="Header band"/>
          <p:cNvSpPr/>
          <p:nvPr/>
        </p:nvSpPr>
        <p:spPr>
          <a:xfrm>
            <a:off x="0" y="0"/>
            <a:ext cx="18288000" cy="2103120"/>
          </a:xfrm>
          <a:prstGeom prst="rect">
            <a:avLst/>
          </a:prstGeom>
          <a:solidFill>
            <a:srgbClr val="14213D"/>
          </a:solidFill>
          <a:ln>
            <a:noFill/>
          </a:ln>
        </p:spPr>
      </p:sp>
      <p:sp>
        <p:nvSpPr>
          <p:cNvPr id="9038"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MỤC LỤC</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Nội dung trình bày</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#1</a:t>
              </a:r>
            </a:p>
          </p:txBody>
        </p:sp>
      </p:grpSp>
      <p:sp>
        <p:nvSpPr>
          <p:cNvPr name="TextBox 36" id="36"/>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2</a:t>
            </a:r>
          </a:p>
        </p:txBody>
      </p:sp>
      <p:sp>
        <p:nvSpPr>
          <p:cNvPr name="TOC card 01" id="200"/>
          <p:cNvSpPr/>
          <p:nvPr/>
        </p:nvSpPr>
        <p:spPr>
          <a:xfrm>
            <a:off x="914400" y="2468880"/>
            <a:ext cx="3840480" cy="6675120"/>
          </a:xfrm>
          <a:prstGeom prst="roundRect">
            <a:avLst>
              <a:gd name="adj" fmla="val 6000"/>
            </a:avLst>
          </a:prstGeom>
          <a:solidFill>
            <a:srgbClr val="EEF3F8"/>
          </a:solidFill>
          <a:ln>
            <a:noFill/>
          </a:ln>
        </p:spPr>
        <p:txBody>
          <a:bodyPr anchor="ctr" rtlCol="false" tIns="0" lIns="0" bIns="0" rIns="0"/>
          <a:lstStyle/>
          <a:p>
            <a:endParaRPr lang="vi-VN"/>
          </a:p>
        </p:txBody>
      </p:sp>
      <p:sp>
        <p:nvSpPr>
          <p:cNvPr name="TOC num 01" id="201"/>
          <p:cNvSpPr txBox="true"/>
          <p:nvPr/>
        </p:nvSpPr>
        <p:spPr>
          <a:xfrm>
            <a:off x="1234440" y="2743200"/>
            <a:ext cx="3200400" cy="960120"/>
          </a:xfrm>
          <a:prstGeom prst="rect">
            <a:avLst/>
          </a:prstGeom>
        </p:spPr>
        <p:txBody>
          <a:bodyPr anchor="t" rtlCol="false" wrap="square" tIns="0" lIns="0" bIns="0" rIns="0"/>
          <a:lstStyle/>
          <a:p>
            <a:pPr algn="l">
              <a:lnSpc>
                <a:spcPts val="6600"/>
              </a:lnSpc>
            </a:pPr>
            <a:r>
              <a:rPr lang="vi-VN" sz="6000" b="true">
                <a:solidFill>
                  <a:srgbClr val="00897B"/>
                </a:solidFill>
                <a:latin typeface="Times New Roman"/>
                <a:ea typeface="Times New Roman"/>
                <a:cs typeface="Times New Roman"/>
                <a:sym typeface="Times New Roman"/>
              </a:rPr>
              <a:t>01</a:t>
            </a:r>
          </a:p>
        </p:txBody>
      </p:sp>
      <p:sp>
        <p:nvSpPr>
          <p:cNvPr name="TOC part 01" id="202"/>
          <p:cNvSpPr txBox="true"/>
          <p:nvPr/>
        </p:nvSpPr>
        <p:spPr>
          <a:xfrm>
            <a:off x="1234440" y="3794760"/>
            <a:ext cx="3200400" cy="365760"/>
          </a:xfrm>
          <a:prstGeom prst="rect">
            <a:avLst/>
          </a:prstGeom>
        </p:spPr>
        <p:txBody>
          <a:bodyPr anchor="t" rtlCol="false" wrap="square" tIns="0" lIns="0" bIns="0" rIns="0"/>
          <a:lstStyle/>
          <a:p>
            <a:pPr algn="l">
              <a:lnSpc>
                <a:spcPts val="2200"/>
              </a:lnSpc>
            </a:pPr>
            <a:r>
              <a:rPr lang="vi-VN" sz="1800" b="true" spc="300">
                <a:solidFill>
                  <a:srgbClr val="5B6B82"/>
                </a:solidFill>
                <a:latin typeface="Times New Roman"/>
                <a:ea typeface="Times New Roman"/>
                <a:cs typeface="Times New Roman"/>
                <a:sym typeface="Times New Roman"/>
              </a:rPr>
              <a:t>PHẦN 1</a:t>
            </a:r>
          </a:p>
        </p:txBody>
      </p:sp>
      <p:sp>
        <p:nvSpPr>
          <p:cNvPr name="TOC title 01" id="203"/>
          <p:cNvSpPr txBox="true"/>
          <p:nvPr/>
        </p:nvSpPr>
        <p:spPr>
          <a:xfrm>
            <a:off x="1234440" y="4251960"/>
            <a:ext cx="3200400" cy="1554480"/>
          </a:xfrm>
          <a:prstGeom prst="rect">
            <a:avLst/>
          </a:prstGeom>
        </p:spPr>
        <p:txBody>
          <a:bodyPr anchor="t" rtlCol="false" wrap="square" tIns="0" lIns="0" bIns="0" rIns="0"/>
          <a:lstStyle/>
          <a:p>
            <a:pPr algn="l">
              <a:lnSpc>
                <a:spcPts val="3500"/>
              </a:lnSpc>
            </a:pPr>
            <a:r>
              <a:rPr lang="vi-VN" sz="3000" b="true">
                <a:solidFill>
                  <a:srgbClr val="14213D"/>
                </a:solidFill>
                <a:latin typeface="Times New Roman"/>
                <a:ea typeface="Times New Roman"/>
                <a:cs typeface="Times New Roman"/>
                <a:sym typeface="Times New Roman"/>
              </a:rPr>
              <a:t>Vấn đề gốc: bài toán đường truyền mạng</a:t>
            </a:r>
          </a:p>
        </p:txBody>
      </p:sp>
      <p:sp>
        <p:nvSpPr>
          <p:cNvPr name="TOC items 01" id="204"/>
          <p:cNvSpPr txBox="true"/>
          <p:nvPr/>
        </p:nvSpPr>
        <p:spPr>
          <a:xfrm>
            <a:off x="1234440" y="5943600"/>
            <a:ext cx="3291840" cy="2286000"/>
          </a:xfrm>
          <a:prstGeom prst="rect">
            <a:avLst/>
          </a:prstGeom>
        </p:spPr>
        <p:txBody>
          <a:bodyPr anchor="t" rtlCol="false" wrap="square" tIns="0" lIns="0" bIns="0" rIns="0"/>
          <a:lstStyle/>
          <a:p>
            <a:pPr algn="l" marL="310896" indent="-310896">
              <a:lnSpc>
                <a:spcPts val="2500"/>
              </a:lnSpc>
              <a:spcBef>
                <a:spcPts val="300"/>
              </a:spcBef>
            </a:pPr>
            <a:r>
              <a:rPr b="true" lang="vi-VN" sz="2000">
                <a:solidFill>
                  <a:srgbClr val="00897B"/>
                </a:solidFill>
                <a:latin typeface="Times New Roman"/>
                <a:ea typeface="Times New Roman"/>
                <a:cs typeface="Times New Roman"/>
                <a:sym typeface="Times New Roman"/>
              </a:rPr>
              <a:t>a.	</a:t>
            </a:r>
            <a:r>
              <a:rPr lang="vi-VN" sz="2000">
                <a:solidFill>
                  <a:srgbClr val="5B6B82"/>
                </a:solidFill>
                <a:latin typeface="Times New Roman"/>
                <a:ea typeface="Times New Roman"/>
                <a:cs typeface="Times New Roman"/>
                <a:sym typeface="Times New Roman"/>
              </a:rPr>
              <a:t>Bài toán</a:t>
            </a:r>
          </a:p>
          <a:p>
            <a:pPr algn="l" marL="310896" indent="-310896">
              <a:lnSpc>
                <a:spcPts val="2500"/>
              </a:lnSpc>
              <a:spcBef>
                <a:spcPts val="300"/>
              </a:spcBef>
            </a:pPr>
            <a:r>
              <a:rPr b="true" lang="vi-VN" sz="2000">
                <a:solidFill>
                  <a:srgbClr val="00897B"/>
                </a:solidFill>
                <a:latin typeface="Times New Roman"/>
                <a:ea typeface="Times New Roman"/>
                <a:cs typeface="Times New Roman"/>
                <a:sym typeface="Times New Roman"/>
              </a:rPr>
              <a:t>b.	</a:t>
            </a:r>
            <a:r>
              <a:rPr lang="vi-VN" sz="2000">
                <a:solidFill>
                  <a:srgbClr val="5B6B82"/>
                </a:solidFill>
                <a:latin typeface="Times New Roman"/>
                <a:ea typeface="Times New Roman"/>
                <a:cs typeface="Times New Roman"/>
                <a:sym typeface="Times New Roman"/>
              </a:rPr>
              <a:t>Hai yêu cầu mâu thuẫn</a:t>
            </a:r>
          </a:p>
          <a:p>
            <a:pPr algn="l" marL="310896" indent="-310896">
              <a:lnSpc>
                <a:spcPts val="2500"/>
              </a:lnSpc>
              <a:spcBef>
                <a:spcPts val="300"/>
              </a:spcBef>
            </a:pPr>
            <a:r>
              <a:rPr b="true" lang="vi-VN" sz="2000">
                <a:solidFill>
                  <a:srgbClr val="00897B"/>
                </a:solidFill>
                <a:latin typeface="Times New Roman"/>
                <a:ea typeface="Times New Roman"/>
                <a:cs typeface="Times New Roman"/>
                <a:sym typeface="Times New Roman"/>
              </a:rPr>
              <a:t>c.	</a:t>
            </a:r>
            <a:r>
              <a:rPr lang="vi-VN" sz="2000">
                <a:solidFill>
                  <a:srgbClr val="5B6B82"/>
                </a:solidFill>
                <a:latin typeface="Times New Roman"/>
                <a:ea typeface="Times New Roman"/>
                <a:cs typeface="Times New Roman"/>
                <a:sym typeface="Times New Roman"/>
              </a:rPr>
              <a:t>Mạng không hoàn hảo</a:t>
            </a:r>
          </a:p>
        </p:txBody>
      </p:sp>
      <p:sp>
        <p:nvSpPr>
          <p:cNvPr name="TOC pill 01 #1" id="205"/>
          <p:cNvSpPr/>
          <p:nvPr/>
        </p:nvSpPr>
        <p:spPr>
          <a:xfrm>
            <a:off x="1234440" y="8275320"/>
            <a:ext cx="731520" cy="548640"/>
          </a:xfrm>
          <a:prstGeom prst="roundRect">
            <a:avLst>
              <a:gd name="adj" fmla="val 50000"/>
            </a:avLst>
          </a:prstGeom>
          <a:solidFill>
            <a:srgbClr val="00897B"/>
          </a:solidFill>
          <a:ln>
            <a:noFill/>
          </a:ln>
        </p:spPr>
        <p:txBody>
          <a:bodyPr anchor="ctr" rtlCol="false" tIns="0" lIns="0" bIns="0" rIns="0"/>
          <a:lstStyle/>
          <a:p>
            <a:pPr algn="ctr"/>
            <a:r>
              <a:rPr lang="vi-VN" sz="1800" b="true">
                <a:solidFill>
                  <a:srgbClr val="FFFFFF"/>
                </a:solidFill>
                <a:latin typeface="Times New Roman"/>
                <a:ea typeface="Times New Roman"/>
                <a:cs typeface="Times New Roman"/>
                <a:sym typeface="Times New Roman"/>
              </a:rPr>
              <a:t>#1</a:t>
            </a:r>
          </a:p>
        </p:txBody>
      </p:sp>
      <p:sp>
        <p:nvSpPr>
          <p:cNvPr name="TOC card 02" id="206"/>
          <p:cNvSpPr/>
          <p:nvPr/>
        </p:nvSpPr>
        <p:spPr>
          <a:xfrm>
            <a:off x="5120640" y="2468880"/>
            <a:ext cx="3840480" cy="6675120"/>
          </a:xfrm>
          <a:prstGeom prst="roundRect">
            <a:avLst>
              <a:gd name="adj" fmla="val 6000"/>
            </a:avLst>
          </a:prstGeom>
          <a:solidFill>
            <a:srgbClr val="EEF3F8"/>
          </a:solidFill>
          <a:ln>
            <a:noFill/>
          </a:ln>
        </p:spPr>
        <p:txBody>
          <a:bodyPr anchor="ctr" rtlCol="false" tIns="0" lIns="0" bIns="0" rIns="0"/>
          <a:lstStyle/>
          <a:p>
            <a:endParaRPr lang="vi-VN"/>
          </a:p>
        </p:txBody>
      </p:sp>
      <p:sp>
        <p:nvSpPr>
          <p:cNvPr name="TOC num 02" id="207"/>
          <p:cNvSpPr txBox="true"/>
          <p:nvPr/>
        </p:nvSpPr>
        <p:spPr>
          <a:xfrm>
            <a:off x="5440680" y="2743200"/>
            <a:ext cx="3200400" cy="960120"/>
          </a:xfrm>
          <a:prstGeom prst="rect">
            <a:avLst/>
          </a:prstGeom>
        </p:spPr>
        <p:txBody>
          <a:bodyPr anchor="t" rtlCol="false" wrap="square" tIns="0" lIns="0" bIns="0" rIns="0"/>
          <a:lstStyle/>
          <a:p>
            <a:pPr algn="l">
              <a:lnSpc>
                <a:spcPts val="6600"/>
              </a:lnSpc>
            </a:pPr>
            <a:r>
              <a:rPr lang="vi-VN" sz="6000" b="true">
                <a:solidFill>
                  <a:srgbClr val="00897B"/>
                </a:solidFill>
                <a:latin typeface="Times New Roman"/>
                <a:ea typeface="Times New Roman"/>
                <a:cs typeface="Times New Roman"/>
                <a:sym typeface="Times New Roman"/>
              </a:rPr>
              <a:t>02</a:t>
            </a:r>
          </a:p>
        </p:txBody>
      </p:sp>
      <p:sp>
        <p:nvSpPr>
          <p:cNvPr name="TOC part 02" id="208"/>
          <p:cNvSpPr txBox="true"/>
          <p:nvPr/>
        </p:nvSpPr>
        <p:spPr>
          <a:xfrm>
            <a:off x="5440680" y="3794760"/>
            <a:ext cx="3200400" cy="365760"/>
          </a:xfrm>
          <a:prstGeom prst="rect">
            <a:avLst/>
          </a:prstGeom>
        </p:spPr>
        <p:txBody>
          <a:bodyPr anchor="t" rtlCol="false" wrap="square" tIns="0" lIns="0" bIns="0" rIns="0"/>
          <a:lstStyle/>
          <a:p>
            <a:pPr algn="l">
              <a:lnSpc>
                <a:spcPts val="2200"/>
              </a:lnSpc>
            </a:pPr>
            <a:r>
              <a:rPr lang="vi-VN" sz="1800" b="true" spc="300">
                <a:solidFill>
                  <a:srgbClr val="5B6B82"/>
                </a:solidFill>
                <a:latin typeface="Times New Roman"/>
                <a:ea typeface="Times New Roman"/>
                <a:cs typeface="Times New Roman"/>
                <a:sym typeface="Times New Roman"/>
              </a:rPr>
              <a:t>PHẦN 2</a:t>
            </a:r>
          </a:p>
        </p:txBody>
      </p:sp>
      <p:sp>
        <p:nvSpPr>
          <p:cNvPr name="TOC title 02" id="209"/>
          <p:cNvSpPr txBox="true"/>
          <p:nvPr/>
        </p:nvSpPr>
        <p:spPr>
          <a:xfrm>
            <a:off x="5440680" y="4251960"/>
            <a:ext cx="3200400" cy="1554480"/>
          </a:xfrm>
          <a:prstGeom prst="rect">
            <a:avLst/>
          </a:prstGeom>
        </p:spPr>
        <p:txBody>
          <a:bodyPr anchor="t" rtlCol="false" wrap="square" tIns="0" lIns="0" bIns="0" rIns="0"/>
          <a:lstStyle/>
          <a:p>
            <a:pPr algn="l">
              <a:lnSpc>
                <a:spcPts val="3500"/>
              </a:lnSpc>
            </a:pPr>
            <a:r>
              <a:rPr lang="vi-VN" sz="3000" b="true">
                <a:solidFill>
                  <a:srgbClr val="14213D"/>
                </a:solidFill>
                <a:latin typeface="Times New Roman"/>
                <a:ea typeface="Times New Roman"/>
                <a:cs typeface="Times New Roman"/>
                <a:sym typeface="Times New Roman"/>
              </a:rPr>
              <a:t>Các vấn đề con và giải pháp</a:t>
            </a:r>
          </a:p>
        </p:txBody>
      </p:sp>
      <p:sp>
        <p:nvSpPr>
          <p:cNvPr name="TOC items 02" id="210"/>
          <p:cNvSpPr txBox="true"/>
          <p:nvPr/>
        </p:nvSpPr>
        <p:spPr>
          <a:xfrm>
            <a:off x="5440680" y="5943600"/>
            <a:ext cx="3291840" cy="2286000"/>
          </a:xfrm>
          <a:prstGeom prst="rect">
            <a:avLst/>
          </a:prstGeom>
        </p:spPr>
        <p:txBody>
          <a:bodyPr anchor="t" rtlCol="false" wrap="square" tIns="0" lIns="0" bIns="0" rIns="0"/>
          <a:lstStyle/>
          <a:p>
            <a:pPr algn="l" marL="310896" indent="-310896">
              <a:lnSpc>
                <a:spcPts val="2500"/>
              </a:lnSpc>
              <a:spcBef>
                <a:spcPts val="300"/>
              </a:spcBef>
            </a:pPr>
            <a:r>
              <a:rPr b="true" lang="vi-VN" sz="2000">
                <a:solidFill>
                  <a:srgbClr val="00897B"/>
                </a:solidFill>
                <a:latin typeface="Times New Roman"/>
                <a:ea typeface="Times New Roman"/>
                <a:cs typeface="Times New Roman"/>
                <a:sym typeface="Times New Roman"/>
              </a:rPr>
              <a:t>a.	</a:t>
            </a:r>
            <a:r>
              <a:rPr lang="vi-VN" sz="2000">
                <a:solidFill>
                  <a:srgbClr val="5B6B82"/>
                </a:solidFill>
                <a:latin typeface="Times New Roman"/>
                <a:ea typeface="Times New Roman"/>
                <a:cs typeface="Times New Roman"/>
                <a:sym typeface="Times New Roman"/>
              </a:rPr>
              <a:t>VĐ1 Ai giữ quyền quyết định</a:t>
            </a:r>
          </a:p>
          <a:p>
            <a:pPr algn="l" marL="310896" indent="-310896">
              <a:lnSpc>
                <a:spcPts val="2500"/>
              </a:lnSpc>
              <a:spcBef>
                <a:spcPts val="300"/>
              </a:spcBef>
            </a:pPr>
            <a:r>
              <a:rPr b="true" lang="vi-VN" sz="2000">
                <a:solidFill>
                  <a:srgbClr val="00897B"/>
                </a:solidFill>
                <a:latin typeface="Times New Roman"/>
                <a:ea typeface="Times New Roman"/>
                <a:cs typeface="Times New Roman"/>
                <a:sym typeface="Times New Roman"/>
              </a:rPr>
              <a:t>b.	</a:t>
            </a:r>
            <a:r>
              <a:rPr lang="vi-VN" sz="2000">
                <a:solidFill>
                  <a:srgbClr val="5B6B82"/>
                </a:solidFill>
                <a:latin typeface="Times New Roman"/>
                <a:ea typeface="Times New Roman"/>
                <a:cs typeface="Times New Roman"/>
                <a:sym typeface="Times New Roman"/>
              </a:rPr>
              <a:t>VĐ2 Điều khiển bị ì</a:t>
            </a:r>
          </a:p>
          <a:p>
            <a:pPr algn="l" marL="310896" indent="-310896">
              <a:lnSpc>
                <a:spcPts val="2500"/>
              </a:lnSpc>
              <a:spcBef>
                <a:spcPts val="300"/>
              </a:spcBef>
            </a:pPr>
            <a:r>
              <a:rPr b="true" lang="vi-VN" sz="2000">
                <a:solidFill>
                  <a:srgbClr val="00897B"/>
                </a:solidFill>
                <a:latin typeface="Times New Roman"/>
                <a:ea typeface="Times New Roman"/>
                <a:cs typeface="Times New Roman"/>
                <a:sym typeface="Times New Roman"/>
              </a:rPr>
              <a:t>c.	</a:t>
            </a:r>
            <a:r>
              <a:rPr lang="vi-VN" sz="2000">
                <a:solidFill>
                  <a:srgbClr val="5B6B82"/>
                </a:solidFill>
                <a:latin typeface="Times New Roman"/>
                <a:ea typeface="Times New Roman"/>
                <a:cs typeface="Times New Roman"/>
                <a:sym typeface="Times New Roman"/>
              </a:rPr>
              <a:t>VĐ3 Đối thủ giật</a:t>
            </a:r>
          </a:p>
          <a:p>
            <a:pPr algn="l" marL="310896" indent="-310896">
              <a:lnSpc>
                <a:spcPts val="2500"/>
              </a:lnSpc>
              <a:spcBef>
                <a:spcPts val="300"/>
              </a:spcBef>
            </a:pPr>
            <a:r>
              <a:rPr b="true" lang="vi-VN" sz="2000">
                <a:solidFill>
                  <a:srgbClr val="00897B"/>
                </a:solidFill>
                <a:latin typeface="Times New Roman"/>
                <a:ea typeface="Times New Roman"/>
                <a:cs typeface="Times New Roman"/>
                <a:sym typeface="Times New Roman"/>
              </a:rPr>
              <a:t>d.	</a:t>
            </a:r>
            <a:r>
              <a:rPr lang="vi-VN" sz="2000">
                <a:solidFill>
                  <a:srgbClr val="5B6B82"/>
                </a:solidFill>
                <a:latin typeface="Times New Roman"/>
                <a:ea typeface="Times New Roman"/>
                <a:cs typeface="Times New Roman"/>
                <a:sym typeface="Times New Roman"/>
              </a:rPr>
              <a:t>VĐ4 Không công bằng</a:t>
            </a:r>
          </a:p>
          <a:p>
            <a:pPr algn="l" marL="310896" indent="-310896">
              <a:lnSpc>
                <a:spcPts val="2500"/>
              </a:lnSpc>
              <a:spcBef>
                <a:spcPts val="300"/>
              </a:spcBef>
            </a:pPr>
            <a:r>
              <a:rPr b="true" lang="vi-VN" sz="2000">
                <a:solidFill>
                  <a:srgbClr val="00897B"/>
                </a:solidFill>
                <a:latin typeface="Times New Roman"/>
                <a:ea typeface="Times New Roman"/>
                <a:cs typeface="Times New Roman"/>
                <a:sym typeface="Times New Roman"/>
              </a:rPr>
              <a:t>e.	</a:t>
            </a:r>
            <a:r>
              <a:rPr lang="vi-VN" sz="2000">
                <a:solidFill>
                  <a:srgbClr val="5B6B82"/>
                </a:solidFill>
                <a:latin typeface="Times New Roman"/>
                <a:ea typeface="Times New Roman"/>
                <a:cs typeface="Times New Roman"/>
                <a:sym typeface="Times New Roman"/>
              </a:rPr>
              <a:t>VĐ5 Dự đoán hành động sai</a:t>
            </a:r>
          </a:p>
        </p:txBody>
      </p:sp>
      <p:sp>
        <p:nvSpPr>
          <p:cNvPr name="TOC pill 02 #1" id="211"/>
          <p:cNvSpPr/>
          <p:nvPr/>
        </p:nvSpPr>
        <p:spPr>
          <a:xfrm>
            <a:off x="5440680" y="8275320"/>
            <a:ext cx="731520" cy="548640"/>
          </a:xfrm>
          <a:prstGeom prst="roundRect">
            <a:avLst>
              <a:gd name="adj" fmla="val 50000"/>
            </a:avLst>
          </a:prstGeom>
          <a:solidFill>
            <a:srgbClr val="00897B"/>
          </a:solidFill>
          <a:ln>
            <a:noFill/>
          </a:ln>
        </p:spPr>
        <p:txBody>
          <a:bodyPr anchor="ctr" rtlCol="false" tIns="0" lIns="0" bIns="0" rIns="0"/>
          <a:lstStyle/>
          <a:p>
            <a:pPr algn="ctr"/>
            <a:r>
              <a:rPr lang="vi-VN" sz="1800" b="true">
                <a:solidFill>
                  <a:srgbClr val="FFFFFF"/>
                </a:solidFill>
                <a:latin typeface="Times New Roman"/>
                <a:ea typeface="Times New Roman"/>
                <a:cs typeface="Times New Roman"/>
                <a:sym typeface="Times New Roman"/>
              </a:rPr>
              <a:t>#1</a:t>
            </a:r>
          </a:p>
        </p:txBody>
      </p:sp>
      <p:sp>
        <p:nvSpPr>
          <p:cNvPr name="TOC pill 02 #2" id="212"/>
          <p:cNvSpPr/>
          <p:nvPr/>
        </p:nvSpPr>
        <p:spPr>
          <a:xfrm>
            <a:off x="6309360" y="8275320"/>
            <a:ext cx="731520" cy="548640"/>
          </a:xfrm>
          <a:prstGeom prst="roundRect">
            <a:avLst>
              <a:gd name="adj" fmla="val 50000"/>
            </a:avLst>
          </a:prstGeom>
          <a:solidFill>
            <a:srgbClr val="6C5CE7"/>
          </a:solidFill>
          <a:ln>
            <a:noFill/>
          </a:ln>
        </p:spPr>
        <p:txBody>
          <a:bodyPr anchor="ctr" rtlCol="false" tIns="0" lIns="0" bIns="0" rIns="0"/>
          <a:lstStyle/>
          <a:p>
            <a:pPr algn="ctr"/>
            <a:r>
              <a:rPr lang="vi-VN" sz="1800" b="true">
                <a:solidFill>
                  <a:srgbClr val="FFFFFF"/>
                </a:solidFill>
                <a:latin typeface="Times New Roman"/>
                <a:ea typeface="Times New Roman"/>
                <a:cs typeface="Times New Roman"/>
                <a:sym typeface="Times New Roman"/>
              </a:rPr>
              <a:t>#2</a:t>
            </a:r>
          </a:p>
        </p:txBody>
      </p:sp>
      <p:sp>
        <p:nvSpPr>
          <p:cNvPr name="TOC pill 02 #3" id="213"/>
          <p:cNvSpPr/>
          <p:nvPr/>
        </p:nvSpPr>
        <p:spPr>
          <a:xfrm>
            <a:off x="7178040" y="8275320"/>
            <a:ext cx="731520" cy="548640"/>
          </a:xfrm>
          <a:prstGeom prst="roundRect">
            <a:avLst>
              <a:gd name="adj" fmla="val 50000"/>
            </a:avLst>
          </a:prstGeom>
          <a:solidFill>
            <a:srgbClr val="F4A259"/>
          </a:solidFill>
          <a:ln>
            <a:noFill/>
          </a:ln>
        </p:spPr>
        <p:txBody>
          <a:bodyPr anchor="ctr" rtlCol="false" tIns="0" lIns="0" bIns="0" rIns="0"/>
          <a:lstStyle/>
          <a:p>
            <a:pPr algn="ctr"/>
            <a:r>
              <a:rPr lang="vi-VN" sz="1800" b="true">
                <a:solidFill>
                  <a:srgbClr val="FFFFFF"/>
                </a:solidFill>
                <a:latin typeface="Times New Roman"/>
                <a:ea typeface="Times New Roman"/>
                <a:cs typeface="Times New Roman"/>
                <a:sym typeface="Times New Roman"/>
              </a:rPr>
              <a:t>#3</a:t>
            </a:r>
          </a:p>
        </p:txBody>
      </p:sp>
      <p:sp>
        <p:nvSpPr>
          <p:cNvPr name="TOC card 03" id="214"/>
          <p:cNvSpPr/>
          <p:nvPr/>
        </p:nvSpPr>
        <p:spPr>
          <a:xfrm>
            <a:off x="9326880" y="2468880"/>
            <a:ext cx="3840480" cy="6675120"/>
          </a:xfrm>
          <a:prstGeom prst="roundRect">
            <a:avLst>
              <a:gd name="adj" fmla="val 6000"/>
            </a:avLst>
          </a:prstGeom>
          <a:solidFill>
            <a:srgbClr val="EEF3F8"/>
          </a:solidFill>
          <a:ln>
            <a:noFill/>
          </a:ln>
        </p:spPr>
        <p:txBody>
          <a:bodyPr anchor="ctr" rtlCol="false" tIns="0" lIns="0" bIns="0" rIns="0"/>
          <a:lstStyle/>
          <a:p>
            <a:endParaRPr lang="vi-VN"/>
          </a:p>
        </p:txBody>
      </p:sp>
      <p:sp>
        <p:nvSpPr>
          <p:cNvPr name="TOC num 03" id="215"/>
          <p:cNvSpPr txBox="true"/>
          <p:nvPr/>
        </p:nvSpPr>
        <p:spPr>
          <a:xfrm>
            <a:off x="9646920" y="2743200"/>
            <a:ext cx="3200400" cy="960120"/>
          </a:xfrm>
          <a:prstGeom prst="rect">
            <a:avLst/>
          </a:prstGeom>
        </p:spPr>
        <p:txBody>
          <a:bodyPr anchor="t" rtlCol="false" wrap="square" tIns="0" lIns="0" bIns="0" rIns="0"/>
          <a:lstStyle/>
          <a:p>
            <a:pPr algn="l">
              <a:lnSpc>
                <a:spcPts val="6600"/>
              </a:lnSpc>
            </a:pPr>
            <a:r>
              <a:rPr lang="vi-VN" sz="6000" b="true">
                <a:solidFill>
                  <a:srgbClr val="00897B"/>
                </a:solidFill>
                <a:latin typeface="Times New Roman"/>
                <a:ea typeface="Times New Roman"/>
                <a:cs typeface="Times New Roman"/>
                <a:sym typeface="Times New Roman"/>
              </a:rPr>
              <a:t>03</a:t>
            </a:r>
          </a:p>
        </p:txBody>
      </p:sp>
      <p:sp>
        <p:nvSpPr>
          <p:cNvPr name="TOC part 03" id="216"/>
          <p:cNvSpPr txBox="true"/>
          <p:nvPr/>
        </p:nvSpPr>
        <p:spPr>
          <a:xfrm>
            <a:off x="9646920" y="3794760"/>
            <a:ext cx="3200400" cy="365760"/>
          </a:xfrm>
          <a:prstGeom prst="rect">
            <a:avLst/>
          </a:prstGeom>
        </p:spPr>
        <p:txBody>
          <a:bodyPr anchor="t" rtlCol="false" wrap="square" tIns="0" lIns="0" bIns="0" rIns="0"/>
          <a:lstStyle/>
          <a:p>
            <a:pPr algn="l">
              <a:lnSpc>
                <a:spcPts val="2200"/>
              </a:lnSpc>
            </a:pPr>
            <a:r>
              <a:rPr lang="vi-VN" sz="1800" b="true" spc="300">
                <a:solidFill>
                  <a:srgbClr val="5B6B82"/>
                </a:solidFill>
                <a:latin typeface="Times New Roman"/>
                <a:ea typeface="Times New Roman"/>
                <a:cs typeface="Times New Roman"/>
                <a:sym typeface="Times New Roman"/>
              </a:rPr>
              <a:t>PHẦN 3</a:t>
            </a:r>
          </a:p>
        </p:txBody>
      </p:sp>
      <p:sp>
        <p:nvSpPr>
          <p:cNvPr name="TOC title 03" id="217"/>
          <p:cNvSpPr txBox="true"/>
          <p:nvPr/>
        </p:nvSpPr>
        <p:spPr>
          <a:xfrm>
            <a:off x="9646920" y="4251960"/>
            <a:ext cx="3200400" cy="1554480"/>
          </a:xfrm>
          <a:prstGeom prst="rect">
            <a:avLst/>
          </a:prstGeom>
        </p:spPr>
        <p:txBody>
          <a:bodyPr anchor="t" rtlCol="false" wrap="square" tIns="0" lIns="0" bIns="0" rIns="0"/>
          <a:lstStyle/>
          <a:p>
            <a:pPr algn="l">
              <a:lnSpc>
                <a:spcPts val="3500"/>
              </a:lnSpc>
            </a:pPr>
            <a:r>
              <a:rPr lang="vi-VN" sz="3000" b="true">
                <a:solidFill>
                  <a:srgbClr val="14213D"/>
                </a:solidFill>
                <a:latin typeface="Times New Roman"/>
                <a:ea typeface="Times New Roman"/>
                <a:cs typeface="Times New Roman"/>
                <a:sym typeface="Times New Roman"/>
              </a:rPr>
              <a:t>Áp dụng và demo</a:t>
            </a:r>
          </a:p>
        </p:txBody>
      </p:sp>
      <p:sp>
        <p:nvSpPr>
          <p:cNvPr name="TOC items 03" id="218"/>
          <p:cNvSpPr txBox="true"/>
          <p:nvPr/>
        </p:nvSpPr>
        <p:spPr>
          <a:xfrm>
            <a:off x="9646920" y="5943600"/>
            <a:ext cx="3291840" cy="2286000"/>
          </a:xfrm>
          <a:prstGeom prst="rect">
            <a:avLst/>
          </a:prstGeom>
        </p:spPr>
        <p:txBody>
          <a:bodyPr anchor="t" rtlCol="false" wrap="square" tIns="0" lIns="0" bIns="0" rIns="0"/>
          <a:lstStyle/>
          <a:p>
            <a:pPr algn="l" marL="310896" indent="-310896">
              <a:lnSpc>
                <a:spcPts val="2500"/>
              </a:lnSpc>
              <a:spcBef>
                <a:spcPts val="300"/>
              </a:spcBef>
            </a:pPr>
            <a:r>
              <a:rPr b="true" lang="vi-VN" sz="2000">
                <a:solidFill>
                  <a:srgbClr val="00897B"/>
                </a:solidFill>
                <a:latin typeface="Times New Roman"/>
                <a:ea typeface="Times New Roman"/>
                <a:cs typeface="Times New Roman"/>
                <a:sym typeface="Times New Roman"/>
              </a:rPr>
              <a:t>a.	</a:t>
            </a:r>
            <a:r>
              <a:rPr lang="vi-VN" sz="2000">
                <a:solidFill>
                  <a:srgbClr val="5B6B82"/>
                </a:solidFill>
                <a:latin typeface="Times New Roman"/>
                <a:ea typeface="Times New Roman"/>
                <a:cs typeface="Times New Roman"/>
                <a:sym typeface="Times New Roman"/>
              </a:rPr>
              <a:t>Game xếp đơn hàng siêu thị</a:t>
            </a:r>
          </a:p>
          <a:p>
            <a:pPr algn="l" marL="310896" indent="-310896">
              <a:lnSpc>
                <a:spcPts val="2500"/>
              </a:lnSpc>
              <a:spcBef>
                <a:spcPts val="300"/>
              </a:spcBef>
            </a:pPr>
            <a:r>
              <a:rPr b="true" lang="vi-VN" sz="2000">
                <a:solidFill>
                  <a:srgbClr val="00897B"/>
                </a:solidFill>
                <a:latin typeface="Times New Roman"/>
                <a:ea typeface="Times New Roman"/>
                <a:cs typeface="Times New Roman"/>
                <a:sym typeface="Times New Roman"/>
              </a:rPr>
              <a:t>b.	</a:t>
            </a:r>
            <a:r>
              <a:rPr lang="vi-VN" sz="2000">
                <a:solidFill>
                  <a:srgbClr val="5B6B82"/>
                </a:solidFill>
                <a:latin typeface="Times New Roman"/>
                <a:ea typeface="Times New Roman"/>
                <a:cs typeface="Times New Roman"/>
                <a:sym typeface="Times New Roman"/>
              </a:rPr>
              <a:t>Demo 3 khung nhìn</a:t>
            </a:r>
          </a:p>
        </p:txBody>
      </p:sp>
      <p:sp>
        <p:nvSpPr>
          <p:cNvPr name="TOC pill 03 #3" id="219"/>
          <p:cNvSpPr/>
          <p:nvPr/>
        </p:nvSpPr>
        <p:spPr>
          <a:xfrm>
            <a:off x="9646920" y="8275320"/>
            <a:ext cx="731520" cy="548640"/>
          </a:xfrm>
          <a:prstGeom prst="roundRect">
            <a:avLst>
              <a:gd name="adj" fmla="val 50000"/>
            </a:avLst>
          </a:prstGeom>
          <a:solidFill>
            <a:srgbClr val="F4A259"/>
          </a:solidFill>
          <a:ln>
            <a:noFill/>
          </a:ln>
        </p:spPr>
        <p:txBody>
          <a:bodyPr anchor="ctr" rtlCol="false" tIns="0" lIns="0" bIns="0" rIns="0"/>
          <a:lstStyle/>
          <a:p>
            <a:pPr algn="ctr"/>
            <a:r>
              <a:rPr lang="vi-VN" sz="1800" b="true">
                <a:solidFill>
                  <a:srgbClr val="FFFFFF"/>
                </a:solidFill>
                <a:latin typeface="Times New Roman"/>
                <a:ea typeface="Times New Roman"/>
                <a:cs typeface="Times New Roman"/>
                <a:sym typeface="Times New Roman"/>
              </a:rPr>
              <a:t>#3</a:t>
            </a:r>
          </a:p>
        </p:txBody>
      </p:sp>
      <p:sp>
        <p:nvSpPr>
          <p:cNvPr name="TOC pill 03 #2" id="220"/>
          <p:cNvSpPr/>
          <p:nvPr/>
        </p:nvSpPr>
        <p:spPr>
          <a:xfrm>
            <a:off x="10515600" y="8275320"/>
            <a:ext cx="731520" cy="548640"/>
          </a:xfrm>
          <a:prstGeom prst="roundRect">
            <a:avLst>
              <a:gd name="adj" fmla="val 50000"/>
            </a:avLst>
          </a:prstGeom>
          <a:solidFill>
            <a:srgbClr val="6C5CE7"/>
          </a:solidFill>
          <a:ln>
            <a:noFill/>
          </a:ln>
        </p:spPr>
        <p:txBody>
          <a:bodyPr anchor="ctr" rtlCol="false" tIns="0" lIns="0" bIns="0" rIns="0"/>
          <a:lstStyle/>
          <a:p>
            <a:pPr algn="ctr"/>
            <a:r>
              <a:rPr lang="vi-VN" sz="1800" b="true">
                <a:solidFill>
                  <a:srgbClr val="FFFFFF"/>
                </a:solidFill>
                <a:latin typeface="Times New Roman"/>
                <a:ea typeface="Times New Roman"/>
                <a:cs typeface="Times New Roman"/>
                <a:sym typeface="Times New Roman"/>
              </a:rPr>
              <a:t>#2</a:t>
            </a:r>
          </a:p>
        </p:txBody>
      </p:sp>
      <p:sp>
        <p:nvSpPr>
          <p:cNvPr name="TOC card 04" id="221"/>
          <p:cNvSpPr/>
          <p:nvPr/>
        </p:nvSpPr>
        <p:spPr>
          <a:xfrm>
            <a:off x="13533120" y="2468880"/>
            <a:ext cx="3840480" cy="6675120"/>
          </a:xfrm>
          <a:prstGeom prst="roundRect">
            <a:avLst>
              <a:gd name="adj" fmla="val 6000"/>
            </a:avLst>
          </a:prstGeom>
          <a:solidFill>
            <a:srgbClr val="EEF3F8"/>
          </a:solidFill>
          <a:ln>
            <a:noFill/>
          </a:ln>
        </p:spPr>
        <p:txBody>
          <a:bodyPr anchor="ctr" rtlCol="false" tIns="0" lIns="0" bIns="0" rIns="0"/>
          <a:lstStyle/>
          <a:p>
            <a:endParaRPr lang="vi-VN"/>
          </a:p>
        </p:txBody>
      </p:sp>
      <p:sp>
        <p:nvSpPr>
          <p:cNvPr name="TOC num 04" id="222"/>
          <p:cNvSpPr txBox="true"/>
          <p:nvPr/>
        </p:nvSpPr>
        <p:spPr>
          <a:xfrm>
            <a:off x="13853160" y="2743200"/>
            <a:ext cx="3200400" cy="960120"/>
          </a:xfrm>
          <a:prstGeom prst="rect">
            <a:avLst/>
          </a:prstGeom>
        </p:spPr>
        <p:txBody>
          <a:bodyPr anchor="t" rtlCol="false" wrap="square" tIns="0" lIns="0" bIns="0" rIns="0"/>
          <a:lstStyle/>
          <a:p>
            <a:pPr algn="l">
              <a:lnSpc>
                <a:spcPts val="6600"/>
              </a:lnSpc>
            </a:pPr>
            <a:r>
              <a:rPr lang="vi-VN" sz="6000" b="true">
                <a:solidFill>
                  <a:srgbClr val="00897B"/>
                </a:solidFill>
                <a:latin typeface="Times New Roman"/>
                <a:ea typeface="Times New Roman"/>
                <a:cs typeface="Times New Roman"/>
                <a:sym typeface="Times New Roman"/>
              </a:rPr>
              <a:t>04</a:t>
            </a:r>
          </a:p>
        </p:txBody>
      </p:sp>
      <p:sp>
        <p:nvSpPr>
          <p:cNvPr name="TOC part 04" id="223"/>
          <p:cNvSpPr txBox="true"/>
          <p:nvPr/>
        </p:nvSpPr>
        <p:spPr>
          <a:xfrm>
            <a:off x="13853160" y="3794760"/>
            <a:ext cx="3200400" cy="365760"/>
          </a:xfrm>
          <a:prstGeom prst="rect">
            <a:avLst/>
          </a:prstGeom>
        </p:spPr>
        <p:txBody>
          <a:bodyPr anchor="t" rtlCol="false" wrap="square" tIns="0" lIns="0" bIns="0" rIns="0"/>
          <a:lstStyle/>
          <a:p>
            <a:pPr algn="l">
              <a:lnSpc>
                <a:spcPts val="2200"/>
              </a:lnSpc>
            </a:pPr>
            <a:r>
              <a:rPr lang="vi-VN" sz="1800" b="true" spc="300">
                <a:solidFill>
                  <a:srgbClr val="5B6B82"/>
                </a:solidFill>
                <a:latin typeface="Times New Roman"/>
                <a:ea typeface="Times New Roman"/>
                <a:cs typeface="Times New Roman"/>
                <a:sym typeface="Times New Roman"/>
              </a:rPr>
              <a:t>PHẦN 4</a:t>
            </a:r>
          </a:p>
        </p:txBody>
      </p:sp>
      <p:sp>
        <p:nvSpPr>
          <p:cNvPr name="TOC title 04" id="224"/>
          <p:cNvSpPr txBox="true"/>
          <p:nvPr/>
        </p:nvSpPr>
        <p:spPr>
          <a:xfrm>
            <a:off x="13853160" y="4251960"/>
            <a:ext cx="3200400" cy="1554480"/>
          </a:xfrm>
          <a:prstGeom prst="rect">
            <a:avLst/>
          </a:prstGeom>
        </p:spPr>
        <p:txBody>
          <a:bodyPr anchor="t" rtlCol="false" wrap="square" tIns="0" lIns="0" bIns="0" rIns="0"/>
          <a:lstStyle/>
          <a:p>
            <a:pPr algn="l">
              <a:lnSpc>
                <a:spcPts val="3500"/>
              </a:lnSpc>
            </a:pPr>
            <a:r>
              <a:rPr lang="vi-VN" sz="3000" b="true">
                <a:solidFill>
                  <a:srgbClr val="14213D"/>
                </a:solidFill>
                <a:latin typeface="Times New Roman"/>
                <a:ea typeface="Times New Roman"/>
                <a:cs typeface="Times New Roman"/>
                <a:sym typeface="Times New Roman"/>
              </a:rPr>
              <a:t>Q&amp;A</a:t>
            </a:r>
          </a:p>
        </p:txBody>
      </p:sp>
      <p:sp>
        <p:nvSpPr>
          <p:cNvPr name="TOC items 04" id="225"/>
          <p:cNvSpPr txBox="true"/>
          <p:nvPr/>
        </p:nvSpPr>
        <p:spPr>
          <a:xfrm>
            <a:off x="13853160" y="5943600"/>
            <a:ext cx="3291840" cy="2286000"/>
          </a:xfrm>
          <a:prstGeom prst="rect">
            <a:avLst/>
          </a:prstGeom>
        </p:spPr>
        <p:txBody>
          <a:bodyPr anchor="t" rtlCol="false" wrap="square" tIns="0" lIns="0" bIns="0" rIns="0"/>
          <a:lstStyle/>
          <a:p>
            <a:pPr algn="l" marL="310896" indent="-310896">
              <a:lnSpc>
                <a:spcPts val="2500"/>
              </a:lnSpc>
              <a:spcBef>
                <a:spcPts val="300"/>
              </a:spcBef>
            </a:pPr>
            <a:r>
              <a:rPr b="true" lang="vi-VN" sz="2000">
                <a:solidFill>
                  <a:srgbClr val="00897B"/>
                </a:solidFill>
                <a:latin typeface="Times New Roman"/>
                <a:ea typeface="Times New Roman"/>
                <a:cs typeface="Times New Roman"/>
                <a:sym typeface="Times New Roman"/>
              </a:rPr>
              <a:t>a.	</a:t>
            </a:r>
            <a:r>
              <a:rPr lang="vi-VN" sz="2000">
                <a:solidFill>
                  <a:srgbClr val="5B6B82"/>
                </a:solidFill>
                <a:latin typeface="Times New Roman"/>
                <a:ea typeface="Times New Roman"/>
                <a:cs typeface="Times New Roman"/>
                <a:sym typeface="Times New Roman"/>
              </a:rPr>
              <a:t>Hỏi &amp; đáp</a:t>
            </a:r>
          </a:p>
          <a:p>
            <a:pPr algn="l" marL="310896" indent="-310896">
              <a:lnSpc>
                <a:spcPts val="2500"/>
              </a:lnSpc>
              <a:spcBef>
                <a:spcPts val="300"/>
              </a:spcBef>
            </a:pPr>
            <a:r>
              <a:rPr b="true" lang="vi-VN" sz="2000">
                <a:solidFill>
                  <a:srgbClr val="00897B"/>
                </a:solidFill>
                <a:latin typeface="Times New Roman"/>
                <a:ea typeface="Times New Roman"/>
                <a:cs typeface="Times New Roman"/>
                <a:sym typeface="Times New Roman"/>
              </a:rPr>
              <a:t>b.	</a:t>
            </a:r>
            <a:r>
              <a:rPr lang="vi-VN" sz="2000">
                <a:solidFill>
                  <a:srgbClr val="5B6B82"/>
                </a:solidFill>
                <a:latin typeface="Times New Roman"/>
                <a:ea typeface="Times New Roman"/>
                <a:cs typeface="Times New Roman"/>
                <a:sym typeface="Times New Roman"/>
              </a:rPr>
              <a:t>Slide dự phòng khi bị hỏi sâu</a:t>
            </a:r>
          </a:p>
        </p:txBody>
      </p:sp>
      <p:sp>
        <p:nvSpPr>
          <p:cNvPr name="TOC pill 04 Cả nhóm" id="226"/>
          <p:cNvSpPr/>
          <p:nvPr/>
        </p:nvSpPr>
        <p:spPr>
          <a:xfrm>
            <a:off x="13853160" y="8275320"/>
            <a:ext cx="1463040" cy="548640"/>
          </a:xfrm>
          <a:prstGeom prst="roundRect">
            <a:avLst>
              <a:gd name="adj" fmla="val 50000"/>
            </a:avLst>
          </a:prstGeom>
          <a:solidFill>
            <a:srgbClr val="14213D"/>
          </a:solidFill>
          <a:ln>
            <a:noFill/>
          </a:ln>
        </p:spPr>
        <p:txBody>
          <a:bodyPr anchor="ctr" rtlCol="false" tIns="0" lIns="0" bIns="0" rIns="0"/>
          <a:lstStyle/>
          <a:p>
            <a:pPr algn="ctr"/>
            <a:r>
              <a:rPr lang="vi-VN" sz="1800" b="true">
                <a:solidFill>
                  <a:srgbClr val="FFFFFF"/>
                </a:solidFill>
                <a:latin typeface="Times New Roman"/>
                <a:ea typeface="Times New Roman"/>
                <a:cs typeface="Times New Roman"/>
                <a:sym typeface="Times New Roman"/>
              </a:rPr>
              <a:t>Cả nhóm</a:t>
            </a: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9039" name="Header band"/>
          <p:cNvSpPr/>
          <p:nvPr/>
        </p:nvSpPr>
        <p:spPr>
          <a:xfrm>
            <a:off x="0" y="0"/>
            <a:ext cx="18288000" cy="2103120"/>
          </a:xfrm>
          <a:prstGeom prst="rect">
            <a:avLst/>
          </a:prstGeom>
          <a:solidFill>
            <a:srgbClr val="14213D"/>
          </a:solidFill>
          <a:ln>
            <a:noFill/>
          </a:ln>
        </p:spPr>
      </p:sp>
      <p:sp>
        <p:nvSpPr>
          <p:cNvPr id="9040" name="Header rule"/>
          <p:cNvSpPr/>
          <p:nvPr/>
        </p:nvSpPr>
        <p:spPr>
          <a:xfrm>
            <a:off x="0" y="2103120"/>
            <a:ext cx="18288000" cy="64008"/>
          </a:xfrm>
          <a:prstGeom prst="rect">
            <a:avLst/>
          </a:prstGeom>
          <a:solidFill>
            <a:srgbClr val="00897B"/>
          </a:solidFill>
          <a:ln>
            <a:noFill/>
          </a:ln>
        </p:spPr>
      </p:sp>
      <p:grpSp>
        <p:nvGrpSpPr>
          <p:cNvPr name="Group 2" id="2"/>
          <p:cNvGrpSpPr/>
          <p:nvPr/>
        </p:nvGrpSpPr>
        <p:grpSpPr>
          <a:xfrm rot="0">
            <a:off x="914400" y="9509760"/>
            <a:ext cx="12801600" cy="548640"/>
            <a:chOff x="0" y="0"/>
            <a:chExt cx="17068800" cy="731520"/>
          </a:xfrm>
        </p:grpSpPr>
        <p:sp>
          <p:nvSpPr>
            <p:cNvPr name="Freeform 3" id="3"/>
            <p:cNvSpPr/>
            <p:nvPr/>
          </p:nvSpPr>
          <p:spPr>
            <a:xfrm flipH="false" flipV="false" rot="0">
              <a:off x="0" y="0"/>
              <a:ext cx="17068800" cy="731520"/>
            </a:xfrm>
            <a:custGeom>
              <a:avLst/>
              <a:gdLst/>
              <a:ahLst/>
              <a:cxnLst/>
              <a:rect r="r" b="b" t="t" l="l"/>
              <a:pathLst>
                <a:path h="731520" w="17068800">
                  <a:moveTo>
                    <a:pt x="0" y="0"/>
                  </a:moveTo>
                  <a:lnTo>
                    <a:pt x="17068800" y="0"/>
                  </a:lnTo>
                  <a:lnTo>
                    <a:pt x="17068800" y="731520"/>
                  </a:lnTo>
                  <a:lnTo>
                    <a:pt x="0" y="731520"/>
                  </a:lnTo>
                  <a:close/>
                </a:path>
              </a:pathLst>
            </a:custGeom>
            <a:blipFill>
              <a:blip r:embed="rId3">
                <a:alphaModFix amt="0"/>
              </a:blip>
              <a:stretch>
                <a:fillRect l="0" t="-404650" r="0" b="-404650"/>
              </a:stretch>
            </a:blipFill>
          </p:spPr>
        </p:sp>
        <p:sp>
          <p:nvSpPr>
            <p:cNvPr name="TextBox 4" id="4"/>
            <p:cNvSpPr txBox="true"/>
            <p:nvPr/>
          </p:nvSpPr>
          <p:spPr>
            <a:xfrm>
              <a:off x="0" y="-38100"/>
              <a:ext cx="17068800" cy="769620"/>
            </a:xfrm>
            <a:prstGeom prst="rect">
              <a:avLst/>
            </a:prstGeom>
          </p:spPr>
          <p:txBody>
            <a:bodyPr anchor="ctr" rtlCol="false" tIns="0" lIns="0" bIns="0" rIns="0"/>
            <a:lstStyle/>
            <a:p>
              <a:pPr algn="l">
                <a:lnSpc>
                  <a:spcPts val="2400"/>
                </a:lnSpc>
              </a:pPr>
              <a:r>
                <a:rPr lang="en-US" sz="2000">
                  <a:solidFill>
                    <a:srgbClr val="5B6B82"/>
                  </a:solidFill>
                  <a:latin typeface="Times New Roman"/>
                  <a:ea typeface="Times New Roman"/>
                  <a:cs typeface="Times New Roman"/>
                  <a:sym typeface="Times New Roman"/>
                </a:rPr>
                <a:t>T47 · Kỹ thuật mạng cho game thời gian thực · Lập trình mạng</a:t>
              </a:r>
            </a:p>
          </p:txBody>
        </p:sp>
      </p:grpSp>
      <p:sp>
        <p:nvSpPr>
          <p:cNvPr name="TextBox 5" id="5"/>
          <p:cNvSpPr txBox="true"/>
          <p:nvPr/>
        </p:nvSpPr>
        <p:spPr>
          <a:xfrm rot="0">
            <a:off x="914400" y="384048"/>
            <a:ext cx="13898880" cy="559689"/>
          </a:xfrm>
          <a:prstGeom prst="rect">
            <a:avLst/>
          </a:prstGeom>
        </p:spPr>
        <p:txBody>
          <a:bodyPr anchor="t" rtlCol="false" tIns="0" lIns="0" bIns="0" rIns="0">
            <a:spAutoFit/>
          </a:bodyPr>
          <a:lstStyle/>
          <a:p>
            <a:pPr algn="l">
              <a:lnSpc>
                <a:spcPts val="2639"/>
              </a:lnSpc>
            </a:pPr>
            <a:r>
              <a:rPr lang="en-US" b="true" sz="2199" spc="300">
                <a:solidFill>
                  <a:srgbClr val="BFE8E3"/>
                </a:solidFill>
                <a:latin typeface="Times New Roman"/>
                <a:ea typeface="Times New Roman"/>
                <a:cs typeface="Times New Roman"/>
                <a:sym typeface="Times New Roman"/>
              </a:rPr>
              <a:t>BÀI TOÁN</a:t>
            </a:r>
          </a:p>
        </p:txBody>
      </p:sp>
      <p:grpSp>
        <p:nvGrpSpPr>
          <p:cNvPr name="Group 6" id="6"/>
          <p:cNvGrpSpPr/>
          <p:nvPr/>
        </p:nvGrpSpPr>
        <p:grpSpPr>
          <a:xfrm rot="0">
            <a:off x="914400" y="768096"/>
            <a:ext cx="14081760" cy="1097280"/>
            <a:chOff x="0" y="0"/>
            <a:chExt cx="18775680" cy="1463040"/>
          </a:xfrm>
        </p:grpSpPr>
        <p:sp>
          <p:nvSpPr>
            <p:cNvPr name="Freeform 7" id="7"/>
            <p:cNvSpPr/>
            <p:nvPr/>
          </p:nvSpPr>
          <p:spPr>
            <a:xfrm flipH="false" flipV="false" rot="0">
              <a:off x="0" y="0"/>
              <a:ext cx="18775680" cy="1463040"/>
            </a:xfrm>
            <a:custGeom>
              <a:avLst/>
              <a:gdLst/>
              <a:ahLst/>
              <a:cxnLst/>
              <a:rect r="r" b="b" t="t" l="l"/>
              <a:pathLst>
                <a:path h="1463040" w="18775680">
                  <a:moveTo>
                    <a:pt x="0" y="0"/>
                  </a:moveTo>
                  <a:lnTo>
                    <a:pt x="18775680" y="0"/>
                  </a:lnTo>
                  <a:lnTo>
                    <a:pt x="18775680" y="1463040"/>
                  </a:lnTo>
                  <a:lnTo>
                    <a:pt x="0" y="1463040"/>
                  </a:lnTo>
                  <a:close/>
                </a:path>
              </a:pathLst>
            </a:custGeom>
            <a:blipFill>
              <a:blip r:embed="rId3">
                <a:alphaModFix amt="0"/>
              </a:blip>
              <a:stretch>
                <a:fillRect l="0" t="-200057" r="0" b="-200057"/>
              </a:stretch>
            </a:blipFill>
          </p:spPr>
        </p:sp>
        <p:sp>
          <p:nvSpPr>
            <p:cNvPr name="TextBox 8" id="8"/>
            <p:cNvSpPr txBox="true"/>
            <p:nvPr/>
          </p:nvSpPr>
          <p:spPr>
            <a:xfrm>
              <a:off x="0" y="-9525"/>
              <a:ext cx="18775680" cy="1472565"/>
            </a:xfrm>
            <a:prstGeom prst="rect">
              <a:avLst/>
            </a:prstGeom>
          </p:spPr>
          <p:txBody>
            <a:bodyPr anchor="ctr" rtlCol="false" tIns="0" lIns="0" bIns="0" rIns="0"/>
            <a:lstStyle/>
            <a:p>
              <a:pPr algn="l">
                <a:lnSpc>
                  <a:spcPts val="6900"/>
                </a:lnSpc>
              </a:pPr>
              <a:r>
                <a:rPr lang="en-US" sz="6000" b="true">
                  <a:solidFill>
                    <a:srgbClr val="FFFFFF"/>
                  </a:solidFill>
                  <a:latin typeface="Times New Roman"/>
                  <a:ea typeface="Times New Roman"/>
                  <a:cs typeface="Times New Roman"/>
                  <a:sym typeface="Times New Roman"/>
                </a:rPr>
                <a:t>Chơi game thời gian thực qua mạng</a:t>
              </a:r>
            </a:p>
          </p:txBody>
        </p:sp>
      </p:grpSp>
      <p:grpSp>
        <p:nvGrpSpPr>
          <p:cNvPr name="Group 9" id="9"/>
          <p:cNvGrpSpPr/>
          <p:nvPr/>
        </p:nvGrpSpPr>
        <p:grpSpPr>
          <a:xfrm rot="0">
            <a:off x="15257783" y="682247"/>
            <a:ext cx="2128523" cy="647195"/>
            <a:chOff x="0" y="0"/>
            <a:chExt cx="2838031" cy="862927"/>
          </a:xfrm>
        </p:grpSpPr>
        <p:sp>
          <p:nvSpPr>
            <p:cNvPr name="Freeform 10" id="10"/>
            <p:cNvSpPr/>
            <p:nvPr/>
          </p:nvSpPr>
          <p:spPr>
            <a:xfrm flipH="false" flipV="false" rot="0">
              <a:off x="0" y="0"/>
              <a:ext cx="2837942" cy="862838"/>
            </a:xfrm>
            <a:custGeom>
              <a:avLst/>
              <a:gdLst/>
              <a:ahLst/>
              <a:cxnLst/>
              <a:rect r="r" b="b" t="t" l="l"/>
              <a:pathLst>
                <a:path h="862838" w="2837942">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name="Group 11" id="11"/>
          <p:cNvGrpSpPr/>
          <p:nvPr/>
        </p:nvGrpSpPr>
        <p:grpSpPr>
          <a:xfrm rot="0">
            <a:off x="15270480" y="694944"/>
            <a:ext cx="2103120" cy="621792"/>
            <a:chOff x="0" y="0"/>
            <a:chExt cx="2804160" cy="829056"/>
          </a:xfrm>
        </p:grpSpPr>
        <p:sp>
          <p:nvSpPr>
            <p:cNvPr name="Freeform 12" id="12"/>
            <p:cNvSpPr/>
            <p:nvPr/>
          </p:nvSpPr>
          <p:spPr>
            <a:xfrm flipH="false" flipV="false" rot="0">
              <a:off x="0" y="0"/>
              <a:ext cx="2804160" cy="829056"/>
            </a:xfrm>
            <a:custGeom>
              <a:avLst/>
              <a:gdLst/>
              <a:ahLst/>
              <a:cxnLst/>
              <a:rect r="r" b="b" t="t" l="l"/>
              <a:pathLst>
                <a:path h="829056" w="2804160">
                  <a:moveTo>
                    <a:pt x="0" y="0"/>
                  </a:moveTo>
                  <a:lnTo>
                    <a:pt x="2804160" y="0"/>
                  </a:lnTo>
                  <a:lnTo>
                    <a:pt x="2804160" y="829056"/>
                  </a:lnTo>
                  <a:lnTo>
                    <a:pt x="0" y="829056"/>
                  </a:lnTo>
                  <a:close/>
                </a:path>
              </a:pathLst>
            </a:custGeom>
            <a:blipFill>
              <a:blip r:embed="rId3">
                <a:alphaModFix amt="0"/>
              </a:blip>
              <a:stretch>
                <a:fillRect l="0" t="-15905" r="0" b="-15905"/>
              </a:stretch>
            </a:blipFill>
          </p:spPr>
        </p:sp>
        <p:sp>
          <p:nvSpPr>
            <p:cNvPr name="TextBox 13" id="13"/>
            <p:cNvSpPr txBox="true"/>
            <p:nvPr/>
          </p:nvSpPr>
          <p:spPr>
            <a:xfrm>
              <a:off x="0" y="-47625"/>
              <a:ext cx="2804160" cy="876681"/>
            </a:xfrm>
            <a:prstGeom prst="rect">
              <a:avLst/>
            </a:prstGeom>
          </p:spPr>
          <p:txBody>
            <a:bodyPr anchor="ctr" rtlCol="false" tIns="0" lIns="0" bIns="0" rIns="0"/>
            <a:lstStyle/>
            <a:p>
              <a:pPr algn="ctr">
                <a:lnSpc>
                  <a:spcPts val="2639"/>
                </a:lnSpc>
              </a:pPr>
              <a:r>
                <a:rPr lang="en-US" sz="2199" b="true">
                  <a:solidFill>
                    <a:srgbClr val="FFFFFF"/>
                  </a:solidFill>
                  <a:latin typeface="Times New Roman"/>
                  <a:ea typeface="Times New Roman"/>
                  <a:cs typeface="Times New Roman"/>
                  <a:sym typeface="Times New Roman"/>
                </a:rPr>
                <a:t>#1</a:t>
              </a:r>
            </a:p>
          </p:txBody>
        </p:sp>
      </p:grpSp>
      <p:grpSp>
        <p:nvGrpSpPr>
          <p:cNvPr name="Group 14" id="14"/>
          <p:cNvGrpSpPr/>
          <p:nvPr/>
        </p:nvGrpSpPr>
        <p:grpSpPr>
          <a:xfrm rot="0">
            <a:off x="901703" y="2547623"/>
            <a:ext cx="6517643" cy="3225803"/>
            <a:chOff x="0" y="0"/>
            <a:chExt cx="8690191" cy="4301071"/>
          </a:xfrm>
        </p:grpSpPr>
        <p:sp>
          <p:nvSpPr>
            <p:cNvPr name="Freeform 15" id="15"/>
            <p:cNvSpPr/>
            <p:nvPr/>
          </p:nvSpPr>
          <p:spPr>
            <a:xfrm flipH="false" flipV="false" rot="0">
              <a:off x="0" y="0"/>
              <a:ext cx="8690228" cy="4301109"/>
            </a:xfrm>
            <a:custGeom>
              <a:avLst/>
              <a:gdLst/>
              <a:ahLst/>
              <a:cxnLst/>
              <a:rect r="r" b="b" t="t" l="l"/>
              <a:pathLst>
                <a:path h="4301109" w="8690228">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name="Group 16" id="16"/>
          <p:cNvGrpSpPr/>
          <p:nvPr/>
        </p:nvGrpSpPr>
        <p:grpSpPr>
          <a:xfrm rot="0">
            <a:off x="1463040" y="2926080"/>
            <a:ext cx="5394960" cy="822960"/>
            <a:chOff x="0" y="0"/>
            <a:chExt cx="7193280" cy="1097280"/>
          </a:xfrm>
        </p:grpSpPr>
        <p:sp>
          <p:nvSpPr>
            <p:cNvPr name="Freeform 17" id="17"/>
            <p:cNvSpPr/>
            <p:nvPr/>
          </p:nvSpPr>
          <p:spPr>
            <a:xfrm flipH="false" flipV="false" rot="0">
              <a:off x="0" y="0"/>
              <a:ext cx="7193280" cy="1097280"/>
            </a:xfrm>
            <a:custGeom>
              <a:avLst/>
              <a:gdLst/>
              <a:ahLst/>
              <a:cxnLst/>
              <a:rect r="r" b="b" t="t" l="l"/>
              <a:pathLst>
                <a:path h="1097280" w="7193280">
                  <a:moveTo>
                    <a:pt x="0" y="0"/>
                  </a:moveTo>
                  <a:lnTo>
                    <a:pt x="7193280" y="0"/>
                  </a:lnTo>
                  <a:lnTo>
                    <a:pt x="7193280" y="1097280"/>
                  </a:lnTo>
                  <a:lnTo>
                    <a:pt x="0" y="1097280"/>
                  </a:lnTo>
                  <a:close/>
                </a:path>
              </a:pathLst>
            </a:custGeom>
            <a:blipFill>
              <a:blip r:embed="rId3">
                <a:alphaModFix amt="0"/>
              </a:blip>
              <a:stretch>
                <a:fillRect l="0" t="-77735" r="0" b="-77735"/>
              </a:stretch>
            </a:blipFill>
          </p:spPr>
        </p:sp>
        <p:sp>
          <p:nvSpPr>
            <p:cNvPr name="TextBox 18" id="18"/>
            <p:cNvSpPr txBox="true"/>
            <p:nvPr/>
          </p:nvSpPr>
          <p:spPr>
            <a:xfrm>
              <a:off x="0" y="-85725"/>
              <a:ext cx="7193280" cy="1183005"/>
            </a:xfrm>
            <a:prstGeom prst="rect">
              <a:avLst/>
            </a:prstGeom>
          </p:spPr>
          <p:txBody>
            <a:bodyPr anchor="ctr" rtlCol="false" tIns="0" lIns="0" bIns="0" rIns="0"/>
            <a:lstStyle/>
            <a:p>
              <a:pPr algn="l">
                <a:lnSpc>
                  <a:spcPts val="4799"/>
                </a:lnSpc>
              </a:pPr>
              <a:r>
                <a:rPr lang="en-US" sz="3999" b="true">
                  <a:solidFill>
                    <a:srgbClr val="00897B"/>
                  </a:solidFill>
                  <a:latin typeface="Times New Roman"/>
                  <a:ea typeface="Times New Roman"/>
                  <a:cs typeface="Times New Roman"/>
                  <a:sym typeface="Times New Roman"/>
                </a:rPr>
                <a:t>Trên một máy</a:t>
              </a:r>
            </a:p>
          </p:txBody>
        </p:sp>
      </p:grpSp>
      <p:sp>
        <p:nvSpPr>
          <p:cNvPr name="TextBox 19" id="19"/>
          <p:cNvSpPr txBox="true"/>
          <p:nvPr/>
        </p:nvSpPr>
        <p:spPr>
          <a:xfrm rot="0">
            <a:off x="1463040" y="3773805"/>
            <a:ext cx="5394960" cy="2261235"/>
          </a:xfrm>
          <a:prstGeom prst="rect">
            <a:avLst/>
          </a:prstGeom>
        </p:spPr>
        <p:txBody>
          <a:bodyPr anchor="t" rtlCol="false" tIns="0" lIns="0" bIns="0" rIns="0">
            <a:spAutoFit/>
          </a:bodyPr>
          <a:lstStyle/>
          <a:p>
            <a:pPr algn="l">
              <a:lnSpc>
                <a:spcPts val="3359"/>
              </a:lnSpc>
            </a:pPr>
            <a:r>
              <a:rPr lang="en-US" sz="2799">
                <a:solidFill>
                  <a:srgbClr val="14213D"/>
                </a:solidFill>
                <a:latin typeface="Times New Roman"/>
                <a:ea typeface="Times New Roman"/>
                <a:cs typeface="Times New Roman"/>
                <a:sym typeface="Times New Roman"/>
              </a:rPr>
              <a:t>Bấm phím là thấy ngay; mọi người nhìn chung một màn hình, chung một trạng thái</a:t>
            </a:r>
          </a:p>
        </p:txBody>
      </p:sp>
      <p:grpSp>
        <p:nvGrpSpPr>
          <p:cNvPr name="Group 20" id="20"/>
          <p:cNvGrpSpPr/>
          <p:nvPr/>
        </p:nvGrpSpPr>
        <p:grpSpPr>
          <a:xfrm rot="0">
            <a:off x="10868663" y="2547623"/>
            <a:ext cx="6517643" cy="3225803"/>
            <a:chOff x="0" y="0"/>
            <a:chExt cx="8690191" cy="4301071"/>
          </a:xfrm>
        </p:grpSpPr>
        <p:sp>
          <p:nvSpPr>
            <p:cNvPr name="Freeform 21" id="21"/>
            <p:cNvSpPr/>
            <p:nvPr/>
          </p:nvSpPr>
          <p:spPr>
            <a:xfrm flipH="false" flipV="false" rot="0">
              <a:off x="0" y="0"/>
              <a:ext cx="8690228" cy="4301109"/>
            </a:xfrm>
            <a:custGeom>
              <a:avLst/>
              <a:gdLst/>
              <a:ahLst/>
              <a:cxnLst/>
              <a:rect r="r" b="b" t="t" l="l"/>
              <a:pathLst>
                <a:path h="4301109" w="8690228">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name="Group 22" id="22"/>
          <p:cNvGrpSpPr/>
          <p:nvPr/>
        </p:nvGrpSpPr>
        <p:grpSpPr>
          <a:xfrm rot="0">
            <a:off x="11430000" y="2926080"/>
            <a:ext cx="5394960" cy="822960"/>
            <a:chOff x="0" y="0"/>
            <a:chExt cx="7193280" cy="1097280"/>
          </a:xfrm>
        </p:grpSpPr>
        <p:sp>
          <p:nvSpPr>
            <p:cNvPr name="Freeform 23" id="23"/>
            <p:cNvSpPr/>
            <p:nvPr/>
          </p:nvSpPr>
          <p:spPr>
            <a:xfrm flipH="false" flipV="false" rot="0">
              <a:off x="0" y="0"/>
              <a:ext cx="7193280" cy="1097280"/>
            </a:xfrm>
            <a:custGeom>
              <a:avLst/>
              <a:gdLst/>
              <a:ahLst/>
              <a:cxnLst/>
              <a:rect r="r" b="b" t="t" l="l"/>
              <a:pathLst>
                <a:path h="1097280" w="7193280">
                  <a:moveTo>
                    <a:pt x="0" y="0"/>
                  </a:moveTo>
                  <a:lnTo>
                    <a:pt x="7193280" y="0"/>
                  </a:lnTo>
                  <a:lnTo>
                    <a:pt x="7193280" y="1097280"/>
                  </a:lnTo>
                  <a:lnTo>
                    <a:pt x="0" y="1097280"/>
                  </a:lnTo>
                  <a:close/>
                </a:path>
              </a:pathLst>
            </a:custGeom>
            <a:blipFill>
              <a:blip r:embed="rId3">
                <a:alphaModFix amt="0"/>
              </a:blip>
              <a:stretch>
                <a:fillRect l="0" t="-77735" r="0" b="-77735"/>
              </a:stretch>
            </a:blipFill>
          </p:spPr>
        </p:sp>
        <p:sp>
          <p:nvSpPr>
            <p:cNvPr name="TextBox 24" id="24"/>
            <p:cNvSpPr txBox="true"/>
            <p:nvPr/>
          </p:nvSpPr>
          <p:spPr>
            <a:xfrm>
              <a:off x="0" y="-85725"/>
              <a:ext cx="7193280" cy="1183005"/>
            </a:xfrm>
            <a:prstGeom prst="rect">
              <a:avLst/>
            </a:prstGeom>
          </p:spPr>
          <p:txBody>
            <a:bodyPr anchor="ctr" rtlCol="false" tIns="0" lIns="0" bIns="0" rIns="0"/>
            <a:lstStyle/>
            <a:p>
              <a:pPr algn="l">
                <a:lnSpc>
                  <a:spcPts val="4799"/>
                </a:lnSpc>
              </a:pPr>
              <a:r>
                <a:rPr lang="en-US" sz="3999" b="true">
                  <a:solidFill>
                    <a:srgbClr val="00897B"/>
                  </a:solidFill>
                  <a:latin typeface="Times New Roman"/>
                  <a:ea typeface="Times New Roman"/>
                  <a:cs typeface="Times New Roman"/>
                  <a:sym typeface="Times New Roman"/>
                </a:rPr>
                <a:t>Qua mạng</a:t>
              </a:r>
            </a:p>
          </p:txBody>
        </p:sp>
      </p:grpSp>
      <p:sp>
        <p:nvSpPr>
          <p:cNvPr name="TextBox 25" id="25"/>
          <p:cNvSpPr txBox="true"/>
          <p:nvPr/>
        </p:nvSpPr>
        <p:spPr>
          <a:xfrm rot="0">
            <a:off x="11430000" y="3773805"/>
            <a:ext cx="5394960" cy="2261235"/>
          </a:xfrm>
          <a:prstGeom prst="rect">
            <a:avLst/>
          </a:prstGeom>
        </p:spPr>
        <p:txBody>
          <a:bodyPr anchor="t" rtlCol="false" tIns="0" lIns="0" bIns="0" rIns="0">
            <a:spAutoFit/>
          </a:bodyPr>
          <a:lstStyle/>
          <a:p>
            <a:pPr algn="l">
              <a:lnSpc>
                <a:spcPts val="3359"/>
              </a:lnSpc>
            </a:pPr>
            <a:r>
              <a:rPr lang="en-US" sz="2799">
                <a:solidFill>
                  <a:srgbClr val="14213D"/>
                </a:solidFill>
                <a:latin typeface="Times New Roman"/>
                <a:ea typeface="Times New Roman"/>
                <a:cs typeface="Times New Roman"/>
                <a:sym typeface="Times New Roman"/>
              </a:rPr>
              <a:t>Mỗi thao tác mất 100–200 ms mới tới máy khác; gói tin có thể đến trễ, sai thứ tự hoặc mất</a:t>
            </a:r>
          </a:p>
        </p:txBody>
      </p:sp>
      <p:grpSp>
        <p:nvGrpSpPr>
          <p:cNvPr name="Group 26" id="26"/>
          <p:cNvGrpSpPr/>
          <p:nvPr/>
        </p:nvGrpSpPr>
        <p:grpSpPr>
          <a:xfrm rot="0">
            <a:off x="7668263" y="3553463"/>
            <a:ext cx="2951483" cy="1214123"/>
            <a:chOff x="0" y="0"/>
            <a:chExt cx="3935311" cy="1618831"/>
          </a:xfrm>
        </p:grpSpPr>
        <p:sp>
          <p:nvSpPr>
            <p:cNvPr name="Freeform 27" id="27"/>
            <p:cNvSpPr/>
            <p:nvPr/>
          </p:nvSpPr>
          <p:spPr>
            <a:xfrm flipH="false" flipV="false" rot="0">
              <a:off x="0" y="0"/>
              <a:ext cx="3935222" cy="1618742"/>
            </a:xfrm>
            <a:custGeom>
              <a:avLst/>
              <a:gdLst/>
              <a:ahLst/>
              <a:cxnLst/>
              <a:rect r="r" b="b" t="t" l="l"/>
              <a:pathLst>
                <a:path h="1618742" w="3935222">
                  <a:moveTo>
                    <a:pt x="0" y="796925"/>
                  </a:moveTo>
                  <a:cubicBezTo>
                    <a:pt x="0" y="356870"/>
                    <a:pt x="356870" y="0"/>
                    <a:pt x="796925" y="0"/>
                  </a:cubicBezTo>
                  <a:lnTo>
                    <a:pt x="3138297" y="0"/>
                  </a:lnTo>
                  <a:cubicBezTo>
                    <a:pt x="3578479" y="0"/>
                    <a:pt x="3935222" y="356870"/>
                    <a:pt x="3935222" y="796925"/>
                  </a:cubicBezTo>
                  <a:lnTo>
                    <a:pt x="3935222" y="821817"/>
                  </a:lnTo>
                  <a:cubicBezTo>
                    <a:pt x="3935222" y="1261999"/>
                    <a:pt x="3578352" y="1618742"/>
                    <a:pt x="3138297" y="1618742"/>
                  </a:cubicBezTo>
                  <a:lnTo>
                    <a:pt x="796925" y="1618742"/>
                  </a:lnTo>
                  <a:cubicBezTo>
                    <a:pt x="356870" y="1618869"/>
                    <a:pt x="0" y="1261999"/>
                    <a:pt x="0" y="821817"/>
                  </a:cubicBezTo>
                  <a:close/>
                </a:path>
              </a:pathLst>
            </a:custGeom>
            <a:solidFill>
              <a:srgbClr val="0B1626"/>
            </a:solidFill>
            <a:ln w="25400" cap="sq">
              <a:solidFill>
                <a:srgbClr val="0B1626"/>
              </a:solidFill>
              <a:prstDash val="solid"/>
              <a:miter/>
            </a:ln>
          </p:spPr>
        </p:sp>
      </p:grpSp>
      <p:grpSp>
        <p:nvGrpSpPr>
          <p:cNvPr name="Group 28" id="28"/>
          <p:cNvGrpSpPr/>
          <p:nvPr/>
        </p:nvGrpSpPr>
        <p:grpSpPr>
          <a:xfrm rot="0">
            <a:off x="7680960" y="3566160"/>
            <a:ext cx="2926080" cy="1188720"/>
            <a:chOff x="0" y="0"/>
            <a:chExt cx="3901440" cy="1584960"/>
          </a:xfrm>
        </p:grpSpPr>
        <p:sp>
          <p:nvSpPr>
            <p:cNvPr name="Freeform 29" id="29"/>
            <p:cNvSpPr/>
            <p:nvPr/>
          </p:nvSpPr>
          <p:spPr>
            <a:xfrm flipH="false" flipV="false" rot="0">
              <a:off x="0" y="0"/>
              <a:ext cx="3901440" cy="1584960"/>
            </a:xfrm>
            <a:custGeom>
              <a:avLst/>
              <a:gdLst/>
              <a:ahLst/>
              <a:cxnLst/>
              <a:rect r="r" b="b" t="t" l="l"/>
              <a:pathLst>
                <a:path h="1584960" w="3901440">
                  <a:moveTo>
                    <a:pt x="0" y="0"/>
                  </a:moveTo>
                  <a:lnTo>
                    <a:pt x="3901440" y="0"/>
                  </a:lnTo>
                  <a:lnTo>
                    <a:pt x="3901440" y="1584960"/>
                  </a:lnTo>
                  <a:lnTo>
                    <a:pt x="0" y="1584960"/>
                  </a:lnTo>
                  <a:close/>
                </a:path>
              </a:pathLst>
            </a:custGeom>
            <a:blipFill>
              <a:blip r:embed="rId3">
                <a:alphaModFix amt="0"/>
              </a:blip>
              <a:stretch>
                <a:fillRect l="-2123" t="0" r="-2123" b="0"/>
              </a:stretch>
            </a:blipFill>
          </p:spPr>
        </p:sp>
        <p:sp>
          <p:nvSpPr>
            <p:cNvPr name="TextBox 30" id="30"/>
            <p:cNvSpPr txBox="true"/>
            <p:nvPr/>
          </p:nvSpPr>
          <p:spPr>
            <a:xfrm>
              <a:off x="0" y="-38100"/>
              <a:ext cx="3901440" cy="1623060"/>
            </a:xfrm>
            <a:prstGeom prst="rect">
              <a:avLst/>
            </a:prstGeom>
          </p:spPr>
          <p:txBody>
            <a:bodyPr anchor="ctr" rtlCol="false" tIns="0" lIns="0" bIns="0" rIns="0"/>
            <a:lstStyle/>
            <a:p>
              <a:pPr algn="ctr">
                <a:lnSpc>
                  <a:spcPts val="2879"/>
                </a:lnSpc>
              </a:pPr>
              <a:r>
                <a:rPr lang="en-US" sz="2400" b="true">
                  <a:solidFill>
                    <a:srgbClr val="FFFFFF"/>
                  </a:solidFill>
                  <a:latin typeface="Times New Roman"/>
                  <a:ea typeface="Times New Roman"/>
                  <a:cs typeface="Times New Roman"/>
                  <a:sym typeface="Times New Roman"/>
                </a:rPr>
                <a:t>Mạng</a:t>
              </a:r>
            </a:p>
            <a:p>
              <a:pPr algn="ctr">
                <a:lnSpc>
                  <a:spcPts val="2879"/>
                </a:lnSpc>
              </a:pPr>
              <a:r>
                <a:rPr lang="en-US" sz="2400">
                  <a:solidFill>
                    <a:srgbClr val="FFFFFF"/>
                  </a:solidFill>
                  <a:latin typeface="Times New Roman"/>
                  <a:ea typeface="Times New Roman"/>
                  <a:cs typeface="Times New Roman"/>
                  <a:sym typeface="Times New Roman"/>
                </a:rPr>
                <a:t>100–200 ms</a:t>
              </a:r>
            </a:p>
          </p:txBody>
        </p:sp>
      </p:grpSp>
      <p:grpSp>
        <p:nvGrpSpPr>
          <p:cNvPr name="Group 31" id="31"/>
          <p:cNvGrpSpPr/>
          <p:nvPr/>
        </p:nvGrpSpPr>
        <p:grpSpPr>
          <a:xfrm rot="0">
            <a:off x="901703" y="6388103"/>
            <a:ext cx="16484603" cy="1762763"/>
            <a:chOff x="0" y="0"/>
            <a:chExt cx="21979471" cy="2350351"/>
          </a:xfrm>
        </p:grpSpPr>
        <p:sp>
          <p:nvSpPr>
            <p:cNvPr name="Freeform 32" id="32"/>
            <p:cNvSpPr/>
            <p:nvPr/>
          </p:nvSpPr>
          <p:spPr>
            <a:xfrm flipH="false" flipV="false" rot="0">
              <a:off x="0" y="0"/>
              <a:ext cx="21979508" cy="2350389"/>
            </a:xfrm>
            <a:custGeom>
              <a:avLst/>
              <a:gdLst/>
              <a:ahLst/>
              <a:cxnLst/>
              <a:rect r="r" b="b" t="t" l="l"/>
              <a:pathLst>
                <a:path h="2350389" w="21979508">
                  <a:moveTo>
                    <a:pt x="0" y="247396"/>
                  </a:moveTo>
                  <a:cubicBezTo>
                    <a:pt x="0" y="110744"/>
                    <a:pt x="110744" y="0"/>
                    <a:pt x="247396" y="0"/>
                  </a:cubicBezTo>
                  <a:lnTo>
                    <a:pt x="21732112" y="0"/>
                  </a:lnTo>
                  <a:cubicBezTo>
                    <a:pt x="21868764" y="0"/>
                    <a:pt x="21979508" y="110744"/>
                    <a:pt x="21979508" y="247396"/>
                  </a:cubicBezTo>
                  <a:lnTo>
                    <a:pt x="21979508" y="2102993"/>
                  </a:lnTo>
                  <a:cubicBezTo>
                    <a:pt x="21979508" y="2239645"/>
                    <a:pt x="21868764" y="2350389"/>
                    <a:pt x="21732112" y="2350389"/>
                  </a:cubicBezTo>
                  <a:lnTo>
                    <a:pt x="247396" y="2350389"/>
                  </a:lnTo>
                  <a:cubicBezTo>
                    <a:pt x="110744" y="2350389"/>
                    <a:pt x="0" y="2239645"/>
                    <a:pt x="0" y="2102993"/>
                  </a:cubicBezTo>
                  <a:close/>
                </a:path>
              </a:pathLst>
            </a:custGeom>
            <a:solidFill>
              <a:srgbClr val="14213D"/>
            </a:solidFill>
            <a:ln w="25400" cap="sq">
              <a:solidFill>
                <a:srgbClr val="14213D"/>
              </a:solidFill>
              <a:prstDash val="solid"/>
              <a:miter/>
            </a:ln>
          </p:spPr>
        </p:sp>
      </p:grpSp>
      <p:grpSp>
        <p:nvGrpSpPr>
          <p:cNvPr name="Group 33" id="33"/>
          <p:cNvGrpSpPr/>
          <p:nvPr/>
        </p:nvGrpSpPr>
        <p:grpSpPr>
          <a:xfrm rot="0">
            <a:off x="1463040" y="6400800"/>
            <a:ext cx="15361920" cy="1737360"/>
            <a:chOff x="0" y="0"/>
            <a:chExt cx="20482560" cy="2316480"/>
          </a:xfrm>
        </p:grpSpPr>
        <p:sp>
          <p:nvSpPr>
            <p:cNvPr name="Freeform 34" id="34"/>
            <p:cNvSpPr/>
            <p:nvPr/>
          </p:nvSpPr>
          <p:spPr>
            <a:xfrm flipH="false" flipV="false" rot="0">
              <a:off x="0" y="0"/>
              <a:ext cx="20482561" cy="2316480"/>
            </a:xfrm>
            <a:custGeom>
              <a:avLst/>
              <a:gdLst/>
              <a:ahLst/>
              <a:cxnLst/>
              <a:rect r="r" b="b" t="t" l="l"/>
              <a:pathLst>
                <a:path h="2316480" w="20482561">
                  <a:moveTo>
                    <a:pt x="0" y="0"/>
                  </a:moveTo>
                  <a:lnTo>
                    <a:pt x="20482561" y="0"/>
                  </a:lnTo>
                  <a:lnTo>
                    <a:pt x="20482561" y="2316480"/>
                  </a:lnTo>
                  <a:lnTo>
                    <a:pt x="0" y="2316480"/>
                  </a:lnTo>
                  <a:close/>
                </a:path>
              </a:pathLst>
            </a:custGeom>
            <a:blipFill>
              <a:blip r:embed="rId3">
                <a:alphaModFix amt="0"/>
              </a:blip>
              <a:stretch>
                <a:fillRect l="0" t="-122288" r="0" b="-122288"/>
              </a:stretch>
            </a:blipFill>
          </p:spPr>
        </p:sp>
        <p:sp>
          <p:nvSpPr>
            <p:cNvPr name="TextBox 35" id="35"/>
            <p:cNvSpPr txBox="true"/>
            <p:nvPr/>
          </p:nvSpPr>
          <p:spPr>
            <a:xfrm>
              <a:off x="0" y="-57150"/>
              <a:ext cx="20482560" cy="2373630"/>
            </a:xfrm>
            <a:prstGeom prst="rect">
              <a:avLst/>
            </a:prstGeom>
          </p:spPr>
          <p:txBody>
            <a:bodyPr anchor="ctr" rtlCol="false" tIns="0" lIns="0" bIns="0" rIns="0"/>
            <a:lstStyle/>
            <a:p>
              <a:pPr algn="l">
                <a:lnSpc>
                  <a:spcPts val="3840"/>
                </a:lnSpc>
              </a:pPr>
              <a:r>
                <a:rPr lang="en-US" sz="3200">
                  <a:solidFill>
                    <a:srgbClr val="FFFFFF"/>
                  </a:solidFill>
                  <a:latin typeface="Times New Roman"/>
                  <a:ea typeface="Times New Roman"/>
                  <a:cs typeface="Times New Roman"/>
                  <a:sym typeface="Times New Roman"/>
                </a:rPr>
                <a:t>Bài toán: làm sao chơi qua mạng mà vẫn có cảm giác </a:t>
              </a:r>
              <a:r>
                <a:rPr lang="en-US" sz="3200" b="true">
                  <a:solidFill>
                    <a:srgbClr val="FFFFFF"/>
                  </a:solidFill>
                  <a:latin typeface="Times New Roman"/>
                  <a:ea typeface="Times New Roman"/>
                  <a:cs typeface="Times New Roman"/>
                  <a:sym typeface="Times New Roman"/>
                </a:rPr>
                <a:t>như chơi trên cùng một máy</a:t>
              </a:r>
              <a:r>
                <a:rPr lang="en-US" sz="3200">
                  <a:solidFill>
                    <a:srgbClr val="FFFFFF"/>
                  </a:solidFill>
                  <a:latin typeface="Times New Roman"/>
                  <a:ea typeface="Times New Roman"/>
                  <a:cs typeface="Times New Roman"/>
                  <a:sym typeface="Times New Roman"/>
                </a:rPr>
                <a:t>?</a:t>
              </a:r>
              <a:r>
                <a:rPr lang="en-US" sz="3200" b="true">
                  <a:solidFill>
                    <a:srgbClr val="FFFFFF"/>
                  </a:solidFill>
                  <a:latin typeface="Times New Roman"/>
                  <a:ea typeface="Times New Roman"/>
                  <a:cs typeface="Times New Roman"/>
                  <a:sym typeface="Times New Roman"/>
                </a:rPr>
                <a:t/>
              </a:r>
            </a:p>
          </p:txBody>
        </p:sp>
      </p:grpSp>
      <p:sp>
        <p:nvSpPr>
          <p:cNvPr name="TextBox 36" id="36"/>
          <p:cNvSpPr txBox="true"/>
          <p:nvPr/>
        </p:nvSpPr>
        <p:spPr>
          <a:xfrm rot="0">
            <a:off x="16550640" y="9517380"/>
            <a:ext cx="731520" cy="495300"/>
          </a:xfrm>
          <a:prstGeom prst="rect">
            <a:avLst/>
          </a:prstGeom>
        </p:spPr>
        <p:txBody>
          <a:bodyPr anchor="t" rtlCol="false" tIns="0" lIns="0" bIns="0" rIns="0">
            <a:spAutoFit/>
          </a:bodyPr>
          <a:lstStyle/>
          <a:p>
            <a:pPr algn="r">
              <a:lnSpc>
                <a:spcPts val="2400"/>
              </a:lnSpc>
            </a:pPr>
            <a:r>
              <a:rPr lang="en-US" sz="2000">
                <a:solidFill>
                  <a:srgbClr val="5B6B82"/>
                </a:solidFill>
                <a:latin typeface="Times New Roman"/>
                <a:ea typeface="Times New Roman"/>
                <a:cs typeface="Times New Roman"/>
                <a:sym typeface="Times New Roman"/>
              </a:rPr>
              <a:t>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DAHY33mIU5o</dc:identifier>
  <dcterms:modified xsi:type="dcterms:W3CDTF">2011-08-01T06:04:30Z</dcterms:modified>
  <cp:revision>1</cp:revision>
  <dc:title>T47_ThuyetTrinh_Khung.pptx</dc:title>
</cp:coreProperties>
</file>