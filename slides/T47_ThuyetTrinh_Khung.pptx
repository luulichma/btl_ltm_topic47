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e9d2694b-6a61-4d6f-4bcf-757c1e3cfb24}">
          <p14:sldIdLst>
            <p14:sldId id="256"/>
            <p14:sldId id="257"/>
            <p14:sldId id="258"/>
            <p14:sldId id="259"/>
          </p14:sldIdLst>
        </p14:section>
        <p14:section name="Năm vấn đề con" id="{6fd7090e-8565-b65f-8a9a-698f68725261}">
          <p14:sldIdLst>
            <p14:sldId id="260"/>
            <p14:sldId id="261"/>
            <p14:sldId id="262"/>
            <p14:sldId id="263"/>
            <p14:sldId id="264"/>
            <p14:sldId id="265"/>
            <p14:sldId id="266"/>
          </p14:sldIdLst>
        </p14:section>
        <p14:section name="Tổng kết &amp; áp dụng" id="{427b3ad3-2b9c-74b4-53e0-e4a81932db72}">
          <p14:sldIdLst>
            <p14:sldId id="267"/>
            <p14:sldId id="268"/>
          </p14:sldIdLst>
        </p14:section>
        <p14:section name="Demo &amp; hỏi đáp" id="{7e493adb-1611-980d-4b0d-492565f2300b}">
          <p14:sldIdLst>
            <p14:sldId id="269"/>
            <p14:sldId id="270"/>
          </p14:sldIdLst>
        </p14:section>
        <p14:section name="Dự phòng Q&amp;A" id="{501829ad-c168-2815-c3a1-a16692e10db0}">
          <p14:sldIdLst>
            <p14:sldId id="271"/>
            <p14:sldId id="272"/>
            <p14:sldId id="273"/>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#1 · Thời gian: 0,25' · Cộng dồn: 0,25'
Chào thầy và các bạn. Nhóm em trình bày đề tài T47 về kỹ thuật mạng cho game nhiều người chơi thời gian thực. Câu hỏi nhóm em muốn trả lời là: làm sao để chơi game qua mạng mà vẫn có cảm giác như chơi trên máy mình, khi mỗi gói tin mất cả trăm mili giây mới tới server.
— Ghi chú tập luyện:
• Vai: #1 server &amp; giao thức (slide 1–6) · #2 client (slide 7–9) · #3 tương tác &amp; demo (slide 10–13, demo).
• Chuyển người nói ở cuối slide 6 (#1 → #2) và cuối slide 9 (#2 → #3).
• Bấm giờ theo cột cộng dồn. Đến slide 9 mà đã quá 9 phút thì nói nhanh slide 10–11, bỏ slide 12.
• Nếu tập thấy quá 20 phút: gộp slide 4 vào slide 3, gộp slide 12 vào slide 13.
• Điền tên thành viên thứ 3 (đang để TBD).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#1 · Thời gian: 0,75' · Cộng dồn: 1'
Game thời gian thực phải thoả hai yêu cầu cùng lúc. Một là độ phản hồi: bấm phím là nhân vật chạy ngay; trễ khoảng 100 mili giây là người chơi đã thấy ì. Hai là tính nhất quán: mọi người phải thấy cùng một thế giới, và không ai được tự ý sửa nó.
Trên một máy thì hai yêu cầu này không mâu thuẫn. Nhưng khi có mạng ở giữa, muốn nhất quán thì phải chờ thông tin đi hết đường, còn muốn phản hồi ngay thì không được chờ. Toàn bộ đề tài là cách dung hoà hai yêu cầu đó.
— Hình gợi ý (có thể thay bố cục thẻ hiện tại): cái cân, một đĩa ghi "Phản hồi tức thì", đĩa kia ghi "Nhất quán", ở giữa là đám mây "Mạng: 100–200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#1 · Thời gian: 1' · Cộng dồn: 2'
Vấn đề gốc nằm ở mạng. Thứ nhất là độ trễ, và nó có giới hạn vật lý: tín hiệu trong cáp quang đi khoảng 200 nghìn km mỗi giây, nên từ Hà Nội sang Singapore đi rồi về tối thiểu cũng 22 mili giây; đo thực tế thường 30 đến 60. Thứ hai, độ trễ không đều: gói gửi đều đặn nhưng đến lúc nhanh lúc chậm, gọi là dao động độ trễ. Thứ ba, gói có thể mất hoặc đến sai thứ tự.
Hai giao thức xử lý chuyện này khác nhau. TCP đảm bảo thứ tự, nên khi mất một gói nó giữ lại mọi gói phía sau để chờ gửi lại; hiện tượng này gọi là nghẽn đầu hàng. UDP thì gói nào mất là mất, các gói sau vẫn đến bình thường.
Kết luận là những hiện tượng này không thể loại bỏ, chỉ có thể che giấu.
— VIỆC CẦN LÀM: thay số liệu mất gói "(cần đo lại)" bằng số đo thật trước buổi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#1 · Thời gian: 0,5' · Cộng dồn: 2,5'
Nhóm em chia vấn đề gốc thành 5 vấn đề con, nối thành chuỗi: giải quyết xong vấn đề trước thì lộ ra vấn đề sau. Với mỗi vấn đề, nhóm em xét vài hướng giải pháp, so sánh, rồi chọn. Hai tiêu chí quan trọng nhất là độ phản hồi và tính nhất quán, đúng hai yêu cầu vừa nói. Ngoài ra còn xét khả năng chịu mạng xấu, độ phức tạp và độ phù hợp với loại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#1 · Thời gian: 1' · Cộng dồn: 3,5'
Vấn đề đầu tiên: khi mỗi máy giữ một bản sao thế giới, ai được quyền quyết định bản nào đúng?
Cách đơn giản nhất là cho client tự quyết rồi server chuyển tiếp. Phản hồi rất tốt, nhưng client chạy trên máy người chơi, nên chỉ cần sửa gói tin là dịch chuyển được, chạy nhanh gấp đôi được, hoặc báo "tôi giao đúng hàng" để được cộng điểm.
Cách thứ hai là đồng bộ theo bước, kiểu game chiến thuật: các máy chỉ gửi lệnh cho nhau rồi cùng mô phỏng. Nhưng cách này phải chờ người chậm nhất, và mô phỏng phải giống nhau đến từng bit.
Nhóm em chọn cách thứ ba: server quyết định. Client chỉ được nói "tôi bấm phím gì", còn kết quả do server tính.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#1 · Thời gian: 1' · Cộng dồn: 4,5'
Server chạy mô phỏng theo nhịp cố định, 30 nhịp mỗi giây. Nhịp cố định giúp mô phỏng lặp lại được và cho client với server một đồng hồ chung là số nhịp. Mỗi nhịp server chỉ xử lý tối đa một lệnh cho mỗi người, nên dù client gửi dồn dập cũng không chạy nhanh hơn được.
Về giao thức, nhóm em dùng cả hai. Dữ liệu chuyển động thì dùng UDP, vì vị trí cũ 200 mili giây thì gửi lại cũng vô ích. Đăng nhập, ghép trận, kết quả phân xử thì dùng TCP, vì bắt buộc phải tới nơi. Trên UDP, nhóm em tự thêm số thứ tự, xác nhận, và mỗi gói lệnh gửi dư vài lệnh trước để bù mất gói.
Nhưng có một cái giá: nhìn dòng thời gian thì thấy, bấm phím xong phải chờ khoảng một RTT mới thấy nhân vật chạy. Phần này bạn [#2] trình bày tiếp.
— CHUYỂN NGƯỜI NÓI: #1 →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#2 · Thời gian: 1,25' · Cộng dồn: 5,75'
Với RTT 200 mili giây, mỗi lần bấm phím phải chờ 200 đến gần 300 mili giây. Gian lận đã bị chặn, nhưng game không chơi được.
Có thể chấp nhận chờ, hoặc che bằng hoạt ảnh lấy đà, nhưng di chuyển bằng WASD cần phản hồi ngay. Nhóm em chọn dự đoán phía client. Hầu như lúc nào server cũng đồng ý với lệnh của mình, nên client cứ tự áp lệnh luôn, không chờ. Điều kiện là client phải tính ra đúng kết quả như server, nên hai bên dùng chung một hàm mô phỏng. Đây là lý do nhóm em dùng C# cho cả Unity lẫn server .NET.
Nhưng nếu chỉ dự đoán thì có vấn đề. Ảnh trạng thái từ server phản ánh quá khứ. Client đang ở x bằng 2, server báo 0,8; ghi đè vào thì nhân vật bị kéo giật lùi. Hiện tượng này gọi là giật ngược.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#2 · Thời gian: 1,25' · Cộng dồn: 7'
Cách sửa là đối chiếu với server. Client giữ lại mọi lệnh đã gửi mà server chưa xác nhận. Server gửi ảnh trạng thái kèm số thứ tự lệnh cuối cùng nó đã xử lý.
Ví dụ: client đã gửi 10 lệnh, mỗi lệnh đi 0,2 đơn vị, đang dự đoán ở x bằng 2. Server báo "x bằng 0,8, đã xử lý tới lệnh 4". Client đặt lại x bằng 0,8, bỏ lệnh 1 đến 4, chạy lại 6 lệnh còn lại, và được đúng 2,0. Người chơi không thấy gì.
Chỉ khi dự đoán thật sự sai, ví dụ server thấy có va chạm mà client không biết, thì vị trí mới thay đổi; lệch nhỏ thì làm mượt trong vài khung hình. Trong demo, các bạn sẽ thấy số lệnh trong bộ đệm luôn xấp xỉ RTT chia độ dài một nhịp.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#2 · Thời gian: 1,5' · Cộng dồn: 8,5'
Dự đoán chỉ dùng được cho chính mình, vì mình không biết đối thủ sắp bấm gì. Thông tin về đối thủ chỉ đến qua ảnh trạng thái, mà ảnh thì thưa, không đều và có thể mất. Vẽ theo ảnh mới nhất thì đối thủ đứng yên rồi nhảy cóc. Ngoại suy theo vận tốc thì sai mỗi khi đối thủ đổi hướng.
Nhóm em chọn nội suy: cố ý vẽ đối thủ lùi lại một khoảng, ví dụ 100 mili giây. Nhờ lùi lại, ta luôn có hai ảnh trạng thái kẹp hai bên thời điểm vẽ, và chỉ cần nội suy đường thẳng giữa chúng. Khoảng lùi phải ít nhất bằng hai chu kỳ gửi ảnh cộng dao động độ trễ, để mất một gói vẫn còn dữ liệu.
Cái giá là ta luôn thấy đối thủ ở quá khứ. Như vậy trên màn hình mỗi người có hai mốc thời gian: mình ở hiện tại, đối thủ ở quá khứ. Khi hai người tranh cùng một thứ thì sao? Bạn [#3] trình bày tiếp.
— CHUYỂN NGƯỜI NÓI: #2 →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#3 · Thời gian: 1,5' · Cộng dồn: 10'
Ví dụ kinh điển là game bắn súng: trên màn hình tôi ngắm trúng đầu, nhưng thứ tôi thấy là đối thủ của 200 mili giây trước. Lệnh bắn tới server thì đối thủ đã đi chỗ khác.
Với vật dùng chung cũng vậy. A ping 40, B ping 200, trên màn hình B chạm vật trước. Nhưng gói của A tới server nhanh hơn, nên nếu xử theo thứ tự gói đến thì A luôn thắng. Để client tự quyết thì quay lại chuyện gian lận.
Giải pháp là bù trễ. Server lưu lịch sử trạng thái khoảng một giây. Mỗi hành động gửi kèm thời điểm người chơi đang nhìn thấy. Server tua lại về đúng lúc đó, kiểm tra, rồi mới phân xử. Để chống gửi thời điểm giả, server giới hạn chỉ tua tối đa khoảng 200 mili giây.
Đánh đổi là công bằng cho người hành động thì người kia chịu thiệt: trên màn hình mình đã chạy đi rồi, vẫn bị tính là bị bắt. Không cách nào làm cả hai cùng thấy công bằng.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#3 · Thời gian: 1' · Cộng dồn: 11'
Kết quả phân xử về muộn, mà client đã cho người chơi cầm vật từ trước, vì không muốn bắt họ chờ. Nếu thua thì sao? Client quay về trạng thái đã được xác nhận, mô phỏng lại với thông tin đúng, và người chơi thấy vật bật ra khỏi tay. Đó là quay lui.
Đối chiếu ở VĐ2 thực chất là trường hợp riêng của quay lui, chỉ áp cho di chuyển của mình. Game đối kháng như Street Fighter dùng quay lui toàn phần theo mô hình GGPO, chạy ngang hàng. Mô hình đó đòi hỏi mô phỏng giống nhau đến từng bit giữa các máy. Nhóm em có server sửa định kỳ, nên chỉ cần gần giống.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#3 · Thời gian: 0,5' · Cộng dồn: 11,5'
Tóm lại, không có kỹ thuật nào xoá được độ trễ. Mỗi kỹ thuật chuyển độ trễ sang chỗ người chơi ít để ý hơn: mình đi trước nhờ dự đoán, đối thủ đi sau nhờ nội suy, và server bù lại sự lệch thời gian khi hai bên tương tác.
— Nếu thiếu giờ: bỏ slide này, nói câu chốt ở slide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#3 · Thời gian: 0,5' · Cộng dồn: 12'
Nhóm em sẽ áp dụng các kỹ thuật này vào game xếp đơn hàng siêu thị cho 2 người. Game có di chuyển liên tục, nên cần dự đoán và nội suy. Món hàng hiếm chỉ có một cái, hai người phải tranh nhau, nên cần bù trễ và quay lui. Hôm nay nhóm em demo bản chứng minh ý tưởng cho phần di chuyển.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#3 dẫn, #2 điều khiển client B · Thời gian: 5–6' · Cộng dồn: 17–18'
Màn hình chia 3 khung: Client A · Server · Client B. Thanh trượt chỉnh độ trễ, dao động độ trễ, mất gói, tần số gửi ảnh.
Cảnh 0 — Client tự quyết, trễ 100 ms. Thao tác: bấm nút "dịch chuyển".
"Đây là cách client tự quyết. Em giả lập sửa gói tin, ô của A nhảy sang đây, và server lẫn B đều chấp nhận."
Cảnh 1 — Server quyết định, trễ 200 ms, tắt hết. Thao tác: A chạy qua lại; bấm lại "dịch chuyển".
"Chuyển sang server quyết định: dịch chuyển hết tác dụng. Nhưng thầy để ý, em bấm phím khoảng 0,2 giây sau ô mới chạy."
Cảnh 2 — Bật dự đoán. Thao tác: chạy rồi dừng đột ngột.
"Bật dự đoán: phản hồi ngay. Nhưng khi dừng lại, ô bị kéo giật lùi, đó là giật ngược."
Cảnh 3 — Bật đối chiếu. Thao tác: lặp lại.
"Bật đối chiếu: mượt và khớp với bóng xám là vị trí theo server. Bộ đệm đang có khoảng 6 lệnh, đúng bằng RTT chia nhịp."
Cảnh 4 — Nhìn khung B; gửi ảnh 10 lần/giây, dao động 50 ms. Thao tác: A chạy vòng tròn.
"Giờ nhìn sang màn hình của B: ô của A giật từng nấc vì ảnh trạng thái đến thưa và không đều."
Cảnh 5 — Bật nội suy (độ trễ nội suy tự tính ≈ 250 ms); sau đó tăng lên 20 lần/giây. Thao tác: lặp lại.
"Bật nội suy: mượt, nhưng so với khung server thì ô của A trễ hơn, đó là đánh đổi. Tăng tần số gửi ảnh lên 20 thì độ trễ giảm còn khoảng 150 mili giây."
PHƯƠNG ÁN DỰ PHÒNG: quay sẵn video toàn bộ 6 cảnh. Demo lỗi thì chuyển sang video ngay, không sửa lỗi trên sân khấu.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trình bày: cả nhóm · Thời gian: 3–5' · Cộng dồn: 20–23'
Bị hỏi sâu thì mở slide dự phòng D1–D10 (phía sau slide này). Câu trả lời mẫu: NoiDung_ChiTiet.md, phụ lục A. Bảng thuật ngữ Việt – Anh: phụ lục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slide D1–D10 là khung: điền nội dung từ NoiDung_ChiTiet.md theo mục ghi trên từng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D1: chỉ mở khi bị hỏi “Độ trễ đến từ đâu, giảm được không?”. Nguồn: NoiDung_ChiTiet.md, Mục 2.1;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D2: chỉ mở khi bị hỏi “Sao không dùng TCP cho tất cả, tắt Nagle là xong?”. Nguồn: NoiDung_ChiTiet.md, Mục 2.3;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D3: chỉ mở khi bị hỏi “Chọn 30 nhịp/giây thế nào? Client 144 Hz thì sao?”. Nguồn: NoiDung_ChiTiet.md, VĐ1;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D4: chỉ mở khi bị hỏi “Lệnh đến không đều thì server làm gì?”. Nguồn: NoiDung_ChiTiet.md, VĐ1;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D5: chỉ mở khi bị hỏi “Định dạng gói tin thế nào?”. Nguồn: NoiDung_ChiTiet.md, Mục 5;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D6: chỉ mở khi bị hỏi “Độ trễ nội suy chọn bao nhiêu? Mất nhiều gói thì sao?”. Nguồn: NoiDung_ChiTiet.md, VĐ3;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D7: chỉ mở khi bị hỏi “Hai người cùng nhặt thì xử thế nào? Gửi nhịp giả thì sao?”. Nguồn: NoiDung_ChiTiet.md, VĐ4;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D8: chỉ mở khi bị hỏi “Tính tất định ảnh hưởng thế nào?”. Nguồn: NoiDung_ChiTiet.md, VĐ5;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D9: chỉ mở khi bị hỏi “Sao không làm ngang hàng?”. Nguồn: NoiDung_ChiTiet.md, VĐ1, VĐ5;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dự phòng D10: chỉ mở khi bị hỏi “Demo có phản ánh mạng thật không?”. Nguồn: NoiDung_ChiTiet.md, Mục 7.2; câu trả lời mẫu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T47 · Kỹ thuật mạng cho game thời gian thực · Lập trình mạng</a:t>
            </a:r>
            <a:endParaRPr lang="en-US" sz="1000" dirty="0"/>
          </a:p>
        </p:txBody>
      </p:sp>
      <p:sp>
        <p:nvSpPr>
          <p:cNvPr id="3" name="Text 1"/>
          <p:cNvSpPr/>
          <p:nvPr>
            <p:ph idx="101" type="body" hasCustomPrompt="1"/>
          </p:nvPr>
        </p:nvSpPr>
        <p:spPr>
          <a:xfrm>
            <a:off x="457200" y="292608"/>
            <a:ext cx="6949440" cy="256032"/>
          </a:xfrm>
          <a:prstGeom prst="rect">
            <a:avLst/>
          </a:prstGeom>
          <a:noFill/>
          <a:ln/>
        </p:spPr>
        <p:txBody>
          <a:bodyPr wrap="square" rtlCol="0"/>
          <a:lstStyle>
            <a:lvl1pPr indent="0" marL="0">
              <a:buNone/>
              <a:defRPr lang="en-US" sz="1100" b="1" spc="15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457200" y="548640"/>
            <a:ext cx="7040880" cy="54864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6949440" cy="256032"/>
          </a:xfrm>
          <a:prstGeom prst="rect">
            <a:avLst/>
          </a:prstGeom>
          <a:noFill/>
          <a:ln/>
        </p:spPr>
        <p:txBody>
          <a:bodyPr wrap="square" rtlCol="0"/>
          <a:lstStyle>
            <a:lvl1pPr indent="0" marL="0">
              <a:buNone/>
              <a:defRPr lang="en-US" sz="1100" b="1" spc="150" kern="0" dirty="0">
                <a:solidFill>
                  <a:schemeClr val="accent6"/>
                </a:solidFill>
              </a:defRPr>
            </a:lvl1pPr>
          </a:lstStyle>
          <a:p>
            <a:pPr indent="0" marL="0">
              <a:buNone/>
            </a:pPr>
            <a:endParaRPr lang="en-US" sz="1100" dirty="0"/>
          </a:p>
        </p:txBody>
      </p:sp>
      <p:sp>
        <p:nvSpPr>
          <p:cNvPr id="3" name="Text 0"/>
          <p:cNvSpPr/>
          <p:nvPr>
            <p:ph idx="101" type="title" hasCustomPrompt="1"/>
          </p:nvPr>
        </p:nvSpPr>
        <p:spPr>
          <a:xfrm>
            <a:off x="457200" y="548640"/>
            <a:ext cx="7040880" cy="54864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5303520" cy="274320"/>
          </a:xfrm>
          <a:prstGeom prst="rect">
            <a:avLst/>
          </a:prstGeom>
          <a:noFill/>
          <a:ln/>
        </p:spPr>
        <p:txBody>
          <a:bodyPr wrap="square" rtlCol="0"/>
          <a:lstStyle>
            <a:lvl1pPr indent="0" marL="0">
              <a:buNone/>
              <a:defRPr lang="en-US" sz="1200" b="1" spc="20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1463040"/>
            <a:ext cx="5303520" cy="13258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4" name="Text 0"/>
          <p:cNvSpPr/>
          <p:nvPr>
            <p:ph idx="102" type="body" hasCustomPrompt="1"/>
          </p:nvPr>
        </p:nvSpPr>
        <p:spPr>
          <a:xfrm>
            <a:off x="548640" y="2834640"/>
            <a:ext cx="5303520" cy="457200"/>
          </a:xfrm>
          <a:prstGeom prst="rect">
            <a:avLst/>
          </a:prstGeom>
          <a:noFill/>
          <a:ln/>
        </p:spPr>
        <p:txBody>
          <a:bodyPr wrap="square" rtlCol="0"/>
          <a:lstStyle>
            <a:lvl1pPr indent="0" marL="0">
              <a:buNone/>
              <a:defRPr lang="en-US" sz="2000" b="1" dirty="0">
                <a:solidFill>
                  <a:schemeClr val="accent6"/>
                </a:solidFill>
              </a:defRPr>
            </a:lvl1pPr>
          </a:lstStyle>
          <a:p>
            <a:pPr indent="0" marL="0">
              <a:buNone/>
            </a:pPr>
            <a:endParaRPr lang="en-US" sz="2000" dirty="0"/>
          </a:p>
        </p:txBody>
      </p:sp>
      <p:sp>
        <p:nvSpPr>
          <p:cNvPr id="5" name="Text 0"/>
          <p:cNvSpPr/>
          <p:nvPr>
            <p:ph idx="103" type="body" hasCustomPrompt="1"/>
          </p:nvPr>
        </p:nvSpPr>
        <p:spPr>
          <a:xfrm>
            <a:off x="548640" y="3383280"/>
            <a:ext cx="5303520" cy="1097280"/>
          </a:xfrm>
          <a:prstGeom prst="rect">
            <a:avLst/>
          </a:prstGeom>
          <a:noFill/>
          <a:ln/>
        </p:spPr>
        <p:txBody>
          <a:bodyPr wrap="square" rtlCol="0"/>
          <a:lstStyle>
            <a:lvl1pPr indent="0" marL="0">
              <a:buNone/>
              <a:defRPr lang="en-US" sz="1300" dirty="0">
                <a:solidFill>
                  <a:schemeClr val="bg1"/>
                </a:solidFill>
              </a:defRPr>
            </a:lvl1pPr>
          </a:lstStyle>
          <a:p>
            <a:pPr indent="0" marL="0">
              <a:buNone/>
            </a:pP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5303520" cy="274320"/>
          </a:xfrm>
          <a:prstGeom prst="rect">
            <a:avLst/>
          </a:prstGeom>
          <a:noFill/>
          <a:ln/>
        </p:spPr>
        <p:txBody>
          <a:bodyPr wrap="square" lIns="0" tIns="0" rIns="0" bIns="0" rtlCol="0"/>
          <a:lstStyle/>
          <a:p>
            <a:pPr indent="0" marL="0">
              <a:buNone/>
            </a:pPr>
            <a:r>
              <a:rPr lang="en-US" sz="1200" b="1" spc="200" kern="0" dirty="0">
                <a:solidFill>
                  <a:schemeClr val="accent6"/>
                </a:solidFill>
              </a:rPr>
              <a:t>ĐỀ TÀI T47 · MÔN LẬP TRÌNH MẠNG</a:t>
            </a:r>
            <a:endParaRPr lang="en-US" sz="1200" dirty="0"/>
          </a:p>
        </p:txBody>
      </p:sp>
      <p:sp>
        <p:nvSpPr>
          <p:cNvPr id="3" name="Text 0"/>
          <p:cNvSpPr/>
          <p:nvPr>
            <p:ph idx="101" type="title" hasCustomPrompt="1"/>
          </p:nvPr>
        </p:nvSpPr>
        <p:spPr>
          <a:xfrm>
            <a:off x="548640" y="1463040"/>
            <a:ext cx="5303520" cy="1325880"/>
          </a:xfrm>
          <a:prstGeom prst="rect">
            <a:avLst/>
          </a:prstGeom>
          <a:noFill/>
          <a:ln/>
        </p:spPr>
        <p:txBody>
          <a:bodyPr wrap="square" lIns="0" tIns="0" rIns="0" bIns="0" rtlCol="0" anchor="t"/>
          <a:lstStyle/>
          <a:p>
            <a:pPr algn="l" indent="0" marL="0">
              <a:buNone/>
            </a:pPr>
            <a:r>
              <a:rPr lang="en-US" sz="2800" b="1" dirty="0">
                <a:solidFill>
                  <a:schemeClr val="bg1"/>
                </a:solidFill>
              </a:rPr>
              <a:t>Kỹ thuật mạng cho game nhiều người chơi thời gian thực</a:t>
            </a:r>
            <a:endParaRPr lang="en-US" sz="2800" dirty="0"/>
          </a:p>
        </p:txBody>
      </p:sp>
      <p:sp>
        <p:nvSpPr>
          <p:cNvPr id="4" name="Text 0"/>
          <p:cNvSpPr/>
          <p:nvPr>
            <p:ph idx="102" type="body" hasCustomPrompt="1"/>
          </p:nvPr>
        </p:nvSpPr>
        <p:spPr>
          <a:xfrm>
            <a:off x="548640" y="2834640"/>
            <a:ext cx="5303520" cy="457200"/>
          </a:xfrm>
          <a:prstGeom prst="rect">
            <a:avLst/>
          </a:prstGeom>
          <a:noFill/>
          <a:ln/>
        </p:spPr>
        <p:txBody>
          <a:bodyPr wrap="square" lIns="0" tIns="0" rIns="0" bIns="0" rtlCol="0"/>
          <a:lstStyle/>
          <a:p>
            <a:pPr indent="0" marL="0">
              <a:buNone/>
            </a:pPr>
            <a:r>
              <a:rPr lang="en-US" sz="2000" b="1" dirty="0">
                <a:solidFill>
                  <a:schemeClr val="accent6"/>
                </a:solidFill>
              </a:rPr>
              <a:t>Dự đoán phía client</a:t>
            </a:r>
            <a:endParaRPr lang="en-US" sz="2000" dirty="0"/>
          </a:p>
        </p:txBody>
      </p:sp>
      <p:sp>
        <p:nvSpPr>
          <p:cNvPr id="5" name="Text 0"/>
          <p:cNvSpPr/>
          <p:nvPr>
            <p:ph idx="103" type="body" hasCustomPrompt="1"/>
          </p:nvPr>
        </p:nvSpPr>
        <p:spPr>
          <a:xfrm>
            <a:off x="548640" y="3383280"/>
            <a:ext cx="5303520" cy="1097280"/>
          </a:xfrm>
          <a:prstGeom prst="rect">
            <a:avLst/>
          </a:prstGeom>
          <a:noFill/>
          <a:ln/>
        </p:spPr>
        <p:txBody>
          <a:bodyPr wrap="square" lIns="0" tIns="0" rIns="0" bIns="0" rtlCol="0" anchor="t"/>
          <a:lstStyle/>
          <a:p>
            <a:pPr indent="0" marL="0">
              <a:buNone/>
            </a:pPr>
            <a:r>
              <a:rPr lang="en-US" sz="1300" dirty="0">
                <a:solidFill>
                  <a:schemeClr val="bg1"/>
                </a:solidFill>
              </a:rPr>
              <a:t>GV: Đặng Ngọc Hùng</a:t>
            </a:r>
            <a:endParaRPr lang="en-US" sz="1300" dirty="0"/>
          </a:p>
          <a:p>
            <a:pPr indent="0" marL="0">
              <a:buNone/>
            </a:pPr>
            <a:r>
              <a:rPr lang="en-US" sz="1300" dirty="0">
                <a:solidFill>
                  <a:schemeClr val="bg1"/>
                </a:solidFill>
              </a:rPr>
              <a:t>Nguyễn Thế Chiến (B23DCCN095) · Phạm Quang Anh (B23DCCN044) · </a:t>
            </a:r>
            <a:pPr indent="0" marL="0">
              <a:buNone/>
            </a:pPr>
            <a:r>
              <a:rPr lang="en-US" sz="1300" b="1" i="1" dirty="0">
                <a:solidFill>
                  <a:schemeClr val="accent3"/>
                </a:solidFill>
              </a:rPr>
              <a:t>TBD</a:t>
            </a:r>
            <a:endParaRPr lang="en-US" sz="1300" dirty="0"/>
          </a:p>
        </p:txBody>
      </p:sp>
      <p:sp>
        <p:nvSpPr>
          <p:cNvPr id="6" name="Link A"/>
          <p:cNvSpPr/>
          <p:nvPr/>
        </p:nvSpPr>
        <p:spPr>
          <a:xfrm flipV="1">
            <a:off x="6400800" y="1508760"/>
            <a:ext cx="914400" cy="1874520"/>
          </a:xfrm>
          <a:prstGeom prst="line">
            <a:avLst/>
          </a:prstGeom>
          <a:noFill/>
          <a:ln w="25400">
            <a:solidFill>
              <a:schemeClr val="accent6"/>
            </a:solidFill>
            <a:prstDash val="dash"/>
          </a:ln>
        </p:spPr>
      </p:sp>
      <p:sp>
        <p:nvSpPr>
          <p:cNvPr id="7" name="Link B"/>
          <p:cNvSpPr/>
          <p:nvPr/>
        </p:nvSpPr>
        <p:spPr>
          <a:xfrm>
            <a:off x="7315200" y="1508760"/>
            <a:ext cx="914400" cy="1874520"/>
          </a:xfrm>
          <a:prstGeom prst="line">
            <a:avLst/>
          </a:prstGeom>
          <a:noFill/>
          <a:ln w="25400">
            <a:solidFill>
              <a:schemeClr val="accent6"/>
            </a:solidFill>
            <a:prstDash val="dash"/>
          </a:ln>
        </p:spPr>
      </p:sp>
      <p:sp>
        <p:nvSpPr>
          <p:cNvPr id="8" name="Packet"/>
          <p:cNvSpPr/>
          <p:nvPr/>
        </p:nvSpPr>
        <p:spPr>
          <a:xfrm>
            <a:off x="6647688" y="2654046"/>
            <a:ext cx="146304" cy="146304"/>
          </a:xfrm>
          <a:prstGeom prst="ellipse">
            <a:avLst/>
          </a:prstGeom>
          <a:solidFill>
            <a:schemeClr val="accent1"/>
          </a:solidFill>
          <a:ln w="12700">
            <a:solidFill>
              <a:schemeClr val="accent1"/>
            </a:solidFill>
            <a:prstDash val="solid"/>
          </a:ln>
        </p:spPr>
      </p:sp>
      <p:sp>
        <p:nvSpPr>
          <p:cNvPr id="9" name="Packet"/>
          <p:cNvSpPr/>
          <p:nvPr/>
        </p:nvSpPr>
        <p:spPr>
          <a:xfrm>
            <a:off x="6922008" y="2091690"/>
            <a:ext cx="146304" cy="146304"/>
          </a:xfrm>
          <a:prstGeom prst="ellipse">
            <a:avLst/>
          </a:prstGeom>
          <a:solidFill>
            <a:schemeClr val="accent3"/>
          </a:solidFill>
          <a:ln w="12700">
            <a:solidFill>
              <a:schemeClr val="accent3"/>
            </a:solidFill>
            <a:prstDash val="solid"/>
          </a:ln>
        </p:spPr>
      </p:sp>
      <p:sp>
        <p:nvSpPr>
          <p:cNvPr id="10" name="Packet"/>
          <p:cNvSpPr/>
          <p:nvPr/>
        </p:nvSpPr>
        <p:spPr>
          <a:xfrm>
            <a:off x="7790688" y="2560320"/>
            <a:ext cx="146304" cy="146304"/>
          </a:xfrm>
          <a:prstGeom prst="ellipse">
            <a:avLst/>
          </a:prstGeom>
          <a:solidFill>
            <a:schemeClr val="accent3"/>
          </a:solidFill>
          <a:ln w="12700">
            <a:solidFill>
              <a:schemeClr val="accent3"/>
            </a:solidFill>
            <a:prstDash val="solid"/>
          </a:ln>
        </p:spPr>
      </p:sp>
      <p:sp>
        <p:nvSpPr>
          <p:cNvPr id="11" name="Packet"/>
          <p:cNvSpPr/>
          <p:nvPr/>
        </p:nvSpPr>
        <p:spPr>
          <a:xfrm>
            <a:off x="7516368" y="1997964"/>
            <a:ext cx="146304" cy="146304"/>
          </a:xfrm>
          <a:prstGeom prst="ellipse">
            <a:avLst/>
          </a:prstGeom>
          <a:solidFill>
            <a:schemeClr val="accent1"/>
          </a:solidFill>
          <a:ln w="12700">
            <a:solidFill>
              <a:schemeClr val="accent1"/>
            </a:solidFill>
            <a:prstDash val="solid"/>
          </a:ln>
        </p:spPr>
      </p:sp>
      <p:sp>
        <p:nvSpPr>
          <p:cNvPr id="12" name="Server node"/>
          <p:cNvSpPr/>
          <p:nvPr/>
        </p:nvSpPr>
        <p:spPr>
          <a:xfrm>
            <a:off x="6858000" y="1051560"/>
            <a:ext cx="914400" cy="914400"/>
          </a:xfrm>
          <a:prstGeom prst="ellipse">
            <a:avLst/>
          </a:prstGeom>
          <a:solidFill>
            <a:schemeClr val="accent1"/>
          </a:solidFill>
          <a:ln w="25400">
            <a:solidFill>
              <a:schemeClr val="accent6"/>
            </a:solidFill>
            <a:prstDash val="solid"/>
          </a:ln>
        </p:spPr>
      </p:sp>
      <p:sp>
        <p:nvSpPr>
          <p:cNvPr id="13" name="Text 11"/>
          <p:cNvSpPr txBox="1"/>
          <p:nvPr/>
        </p:nvSpPr>
        <p:spPr>
          <a:xfrm>
            <a:off x="6858000" y="1051560"/>
            <a:ext cx="914400" cy="914400"/>
          </a:xfrm>
          <a:prstGeom prst="rect">
            <a:avLst/>
          </a:prstGeom>
          <a:noFill/>
          <a:ln/>
        </p:spPr>
        <p:txBody>
          <a:bodyPr wrap="square" lIns="0" tIns="0" rIns="0" bIns="0" rtlCol="0" anchor="ctr"/>
          <a:lstStyle/>
          <a:p>
            <a:pPr algn="ctr" indent="0" marL="0">
              <a:buNone/>
            </a:pPr>
            <a:r>
              <a:rPr lang="en-US" sz="1300" b="1" dirty="0">
                <a:solidFill>
                  <a:schemeClr val="bg1"/>
                </a:solidFill>
              </a:rPr>
              <a:t>Server</a:t>
            </a:r>
            <a:endParaRPr lang="en-US" sz="1300" dirty="0"/>
          </a:p>
        </p:txBody>
      </p:sp>
      <p:sp>
        <p:nvSpPr>
          <p:cNvPr id="14" name="Client A node"/>
          <p:cNvSpPr/>
          <p:nvPr/>
        </p:nvSpPr>
        <p:spPr>
          <a:xfrm>
            <a:off x="5989320" y="2971800"/>
            <a:ext cx="822960" cy="822960"/>
          </a:xfrm>
          <a:prstGeom prst="ellipse">
            <a:avLst/>
          </a:prstGeom>
          <a:solidFill>
            <a:schemeClr val="tx2"/>
          </a:solidFill>
          <a:ln w="25400">
            <a:solidFill>
              <a:schemeClr val="accent6"/>
            </a:solidFill>
            <a:prstDash val="solid"/>
          </a:ln>
        </p:spPr>
      </p:sp>
      <p:sp>
        <p:nvSpPr>
          <p:cNvPr id="15" name="Text 13"/>
          <p:cNvSpPr txBox="1"/>
          <p:nvPr/>
        </p:nvSpPr>
        <p:spPr>
          <a:xfrm>
            <a:off x="5989320" y="2971800"/>
            <a:ext cx="822960" cy="822960"/>
          </a:xfrm>
          <a:prstGeom prst="rect">
            <a:avLst/>
          </a:prstGeom>
          <a:noFill/>
          <a:ln/>
        </p:spPr>
        <p:txBody>
          <a:bodyPr wrap="square" lIns="0" tIns="0" rIns="0" bIns="0" rtlCol="0" anchor="ctr"/>
          <a:lstStyle/>
          <a:p>
            <a:pPr algn="ctr" indent="0" marL="0">
              <a:buNone/>
            </a:pPr>
            <a:r>
              <a:rPr lang="en-US" sz="1100" b="1" dirty="0">
                <a:solidFill>
                  <a:schemeClr val="accent6"/>
                </a:solidFill>
              </a:rPr>
              <a:t>Client</a:t>
            </a:r>
            <a:endParaRPr lang="en-US" sz="1100" dirty="0"/>
          </a:p>
          <a:p>
            <a:pPr algn="ctr" indent="0" marL="0">
              <a:buNone/>
            </a:pPr>
            <a:r>
              <a:rPr lang="en-US" sz="1100" b="1" dirty="0">
                <a:solidFill>
                  <a:schemeClr val="accent6"/>
                </a:solidFill>
              </a:rPr>
              <a:t>A</a:t>
            </a:r>
            <a:endParaRPr lang="en-US" sz="1100" dirty="0"/>
          </a:p>
        </p:txBody>
      </p:sp>
      <p:sp>
        <p:nvSpPr>
          <p:cNvPr id="16" name="Client B node"/>
          <p:cNvSpPr/>
          <p:nvPr/>
        </p:nvSpPr>
        <p:spPr>
          <a:xfrm>
            <a:off x="7818120" y="2971800"/>
            <a:ext cx="822960" cy="822960"/>
          </a:xfrm>
          <a:prstGeom prst="ellipse">
            <a:avLst/>
          </a:prstGeom>
          <a:solidFill>
            <a:schemeClr val="tx2"/>
          </a:solidFill>
          <a:ln w="25400">
            <a:solidFill>
              <a:schemeClr val="accent6"/>
            </a:solidFill>
            <a:prstDash val="solid"/>
          </a:ln>
        </p:spPr>
      </p:sp>
      <p:sp>
        <p:nvSpPr>
          <p:cNvPr id="17" name="Text 15"/>
          <p:cNvSpPr txBox="1"/>
          <p:nvPr/>
        </p:nvSpPr>
        <p:spPr>
          <a:xfrm>
            <a:off x="7818120" y="2971800"/>
            <a:ext cx="822960" cy="822960"/>
          </a:xfrm>
          <a:prstGeom prst="rect">
            <a:avLst/>
          </a:prstGeom>
          <a:noFill/>
          <a:ln/>
        </p:spPr>
        <p:txBody>
          <a:bodyPr wrap="square" lIns="0" tIns="0" rIns="0" bIns="0" rtlCol="0" anchor="ctr"/>
          <a:lstStyle/>
          <a:p>
            <a:pPr algn="ctr" indent="0" marL="0">
              <a:buNone/>
            </a:pPr>
            <a:r>
              <a:rPr lang="en-US" sz="1100" b="1" dirty="0">
                <a:solidFill>
                  <a:schemeClr val="accent6"/>
                </a:solidFill>
              </a:rPr>
              <a:t>Client</a:t>
            </a:r>
            <a:endParaRPr lang="en-US" sz="1100" dirty="0"/>
          </a:p>
          <a:p>
            <a:pPr algn="ctr" indent="0" marL="0">
              <a:buNone/>
            </a:pPr>
            <a:r>
              <a:rPr lang="en-US" sz="1100" b="1" dirty="0">
                <a:solidFill>
                  <a:schemeClr val="accent6"/>
                </a:solidFill>
              </a:rPr>
              <a:t>B</a:t>
            </a:r>
            <a:endParaRPr lang="en-US" sz="1100" dirty="0"/>
          </a:p>
        </p:txBody>
      </p:sp>
      <p:sp>
        <p:nvSpPr>
          <p:cNvPr id="18" name="RTT label"/>
          <p:cNvSpPr txBox="1"/>
          <p:nvPr/>
        </p:nvSpPr>
        <p:spPr>
          <a:xfrm>
            <a:off x="6400800" y="3904488"/>
            <a:ext cx="1828800" cy="274320"/>
          </a:xfrm>
          <a:prstGeom prst="rect">
            <a:avLst/>
          </a:prstGeom>
          <a:noFill/>
          <a:ln/>
        </p:spPr>
        <p:txBody>
          <a:bodyPr wrap="square" lIns="0" tIns="0" rIns="0" bIns="0" rtlCol="0" anchor="ctr"/>
          <a:lstStyle/>
          <a:p>
            <a:pPr algn="ctr" indent="0" marL="0">
              <a:buNone/>
            </a:pPr>
            <a:r>
              <a:rPr lang="en-US" sz="1100" i="1" dirty="0">
                <a:solidFill>
                  <a:schemeClr val="accent6"/>
                </a:solidFill>
              </a:rPr>
              <a:t>RTT 100–200 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BÀI TOÁN</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Hai yêu cầu mâu thuẫn</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1"/>
          </a:solidFill>
          <a:ln w="12700">
            <a:solidFill>
              <a:schemeClr val="accent1"/>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#1 · 0,75'</a:t>
            </a:r>
            <a:endParaRPr lang="en-US" sz="1100" dirty="0"/>
          </a:p>
        </p:txBody>
      </p:sp>
      <p:sp>
        <p:nvSpPr>
          <p:cNvPr id="6" name="Requirement card"/>
          <p:cNvSpPr/>
          <p:nvPr/>
        </p:nvSpPr>
        <p:spPr>
          <a:xfrm>
            <a:off x="457200" y="1280160"/>
            <a:ext cx="3246120" cy="1600200"/>
          </a:xfrm>
          <a:prstGeom prst="roundRect">
            <a:avLst>
              <a:gd name="adj" fmla="val 5714"/>
            </a:avLst>
          </a:prstGeom>
          <a:solidFill>
            <a:schemeClr val="bg2"/>
          </a:solidFill>
          <a:ln w="12700">
            <a:solidFill>
              <a:schemeClr val="bg2"/>
            </a:solidFill>
            <a:prstDash val="solid"/>
          </a:ln>
        </p:spPr>
      </p:sp>
      <p:sp>
        <p:nvSpPr>
          <p:cNvPr id="7" name="Text 5"/>
          <p:cNvSpPr txBox="1"/>
          <p:nvPr/>
        </p:nvSpPr>
        <p:spPr>
          <a:xfrm>
            <a:off x="731520" y="1463040"/>
            <a:ext cx="2697480" cy="411480"/>
          </a:xfrm>
          <a:prstGeom prst="rect">
            <a:avLst/>
          </a:prstGeom>
          <a:noFill/>
          <a:ln/>
        </p:spPr>
        <p:txBody>
          <a:bodyPr wrap="square" lIns="0" tIns="0" rIns="0" bIns="0" rtlCol="0" anchor="ctr"/>
          <a:lstStyle/>
          <a:p>
            <a:pPr indent="0" marL="0">
              <a:buNone/>
            </a:pPr>
            <a:r>
              <a:rPr lang="en-US" sz="2000" b="1" dirty="0">
                <a:solidFill>
                  <a:schemeClr val="accent1"/>
                </a:solidFill>
              </a:rPr>
              <a:t>Độ phản hồi</a:t>
            </a:r>
            <a:endParaRPr lang="en-US" sz="2000" dirty="0"/>
          </a:p>
        </p:txBody>
      </p:sp>
      <p:sp>
        <p:nvSpPr>
          <p:cNvPr id="8" name="Text 6"/>
          <p:cNvSpPr txBox="1"/>
          <p:nvPr/>
        </p:nvSpPr>
        <p:spPr>
          <a:xfrm>
            <a:off x="731520" y="1920240"/>
            <a:ext cx="2697480" cy="1097280"/>
          </a:xfrm>
          <a:prstGeom prst="rect">
            <a:avLst/>
          </a:prstGeom>
          <a:noFill/>
          <a:ln/>
        </p:spPr>
        <p:txBody>
          <a:bodyPr wrap="square" lIns="0" tIns="0" rIns="0" bIns="0" rtlCol="0" anchor="t"/>
          <a:lstStyle/>
          <a:p>
            <a:pPr indent="0" marL="0">
              <a:buNone/>
            </a:pPr>
            <a:r>
              <a:rPr lang="en-US" sz="1400" dirty="0">
                <a:solidFill>
                  <a:schemeClr val="tx1"/>
                </a:solidFill>
              </a:rPr>
              <a:t>Bấm phím là nhân vật phản ứng ngay (từ ~100 ms đã thấy ì)</a:t>
            </a:r>
            <a:endParaRPr lang="en-US" sz="1400" dirty="0"/>
          </a:p>
        </p:txBody>
      </p:sp>
      <p:sp>
        <p:nvSpPr>
          <p:cNvPr id="9" name="Requirement card"/>
          <p:cNvSpPr/>
          <p:nvPr/>
        </p:nvSpPr>
        <p:spPr>
          <a:xfrm>
            <a:off x="5440680" y="1280160"/>
            <a:ext cx="3246120" cy="1600200"/>
          </a:xfrm>
          <a:prstGeom prst="roundRect">
            <a:avLst>
              <a:gd name="adj" fmla="val 5714"/>
            </a:avLst>
          </a:prstGeom>
          <a:solidFill>
            <a:schemeClr val="bg2"/>
          </a:solidFill>
          <a:ln w="12700">
            <a:solidFill>
              <a:schemeClr val="bg2"/>
            </a:solidFill>
            <a:prstDash val="solid"/>
          </a:ln>
        </p:spPr>
      </p:sp>
      <p:sp>
        <p:nvSpPr>
          <p:cNvPr id="10" name="Text 8"/>
          <p:cNvSpPr txBox="1"/>
          <p:nvPr/>
        </p:nvSpPr>
        <p:spPr>
          <a:xfrm>
            <a:off x="5715000" y="1463040"/>
            <a:ext cx="2697480" cy="411480"/>
          </a:xfrm>
          <a:prstGeom prst="rect">
            <a:avLst/>
          </a:prstGeom>
          <a:noFill/>
          <a:ln/>
        </p:spPr>
        <p:txBody>
          <a:bodyPr wrap="square" lIns="0" tIns="0" rIns="0" bIns="0" rtlCol="0" anchor="ctr"/>
          <a:lstStyle/>
          <a:p>
            <a:pPr indent="0" marL="0">
              <a:buNone/>
            </a:pPr>
            <a:r>
              <a:rPr lang="en-US" sz="2000" b="1" dirty="0">
                <a:solidFill>
                  <a:schemeClr val="accent1"/>
                </a:solidFill>
              </a:rPr>
              <a:t>Tính nhất quán</a:t>
            </a:r>
            <a:endParaRPr lang="en-US" sz="2000" dirty="0"/>
          </a:p>
        </p:txBody>
      </p:sp>
      <p:sp>
        <p:nvSpPr>
          <p:cNvPr id="11" name="Text 9"/>
          <p:cNvSpPr txBox="1"/>
          <p:nvPr/>
        </p:nvSpPr>
        <p:spPr>
          <a:xfrm>
            <a:off x="5715000" y="1920240"/>
            <a:ext cx="2697480" cy="1097280"/>
          </a:xfrm>
          <a:prstGeom prst="rect">
            <a:avLst/>
          </a:prstGeom>
          <a:noFill/>
          <a:ln/>
        </p:spPr>
        <p:txBody>
          <a:bodyPr wrap="square" lIns="0" tIns="0" rIns="0" bIns="0" rtlCol="0" anchor="t"/>
          <a:lstStyle/>
          <a:p>
            <a:pPr indent="0" marL="0">
              <a:buNone/>
            </a:pPr>
            <a:r>
              <a:rPr lang="en-US" sz="1400" dirty="0">
                <a:solidFill>
                  <a:schemeClr val="tx1"/>
                </a:solidFill>
              </a:rPr>
              <a:t>Mọi người thấy cùng một thế giới, không ai gian lận được</a:t>
            </a:r>
            <a:endParaRPr lang="en-US" sz="1400" dirty="0"/>
          </a:p>
        </p:txBody>
      </p:sp>
      <p:sp>
        <p:nvSpPr>
          <p:cNvPr id="12" name="Network pill"/>
          <p:cNvSpPr/>
          <p:nvPr/>
        </p:nvSpPr>
        <p:spPr>
          <a:xfrm>
            <a:off x="3840480" y="1783080"/>
            <a:ext cx="1463040" cy="594360"/>
          </a:xfrm>
          <a:prstGeom prst="roundRect">
            <a:avLst>
              <a:gd name="adj" fmla="val 49231"/>
            </a:avLst>
          </a:prstGeom>
          <a:solidFill>
            <a:schemeClr val="tx2"/>
          </a:solidFill>
          <a:ln w="12700">
            <a:solidFill>
              <a:schemeClr val="tx2"/>
            </a:solidFill>
            <a:prstDash val="solid"/>
          </a:ln>
        </p:spPr>
      </p:sp>
      <p:sp>
        <p:nvSpPr>
          <p:cNvPr id="13" name="Text 11"/>
          <p:cNvSpPr txBox="1"/>
          <p:nvPr/>
        </p:nvSpPr>
        <p:spPr>
          <a:xfrm>
            <a:off x="3840480" y="1783080"/>
            <a:ext cx="1463040" cy="594360"/>
          </a:xfrm>
          <a:prstGeom prst="rect">
            <a:avLst/>
          </a:prstGeom>
          <a:noFill/>
          <a:ln/>
        </p:spPr>
        <p:txBody>
          <a:bodyPr wrap="square" lIns="0" tIns="0" rIns="0" bIns="0" rtlCol="0" anchor="ctr"/>
          <a:lstStyle/>
          <a:p>
            <a:pPr algn="ctr" indent="0" marL="0">
              <a:buNone/>
            </a:pPr>
            <a:r>
              <a:rPr lang="en-US" sz="1200" b="1" dirty="0">
                <a:solidFill>
                  <a:schemeClr val="bg1"/>
                </a:solidFill>
              </a:rPr>
              <a:t>Mạng</a:t>
            </a:r>
            <a:endParaRPr lang="en-US" sz="1200" dirty="0"/>
          </a:p>
          <a:p>
            <a:pPr algn="ctr" indent="0" marL="0">
              <a:buNone/>
            </a:pPr>
            <a:r>
              <a:rPr lang="en-US" sz="1200" dirty="0">
                <a:solidFill>
                  <a:schemeClr val="bg1"/>
                </a:solidFill>
              </a:rPr>
              <a:t>100–200 ms</a:t>
            </a:r>
            <a:endParaRPr lang="en-US" sz="1200" dirty="0"/>
          </a:p>
        </p:txBody>
      </p:sp>
      <p:sp>
        <p:nvSpPr>
          <p:cNvPr id="14" name="Conflict callout"/>
          <p:cNvSpPr/>
          <p:nvPr/>
        </p:nvSpPr>
        <p:spPr>
          <a:xfrm>
            <a:off x="457200" y="3200400"/>
            <a:ext cx="8229600" cy="868680"/>
          </a:xfrm>
          <a:prstGeom prst="roundRect">
            <a:avLst>
              <a:gd name="adj" fmla="val 10526"/>
            </a:avLst>
          </a:prstGeom>
          <a:solidFill>
            <a:schemeClr val="tx1"/>
          </a:solidFill>
          <a:ln w="12700">
            <a:solidFill>
              <a:schemeClr val="tx1"/>
            </a:solidFill>
            <a:prstDash val="solid"/>
          </a:ln>
        </p:spPr>
      </p:sp>
      <p:sp>
        <p:nvSpPr>
          <p:cNvPr id="15" name="Conflict text"/>
          <p:cNvSpPr txBox="1"/>
          <p:nvPr/>
        </p:nvSpPr>
        <p:spPr>
          <a:xfrm>
            <a:off x="731520" y="3200400"/>
            <a:ext cx="7680960" cy="868680"/>
          </a:xfrm>
          <a:prstGeom prst="rect">
            <a:avLst/>
          </a:prstGeom>
          <a:noFill/>
          <a:ln/>
        </p:spPr>
        <p:txBody>
          <a:bodyPr wrap="square" lIns="0" tIns="0" rIns="0" bIns="0" rtlCol="0" anchor="ctr"/>
          <a:lstStyle/>
          <a:p>
            <a:pPr indent="0" marL="0">
              <a:buNone/>
            </a:pPr>
            <a:r>
              <a:rPr lang="en-US" sz="1600" dirty="0">
                <a:solidFill>
                  <a:schemeClr val="bg1"/>
                </a:solidFill>
              </a:rPr>
              <a:t>Có mạng ở giữa thì: muốn nhất quán phải </a:t>
            </a:r>
            <a:pPr indent="0" marL="0">
              <a:buNone/>
            </a:pPr>
            <a:r>
              <a:rPr lang="en-US" sz="1600" b="1" dirty="0">
                <a:solidFill>
                  <a:schemeClr val="bg1"/>
                </a:solidFill>
              </a:rPr>
              <a:t>chờ</a:t>
            </a:r>
            <a:pPr indent="0" marL="0">
              <a:buNone/>
            </a:pPr>
            <a:r>
              <a:rPr lang="en-US" sz="1600" dirty="0">
                <a:solidFill>
                  <a:schemeClr val="bg1"/>
                </a:solidFill>
              </a:rPr>
              <a:t>, muốn phản hồi ngay thì </a:t>
            </a:r>
            <a:pPr indent="0" marL="0">
              <a:buNone/>
            </a:pPr>
            <a:r>
              <a:rPr lang="en-US" sz="1600" b="1" dirty="0">
                <a:solidFill>
                  <a:schemeClr val="bg1"/>
                </a:solidFill>
              </a:rPr>
              <a:t>không được chờ</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VẤN ĐỀ GỐC</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Mạng không hoàn hảo</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1"/>
          </a:solidFill>
          <a:ln w="12700">
            <a:solidFill>
              <a:schemeClr val="accent1"/>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#1 · 1'</a:t>
            </a:r>
            <a:endParaRPr lang="en-US" sz="1100" dirty="0"/>
          </a:p>
        </p:txBody>
      </p:sp>
      <p:sp>
        <p:nvSpPr>
          <p:cNvPr id="6" name="Body text"/>
          <p:cNvSpPr txBox="1"/>
          <p:nvPr/>
        </p:nvSpPr>
        <p:spPr>
          <a:xfrm>
            <a:off x="457200" y="1234440"/>
            <a:ext cx="5212080" cy="2651760"/>
          </a:xfrm>
          <a:prstGeom prst="rect">
            <a:avLst/>
          </a:prstGeom>
          <a:noFill/>
          <a:ln/>
        </p:spPr>
        <p:txBody>
          <a:bodyPr wrap="square" lIns="0" tIns="0" rIns="0" bIns="0" rtlCol="0" anchor="t"/>
          <a:lstStyle/>
          <a:p>
            <a:pPr algn="l" marL="177800" indent="-177800">
              <a:spcAft>
                <a:spcPts val="800"/>
              </a:spcAft>
              <a:buSzPct val="100000"/>
              <a:buChar char="•"/>
            </a:pPr>
            <a:r>
              <a:rPr lang="en-US" sz="1400" b="1" dirty="0">
                <a:solidFill>
                  <a:schemeClr val="tx1"/>
                </a:solidFill>
              </a:rPr>
              <a:t>Độ trễ:</a:t>
            </a:r>
            <a:pPr algn="l" marL="177800" indent="-177800">
              <a:spcAft>
                <a:spcPts val="800"/>
              </a:spcAft>
              <a:buSzPct val="100000"/>
              <a:buChar char="•"/>
            </a:pPr>
            <a:r>
              <a:rPr lang="en-US" sz="1400" dirty="0">
                <a:solidFill>
                  <a:schemeClr val="tx1"/>
                </a:solidFill>
              </a:rPr>
              <a:t> có giới hạn vật lý. Hà Nội – Singapore, RTT tối thiểu ≈ 22 ms; thực tế 30–60 ms</a:t>
            </a:r>
            <a:endParaRPr lang="en-US" sz="1400" dirty="0"/>
          </a:p>
          <a:p>
            <a:pPr algn="l" marL="177800" indent="-177800">
              <a:spcAft>
                <a:spcPts val="800"/>
              </a:spcAft>
              <a:buSzPct val="100000"/>
              <a:buChar char="•"/>
            </a:pPr>
            <a:r>
              <a:rPr lang="en-US" sz="1400" b="1" dirty="0">
                <a:solidFill>
                  <a:schemeClr val="tx1"/>
                </a:solidFill>
              </a:rPr>
              <a:t>Dao động độ trễ:</a:t>
            </a:r>
            <a:pPr algn="l" marL="177800" indent="-177800">
              <a:spcAft>
                <a:spcPts val="800"/>
              </a:spcAft>
              <a:buSzPct val="100000"/>
              <a:buChar char="•"/>
            </a:pPr>
            <a:r>
              <a:rPr lang="en-US" sz="1400" dirty="0">
                <a:solidFill>
                  <a:schemeClr val="tx1"/>
                </a:solidFill>
              </a:rPr>
              <a:t> gửi đều 50 ms, nhận cách nhau 30, 80, 45 ms…</a:t>
            </a:r>
            <a:endParaRPr lang="en-US" sz="1400" dirty="0"/>
          </a:p>
          <a:p>
            <a:pPr algn="l" marL="177800" indent="-177800">
              <a:spcAft>
                <a:spcPts val="800"/>
              </a:spcAft>
              <a:buSzPct val="100000"/>
              <a:buChar char="•"/>
            </a:pPr>
            <a:r>
              <a:rPr lang="en-US" sz="1400" b="1" dirty="0">
                <a:solidFill>
                  <a:schemeClr val="tx1"/>
                </a:solidFill>
              </a:rPr>
              <a:t>Mất gói, sai thứ tự:</a:t>
            </a:r>
            <a:pPr algn="l" marL="177800" indent="-177800">
              <a:spcAft>
                <a:spcPts val="800"/>
              </a:spcAft>
              <a:buSzPct val="100000"/>
              <a:buChar char="•"/>
            </a:pPr>
            <a:r>
              <a:rPr lang="en-US" sz="1400" dirty="0">
                <a:solidFill>
                  <a:schemeClr val="tx1"/>
                </a:solidFill>
              </a:rPr>
              <a:t> Wi-Fi / 4G mất 0,5–2% </a:t>
            </a:r>
            <a:pPr algn="l" marL="177800" indent="-177800">
              <a:spcAft>
                <a:spcPts val="800"/>
              </a:spcAft>
              <a:buSzPct val="100000"/>
              <a:buChar char="•"/>
            </a:pPr>
            <a:r>
              <a:rPr lang="en-US" sz="1400" b="1" i="1" dirty="0">
                <a:solidFill>
                  <a:schemeClr val="accent4"/>
                </a:solidFill>
              </a:rPr>
              <a:t>(cần đo lại)</a:t>
            </a:r>
            <a:endParaRPr lang="en-US" sz="1400" dirty="0"/>
          </a:p>
          <a:p>
            <a:pPr algn="l" marL="177800" indent="-177800">
              <a:spcAft>
                <a:spcPts val="800"/>
              </a:spcAft>
              <a:buSzPct val="100000"/>
              <a:buChar char="•"/>
            </a:pPr>
            <a:r>
              <a:rPr lang="en-US" sz="1400" b="1" dirty="0">
                <a:solidFill>
                  <a:schemeClr val="tx1"/>
                </a:solidFill>
              </a:rPr>
              <a:t>TCP:</a:t>
            </a:r>
            <a:pPr algn="l" marL="177800" indent="-177800">
              <a:spcAft>
                <a:spcPts val="800"/>
              </a:spcAft>
              <a:buSzPct val="100000"/>
              <a:buChar char="•"/>
            </a:pPr>
            <a:r>
              <a:rPr lang="en-US" sz="1400" dirty="0">
                <a:solidFill>
                  <a:schemeClr val="tx1"/>
                </a:solidFill>
              </a:rPr>
              <a:t> mất 1 gói thì chặn mọi gói sau (</a:t>
            </a:r>
            <a:pPr algn="l" marL="177800" indent="-177800">
              <a:spcAft>
                <a:spcPts val="800"/>
              </a:spcAft>
              <a:buSzPct val="100000"/>
              <a:buChar char="•"/>
            </a:pPr>
            <a:r>
              <a:rPr lang="en-US" sz="1400" b="1" dirty="0">
                <a:solidFill>
                  <a:schemeClr val="tx1"/>
                </a:solidFill>
              </a:rPr>
              <a:t>nghẽn đầu hàng</a:t>
            </a:r>
            <a:pPr algn="l" marL="177800" indent="-177800">
              <a:spcAft>
                <a:spcPts val="800"/>
              </a:spcAft>
              <a:buSzPct val="100000"/>
              <a:buChar char="•"/>
            </a:pPr>
            <a:r>
              <a:rPr lang="en-US" sz="1400" dirty="0">
                <a:solidFill>
                  <a:schemeClr val="tx1"/>
                </a:solidFill>
              </a:rPr>
              <a:t>)</a:t>
            </a:r>
            <a:endParaRPr lang="en-US" sz="1400" dirty="0"/>
          </a:p>
          <a:p>
            <a:pPr algn="l" marL="177800" indent="-177800">
              <a:spcAft>
                <a:spcPts val="800"/>
              </a:spcAft>
              <a:buSzPct val="100000"/>
              <a:buChar char="•"/>
            </a:pPr>
            <a:r>
              <a:rPr lang="en-US" sz="1400" b="1" dirty="0">
                <a:solidFill>
                  <a:schemeClr val="tx1"/>
                </a:solidFill>
              </a:rPr>
              <a:t>UDP:</a:t>
            </a:r>
            <a:pPr algn="l" marL="177800" indent="-177800">
              <a:spcAft>
                <a:spcPts val="800"/>
              </a:spcAft>
              <a:buSzPct val="100000"/>
              <a:buChar char="•"/>
            </a:pPr>
            <a:r>
              <a:rPr lang="en-US" sz="1400" dirty="0">
                <a:solidFill>
                  <a:schemeClr val="tx1"/>
                </a:solidFill>
              </a:rPr>
              <a:t> không chặn, nhưng không đảm bảo gì</a:t>
            </a:r>
            <a:endParaRPr lang="en-US" sz="1400" dirty="0"/>
          </a:p>
        </p:txBody>
      </p:sp>
      <p:sp>
        <p:nvSpPr>
          <p:cNvPr id="7" name="Takeaway"/>
          <p:cNvSpPr txBox="1"/>
          <p:nvPr/>
        </p:nvSpPr>
        <p:spPr>
          <a:xfrm>
            <a:off x="457200" y="4069080"/>
            <a:ext cx="5212080" cy="411480"/>
          </a:xfrm>
          <a:prstGeom prst="rect">
            <a:avLst/>
          </a:prstGeom>
          <a:noFill/>
          <a:ln/>
        </p:spPr>
        <p:txBody>
          <a:bodyPr wrap="square" lIns="0" tIns="0" rIns="0" bIns="0" rtlCol="0" anchor="ctr"/>
          <a:lstStyle/>
          <a:p>
            <a:pPr indent="0" marL="0">
              <a:buNone/>
            </a:pPr>
            <a:r>
              <a:rPr lang="en-US" sz="1800" b="1" i="1" dirty="0">
                <a:solidFill>
                  <a:schemeClr val="accent1"/>
                </a:solidFill>
                <a:latin typeface="Cambria" pitchFamily="34" charset="0"/>
                <a:ea typeface="Cambria" pitchFamily="34" charset="-122"/>
                <a:cs typeface="Cambria" pitchFamily="34" charset="-120"/>
              </a:rPr>
              <a:t>Không thể loại bỏ, chỉ có thể che giấu</a:t>
            </a:r>
            <a:endParaRPr lang="en-US" sz="1800" dirty="0"/>
          </a:p>
        </p:txBody>
      </p:sp>
      <p:sp>
        <p:nvSpPr>
          <p:cNvPr id="8" name="Placeholder frame"/>
          <p:cNvSpPr/>
          <p:nvPr/>
        </p:nvSpPr>
        <p:spPr>
          <a:xfrm>
            <a:off x="5897880" y="1234440"/>
            <a:ext cx="2788920" cy="3337560"/>
          </a:xfrm>
          <a:prstGeom prst="roundRect">
            <a:avLst>
              <a:gd name="adj" fmla="val 2623"/>
            </a:avLst>
          </a:prstGeom>
          <a:solidFill>
            <a:schemeClr val="bg2"/>
          </a:solidFill>
          <a:ln w="15875">
            <a:solidFill>
              <a:schemeClr val="accent1"/>
            </a:solidFill>
            <a:prstDash val="dash"/>
          </a:ln>
        </p:spPr>
      </p:sp>
      <p:sp>
        <p:nvSpPr>
          <p:cNvPr id="9" name="Placeholder label"/>
          <p:cNvSpPr txBox="1"/>
          <p:nvPr/>
        </p:nvSpPr>
        <p:spPr>
          <a:xfrm>
            <a:off x="6080760" y="1371600"/>
            <a:ext cx="242316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HÌNH CẦN VẼ</a:t>
            </a:r>
            <a:endParaRPr lang="en-US" sz="1000" dirty="0"/>
          </a:p>
        </p:txBody>
      </p:sp>
      <p:sp>
        <p:nvSpPr>
          <p:cNvPr id="10" name="Placeholder description"/>
          <p:cNvSpPr txBox="1"/>
          <p:nvPr/>
        </p:nvSpPr>
        <p:spPr>
          <a:xfrm>
            <a:off x="6080760" y="1691640"/>
            <a:ext cx="2423160" cy="274320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Hai dòng thời gian TCP và UDP cùng gửi gói 1–2–3–4, gói 2 bị mất. TCP: gói 3 và 4 phải chờ gói 2 được gửi lại. UDP: gói 3 và 4 vẫn đến đúng hạn.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CÁCH TIẾP CẬN</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Chuỗi 5 vấn đề con</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1"/>
          </a:solidFill>
          <a:ln w="12700">
            <a:solidFill>
              <a:schemeClr val="accent1"/>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#1 · 0,5'</a:t>
            </a:r>
            <a:endParaRPr lang="en-US" sz="1100" dirty="0"/>
          </a:p>
        </p:txBody>
      </p:sp>
      <p:sp>
        <p:nvSpPr>
          <p:cNvPr id="6" name="VD1 box"/>
          <p:cNvSpPr/>
          <p:nvPr/>
        </p:nvSpPr>
        <p:spPr>
          <a:xfrm>
            <a:off x="457200" y="1280160"/>
            <a:ext cx="1426464" cy="1005840"/>
          </a:xfrm>
          <a:prstGeom prst="roundRect">
            <a:avLst>
              <a:gd name="adj" fmla="val 9091"/>
            </a:avLst>
          </a:prstGeom>
          <a:solidFill>
            <a:schemeClr val="bg2"/>
          </a:solidFill>
          <a:ln w="12700">
            <a:solidFill>
              <a:schemeClr val="accent1"/>
            </a:solidFill>
            <a:prstDash val="solid"/>
          </a:ln>
        </p:spPr>
      </p:sp>
      <p:sp>
        <p:nvSpPr>
          <p:cNvPr id="7" name="Text 5"/>
          <p:cNvSpPr txBox="1"/>
          <p:nvPr/>
        </p:nvSpPr>
        <p:spPr>
          <a:xfrm>
            <a:off x="548640" y="1371600"/>
            <a:ext cx="1243584" cy="822960"/>
          </a:xfrm>
          <a:prstGeom prst="rect">
            <a:avLst/>
          </a:prstGeom>
          <a:noFill/>
          <a:ln/>
        </p:spPr>
        <p:txBody>
          <a:bodyPr wrap="square" lIns="0" tIns="0" rIns="0" bIns="0" rtlCol="0" anchor="t"/>
          <a:lstStyle/>
          <a:p>
            <a:pPr indent="0" marL="0">
              <a:buNone/>
            </a:pPr>
            <a:r>
              <a:rPr lang="en-US" sz="1100" b="1" dirty="0">
                <a:solidFill>
                  <a:schemeClr val="accent1"/>
                </a:solidFill>
              </a:rPr>
              <a:t>VĐ1</a:t>
            </a:r>
            <a:endParaRPr lang="en-US" sz="1100" dirty="0"/>
          </a:p>
          <a:p>
            <a:pPr indent="0" marL="0">
              <a:buNone/>
            </a:pPr>
            <a:r>
              <a:rPr lang="en-US" sz="1300" b="1" dirty="0">
                <a:solidFill>
                  <a:schemeClr val="tx1"/>
                </a:solidFill>
              </a:rPr>
              <a:t>Ai giữ quyền quyết định?</a:t>
            </a:r>
            <a:endParaRPr lang="en-US" sz="1100" dirty="0"/>
          </a:p>
        </p:txBody>
      </p:sp>
      <p:sp>
        <p:nvSpPr>
          <p:cNvPr id="8" name="Arrow"/>
          <p:cNvSpPr/>
          <p:nvPr/>
        </p:nvSpPr>
        <p:spPr>
          <a:xfrm>
            <a:off x="1911096" y="1783080"/>
            <a:ext cx="219456" cy="0"/>
          </a:xfrm>
          <a:prstGeom prst="line">
            <a:avLst/>
          </a:prstGeom>
          <a:noFill/>
          <a:ln w="22225">
            <a:solidFill>
              <a:schemeClr val="accent1"/>
            </a:solidFill>
            <a:prstDash val="solid"/>
            <a:tailEnd type="triangle"/>
          </a:ln>
        </p:spPr>
      </p:sp>
      <p:sp>
        <p:nvSpPr>
          <p:cNvPr id="9" name="Caption tick"/>
          <p:cNvSpPr/>
          <p:nvPr/>
        </p:nvSpPr>
        <p:spPr>
          <a:xfrm>
            <a:off x="2020824" y="1892808"/>
            <a:ext cx="0" cy="548640"/>
          </a:xfrm>
          <a:prstGeom prst="line">
            <a:avLst/>
          </a:prstGeom>
          <a:noFill/>
          <a:ln w="9525">
            <a:solidFill>
              <a:schemeClr val="accent5"/>
            </a:solidFill>
            <a:prstDash val="sysDot"/>
          </a:ln>
        </p:spPr>
      </p:sp>
      <p:sp>
        <p:nvSpPr>
          <p:cNvPr id="10" name="Arrow caption"/>
          <p:cNvSpPr txBox="1"/>
          <p:nvPr/>
        </p:nvSpPr>
        <p:spPr>
          <a:xfrm>
            <a:off x="1289304" y="2468880"/>
            <a:ext cx="1463040" cy="457200"/>
          </a:xfrm>
          <a:prstGeom prst="rect">
            <a:avLst/>
          </a:prstGeom>
          <a:noFill/>
          <a:ln/>
        </p:spPr>
        <p:txBody>
          <a:bodyPr wrap="square" lIns="0" tIns="0" rIns="0" bIns="0" rtlCol="0" anchor="t"/>
          <a:lstStyle/>
          <a:p>
            <a:pPr algn="ctr" indent="0" marL="0">
              <a:buNone/>
            </a:pPr>
            <a:r>
              <a:rPr lang="en-US" sz="1100" i="1" dirty="0">
                <a:solidFill>
                  <a:schemeClr val="accent5"/>
                </a:solidFill>
              </a:rPr>
              <a:t>phải chờ server</a:t>
            </a:r>
            <a:endParaRPr lang="en-US" sz="1100" dirty="0"/>
          </a:p>
        </p:txBody>
      </p:sp>
      <p:sp>
        <p:nvSpPr>
          <p:cNvPr id="11" name="VD2 box"/>
          <p:cNvSpPr/>
          <p:nvPr/>
        </p:nvSpPr>
        <p:spPr>
          <a:xfrm>
            <a:off x="2157984" y="1280160"/>
            <a:ext cx="1426464" cy="1005840"/>
          </a:xfrm>
          <a:prstGeom prst="roundRect">
            <a:avLst>
              <a:gd name="adj" fmla="val 9091"/>
            </a:avLst>
          </a:prstGeom>
          <a:solidFill>
            <a:schemeClr val="bg2"/>
          </a:solidFill>
          <a:ln w="12700">
            <a:solidFill>
              <a:schemeClr val="accent1"/>
            </a:solidFill>
            <a:prstDash val="solid"/>
          </a:ln>
        </p:spPr>
      </p:sp>
      <p:sp>
        <p:nvSpPr>
          <p:cNvPr id="12" name="Text 10"/>
          <p:cNvSpPr txBox="1"/>
          <p:nvPr/>
        </p:nvSpPr>
        <p:spPr>
          <a:xfrm>
            <a:off x="2249424" y="1371600"/>
            <a:ext cx="1243584" cy="822960"/>
          </a:xfrm>
          <a:prstGeom prst="rect">
            <a:avLst/>
          </a:prstGeom>
          <a:noFill/>
          <a:ln/>
        </p:spPr>
        <p:txBody>
          <a:bodyPr wrap="square" lIns="0" tIns="0" rIns="0" bIns="0" rtlCol="0" anchor="t"/>
          <a:lstStyle/>
          <a:p>
            <a:pPr indent="0" marL="0">
              <a:buNone/>
            </a:pPr>
            <a:r>
              <a:rPr lang="en-US" sz="1100" b="1" dirty="0">
                <a:solidFill>
                  <a:schemeClr val="accent1"/>
                </a:solidFill>
              </a:rPr>
              <a:t>VĐ2</a:t>
            </a:r>
            <a:endParaRPr lang="en-US" sz="1100" dirty="0"/>
          </a:p>
          <a:p>
            <a:pPr indent="0" marL="0">
              <a:buNone/>
            </a:pPr>
            <a:r>
              <a:rPr lang="en-US" sz="1300" b="1" dirty="0">
                <a:solidFill>
                  <a:schemeClr val="tx1"/>
                </a:solidFill>
              </a:rPr>
              <a:t>Điều khiển bị ì</a:t>
            </a:r>
            <a:endParaRPr lang="en-US" sz="1100" dirty="0"/>
          </a:p>
        </p:txBody>
      </p:sp>
      <p:sp>
        <p:nvSpPr>
          <p:cNvPr id="13" name="Arrow"/>
          <p:cNvSpPr/>
          <p:nvPr/>
        </p:nvSpPr>
        <p:spPr>
          <a:xfrm>
            <a:off x="3611880" y="1783080"/>
            <a:ext cx="219456" cy="0"/>
          </a:xfrm>
          <a:prstGeom prst="line">
            <a:avLst/>
          </a:prstGeom>
          <a:noFill/>
          <a:ln w="22225">
            <a:solidFill>
              <a:schemeClr val="accent1"/>
            </a:solidFill>
            <a:prstDash val="solid"/>
            <a:tailEnd type="triangle"/>
          </a:ln>
        </p:spPr>
      </p:sp>
      <p:sp>
        <p:nvSpPr>
          <p:cNvPr id="14" name="Caption tick"/>
          <p:cNvSpPr/>
          <p:nvPr/>
        </p:nvSpPr>
        <p:spPr>
          <a:xfrm>
            <a:off x="3721608" y="1892808"/>
            <a:ext cx="0" cy="548640"/>
          </a:xfrm>
          <a:prstGeom prst="line">
            <a:avLst/>
          </a:prstGeom>
          <a:noFill/>
          <a:ln w="9525">
            <a:solidFill>
              <a:schemeClr val="accent5"/>
            </a:solidFill>
            <a:prstDash val="sysDot"/>
          </a:ln>
        </p:spPr>
      </p:sp>
      <p:sp>
        <p:nvSpPr>
          <p:cNvPr id="15" name="Arrow caption"/>
          <p:cNvSpPr txBox="1"/>
          <p:nvPr/>
        </p:nvSpPr>
        <p:spPr>
          <a:xfrm>
            <a:off x="2990088" y="2468880"/>
            <a:ext cx="1463040" cy="457200"/>
          </a:xfrm>
          <a:prstGeom prst="rect">
            <a:avLst/>
          </a:prstGeom>
          <a:noFill/>
          <a:ln/>
        </p:spPr>
        <p:txBody>
          <a:bodyPr wrap="square" lIns="0" tIns="0" rIns="0" bIns="0" rtlCol="0" anchor="t"/>
          <a:lstStyle/>
          <a:p>
            <a:pPr algn="ctr" indent="0" marL="0">
              <a:buNone/>
            </a:pPr>
            <a:r>
              <a:rPr lang="en-US" sz="1100" i="1" dirty="0">
                <a:solidFill>
                  <a:schemeClr val="accent5"/>
                </a:solidFill>
              </a:rPr>
              <a:t>chỉ đoán được mình</a:t>
            </a:r>
            <a:endParaRPr lang="en-US" sz="1100" dirty="0"/>
          </a:p>
        </p:txBody>
      </p:sp>
      <p:sp>
        <p:nvSpPr>
          <p:cNvPr id="16" name="VD3 box"/>
          <p:cNvSpPr/>
          <p:nvPr/>
        </p:nvSpPr>
        <p:spPr>
          <a:xfrm>
            <a:off x="3858768" y="1280160"/>
            <a:ext cx="1426464" cy="1005840"/>
          </a:xfrm>
          <a:prstGeom prst="roundRect">
            <a:avLst>
              <a:gd name="adj" fmla="val 9091"/>
            </a:avLst>
          </a:prstGeom>
          <a:solidFill>
            <a:schemeClr val="bg2"/>
          </a:solidFill>
          <a:ln w="12700">
            <a:solidFill>
              <a:schemeClr val="accent1"/>
            </a:solidFill>
            <a:prstDash val="solid"/>
          </a:ln>
        </p:spPr>
      </p:sp>
      <p:sp>
        <p:nvSpPr>
          <p:cNvPr id="17" name="Text 15"/>
          <p:cNvSpPr txBox="1"/>
          <p:nvPr/>
        </p:nvSpPr>
        <p:spPr>
          <a:xfrm>
            <a:off x="3950208" y="1371600"/>
            <a:ext cx="1243584" cy="822960"/>
          </a:xfrm>
          <a:prstGeom prst="rect">
            <a:avLst/>
          </a:prstGeom>
          <a:noFill/>
          <a:ln/>
        </p:spPr>
        <p:txBody>
          <a:bodyPr wrap="square" lIns="0" tIns="0" rIns="0" bIns="0" rtlCol="0" anchor="t"/>
          <a:lstStyle/>
          <a:p>
            <a:pPr indent="0" marL="0">
              <a:buNone/>
            </a:pPr>
            <a:r>
              <a:rPr lang="en-US" sz="1100" b="1" dirty="0">
                <a:solidFill>
                  <a:schemeClr val="accent1"/>
                </a:solidFill>
              </a:rPr>
              <a:t>VĐ3</a:t>
            </a:r>
            <a:endParaRPr lang="en-US" sz="1100" dirty="0"/>
          </a:p>
          <a:p>
            <a:pPr indent="0" marL="0">
              <a:buNone/>
            </a:pPr>
            <a:r>
              <a:rPr lang="en-US" sz="1300" b="1" dirty="0">
                <a:solidFill>
                  <a:schemeClr val="tx1"/>
                </a:solidFill>
              </a:rPr>
              <a:t>Đối thủ giật</a:t>
            </a:r>
            <a:endParaRPr lang="en-US" sz="1100" dirty="0"/>
          </a:p>
        </p:txBody>
      </p:sp>
      <p:sp>
        <p:nvSpPr>
          <p:cNvPr id="18" name="Arrow"/>
          <p:cNvSpPr/>
          <p:nvPr/>
        </p:nvSpPr>
        <p:spPr>
          <a:xfrm>
            <a:off x="5312664" y="1783080"/>
            <a:ext cx="219456" cy="0"/>
          </a:xfrm>
          <a:prstGeom prst="line">
            <a:avLst/>
          </a:prstGeom>
          <a:noFill/>
          <a:ln w="22225">
            <a:solidFill>
              <a:schemeClr val="accent1"/>
            </a:solidFill>
            <a:prstDash val="solid"/>
            <a:tailEnd type="triangle"/>
          </a:ln>
        </p:spPr>
      </p:sp>
      <p:sp>
        <p:nvSpPr>
          <p:cNvPr id="19" name="Caption tick"/>
          <p:cNvSpPr/>
          <p:nvPr/>
        </p:nvSpPr>
        <p:spPr>
          <a:xfrm>
            <a:off x="5422392" y="1892808"/>
            <a:ext cx="0" cy="548640"/>
          </a:xfrm>
          <a:prstGeom prst="line">
            <a:avLst/>
          </a:prstGeom>
          <a:noFill/>
          <a:ln w="9525">
            <a:solidFill>
              <a:schemeClr val="accent5"/>
            </a:solidFill>
            <a:prstDash val="sysDot"/>
          </a:ln>
        </p:spPr>
      </p:sp>
      <p:sp>
        <p:nvSpPr>
          <p:cNvPr id="20" name="Arrow caption"/>
          <p:cNvSpPr txBox="1"/>
          <p:nvPr/>
        </p:nvSpPr>
        <p:spPr>
          <a:xfrm>
            <a:off x="4690872" y="2468880"/>
            <a:ext cx="1463040" cy="457200"/>
          </a:xfrm>
          <a:prstGeom prst="rect">
            <a:avLst/>
          </a:prstGeom>
          <a:noFill/>
          <a:ln/>
        </p:spPr>
        <p:txBody>
          <a:bodyPr wrap="square" lIns="0" tIns="0" rIns="0" bIns="0" rtlCol="0" anchor="t"/>
          <a:lstStyle/>
          <a:p>
            <a:pPr algn="ctr" indent="0" marL="0">
              <a:buNone/>
            </a:pPr>
            <a:r>
              <a:rPr lang="en-US" sz="1100" i="1" dirty="0">
                <a:solidFill>
                  <a:schemeClr val="accent5"/>
                </a:solidFill>
              </a:rPr>
              <a:t>đối thủ ở quá khứ</a:t>
            </a:r>
            <a:endParaRPr lang="en-US" sz="1100" dirty="0"/>
          </a:p>
        </p:txBody>
      </p:sp>
      <p:sp>
        <p:nvSpPr>
          <p:cNvPr id="21" name="VD4 box"/>
          <p:cNvSpPr/>
          <p:nvPr/>
        </p:nvSpPr>
        <p:spPr>
          <a:xfrm>
            <a:off x="5559552" y="1280160"/>
            <a:ext cx="1426464" cy="1005840"/>
          </a:xfrm>
          <a:prstGeom prst="roundRect">
            <a:avLst>
              <a:gd name="adj" fmla="val 9091"/>
            </a:avLst>
          </a:prstGeom>
          <a:solidFill>
            <a:schemeClr val="bg2"/>
          </a:solidFill>
          <a:ln w="12700">
            <a:solidFill>
              <a:schemeClr val="accent1"/>
            </a:solidFill>
            <a:prstDash val="solid"/>
          </a:ln>
        </p:spPr>
      </p:sp>
      <p:sp>
        <p:nvSpPr>
          <p:cNvPr id="22" name="Text 20"/>
          <p:cNvSpPr txBox="1"/>
          <p:nvPr/>
        </p:nvSpPr>
        <p:spPr>
          <a:xfrm>
            <a:off x="5650992" y="1371600"/>
            <a:ext cx="1243584" cy="822960"/>
          </a:xfrm>
          <a:prstGeom prst="rect">
            <a:avLst/>
          </a:prstGeom>
          <a:noFill/>
          <a:ln/>
        </p:spPr>
        <p:txBody>
          <a:bodyPr wrap="square" lIns="0" tIns="0" rIns="0" bIns="0" rtlCol="0" anchor="t"/>
          <a:lstStyle/>
          <a:p>
            <a:pPr indent="0" marL="0">
              <a:buNone/>
            </a:pPr>
            <a:r>
              <a:rPr lang="en-US" sz="1100" b="1" dirty="0">
                <a:solidFill>
                  <a:schemeClr val="accent1"/>
                </a:solidFill>
              </a:rPr>
              <a:t>VĐ4</a:t>
            </a:r>
            <a:endParaRPr lang="en-US" sz="1100" dirty="0"/>
          </a:p>
          <a:p>
            <a:pPr indent="0" marL="0">
              <a:buNone/>
            </a:pPr>
            <a:r>
              <a:rPr lang="en-US" sz="1300" b="1" dirty="0">
                <a:solidFill>
                  <a:schemeClr val="tx1"/>
                </a:solidFill>
              </a:rPr>
              <a:t>Tương tác không công bằng</a:t>
            </a:r>
            <a:endParaRPr lang="en-US" sz="1100" dirty="0"/>
          </a:p>
        </p:txBody>
      </p:sp>
      <p:sp>
        <p:nvSpPr>
          <p:cNvPr id="23" name="Arrow"/>
          <p:cNvSpPr/>
          <p:nvPr/>
        </p:nvSpPr>
        <p:spPr>
          <a:xfrm>
            <a:off x="7013448" y="1783080"/>
            <a:ext cx="219456" cy="0"/>
          </a:xfrm>
          <a:prstGeom prst="line">
            <a:avLst/>
          </a:prstGeom>
          <a:noFill/>
          <a:ln w="22225">
            <a:solidFill>
              <a:schemeClr val="accent1"/>
            </a:solidFill>
            <a:prstDash val="solid"/>
            <a:tailEnd type="triangle"/>
          </a:ln>
        </p:spPr>
      </p:sp>
      <p:sp>
        <p:nvSpPr>
          <p:cNvPr id="24" name="Caption tick"/>
          <p:cNvSpPr/>
          <p:nvPr/>
        </p:nvSpPr>
        <p:spPr>
          <a:xfrm>
            <a:off x="7123176" y="1892808"/>
            <a:ext cx="0" cy="548640"/>
          </a:xfrm>
          <a:prstGeom prst="line">
            <a:avLst/>
          </a:prstGeom>
          <a:noFill/>
          <a:ln w="9525">
            <a:solidFill>
              <a:schemeClr val="accent5"/>
            </a:solidFill>
            <a:prstDash val="sysDot"/>
          </a:ln>
        </p:spPr>
      </p:sp>
      <p:sp>
        <p:nvSpPr>
          <p:cNvPr id="25" name="Arrow caption"/>
          <p:cNvSpPr txBox="1"/>
          <p:nvPr/>
        </p:nvSpPr>
        <p:spPr>
          <a:xfrm>
            <a:off x="6391656" y="2468880"/>
            <a:ext cx="1463040" cy="457200"/>
          </a:xfrm>
          <a:prstGeom prst="rect">
            <a:avLst/>
          </a:prstGeom>
          <a:noFill/>
          <a:ln/>
        </p:spPr>
        <p:txBody>
          <a:bodyPr wrap="square" lIns="0" tIns="0" rIns="0" bIns="0" rtlCol="0" anchor="t"/>
          <a:lstStyle/>
          <a:p>
            <a:pPr algn="ctr" indent="0" marL="0">
              <a:buNone/>
            </a:pPr>
            <a:r>
              <a:rPr lang="en-US" sz="1100" i="1" dirty="0">
                <a:solidFill>
                  <a:schemeClr val="accent5"/>
                </a:solidFill>
              </a:rPr>
              <a:t>server có thể quyết khác</a:t>
            </a:r>
            <a:endParaRPr lang="en-US" sz="1100" dirty="0"/>
          </a:p>
        </p:txBody>
      </p:sp>
      <p:sp>
        <p:nvSpPr>
          <p:cNvPr id="26" name="VD5 box"/>
          <p:cNvSpPr/>
          <p:nvPr/>
        </p:nvSpPr>
        <p:spPr>
          <a:xfrm>
            <a:off x="7260336" y="1280160"/>
            <a:ext cx="1426464" cy="1005840"/>
          </a:xfrm>
          <a:prstGeom prst="roundRect">
            <a:avLst>
              <a:gd name="adj" fmla="val 9091"/>
            </a:avLst>
          </a:prstGeom>
          <a:solidFill>
            <a:schemeClr val="bg2"/>
          </a:solidFill>
          <a:ln w="12700">
            <a:solidFill>
              <a:schemeClr val="accent1"/>
            </a:solidFill>
            <a:prstDash val="solid"/>
          </a:ln>
        </p:spPr>
      </p:sp>
      <p:sp>
        <p:nvSpPr>
          <p:cNvPr id="27" name="Text 25"/>
          <p:cNvSpPr txBox="1"/>
          <p:nvPr/>
        </p:nvSpPr>
        <p:spPr>
          <a:xfrm>
            <a:off x="7351776" y="1371600"/>
            <a:ext cx="1243584" cy="822960"/>
          </a:xfrm>
          <a:prstGeom prst="rect">
            <a:avLst/>
          </a:prstGeom>
          <a:noFill/>
          <a:ln/>
        </p:spPr>
        <p:txBody>
          <a:bodyPr wrap="square" lIns="0" tIns="0" rIns="0" bIns="0" rtlCol="0" anchor="t"/>
          <a:lstStyle/>
          <a:p>
            <a:pPr indent="0" marL="0">
              <a:buNone/>
            </a:pPr>
            <a:r>
              <a:rPr lang="en-US" sz="1100" b="1" dirty="0">
                <a:solidFill>
                  <a:schemeClr val="accent1"/>
                </a:solidFill>
              </a:rPr>
              <a:t>VĐ5</a:t>
            </a:r>
            <a:endParaRPr lang="en-US" sz="1100" dirty="0"/>
          </a:p>
          <a:p>
            <a:pPr indent="0" marL="0">
              <a:buNone/>
            </a:pPr>
            <a:r>
              <a:rPr lang="en-US" sz="1300" b="1" dirty="0">
                <a:solidFill>
                  <a:schemeClr val="tx1"/>
                </a:solidFill>
              </a:rPr>
              <a:t>Dự đoán hành động bị sai</a:t>
            </a:r>
            <a:endParaRPr lang="en-US" sz="1100" dirty="0"/>
          </a:p>
        </p:txBody>
      </p:sp>
      <p:sp>
        <p:nvSpPr>
          <p:cNvPr id="28" name="Body text"/>
          <p:cNvSpPr txBox="1"/>
          <p:nvPr/>
        </p:nvSpPr>
        <p:spPr>
          <a:xfrm>
            <a:off x="457200" y="3108960"/>
            <a:ext cx="8229600" cy="32004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Giải pháp của vấn đề trước </a:t>
            </a:r>
            <a:pPr algn="l" marL="177800" indent="-177800">
              <a:spcAft>
                <a:spcPts val="600"/>
              </a:spcAft>
              <a:buSzPct val="100000"/>
              <a:buChar char="•"/>
            </a:pPr>
            <a:r>
              <a:rPr lang="en-US" sz="1400" b="1" dirty="0">
                <a:solidFill>
                  <a:schemeClr val="tx1"/>
                </a:solidFill>
              </a:rPr>
              <a:t>làm lộ ra</a:t>
            </a:r>
            <a:pPr algn="l" marL="177800" indent="-177800">
              <a:spcAft>
                <a:spcPts val="600"/>
              </a:spcAft>
              <a:buSzPct val="100000"/>
              <a:buChar char="•"/>
            </a:pPr>
            <a:r>
              <a:rPr lang="en-US" sz="1400" dirty="0">
                <a:solidFill>
                  <a:schemeClr val="tx1"/>
                </a:solidFill>
              </a:rPr>
              <a:t> vấn đề sau</a:t>
            </a:r>
            <a:endParaRPr lang="en-US" sz="1400" dirty="0"/>
          </a:p>
        </p:txBody>
      </p:sp>
      <p:sp>
        <p:nvSpPr>
          <p:cNvPr id="29" name="Text 27"/>
          <p:cNvSpPr txBox="1"/>
          <p:nvPr/>
        </p:nvSpPr>
        <p:spPr>
          <a:xfrm>
            <a:off x="457200" y="3611880"/>
            <a:ext cx="3657600" cy="228600"/>
          </a:xfrm>
          <a:prstGeom prst="rect">
            <a:avLst/>
          </a:prstGeom>
          <a:noFill/>
          <a:ln/>
        </p:spPr>
        <p:txBody>
          <a:bodyPr wrap="square" lIns="0" tIns="0" rIns="0" bIns="0" rtlCol="0" anchor="ctr"/>
          <a:lstStyle/>
          <a:p>
            <a:pPr indent="0" marL="0">
              <a:buNone/>
            </a:pPr>
            <a:r>
              <a:rPr lang="en-US" sz="1000" b="1" spc="150" kern="0" dirty="0">
                <a:solidFill>
                  <a:schemeClr val="accent5"/>
                </a:solidFill>
              </a:rPr>
              <a:t>TIÊU CHÍ CHỌN GIẢI PHÁP</a:t>
            </a:r>
            <a:endParaRPr lang="en-US" sz="1000" dirty="0"/>
          </a:p>
        </p:txBody>
      </p:sp>
      <p:sp>
        <p:nvSpPr>
          <p:cNvPr id="30" name="Criterion chip"/>
          <p:cNvSpPr/>
          <p:nvPr/>
        </p:nvSpPr>
        <p:spPr>
          <a:xfrm>
            <a:off x="457200" y="3913632"/>
            <a:ext cx="1600200" cy="365760"/>
          </a:xfrm>
          <a:prstGeom prst="roundRect">
            <a:avLst>
              <a:gd name="adj" fmla="val 50000"/>
            </a:avLst>
          </a:prstGeom>
          <a:solidFill>
            <a:schemeClr val="accent1"/>
          </a:solidFill>
          <a:ln w="9525">
            <a:solidFill>
              <a:schemeClr val="accent1"/>
            </a:solidFill>
            <a:prstDash val="solid"/>
          </a:ln>
        </p:spPr>
      </p:sp>
      <p:sp>
        <p:nvSpPr>
          <p:cNvPr id="31" name="Text 29"/>
          <p:cNvSpPr txBox="1"/>
          <p:nvPr/>
        </p:nvSpPr>
        <p:spPr>
          <a:xfrm>
            <a:off x="457200" y="3913632"/>
            <a:ext cx="1600200" cy="365760"/>
          </a:xfrm>
          <a:prstGeom prst="rect">
            <a:avLst/>
          </a:prstGeom>
          <a:noFill/>
          <a:ln/>
        </p:spPr>
        <p:txBody>
          <a:bodyPr wrap="square" lIns="0" tIns="0" rIns="0" bIns="0" rtlCol="0" anchor="ctr"/>
          <a:lstStyle/>
          <a:p>
            <a:pPr algn="ctr" indent="0" marL="0">
              <a:buNone/>
            </a:pPr>
            <a:r>
              <a:rPr lang="en-US" sz="1200" b="1" dirty="0">
                <a:solidFill>
                  <a:schemeClr val="bg1"/>
                </a:solidFill>
              </a:rPr>
              <a:t>Phản hồi · ưu tiên</a:t>
            </a:r>
            <a:endParaRPr lang="en-US" sz="1200" dirty="0"/>
          </a:p>
        </p:txBody>
      </p:sp>
      <p:sp>
        <p:nvSpPr>
          <p:cNvPr id="32" name="Criterion chip"/>
          <p:cNvSpPr/>
          <p:nvPr/>
        </p:nvSpPr>
        <p:spPr>
          <a:xfrm>
            <a:off x="2194560" y="3913632"/>
            <a:ext cx="1645920" cy="365760"/>
          </a:xfrm>
          <a:prstGeom prst="roundRect">
            <a:avLst>
              <a:gd name="adj" fmla="val 50000"/>
            </a:avLst>
          </a:prstGeom>
          <a:solidFill>
            <a:schemeClr val="accent1"/>
          </a:solidFill>
          <a:ln w="9525">
            <a:solidFill>
              <a:schemeClr val="accent1"/>
            </a:solidFill>
            <a:prstDash val="solid"/>
          </a:ln>
        </p:spPr>
      </p:sp>
      <p:sp>
        <p:nvSpPr>
          <p:cNvPr id="33" name="Text 31"/>
          <p:cNvSpPr txBox="1"/>
          <p:nvPr/>
        </p:nvSpPr>
        <p:spPr>
          <a:xfrm>
            <a:off x="2194560" y="3913632"/>
            <a:ext cx="1645920" cy="365760"/>
          </a:xfrm>
          <a:prstGeom prst="rect">
            <a:avLst/>
          </a:prstGeom>
          <a:noFill/>
          <a:ln/>
        </p:spPr>
        <p:txBody>
          <a:bodyPr wrap="square" lIns="0" tIns="0" rIns="0" bIns="0" rtlCol="0" anchor="ctr"/>
          <a:lstStyle/>
          <a:p>
            <a:pPr algn="ctr" indent="0" marL="0">
              <a:buNone/>
            </a:pPr>
            <a:r>
              <a:rPr lang="en-US" sz="1200" b="1" dirty="0">
                <a:solidFill>
                  <a:schemeClr val="bg1"/>
                </a:solidFill>
              </a:rPr>
              <a:t>Nhất quán · ưu tiên</a:t>
            </a:r>
            <a:endParaRPr lang="en-US" sz="1200" dirty="0"/>
          </a:p>
        </p:txBody>
      </p:sp>
      <p:sp>
        <p:nvSpPr>
          <p:cNvPr id="34" name="Criterion chip"/>
          <p:cNvSpPr/>
          <p:nvPr/>
        </p:nvSpPr>
        <p:spPr>
          <a:xfrm>
            <a:off x="3977640" y="3913632"/>
            <a:ext cx="1325880" cy="365760"/>
          </a:xfrm>
          <a:prstGeom prst="roundRect">
            <a:avLst>
              <a:gd name="adj" fmla="val 50000"/>
            </a:avLst>
          </a:prstGeom>
          <a:solidFill>
            <a:schemeClr val="bg2"/>
          </a:solidFill>
          <a:ln w="9525">
            <a:solidFill>
              <a:schemeClr val="accent5"/>
            </a:solidFill>
            <a:prstDash val="solid"/>
          </a:ln>
        </p:spPr>
      </p:sp>
      <p:sp>
        <p:nvSpPr>
          <p:cNvPr id="35" name="Text 33"/>
          <p:cNvSpPr txBox="1"/>
          <p:nvPr/>
        </p:nvSpPr>
        <p:spPr>
          <a:xfrm>
            <a:off x="3977640" y="3913632"/>
            <a:ext cx="1325880" cy="365760"/>
          </a:xfrm>
          <a:prstGeom prst="rect">
            <a:avLst/>
          </a:prstGeom>
          <a:noFill/>
          <a:ln/>
        </p:spPr>
        <p:txBody>
          <a:bodyPr wrap="square" lIns="0" tIns="0" rIns="0" bIns="0" rtlCol="0" anchor="ctr"/>
          <a:lstStyle/>
          <a:p>
            <a:pPr algn="ctr" indent="0" marL="0">
              <a:buNone/>
            </a:pPr>
            <a:r>
              <a:rPr lang="en-US" sz="1200" dirty="0">
                <a:solidFill>
                  <a:schemeClr val="tx1"/>
                </a:solidFill>
              </a:rPr>
              <a:t>Chịu mạng xấu</a:t>
            </a:r>
            <a:endParaRPr lang="en-US" sz="1200" dirty="0"/>
          </a:p>
        </p:txBody>
      </p:sp>
      <p:sp>
        <p:nvSpPr>
          <p:cNvPr id="36" name="Criterion chip"/>
          <p:cNvSpPr/>
          <p:nvPr/>
        </p:nvSpPr>
        <p:spPr>
          <a:xfrm>
            <a:off x="5440680" y="3913632"/>
            <a:ext cx="1188720" cy="365760"/>
          </a:xfrm>
          <a:prstGeom prst="roundRect">
            <a:avLst>
              <a:gd name="adj" fmla="val 50000"/>
            </a:avLst>
          </a:prstGeom>
          <a:solidFill>
            <a:schemeClr val="bg2"/>
          </a:solidFill>
          <a:ln w="9525">
            <a:solidFill>
              <a:schemeClr val="accent5"/>
            </a:solidFill>
            <a:prstDash val="solid"/>
          </a:ln>
        </p:spPr>
      </p:sp>
      <p:sp>
        <p:nvSpPr>
          <p:cNvPr id="37" name="Text 35"/>
          <p:cNvSpPr txBox="1"/>
          <p:nvPr/>
        </p:nvSpPr>
        <p:spPr>
          <a:xfrm>
            <a:off x="5440680" y="3913632"/>
            <a:ext cx="1188720" cy="365760"/>
          </a:xfrm>
          <a:prstGeom prst="rect">
            <a:avLst/>
          </a:prstGeom>
          <a:noFill/>
          <a:ln/>
        </p:spPr>
        <p:txBody>
          <a:bodyPr wrap="square" lIns="0" tIns="0" rIns="0" bIns="0" rtlCol="0" anchor="ctr"/>
          <a:lstStyle/>
          <a:p>
            <a:pPr algn="ctr" indent="0" marL="0">
              <a:buNone/>
            </a:pPr>
            <a:r>
              <a:rPr lang="en-US" sz="1200" dirty="0">
                <a:solidFill>
                  <a:schemeClr val="tx1"/>
                </a:solidFill>
              </a:rPr>
              <a:t>Độ phức tạp</a:t>
            </a:r>
            <a:endParaRPr lang="en-US" sz="1200" dirty="0"/>
          </a:p>
        </p:txBody>
      </p:sp>
      <p:sp>
        <p:nvSpPr>
          <p:cNvPr id="38" name="Criterion chip"/>
          <p:cNvSpPr/>
          <p:nvPr/>
        </p:nvSpPr>
        <p:spPr>
          <a:xfrm>
            <a:off x="6766560" y="3913632"/>
            <a:ext cx="1554480" cy="365760"/>
          </a:xfrm>
          <a:prstGeom prst="roundRect">
            <a:avLst>
              <a:gd name="adj" fmla="val 50000"/>
            </a:avLst>
          </a:prstGeom>
          <a:solidFill>
            <a:schemeClr val="bg2"/>
          </a:solidFill>
          <a:ln w="9525">
            <a:solidFill>
              <a:schemeClr val="accent5"/>
            </a:solidFill>
            <a:prstDash val="solid"/>
          </a:ln>
        </p:spPr>
      </p:sp>
      <p:sp>
        <p:nvSpPr>
          <p:cNvPr id="39" name="Text 37"/>
          <p:cNvSpPr txBox="1"/>
          <p:nvPr/>
        </p:nvSpPr>
        <p:spPr>
          <a:xfrm>
            <a:off x="6766560" y="3913632"/>
            <a:ext cx="1554480" cy="365760"/>
          </a:xfrm>
          <a:prstGeom prst="rect">
            <a:avLst/>
          </a:prstGeom>
          <a:noFill/>
          <a:ln/>
        </p:spPr>
        <p:txBody>
          <a:bodyPr wrap="square" lIns="0" tIns="0" rIns="0" bIns="0" rtlCol="0" anchor="ctr"/>
          <a:lstStyle/>
          <a:p>
            <a:pPr algn="ctr" indent="0" marL="0">
              <a:buNone/>
            </a:pPr>
            <a:r>
              <a:rPr lang="en-US" sz="1200" dirty="0">
                <a:solidFill>
                  <a:schemeClr val="tx1"/>
                </a:solidFill>
              </a:rPr>
              <a:t>Phù hợp loại game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VẤN ĐỀ 1</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Ai giữ quyền quyết định trạng thái?</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1"/>
          </a:solidFill>
          <a:ln w="12700">
            <a:solidFill>
              <a:schemeClr val="accent1"/>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#1 · 1'</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514600"/>
                <a:gridCol w="1325880"/>
                <a:gridCol w="1280160"/>
                <a:gridCol w="3108960"/>
              </a:tblGrid>
              <a:tr h="347472">
                <a:tc>
                  <a:txBody>
                    <a:bodyPr/>
                    <a:lstStyle/>
                    <a:p>
                      <a:pPr indent="0" marL="0">
                        <a:buNone/>
                      </a:pPr>
                      <a:r>
                        <a:rPr lang="en-US" sz="1300" b="1" dirty="0">
                          <a:solidFill>
                            <a:schemeClr val="bg1"/>
                          </a:solidFill>
                        </a:rPr>
                        <a:t>Hướng</a:t>
                      </a:r>
                      <a:endParaRPr lang="en-US" sz="13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Phản hồi</a:t>
                      </a:r>
                      <a:endParaRPr lang="en-US" sz="13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Chống gian lận</a:t>
                      </a:r>
                      <a:endParaRPr lang="en-US" sz="13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Ghi chú</a:t>
                      </a:r>
                      <a:endParaRPr lang="en-US" sz="13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tx1"/>
                    </a:solidFill>
                  </a:tcPr>
                </a:tc>
              </a:tr>
              <a:tr h="548640">
                <a:tc>
                  <a:txBody>
                    <a:bodyPr/>
                    <a:lstStyle/>
                    <a:p>
                      <a:pPr indent="0" marL="0">
                        <a:buNone/>
                      </a:pPr>
                      <a:r>
                        <a:rPr lang="en-US" sz="1400" dirty="0">
                          <a:solidFill>
                            <a:schemeClr val="tx1"/>
                          </a:solidFill>
                        </a:rPr>
                        <a:t>Client tự quyết, server chuyển tiếp</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c>
                  <a:txBody>
                    <a:bodyPr/>
                    <a:lstStyle/>
                    <a:p>
                      <a:pPr indent="0" marL="0">
                        <a:buNone/>
                      </a:pPr>
                      <a:r>
                        <a:rPr lang="en-US" sz="1600" dirty="0">
                          <a:solidFill>
                            <a:schemeClr val="accent1"/>
                          </a:solidFill>
                        </a:rPr>
                        <a:t>●</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c>
                  <a:txBody>
                    <a:bodyPr/>
                    <a:lstStyle/>
                    <a:p>
                      <a:pPr indent="0" marL="0">
                        <a:buNone/>
                      </a:pPr>
                      <a:r>
                        <a:rPr lang="en-US" sz="1600" dirty="0">
                          <a:solidFill>
                            <a:schemeClr val="accent5"/>
                          </a:solidFill>
                        </a:rPr>
                        <a:t>○</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Sửa gói tin là dịch chuyển, hack tốc độ, tự cộng điểm</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r>
              <a:tr h="548640">
                <a:tc>
                  <a:txBody>
                    <a:bodyPr/>
                    <a:lstStyle/>
                    <a:p>
                      <a:pPr indent="0" marL="0">
                        <a:buNone/>
                      </a:pPr>
                      <a:r>
                        <a:rPr lang="en-US" sz="1400" dirty="0">
                          <a:solidFill>
                            <a:schemeClr val="tx1"/>
                          </a:solidFill>
                        </a:rPr>
                        <a:t>Đồng bộ theo bước (ngang hàng)</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c>
                  <a:txBody>
                    <a:bodyPr/>
                    <a:lstStyle/>
                    <a:p>
                      <a:pPr indent="0" marL="0">
                        <a:buNone/>
                      </a:pPr>
                      <a:r>
                        <a:rPr lang="en-US" sz="1600" dirty="0">
                          <a:solidFill>
                            <a:schemeClr val="accent5"/>
                          </a:solidFill>
                        </a:rPr>
                        <a:t>○</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c>
                  <a:txBody>
                    <a:bodyPr/>
                    <a:lstStyle/>
                    <a:p>
                      <a:pPr indent="0" marL="0">
                        <a:buNone/>
                      </a:pPr>
                      <a:r>
                        <a:rPr lang="en-US" sz="1600" dirty="0">
                          <a:solidFill>
                            <a:schemeClr val="accent3"/>
                          </a:solidFill>
                        </a:rPr>
                        <a:t>◐</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Chờ người chậm nhất; cần tất định tuyệt đối</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Server quyết định</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accent6"/>
                    </a:solidFill>
                  </a:tcPr>
                </a:tc>
                <a:tc>
                  <a:txBody>
                    <a:bodyPr/>
                    <a:lstStyle/>
                    <a:p>
                      <a:pPr indent="0" marL="0">
                        <a:buNone/>
                      </a:pPr>
                      <a:r>
                        <a:rPr lang="en-US" sz="1600" b="1" dirty="0">
                          <a:solidFill>
                            <a:schemeClr val="accent5"/>
                          </a:solidFill>
                        </a:rPr>
                        <a:t>○</a:t>
                      </a:r>
                      <a:pPr indent="0" marL="0">
                        <a:buNone/>
                      </a:pPr>
                      <a:r>
                        <a:rPr lang="en-US" sz="1200" b="1" dirty="0">
                          <a:solidFill>
                            <a:schemeClr val="accent5"/>
                          </a:solidFill>
                        </a:rPr>
                        <a:t> (giải ở VĐ2)</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accent6"/>
                    </a:solidFill>
                  </a:tcPr>
                </a:tc>
                <a:tc>
                  <a:txBody>
                    <a:bodyPr/>
                    <a:lstStyle/>
                    <a:p>
                      <a:pPr indent="0" marL="0">
                        <a:buNone/>
                      </a:pPr>
                      <a:r>
                        <a:rPr lang="en-US" sz="1600" b="1" dirty="0">
                          <a:solidFill>
                            <a:schemeClr val="accent1"/>
                          </a:solidFill>
                        </a:rPr>
                        <a:t>●</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accent6"/>
                    </a:solidFill>
                  </a:tcPr>
                </a:tc>
                <a:tc>
                  <a:txBody>
                    <a:bodyPr/>
                    <a:lstStyle/>
                    <a:p>
                      <a:pPr indent="0" marL="0">
                        <a:buNone/>
                      </a:pPr>
                      <a:r>
                        <a:rPr lang="en-US" sz="1400" b="1" dirty="0">
                          <a:solidFill>
                            <a:schemeClr val="tx1"/>
                          </a:solidFill>
                        </a:rPr>
                        <a:t>Client chỉ gửi lệnh điều khiển</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accent6"/>
                    </a:solidFill>
                  </a:tcPr>
                </a:tc>
              </a:tr>
            </a:tbl>
          </a:graphicData>
        </a:graphic>
      </p:graphicFrame>
      <p:sp>
        <p:nvSpPr>
          <p:cNvPr id="7" name="Placeholder frame"/>
          <p:cNvSpPr/>
          <p:nvPr/>
        </p:nvSpPr>
        <p:spPr>
          <a:xfrm>
            <a:off x="457200" y="3429000"/>
            <a:ext cx="8229600" cy="1188720"/>
          </a:xfrm>
          <a:prstGeom prst="roundRect">
            <a:avLst>
              <a:gd name="adj" fmla="val 6154"/>
            </a:avLst>
          </a:prstGeom>
          <a:solidFill>
            <a:schemeClr val="bg2"/>
          </a:solidFill>
          <a:ln w="15875">
            <a:solidFill>
              <a:schemeClr val="accent1"/>
            </a:solidFill>
            <a:prstDash val="dash"/>
          </a:ln>
        </p:spPr>
      </p:sp>
      <p:sp>
        <p:nvSpPr>
          <p:cNvPr id="8" name="Placeholder label"/>
          <p:cNvSpPr txBox="1"/>
          <p:nvPr/>
        </p:nvSpPr>
        <p:spPr>
          <a:xfrm>
            <a:off x="640080" y="356616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HÌNH CẦN VẼ · HAI SƠ ĐỒ NHỎ ĐẶT CẠNH NHAU</a:t>
            </a:r>
            <a:endParaRPr lang="en-US" sz="1000" dirty="0"/>
          </a:p>
        </p:txBody>
      </p:sp>
      <p:sp>
        <p:nvSpPr>
          <p:cNvPr id="9" name="Placeholder description"/>
          <p:cNvSpPr txBox="1"/>
          <p:nvPr/>
        </p:nvSpPr>
        <p:spPr>
          <a:xfrm>
            <a:off x="640080" y="3886200"/>
            <a:ext cx="7863840" cy="594360"/>
          </a:xfrm>
          <a:prstGeom prst="rect">
            <a:avLst/>
          </a:prstGeom>
          <a:noFill/>
          <a:ln/>
        </p:spPr>
        <p:txBody>
          <a:bodyPr wrap="square" lIns="0" tIns="0" rIns="0" bIns="0" rtlCol="0" anchor="t"/>
          <a:lstStyle/>
          <a:p>
            <a:pPr algn="l" marL="177800" indent="-177800">
              <a:spcAft>
                <a:spcPts val="400"/>
              </a:spcAft>
              <a:buSzPct val="100000"/>
              <a:buChar char="•"/>
            </a:pPr>
            <a:r>
              <a:rPr lang="en-US" sz="1200" dirty="0">
                <a:solidFill>
                  <a:schemeClr val="accent5"/>
                </a:solidFill>
              </a:rPr>
              <a:t>Trái: Client gửi </a:t>
            </a:r>
            <a:pPr algn="l" marL="177800" indent="-177800">
              <a:spcAft>
                <a:spcPts val="400"/>
              </a:spcAft>
              <a:buSzPct val="100000"/>
              <a:buChar char="•"/>
            </a:pPr>
            <a:r>
              <a:rPr lang="en-US" sz="1200" dirty="0">
                <a:solidFill>
                  <a:schemeClr val="accent5"/>
                </a:solidFill>
                <a:latin typeface="Courier New" pitchFamily="34" charset="0"/>
                <a:ea typeface="Courier New" pitchFamily="34" charset="-122"/>
                <a:cs typeface="Courier New" pitchFamily="34" charset="-120"/>
              </a:rPr>
              <a:t>vị trí = (3,5)</a:t>
            </a:r>
            <a:pPr algn="l" marL="177800" indent="-177800">
              <a:spcAft>
                <a:spcPts val="400"/>
              </a:spcAft>
              <a:buSzPct val="100000"/>
              <a:buChar char="•"/>
            </a:pPr>
            <a:r>
              <a:rPr lang="en-US" sz="1200" dirty="0">
                <a:solidFill>
                  <a:schemeClr val="accent5"/>
                </a:solidFill>
              </a:rPr>
              <a:t>, server chuyển tiếp thẳng; chú thích đỏ “server tin luôn”</a:t>
            </a:r>
            <a:endParaRPr lang="en-US" sz="1200" dirty="0"/>
          </a:p>
          <a:p>
            <a:pPr algn="l" marL="177800" indent="-177800">
              <a:spcAft>
                <a:spcPts val="400"/>
              </a:spcAft>
              <a:buSzPct val="100000"/>
              <a:buChar char="•"/>
            </a:pPr>
            <a:r>
              <a:rPr lang="en-US" sz="1200" dirty="0">
                <a:solidFill>
                  <a:schemeClr val="accent5"/>
                </a:solidFill>
              </a:rPr>
              <a:t>Phải: Client gửi </a:t>
            </a:r>
            <a:pPr algn="l" marL="177800" indent="-177800">
              <a:spcAft>
                <a:spcPts val="400"/>
              </a:spcAft>
              <a:buSzPct val="100000"/>
              <a:buChar char="•"/>
            </a:pPr>
            <a:r>
              <a:rPr lang="en-US" sz="1200" dirty="0">
                <a:solidFill>
                  <a:schemeClr val="accent5"/>
                </a:solidFill>
                <a:latin typeface="Courier New" pitchFamily="34" charset="0"/>
                <a:ea typeface="Courier New" pitchFamily="34" charset="-122"/>
                <a:cs typeface="Courier New" pitchFamily="34" charset="-120"/>
              </a:rPr>
              <a:t>phím D</a:t>
            </a:r>
            <a:pPr algn="l" marL="177800" indent="-177800">
              <a:spcAft>
                <a:spcPts val="400"/>
              </a:spcAft>
              <a:buSzPct val="100000"/>
              <a:buChar char="•"/>
            </a:pPr>
            <a:r>
              <a:rPr lang="en-US" sz="1200" dirty="0">
                <a:solidFill>
                  <a:schemeClr val="accent5"/>
                </a:solidFill>
              </a:rPr>
              <a:t>, server tự tính rồi gửi về ảnh trạng thái</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VẤN ĐỀ 1</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Server quyết định, nhịp cố định, kênh truyền</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1"/>
          </a:solidFill>
          <a:ln w="12700">
            <a:solidFill>
              <a:schemeClr val="accent1"/>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#1 · 1'</a:t>
            </a:r>
            <a:endParaRPr lang="en-US" sz="1100" dirty="0"/>
          </a:p>
        </p:txBody>
      </p:sp>
      <p:sp>
        <p:nvSpPr>
          <p:cNvPr id="6" name="Stat tile"/>
          <p:cNvSpPr/>
          <p:nvPr/>
        </p:nvSpPr>
        <p:spPr>
          <a:xfrm>
            <a:off x="457200" y="1234440"/>
            <a:ext cx="2468880" cy="960120"/>
          </a:xfrm>
          <a:prstGeom prst="roundRect">
            <a:avLst>
              <a:gd name="adj" fmla="val 9524"/>
            </a:avLst>
          </a:prstGeom>
          <a:solidFill>
            <a:schemeClr val="bg2"/>
          </a:solidFill>
          <a:ln w="12700">
            <a:solidFill>
              <a:schemeClr val="bg2"/>
            </a:solidFill>
            <a:prstDash val="solid"/>
          </a:ln>
        </p:spPr>
      </p:sp>
      <p:sp>
        <p:nvSpPr>
          <p:cNvPr id="7" name="Text 5"/>
          <p:cNvSpPr txBox="1"/>
          <p:nvPr/>
        </p:nvSpPr>
        <p:spPr>
          <a:xfrm>
            <a:off x="640080" y="1280160"/>
            <a:ext cx="914400"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30</a:t>
            </a:r>
            <a:endParaRPr lang="en-US" sz="4000" dirty="0"/>
          </a:p>
        </p:txBody>
      </p:sp>
      <p:sp>
        <p:nvSpPr>
          <p:cNvPr id="8" name="Text 6"/>
          <p:cNvSpPr txBox="1"/>
          <p:nvPr/>
        </p:nvSpPr>
        <p:spPr>
          <a:xfrm>
            <a:off x="1554480" y="1280160"/>
            <a:ext cx="1280160" cy="868680"/>
          </a:xfrm>
          <a:prstGeom prst="rect">
            <a:avLst/>
          </a:prstGeom>
          <a:noFill/>
          <a:ln/>
        </p:spPr>
        <p:txBody>
          <a:bodyPr wrap="square" lIns="0" tIns="0" rIns="0" bIns="0" rtlCol="0" anchor="ctr"/>
          <a:lstStyle/>
          <a:p>
            <a:pPr indent="0" marL="0">
              <a:buNone/>
            </a:pPr>
            <a:r>
              <a:rPr lang="en-US" sz="1300" dirty="0">
                <a:solidFill>
                  <a:schemeClr val="tx1"/>
                </a:solidFill>
              </a:rPr>
              <a:t>nhịp mô phỏng mỗi giây (cố định)</a:t>
            </a:r>
            <a:endParaRPr lang="en-US" sz="1300" dirty="0"/>
          </a:p>
        </p:txBody>
      </p:sp>
      <p:sp>
        <p:nvSpPr>
          <p:cNvPr id="9" name="Stat tile"/>
          <p:cNvSpPr/>
          <p:nvPr/>
        </p:nvSpPr>
        <p:spPr>
          <a:xfrm>
            <a:off x="3200400" y="1234440"/>
            <a:ext cx="2468880" cy="960120"/>
          </a:xfrm>
          <a:prstGeom prst="roundRect">
            <a:avLst>
              <a:gd name="adj" fmla="val 9524"/>
            </a:avLst>
          </a:prstGeom>
          <a:solidFill>
            <a:schemeClr val="bg2"/>
          </a:solidFill>
          <a:ln w="12700">
            <a:solidFill>
              <a:schemeClr val="bg2"/>
            </a:solidFill>
            <a:prstDash val="solid"/>
          </a:ln>
        </p:spPr>
      </p:sp>
      <p:sp>
        <p:nvSpPr>
          <p:cNvPr id="10" name="Text 8"/>
          <p:cNvSpPr txBox="1"/>
          <p:nvPr/>
        </p:nvSpPr>
        <p:spPr>
          <a:xfrm>
            <a:off x="3383280" y="1280160"/>
            <a:ext cx="914400" cy="86868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20</a:t>
            </a:r>
            <a:endParaRPr lang="en-US" sz="4000" dirty="0"/>
          </a:p>
        </p:txBody>
      </p:sp>
      <p:sp>
        <p:nvSpPr>
          <p:cNvPr id="11" name="Text 9"/>
          <p:cNvSpPr txBox="1"/>
          <p:nvPr/>
        </p:nvSpPr>
        <p:spPr>
          <a:xfrm>
            <a:off x="4297680" y="1280160"/>
            <a:ext cx="1280160" cy="868680"/>
          </a:xfrm>
          <a:prstGeom prst="rect">
            <a:avLst/>
          </a:prstGeom>
          <a:noFill/>
          <a:ln/>
        </p:spPr>
        <p:txBody>
          <a:bodyPr wrap="square" lIns="0" tIns="0" rIns="0" bIns="0" rtlCol="0" anchor="ctr"/>
          <a:lstStyle/>
          <a:p>
            <a:pPr indent="0" marL="0">
              <a:buNone/>
            </a:pPr>
            <a:r>
              <a:rPr lang="en-US" sz="1300" dirty="0">
                <a:solidFill>
                  <a:schemeClr val="tx1"/>
                </a:solidFill>
              </a:rPr>
              <a:t>ảnh trạng thái gửi mỗi giây</a:t>
            </a:r>
            <a:endParaRPr lang="en-US" sz="1300" dirty="0"/>
          </a:p>
        </p:txBody>
      </p:sp>
      <p:sp>
        <p:nvSpPr>
          <p:cNvPr id="12" name="Body text"/>
          <p:cNvSpPr txBox="1"/>
          <p:nvPr/>
        </p:nvSpPr>
        <p:spPr>
          <a:xfrm>
            <a:off x="457200" y="2423160"/>
            <a:ext cx="5212080" cy="219456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chemeClr val="tx1"/>
                </a:solidFill>
              </a:rPr>
              <a:t>Mỗi nhịp xử lý tối đa </a:t>
            </a:r>
            <a:pPr algn="l" marL="177800" indent="-177800">
              <a:spcAft>
                <a:spcPts val="800"/>
              </a:spcAft>
              <a:buSzPct val="100000"/>
              <a:buChar char="•"/>
            </a:pPr>
            <a:r>
              <a:rPr lang="en-US" sz="1400" b="1" dirty="0">
                <a:solidFill>
                  <a:schemeClr val="tx1"/>
                </a:solidFill>
              </a:rPr>
              <a:t>1 lệnh/người</a:t>
            </a:r>
            <a:pPr algn="l" marL="177800" indent="-177800">
              <a:spcAft>
                <a:spcPts val="800"/>
              </a:spcAft>
              <a:buSzPct val="100000"/>
              <a:buChar char="•"/>
            </a:pPr>
            <a:r>
              <a:rPr lang="en-US" sz="1400" dirty="0">
                <a:solidFill>
                  <a:schemeClr val="tx1"/>
                </a:solidFill>
              </a:rPr>
              <a:t>, nên gửi nhiều lệnh cũng không chạy nhanh hơn</a:t>
            </a:r>
            <a:endParaRPr lang="en-US" sz="1400" dirty="0"/>
          </a:p>
          <a:p>
            <a:pPr algn="l" marL="177800" indent="-177800">
              <a:spcAft>
                <a:spcPts val="800"/>
              </a:spcAft>
              <a:buSzPct val="100000"/>
              <a:buChar char="•"/>
            </a:pPr>
            <a:r>
              <a:rPr lang="en-US" sz="1400" b="1" dirty="0">
                <a:solidFill>
                  <a:schemeClr val="tx1"/>
                </a:solidFill>
              </a:rPr>
              <a:t>TCP:</a:t>
            </a:r>
            <a:pPr algn="l" marL="177800" indent="-177800">
              <a:spcAft>
                <a:spcPts val="800"/>
              </a:spcAft>
              <a:buSzPct val="100000"/>
              <a:buChar char="•"/>
            </a:pPr>
            <a:r>
              <a:rPr lang="en-US" sz="1400" dirty="0">
                <a:solidFill>
                  <a:schemeClr val="tx1"/>
                </a:solidFill>
              </a:rPr>
              <a:t> đăng nhập, ghép trận, kết quả quan trọng · </a:t>
            </a:r>
            <a:pPr algn="l" marL="177800" indent="-177800">
              <a:spcAft>
                <a:spcPts val="800"/>
              </a:spcAft>
              <a:buSzPct val="100000"/>
              <a:buChar char="•"/>
            </a:pPr>
            <a:r>
              <a:rPr lang="en-US" sz="1400" b="1" dirty="0">
                <a:solidFill>
                  <a:schemeClr val="tx1"/>
                </a:solidFill>
              </a:rPr>
              <a:t>UDP:</a:t>
            </a:r>
            <a:pPr algn="l" marL="177800" indent="-177800">
              <a:spcAft>
                <a:spcPts val="800"/>
              </a:spcAft>
              <a:buSzPct val="100000"/>
              <a:buChar char="•"/>
            </a:pPr>
            <a:r>
              <a:rPr lang="en-US" sz="1400" dirty="0">
                <a:solidFill>
                  <a:schemeClr val="tx1"/>
                </a:solidFill>
              </a:rPr>
              <a:t> lệnh, ảnh trạng thái</a:t>
            </a:r>
            <a:endParaRPr lang="en-US" sz="1400" dirty="0"/>
          </a:p>
          <a:p>
            <a:pPr algn="l" marL="177800" indent="-177800">
              <a:spcAft>
                <a:spcPts val="800"/>
              </a:spcAft>
              <a:buSzPct val="100000"/>
              <a:buChar char="•"/>
            </a:pPr>
            <a:r>
              <a:rPr lang="en-US" sz="1400" dirty="0">
                <a:solidFill>
                  <a:schemeClr val="tx1"/>
                </a:solidFill>
              </a:rPr>
              <a:t>Trên UDP tự thêm: </a:t>
            </a:r>
            <a:pPr algn="l" marL="177800" indent="-177800">
              <a:spcAft>
                <a:spcPts val="800"/>
              </a:spcAft>
              <a:buSzPct val="100000"/>
              <a:buChar char="•"/>
            </a:pPr>
            <a:r>
              <a:rPr lang="en-US" sz="1400" b="1" dirty="0">
                <a:solidFill>
                  <a:schemeClr val="tx1"/>
                </a:solidFill>
              </a:rPr>
              <a:t>số thứ tự</a:t>
            </a:r>
            <a:pPr algn="l" marL="177800" indent="-177800">
              <a:spcAft>
                <a:spcPts val="800"/>
              </a:spcAft>
              <a:buSzPct val="100000"/>
              <a:buChar char="•"/>
            </a:pPr>
            <a:r>
              <a:rPr lang="en-US" sz="1400" dirty="0">
                <a:solidFill>
                  <a:schemeClr val="tx1"/>
                </a:solidFill>
              </a:rPr>
              <a:t>, </a:t>
            </a:r>
            <a:pPr algn="l" marL="177800" indent="-177800">
              <a:spcAft>
                <a:spcPts val="800"/>
              </a:spcAft>
              <a:buSzPct val="100000"/>
              <a:buChar char="•"/>
            </a:pPr>
            <a:r>
              <a:rPr lang="en-US" sz="1400" b="1" dirty="0">
                <a:solidFill>
                  <a:schemeClr val="tx1"/>
                </a:solidFill>
              </a:rPr>
              <a:t>xác nhận</a:t>
            </a:r>
            <a:pPr algn="l" marL="177800" indent="-177800">
              <a:spcAft>
                <a:spcPts val="800"/>
              </a:spcAft>
              <a:buSzPct val="100000"/>
              <a:buChar char="•"/>
            </a:pPr>
            <a:r>
              <a:rPr lang="en-US" sz="1400" dirty="0">
                <a:solidFill>
                  <a:schemeClr val="tx1"/>
                </a:solidFill>
              </a:rPr>
              <a:t> (</a:t>
            </a:r>
            <a:pPr algn="l" marL="177800" indent="-177800">
              <a:spcAft>
                <a:spcPts val="800"/>
              </a:spcAft>
              <a:buSzPct val="100000"/>
              <a:buChar char="•"/>
            </a:pPr>
            <a:r>
              <a:rPr lang="en-US" sz="1400" dirty="0">
                <a:solidFill>
                  <a:schemeClr val="tx1"/>
                </a:solidFill>
                <a:latin typeface="Courier New" pitchFamily="34" charset="0"/>
                <a:ea typeface="Courier New" pitchFamily="34" charset="-122"/>
                <a:cs typeface="Courier New" pitchFamily="34" charset="-120"/>
              </a:rPr>
              <a:t>lastProcessedSeq</a:t>
            </a:r>
            <a:pPr algn="l" marL="177800" indent="-177800">
              <a:spcAft>
                <a:spcPts val="800"/>
              </a:spcAft>
              <a:buSzPct val="100000"/>
              <a:buChar char="•"/>
            </a:pPr>
            <a:r>
              <a:rPr lang="en-US" sz="1400" dirty="0">
                <a:solidFill>
                  <a:schemeClr val="tx1"/>
                </a:solidFill>
              </a:rPr>
              <a:t>), </a:t>
            </a:r>
            <a:pPr algn="l" marL="177800" indent="-177800">
              <a:spcAft>
                <a:spcPts val="800"/>
              </a:spcAft>
              <a:buSzPct val="100000"/>
              <a:buChar char="•"/>
            </a:pPr>
            <a:r>
              <a:rPr lang="en-US" sz="1400" b="1" dirty="0">
                <a:solidFill>
                  <a:schemeClr val="tx1"/>
                </a:solidFill>
              </a:rPr>
              <a:t>gửi dư</a:t>
            </a:r>
            <a:pPr algn="l" marL="177800" indent="-177800">
              <a:spcAft>
                <a:spcPts val="800"/>
              </a:spcAft>
              <a:buSzPct val="100000"/>
              <a:buChar char="•"/>
            </a:pPr>
            <a:r>
              <a:rPr lang="en-US" sz="1400" dirty="0">
                <a:solidFill>
                  <a:schemeClr val="tx1"/>
                </a:solidFill>
              </a:rPr>
              <a:t> 2–3 lệnh trước</a:t>
            </a:r>
            <a:endParaRPr lang="en-US" sz="1400" dirty="0"/>
          </a:p>
        </p:txBody>
      </p:sp>
      <p:sp>
        <p:nvSpPr>
          <p:cNvPr id="13" name="Placeholder frame"/>
          <p:cNvSpPr/>
          <p:nvPr/>
        </p:nvSpPr>
        <p:spPr>
          <a:xfrm>
            <a:off x="5897880" y="1234440"/>
            <a:ext cx="2788920" cy="3337560"/>
          </a:xfrm>
          <a:prstGeom prst="roundRect">
            <a:avLst>
              <a:gd name="adj" fmla="val 2623"/>
            </a:avLst>
          </a:prstGeom>
          <a:solidFill>
            <a:schemeClr val="bg2"/>
          </a:solidFill>
          <a:ln w="15875">
            <a:solidFill>
              <a:schemeClr val="accent1"/>
            </a:solidFill>
            <a:prstDash val="dash"/>
          </a:ln>
        </p:spPr>
      </p:sp>
      <p:sp>
        <p:nvSpPr>
          <p:cNvPr id="14" name="Placeholder label"/>
          <p:cNvSpPr txBox="1"/>
          <p:nvPr/>
        </p:nvSpPr>
        <p:spPr>
          <a:xfrm>
            <a:off x="6080760" y="1371600"/>
            <a:ext cx="242316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HÌNH CẦN VẼ</a:t>
            </a:r>
            <a:endParaRPr lang="en-US" sz="1000" dirty="0"/>
          </a:p>
        </p:txBody>
      </p:sp>
      <p:sp>
        <p:nvSpPr>
          <p:cNvPr id="15" name="Placeholder description"/>
          <p:cNvSpPr txBox="1"/>
          <p:nvPr/>
        </p:nvSpPr>
        <p:spPr>
          <a:xfrm>
            <a:off x="6080760" y="1691640"/>
            <a:ext cx="2423160" cy="274320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Dòng thời gian Client / Server: Client bấm D → mũi tên chéo lên server → server áp lệnh ở nhịp 41 → mũi tên chéo về client. Ghi chú: “chờ ≈ 1 RTT”.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VẤN ĐỀ 2</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Điều khiển bị ì → dự đoán phía client</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2"/>
          </a:solidFill>
          <a:ln w="12700">
            <a:solidFill>
              <a:schemeClr val="accent2"/>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#2 · 1,25'</a:t>
            </a:r>
            <a:endParaRPr lang="en-US" sz="1100" dirty="0"/>
          </a:p>
        </p:txBody>
      </p:sp>
      <p:sp>
        <p:nvSpPr>
          <p:cNvPr id="6" name="Body text"/>
          <p:cNvSpPr txBox="1"/>
          <p:nvPr/>
        </p:nvSpPr>
        <p:spPr>
          <a:xfrm>
            <a:off x="457200" y="1234440"/>
            <a:ext cx="5212080" cy="54864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Độ trễ điều khiển ≈ </a:t>
            </a:r>
            <a:pPr algn="l" marL="177800" indent="-177800">
              <a:spcAft>
                <a:spcPts val="600"/>
              </a:spcAft>
              <a:buSzPct val="100000"/>
              <a:buChar char="•"/>
            </a:pPr>
            <a:r>
              <a:rPr lang="en-US" sz="1400" b="1" dirty="0">
                <a:solidFill>
                  <a:schemeClr val="tx1"/>
                </a:solidFill>
              </a:rPr>
              <a:t>RTT + tối đa 83 ms</a:t>
            </a:r>
            <a:pPr algn="l" marL="177800" indent="-177800">
              <a:spcAft>
                <a:spcPts val="600"/>
              </a:spcAft>
              <a:buSzPct val="100000"/>
              <a:buChar char="•"/>
            </a:pPr>
            <a:r>
              <a:rPr lang="en-US" sz="1400" dirty="0">
                <a:solidFill>
                  <a:schemeClr val="tx1"/>
                </a:solidFill>
              </a:rPr>
              <a:t>. Với RTT 200 ms là </a:t>
            </a:r>
            <a:pPr algn="l" marL="177800" indent="-177800">
              <a:spcAft>
                <a:spcPts val="600"/>
              </a:spcAft>
              <a:buSzPct val="100000"/>
              <a:buChar char="•"/>
            </a:pPr>
            <a:r>
              <a:rPr lang="en-US" sz="1400" b="1" dirty="0">
                <a:solidFill>
                  <a:schemeClr val="tx1"/>
                </a:solidFill>
              </a:rPr>
              <a:t>200–280 ms</a:t>
            </a:r>
            <a:endParaRPr lang="en-US" sz="1400" dirty="0"/>
          </a:p>
        </p:txBody>
      </p:sp>
      <p:sp>
        <p:nvSpPr>
          <p:cNvPr id="7" name="Options label"/>
          <p:cNvSpPr txBox="1"/>
          <p:nvPr/>
        </p:nvSpPr>
        <p:spPr>
          <a:xfrm>
            <a:off x="457200" y="1828800"/>
            <a:ext cx="5212080" cy="201168"/>
          </a:xfrm>
          <a:prstGeom prst="rect">
            <a:avLst/>
          </a:prstGeom>
          <a:noFill/>
          <a:ln/>
        </p:spPr>
        <p:txBody>
          <a:bodyPr wrap="square" lIns="0" tIns="0" rIns="0" bIns="0" rtlCol="0" anchor="ctr"/>
          <a:lstStyle/>
          <a:p>
            <a:pPr indent="0" marL="0">
              <a:buNone/>
            </a:pPr>
            <a:r>
              <a:rPr lang="en-US" sz="1000" b="1" spc="150" kern="0" dirty="0">
                <a:solidFill>
                  <a:schemeClr val="accent5"/>
                </a:solidFill>
              </a:rPr>
              <a:t>CÁC HƯỚNG</a:t>
            </a:r>
            <a:endParaRPr lang="en-US" sz="1000" dirty="0"/>
          </a:p>
        </p:txBody>
      </p:sp>
      <p:sp>
        <p:nvSpPr>
          <p:cNvPr id="8" name="Rating"/>
          <p:cNvSpPr txBox="1"/>
          <p:nvPr/>
        </p:nvSpPr>
        <p:spPr>
          <a:xfrm>
            <a:off x="548640" y="2075688"/>
            <a:ext cx="274320" cy="292608"/>
          </a:xfrm>
          <a:prstGeom prst="rect">
            <a:avLst/>
          </a:prstGeom>
          <a:noFill/>
          <a:ln/>
        </p:spPr>
        <p:txBody>
          <a:bodyPr wrap="square" lIns="0" tIns="0" rIns="0" bIns="0" rtlCol="0" anchor="ctr"/>
          <a:lstStyle/>
          <a:p>
            <a:pPr algn="ctr" indent="0" marL="0">
              <a:buNone/>
            </a:pPr>
            <a:r>
              <a:rPr lang="en-US" sz="1500" dirty="0">
                <a:solidFill>
                  <a:schemeClr val="accent5"/>
                </a:solidFill>
              </a:rPr>
              <a:t>○</a:t>
            </a:r>
            <a:endParaRPr lang="en-US" sz="1500" dirty="0"/>
          </a:p>
        </p:txBody>
      </p:sp>
      <p:sp>
        <p:nvSpPr>
          <p:cNvPr id="9" name="Option"/>
          <p:cNvSpPr txBox="1"/>
          <p:nvPr/>
        </p:nvSpPr>
        <p:spPr>
          <a:xfrm>
            <a:off x="868680" y="2075688"/>
            <a:ext cx="3886200" cy="292608"/>
          </a:xfrm>
          <a:prstGeom prst="rect">
            <a:avLst/>
          </a:prstGeom>
          <a:noFill/>
          <a:ln/>
        </p:spPr>
        <p:txBody>
          <a:bodyPr wrap="square" lIns="0" tIns="0" rIns="0" bIns="0" rtlCol="0" anchor="ctr"/>
          <a:lstStyle/>
          <a:p>
            <a:pPr indent="0" marL="0">
              <a:buNone/>
            </a:pPr>
            <a:r>
              <a:rPr lang="en-US" sz="1400" dirty="0">
                <a:solidFill>
                  <a:schemeClr val="tx1"/>
                </a:solidFill>
              </a:rPr>
              <a:t>Chờ server</a:t>
            </a:r>
            <a:endParaRPr lang="en-US" sz="1400" dirty="0"/>
          </a:p>
        </p:txBody>
      </p:sp>
      <p:sp>
        <p:nvSpPr>
          <p:cNvPr id="10" name="Rating"/>
          <p:cNvSpPr txBox="1"/>
          <p:nvPr/>
        </p:nvSpPr>
        <p:spPr>
          <a:xfrm>
            <a:off x="548640" y="2404872"/>
            <a:ext cx="274320" cy="292608"/>
          </a:xfrm>
          <a:prstGeom prst="rect">
            <a:avLst/>
          </a:prstGeom>
          <a:noFill/>
          <a:ln/>
        </p:spPr>
        <p:txBody>
          <a:bodyPr wrap="square" lIns="0" tIns="0" rIns="0" bIns="0" rtlCol="0" anchor="ctr"/>
          <a:lstStyle/>
          <a:p>
            <a:pPr algn="ctr" indent="0" marL="0">
              <a:buNone/>
            </a:pPr>
            <a:r>
              <a:rPr lang="en-US" sz="1500" dirty="0">
                <a:solidFill>
                  <a:schemeClr val="accent3"/>
                </a:solidFill>
              </a:rPr>
              <a:t>◐</a:t>
            </a:r>
            <a:endParaRPr lang="en-US" sz="1500" dirty="0"/>
          </a:p>
        </p:txBody>
      </p:sp>
      <p:sp>
        <p:nvSpPr>
          <p:cNvPr id="11" name="Option"/>
          <p:cNvSpPr txBox="1"/>
          <p:nvPr/>
        </p:nvSpPr>
        <p:spPr>
          <a:xfrm>
            <a:off x="868680" y="2404872"/>
            <a:ext cx="3886200" cy="292608"/>
          </a:xfrm>
          <a:prstGeom prst="rect">
            <a:avLst/>
          </a:prstGeom>
          <a:noFill/>
          <a:ln/>
        </p:spPr>
        <p:txBody>
          <a:bodyPr wrap="square" lIns="0" tIns="0" rIns="0" bIns="0" rtlCol="0" anchor="ctr"/>
          <a:lstStyle/>
          <a:p>
            <a:pPr indent="0" marL="0">
              <a:buNone/>
            </a:pPr>
            <a:r>
              <a:rPr lang="en-US" sz="1400" dirty="0">
                <a:solidFill>
                  <a:schemeClr val="tx1"/>
                </a:solidFill>
              </a:rPr>
              <a:t>Che bằng hoạt ảnh</a:t>
            </a:r>
            <a:endParaRPr lang="en-US" sz="1400" dirty="0"/>
          </a:p>
        </p:txBody>
      </p:sp>
      <p:sp>
        <p:nvSpPr>
          <p:cNvPr id="12" name="Chosen option"/>
          <p:cNvSpPr/>
          <p:nvPr/>
        </p:nvSpPr>
        <p:spPr>
          <a:xfrm>
            <a:off x="457200" y="2734056"/>
            <a:ext cx="5212080" cy="292608"/>
          </a:xfrm>
          <a:prstGeom prst="roundRect">
            <a:avLst>
              <a:gd name="adj" fmla="val 25000"/>
            </a:avLst>
          </a:prstGeom>
          <a:solidFill>
            <a:schemeClr val="accent6"/>
          </a:solidFill>
          <a:ln w="12700">
            <a:solidFill>
              <a:schemeClr val="accent6"/>
            </a:solidFill>
            <a:prstDash val="solid"/>
          </a:ln>
        </p:spPr>
      </p:sp>
      <p:sp>
        <p:nvSpPr>
          <p:cNvPr id="13" name="Chosen tag"/>
          <p:cNvSpPr txBox="1"/>
          <p:nvPr/>
        </p:nvSpPr>
        <p:spPr>
          <a:xfrm>
            <a:off x="4800600" y="2734056"/>
            <a:ext cx="777240" cy="292608"/>
          </a:xfrm>
          <a:prstGeom prst="rect">
            <a:avLst/>
          </a:prstGeom>
          <a:noFill/>
          <a:ln/>
        </p:spPr>
        <p:txBody>
          <a:bodyPr wrap="square" lIns="0" tIns="0" rIns="0" bIns="0" rtlCol="0" anchor="ctr"/>
          <a:lstStyle/>
          <a:p>
            <a:pPr algn="r" indent="0" marL="0">
              <a:buNone/>
            </a:pPr>
            <a:r>
              <a:rPr lang="en-US" sz="1000" b="1" dirty="0">
                <a:solidFill>
                  <a:schemeClr val="accent1"/>
                </a:solidFill>
              </a:rPr>
              <a:t>ĐÃ CHỌN</a:t>
            </a:r>
            <a:endParaRPr lang="en-US" sz="1000" dirty="0"/>
          </a:p>
        </p:txBody>
      </p:sp>
      <p:sp>
        <p:nvSpPr>
          <p:cNvPr id="14" name="Rating"/>
          <p:cNvSpPr txBox="1"/>
          <p:nvPr/>
        </p:nvSpPr>
        <p:spPr>
          <a:xfrm>
            <a:off x="548640" y="2734056"/>
            <a:ext cx="274320" cy="292608"/>
          </a:xfrm>
          <a:prstGeom prst="rect">
            <a:avLst/>
          </a:prstGeom>
          <a:noFill/>
          <a:ln/>
        </p:spPr>
        <p:txBody>
          <a:bodyPr wrap="square" lIns="0" tIns="0" rIns="0" bIns="0" rtlCol="0" anchor="ctr"/>
          <a:lstStyle/>
          <a:p>
            <a:pPr algn="ctr" indent="0" marL="0">
              <a:buNone/>
            </a:pPr>
            <a:r>
              <a:rPr lang="en-US" sz="1500" dirty="0">
                <a:solidFill>
                  <a:schemeClr val="accent1"/>
                </a:solidFill>
              </a:rPr>
              <a:t>●</a:t>
            </a:r>
            <a:endParaRPr lang="en-US" sz="1500" dirty="0"/>
          </a:p>
        </p:txBody>
      </p:sp>
      <p:sp>
        <p:nvSpPr>
          <p:cNvPr id="15" name="Option"/>
          <p:cNvSpPr txBox="1"/>
          <p:nvPr/>
        </p:nvSpPr>
        <p:spPr>
          <a:xfrm>
            <a:off x="868680" y="2734056"/>
            <a:ext cx="3886200" cy="292608"/>
          </a:xfrm>
          <a:prstGeom prst="rect">
            <a:avLst/>
          </a:prstGeom>
          <a:noFill/>
          <a:ln/>
        </p:spPr>
        <p:txBody>
          <a:bodyPr wrap="square" lIns="0" tIns="0" rIns="0" bIns="0" rtlCol="0" anchor="ctr"/>
          <a:lstStyle/>
          <a:p>
            <a:pPr indent="0" marL="0">
              <a:buNone/>
            </a:pPr>
            <a:r>
              <a:rPr lang="en-US" sz="1400" b="1" dirty="0">
                <a:solidFill>
                  <a:schemeClr val="tx1"/>
                </a:solidFill>
              </a:rPr>
              <a:t>Dự đoán phía client</a:t>
            </a:r>
            <a:endParaRPr lang="en-US" sz="1400" dirty="0"/>
          </a:p>
        </p:txBody>
      </p:sp>
      <p:sp>
        <p:nvSpPr>
          <p:cNvPr id="16" name="Body text"/>
          <p:cNvSpPr txBox="1"/>
          <p:nvPr/>
        </p:nvSpPr>
        <p:spPr>
          <a:xfrm>
            <a:off x="457200" y="3172968"/>
            <a:ext cx="5212080" cy="1444752"/>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Dự đoán: client </a:t>
            </a:r>
            <a:pPr algn="l" marL="177800" indent="-177800">
              <a:spcAft>
                <a:spcPts val="600"/>
              </a:spcAft>
              <a:buSzPct val="100000"/>
              <a:buChar char="•"/>
            </a:pPr>
            <a:r>
              <a:rPr lang="en-US" sz="1400" b="1" dirty="0">
                <a:solidFill>
                  <a:schemeClr val="tx1"/>
                </a:solidFill>
              </a:rPr>
              <a:t>tự áp lệnh ngay</a:t>
            </a:r>
            <a:pPr algn="l" marL="177800" indent="-177800">
              <a:spcAft>
                <a:spcPts val="600"/>
              </a:spcAft>
              <a:buSzPct val="100000"/>
              <a:buChar char="•"/>
            </a:pPr>
            <a:r>
              <a:rPr lang="en-US" sz="1400" dirty="0">
                <a:solidFill>
                  <a:schemeClr val="tx1"/>
                </a:solidFill>
              </a:rPr>
              <a:t>, server vẫn là người quyết định cuối</a:t>
            </a:r>
            <a:endParaRPr lang="en-US" sz="1400" dirty="0"/>
          </a:p>
          <a:p>
            <a:pPr algn="l" marL="177800" indent="-177800">
              <a:spcAft>
                <a:spcPts val="600"/>
              </a:spcAft>
              <a:buSzPct val="100000"/>
              <a:buChar char="•"/>
            </a:pPr>
            <a:r>
              <a:rPr lang="en-US" sz="1400" dirty="0">
                <a:solidFill>
                  <a:schemeClr val="tx1"/>
                </a:solidFill>
              </a:rPr>
              <a:t>Điều kiện: </a:t>
            </a:r>
            <a:pPr algn="l" marL="177800" indent="-177800">
              <a:spcAft>
                <a:spcPts val="600"/>
              </a:spcAft>
              <a:buSzPct val="100000"/>
              <a:buChar char="•"/>
            </a:pPr>
            <a:r>
              <a:rPr lang="en-US" sz="1400" b="1" dirty="0">
                <a:solidFill>
                  <a:schemeClr val="tx1"/>
                </a:solidFill>
              </a:rPr>
              <a:t>dùng chung code mô phỏng</a:t>
            </a:r>
            <a:pPr algn="l" marL="177800" indent="-177800">
              <a:spcAft>
                <a:spcPts val="600"/>
              </a:spcAft>
              <a:buSzPct val="100000"/>
              <a:buChar char="•"/>
            </a:pPr>
            <a:r>
              <a:rPr lang="en-US" sz="1400" dirty="0">
                <a:solidFill>
                  <a:schemeClr val="tx1"/>
                </a:solidFill>
              </a:rPr>
              <a:t> </a:t>
            </a:r>
            <a:pPr algn="l" marL="177800" indent="-177800">
              <a:spcAft>
                <a:spcPts val="600"/>
              </a:spcAft>
              <a:buSzPct val="100000"/>
              <a:buChar char="•"/>
            </a:pPr>
            <a:r>
              <a:rPr lang="en-US" sz="1400" dirty="0">
                <a:solidFill>
                  <a:schemeClr val="tx1"/>
                </a:solidFill>
                <a:latin typeface="Courier New" pitchFamily="34" charset="0"/>
                <a:ea typeface="Courier New" pitchFamily="34" charset="-122"/>
                <a:cs typeface="Courier New" pitchFamily="34" charset="-120"/>
              </a:rPr>
              <a:t>Simulation.Step</a:t>
            </a:r>
            <a:pPr algn="l" marL="177800" indent="-177800">
              <a:spcAft>
                <a:spcPts val="600"/>
              </a:spcAft>
              <a:buSzPct val="100000"/>
              <a:buChar char="•"/>
            </a:pPr>
            <a:r>
              <a:rPr lang="en-US" sz="1400" dirty="0">
                <a:solidFill>
                  <a:schemeClr val="tx1"/>
                </a:solidFill>
              </a:rPr>
              <a:t> (C# cho cả Unity và .NET)</a:t>
            </a:r>
            <a:endParaRPr lang="en-US" sz="1400" dirty="0"/>
          </a:p>
          <a:p>
            <a:pPr algn="l" marL="177800" indent="-177800">
              <a:spcAft>
                <a:spcPts val="600"/>
              </a:spcAft>
              <a:buSzPct val="100000"/>
              <a:buChar char="•"/>
            </a:pPr>
            <a:r>
              <a:rPr lang="en-US" sz="1400" dirty="0">
                <a:solidFill>
                  <a:schemeClr val="tx1"/>
                </a:solidFill>
              </a:rPr>
              <a:t>Nhưng chỉ dự đoán thôi thì bị </a:t>
            </a:r>
            <a:pPr algn="l" marL="177800" indent="-177800">
              <a:spcAft>
                <a:spcPts val="600"/>
              </a:spcAft>
              <a:buSzPct val="100000"/>
              <a:buChar char="•"/>
            </a:pPr>
            <a:r>
              <a:rPr lang="en-US" sz="1400" b="1" dirty="0">
                <a:solidFill>
                  <a:schemeClr val="tx1"/>
                </a:solidFill>
              </a:rPr>
              <a:t>giật ngược</a:t>
            </a:r>
            <a:endParaRPr lang="en-US" sz="1400" dirty="0"/>
          </a:p>
        </p:txBody>
      </p:sp>
      <p:sp>
        <p:nvSpPr>
          <p:cNvPr id="17" name="Placeholder frame"/>
          <p:cNvSpPr/>
          <p:nvPr/>
        </p:nvSpPr>
        <p:spPr>
          <a:xfrm>
            <a:off x="5897880" y="1234440"/>
            <a:ext cx="2788920" cy="3337560"/>
          </a:xfrm>
          <a:prstGeom prst="roundRect">
            <a:avLst>
              <a:gd name="adj" fmla="val 2623"/>
            </a:avLst>
          </a:prstGeom>
          <a:solidFill>
            <a:schemeClr val="bg2"/>
          </a:solidFill>
          <a:ln w="15875">
            <a:solidFill>
              <a:schemeClr val="accent1"/>
            </a:solidFill>
            <a:prstDash val="dash"/>
          </a:ln>
        </p:spPr>
      </p:sp>
      <p:sp>
        <p:nvSpPr>
          <p:cNvPr id="18" name="Placeholder label"/>
          <p:cNvSpPr txBox="1"/>
          <p:nvPr/>
        </p:nvSpPr>
        <p:spPr>
          <a:xfrm>
            <a:off x="6080760" y="1371600"/>
            <a:ext cx="242316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HÌNH CẦN VẼ</a:t>
            </a:r>
            <a:endParaRPr lang="en-US" sz="1000" dirty="0"/>
          </a:p>
        </p:txBody>
      </p:sp>
      <p:sp>
        <p:nvSpPr>
          <p:cNvPr id="19" name="Placeholder description"/>
          <p:cNvSpPr txBox="1"/>
          <p:nvPr/>
        </p:nvSpPr>
        <p:spPr>
          <a:xfrm>
            <a:off x="6080760" y="1691640"/>
            <a:ext cx="2423160" cy="274320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Trục vị trí: ô xanh (dự đoán) ở x = 2,0. Ảnh trạng thái về báo x = 0,8. Mũi tên đỏ kéo ô xanh lùi về 0,8.</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VẤN ĐỀ 2</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Đối chiếu với server</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2"/>
          </a:solidFill>
          <a:ln w="12700">
            <a:solidFill>
              <a:schemeClr val="accent2"/>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#2 · 1,25'</a:t>
            </a:r>
            <a:endParaRPr lang="en-US" sz="1100" dirty="0"/>
          </a:p>
        </p:txBody>
      </p:sp>
      <p:sp>
        <p:nvSpPr>
          <p:cNvPr id="6" name="Step number"/>
          <p:cNvSpPr/>
          <p:nvPr/>
        </p:nvSpPr>
        <p:spPr>
          <a:xfrm>
            <a:off x="457200" y="1234440"/>
            <a:ext cx="365760" cy="365760"/>
          </a:xfrm>
          <a:prstGeom prst="ellipse">
            <a:avLst/>
          </a:prstGeom>
          <a:solidFill>
            <a:schemeClr val="accent2"/>
          </a:solidFill>
          <a:ln w="12700">
            <a:solidFill>
              <a:schemeClr val="accent2"/>
            </a:solidFill>
            <a:prstDash val="solid"/>
          </a:ln>
        </p:spPr>
      </p:sp>
      <p:sp>
        <p:nvSpPr>
          <p:cNvPr id="7" name="Text 5"/>
          <p:cNvSpPr txBox="1"/>
          <p:nvPr/>
        </p:nvSpPr>
        <p:spPr>
          <a:xfrm>
            <a:off x="457200" y="123444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Step text"/>
          <p:cNvSpPr txBox="1"/>
          <p:nvPr/>
        </p:nvSpPr>
        <p:spPr>
          <a:xfrm>
            <a:off x="960120" y="1234440"/>
            <a:ext cx="4709160" cy="457200"/>
          </a:xfrm>
          <a:prstGeom prst="rect">
            <a:avLst/>
          </a:prstGeom>
          <a:noFill/>
          <a:ln/>
        </p:spPr>
        <p:txBody>
          <a:bodyPr wrap="square" lIns="76200" tIns="0" rIns="0" bIns="0" rtlCol="0" anchor="t"/>
          <a:lstStyle/>
          <a:p>
            <a:pPr indent="0" marL="0">
              <a:buNone/>
            </a:pPr>
            <a:r>
              <a:rPr lang="en-US" sz="1400" dirty="0">
                <a:solidFill>
                  <a:schemeClr val="tx1"/>
                </a:solidFill>
              </a:rPr>
              <a:t>Client giữ </a:t>
            </a:r>
            <a:pPr indent="0" marL="0">
              <a:buNone/>
            </a:pPr>
            <a:r>
              <a:rPr lang="en-US" sz="1400" b="1" dirty="0">
                <a:solidFill>
                  <a:schemeClr val="tx1"/>
                </a:solidFill>
              </a:rPr>
              <a:t>bộ đệm</a:t>
            </a:r>
            <a:pPr indent="0" marL="0">
              <a:buNone/>
            </a:pPr>
            <a:r>
              <a:rPr lang="en-US" sz="1400" dirty="0">
                <a:solidFill>
                  <a:schemeClr val="tx1"/>
                </a:solidFill>
              </a:rPr>
              <a:t> các lệnh chưa được xác nhận</a:t>
            </a:r>
            <a:endParaRPr lang="en-US" sz="1400" dirty="0"/>
          </a:p>
        </p:txBody>
      </p:sp>
      <p:sp>
        <p:nvSpPr>
          <p:cNvPr id="9" name="Step number"/>
          <p:cNvSpPr/>
          <p:nvPr/>
        </p:nvSpPr>
        <p:spPr>
          <a:xfrm>
            <a:off x="457200" y="1737360"/>
            <a:ext cx="365760" cy="365760"/>
          </a:xfrm>
          <a:prstGeom prst="ellipse">
            <a:avLst/>
          </a:prstGeom>
          <a:solidFill>
            <a:schemeClr val="accent2"/>
          </a:solidFill>
          <a:ln w="12700">
            <a:solidFill>
              <a:schemeClr val="accent2"/>
            </a:solidFill>
            <a:prstDash val="solid"/>
          </a:ln>
        </p:spPr>
      </p:sp>
      <p:sp>
        <p:nvSpPr>
          <p:cNvPr id="10" name="Text 8"/>
          <p:cNvSpPr txBox="1"/>
          <p:nvPr/>
        </p:nvSpPr>
        <p:spPr>
          <a:xfrm>
            <a:off x="457200" y="173736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Step text"/>
          <p:cNvSpPr txBox="1"/>
          <p:nvPr/>
        </p:nvSpPr>
        <p:spPr>
          <a:xfrm>
            <a:off x="960120" y="1737360"/>
            <a:ext cx="4709160" cy="457200"/>
          </a:xfrm>
          <a:prstGeom prst="rect">
            <a:avLst/>
          </a:prstGeom>
          <a:noFill/>
          <a:ln/>
        </p:spPr>
        <p:txBody>
          <a:bodyPr wrap="square" lIns="76200" tIns="0" rIns="0" bIns="0" rtlCol="0" anchor="t"/>
          <a:lstStyle/>
          <a:p>
            <a:pPr indent="0" marL="0">
              <a:buNone/>
            </a:pPr>
            <a:r>
              <a:rPr lang="en-US" sz="1400" dirty="0">
                <a:solidFill>
                  <a:schemeClr val="tx1"/>
                </a:solidFill>
              </a:rPr>
              <a:t>Ảnh trạng thái kèm </a:t>
            </a:r>
            <a:pPr indent="0" marL="0">
              <a:buNone/>
            </a:pPr>
            <a:r>
              <a:rPr lang="en-US" sz="1400" dirty="0">
                <a:solidFill>
                  <a:schemeClr val="tx1"/>
                </a:solidFill>
                <a:latin typeface="Courier New" pitchFamily="34" charset="0"/>
                <a:ea typeface="Courier New" pitchFamily="34" charset="-122"/>
                <a:cs typeface="Courier New" pitchFamily="34" charset="-120"/>
              </a:rPr>
              <a:t>lastProcessedSeq = N</a:t>
            </a:r>
            <a:endParaRPr lang="en-US" sz="1400" dirty="0"/>
          </a:p>
        </p:txBody>
      </p:sp>
      <p:sp>
        <p:nvSpPr>
          <p:cNvPr id="12" name="Step number"/>
          <p:cNvSpPr/>
          <p:nvPr/>
        </p:nvSpPr>
        <p:spPr>
          <a:xfrm>
            <a:off x="457200" y="2240280"/>
            <a:ext cx="365760" cy="365760"/>
          </a:xfrm>
          <a:prstGeom prst="ellipse">
            <a:avLst/>
          </a:prstGeom>
          <a:solidFill>
            <a:schemeClr val="accent2"/>
          </a:solidFill>
          <a:ln w="12700">
            <a:solidFill>
              <a:schemeClr val="accent2"/>
            </a:solidFill>
            <a:prstDash val="solid"/>
          </a:ln>
        </p:spPr>
      </p:sp>
      <p:sp>
        <p:nvSpPr>
          <p:cNvPr id="13" name="Text 11"/>
          <p:cNvSpPr txBox="1"/>
          <p:nvPr/>
        </p:nvSpPr>
        <p:spPr>
          <a:xfrm>
            <a:off x="457200" y="2240280"/>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Step text"/>
          <p:cNvSpPr txBox="1"/>
          <p:nvPr/>
        </p:nvSpPr>
        <p:spPr>
          <a:xfrm>
            <a:off x="960120" y="2240280"/>
            <a:ext cx="4709160" cy="658368"/>
          </a:xfrm>
          <a:prstGeom prst="rect">
            <a:avLst/>
          </a:prstGeom>
          <a:noFill/>
          <a:ln/>
        </p:spPr>
        <p:txBody>
          <a:bodyPr wrap="square" lIns="76200" tIns="0" rIns="0" bIns="0" rtlCol="0" anchor="t"/>
          <a:lstStyle/>
          <a:p>
            <a:pPr indent="0" marL="0">
              <a:buNone/>
            </a:pPr>
            <a:r>
              <a:rPr lang="en-US" sz="1400" dirty="0">
                <a:solidFill>
                  <a:schemeClr val="tx1"/>
                </a:solidFill>
              </a:rPr>
              <a:t>Nhận ảnh: </a:t>
            </a:r>
            <a:pPr indent="0" marL="0">
              <a:buNone/>
            </a:pPr>
            <a:r>
              <a:rPr lang="en-US" sz="1400" b="1" dirty="0">
                <a:solidFill>
                  <a:schemeClr val="tx1"/>
                </a:solidFill>
              </a:rPr>
              <a:t>đặt lại</a:t>
            </a:r>
            <a:pPr indent="0" marL="0">
              <a:buNone/>
            </a:pPr>
            <a:r>
              <a:rPr lang="en-US" sz="1400" dirty="0">
                <a:solidFill>
                  <a:schemeClr val="tx1"/>
                </a:solidFill>
              </a:rPr>
              <a:t> theo server → </a:t>
            </a:r>
            <a:pPr indent="0" marL="0">
              <a:buNone/>
            </a:pPr>
            <a:r>
              <a:rPr lang="en-US" sz="1400" b="1" dirty="0">
                <a:solidFill>
                  <a:schemeClr val="tx1"/>
                </a:solidFill>
              </a:rPr>
              <a:t>bỏ</a:t>
            </a:r>
            <a:pPr indent="0" marL="0">
              <a:buNone/>
            </a:pPr>
            <a:r>
              <a:rPr lang="en-US" sz="1400" dirty="0">
                <a:solidFill>
                  <a:schemeClr val="tx1"/>
                </a:solidFill>
              </a:rPr>
              <a:t> lệnh ≤ N → </a:t>
            </a:r>
            <a:pPr indent="0" marL="0">
              <a:buNone/>
            </a:pPr>
            <a:r>
              <a:rPr lang="en-US" sz="1400" b="1" dirty="0">
                <a:solidFill>
                  <a:schemeClr val="tx1"/>
                </a:solidFill>
              </a:rPr>
              <a:t>chạy lại</a:t>
            </a:r>
            <a:pPr indent="0" marL="0">
              <a:buNone/>
            </a:pPr>
            <a:r>
              <a:rPr lang="en-US" sz="1400" dirty="0">
                <a:solidFill>
                  <a:schemeClr val="tx1"/>
                </a:solidFill>
              </a:rPr>
              <a:t> lệnh còn lại</a:t>
            </a:r>
            <a:endParaRPr lang="en-US" sz="1400" dirty="0"/>
          </a:p>
        </p:txBody>
      </p:sp>
      <p:sp>
        <p:nvSpPr>
          <p:cNvPr id="15" name="Code block"/>
          <p:cNvSpPr/>
          <p:nvPr/>
        </p:nvSpPr>
        <p:spPr>
          <a:xfrm>
            <a:off x="457200" y="3337560"/>
            <a:ext cx="8229600" cy="1234440"/>
          </a:xfrm>
          <a:prstGeom prst="roundRect">
            <a:avLst>
              <a:gd name="adj" fmla="val 5926"/>
            </a:avLst>
          </a:prstGeom>
          <a:solidFill>
            <a:schemeClr val="tx2"/>
          </a:solidFill>
          <a:ln w="12700">
            <a:solidFill>
              <a:schemeClr val="tx2"/>
            </a:solidFill>
            <a:prstDash val="solid"/>
          </a:ln>
        </p:spPr>
      </p:sp>
      <p:sp>
        <p:nvSpPr>
          <p:cNvPr id="16" name="Code"/>
          <p:cNvSpPr txBox="1"/>
          <p:nvPr/>
        </p:nvSpPr>
        <p:spPr>
          <a:xfrm>
            <a:off x="685800" y="3337560"/>
            <a:ext cx="7772400" cy="1234440"/>
          </a:xfrm>
          <a:prstGeom prst="rect">
            <a:avLst/>
          </a:prstGeom>
          <a:noFill/>
          <a:ln/>
        </p:spPr>
        <p:txBody>
          <a:bodyPr wrap="square" lIns="0" tIns="0" rIns="0" bIns="0" rtlCol="0" anchor="ctr"/>
          <a:lstStyle/>
          <a:p>
            <a:pPr indent="0" marL="0">
              <a:buNone/>
            </a:pPr>
            <a:r>
              <a:rPr lang="en-US" sz="1300" dirty="0">
                <a:solidFill>
                  <a:schemeClr val="accent6"/>
                </a:solidFill>
                <a:latin typeface="Courier New" pitchFamily="34" charset="0"/>
                <a:ea typeface="Courier New" pitchFamily="34" charset="-122"/>
                <a:cs typeface="Courier New" pitchFamily="34" charset="-120"/>
              </a:rPr>
              <a:t>state = s.MyState;</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pending.RemoveAll(i =&gt; i.Seq &lt;= s.LastProcessedSeq);</a:t>
            </a:r>
            <a:endParaRPr lang="en-US" sz="1300" dirty="0"/>
          </a:p>
          <a:p>
            <a:pPr indent="0" marL="0">
              <a:buNone/>
            </a:pPr>
            <a:r>
              <a:rPr lang="en-US" sz="1300" dirty="0">
                <a:solidFill>
                  <a:schemeClr val="accent6"/>
                </a:solidFill>
                <a:latin typeface="Courier New" pitchFamily="34" charset="0"/>
                <a:ea typeface="Courier New" pitchFamily="34" charset="-122"/>
                <a:cs typeface="Courier New" pitchFamily="34" charset="-120"/>
              </a:rPr>
              <a:t>foreach (var i in pending) state = Simulation.Step(state, i, Dt);</a:t>
            </a:r>
            <a:endParaRPr lang="en-US" sz="1300" dirty="0"/>
          </a:p>
        </p:txBody>
      </p:sp>
      <p:sp>
        <p:nvSpPr>
          <p:cNvPr id="17" name="Placeholder frame"/>
          <p:cNvSpPr/>
          <p:nvPr/>
        </p:nvSpPr>
        <p:spPr>
          <a:xfrm>
            <a:off x="5897880" y="1234440"/>
            <a:ext cx="2788920" cy="1920240"/>
          </a:xfrm>
          <a:prstGeom prst="roundRect">
            <a:avLst>
              <a:gd name="adj" fmla="val 3810"/>
            </a:avLst>
          </a:prstGeom>
          <a:solidFill>
            <a:schemeClr val="bg2"/>
          </a:solidFill>
          <a:ln w="15875">
            <a:solidFill>
              <a:schemeClr val="accent1"/>
            </a:solidFill>
            <a:prstDash val="dash"/>
          </a:ln>
        </p:spPr>
      </p:sp>
      <p:sp>
        <p:nvSpPr>
          <p:cNvPr id="18" name="Placeholder label"/>
          <p:cNvSpPr txBox="1"/>
          <p:nvPr/>
        </p:nvSpPr>
        <p:spPr>
          <a:xfrm>
            <a:off x="6080760" y="1371600"/>
            <a:ext cx="242316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HÌNH CẦN VẼ</a:t>
            </a:r>
            <a:endParaRPr lang="en-US" sz="1000" dirty="0"/>
          </a:p>
        </p:txBody>
      </p:sp>
      <p:sp>
        <p:nvSpPr>
          <p:cNvPr id="19" name="Placeholder description"/>
          <p:cNvSpPr txBox="1"/>
          <p:nvPr/>
        </p:nvSpPr>
        <p:spPr>
          <a:xfrm>
            <a:off x="6080760" y="1691640"/>
            <a:ext cx="2423160" cy="13258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Bộ đệm </a:t>
            </a:r>
            <a:pPr algn="l" indent="0" marL="0">
              <a:spcAft>
                <a:spcPts val="400"/>
              </a:spcAft>
              <a:buNone/>
            </a:pPr>
            <a:r>
              <a:rPr lang="en-US" sz="1200" dirty="0">
                <a:solidFill>
                  <a:schemeClr val="accent5"/>
                </a:solidFill>
                <a:latin typeface="Courier New" pitchFamily="34" charset="0"/>
                <a:ea typeface="Courier New" pitchFamily="34" charset="-122"/>
                <a:cs typeface="Courier New" pitchFamily="34" charset="-120"/>
              </a:rPr>
              <a:t>[1 2 3 4 | 5 6 7 8 9 10]</a:t>
            </a:r>
            <a:pPr algn="l" indent="0" marL="0">
              <a:spcAft>
                <a:spcPts val="400"/>
              </a:spcAft>
              <a:buNone/>
            </a:pPr>
            <a:r>
              <a:rPr lang="en-US" sz="1200" dirty="0">
                <a:solidFill>
                  <a:schemeClr val="accent5"/>
                </a:solidFill>
              </a:rPr>
              <a:t>, gạch bỏ 1–4. Mũi tên “chạy lại 5–10: 0,8 + 6 × 0,2 = 2,0 ✓”.</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VẤN ĐỀ 3</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Đối thủ hiển thị giật → nội suy thực thể</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2"/>
          </a:solidFill>
          <a:ln w="12700">
            <a:solidFill>
              <a:schemeClr val="accent2"/>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#2 · 1,5'</a:t>
            </a:r>
            <a:endParaRPr lang="en-US" sz="1100" dirty="0"/>
          </a:p>
        </p:txBody>
      </p:sp>
      <p:sp>
        <p:nvSpPr>
          <p:cNvPr id="6" name="Body text"/>
          <p:cNvSpPr txBox="1"/>
          <p:nvPr/>
        </p:nvSpPr>
        <p:spPr>
          <a:xfrm>
            <a:off x="457200" y="1234440"/>
            <a:ext cx="5212080" cy="54864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Đối thủ thì </a:t>
            </a:r>
            <a:pPr algn="l" marL="177800" indent="-177800">
              <a:spcAft>
                <a:spcPts val="600"/>
              </a:spcAft>
              <a:buSzPct val="100000"/>
              <a:buChar char="•"/>
            </a:pPr>
            <a:r>
              <a:rPr lang="en-US" sz="1400" b="1" dirty="0">
                <a:solidFill>
                  <a:schemeClr val="tx1"/>
                </a:solidFill>
              </a:rPr>
              <a:t>không đoán được</a:t>
            </a:r>
            <a:pPr algn="l" marL="177800" indent="-177800">
              <a:spcAft>
                <a:spcPts val="600"/>
              </a:spcAft>
              <a:buSzPct val="100000"/>
              <a:buChar char="•"/>
            </a:pPr>
            <a:r>
              <a:rPr lang="en-US" sz="1400" dirty="0">
                <a:solidFill>
                  <a:schemeClr val="tx1"/>
                </a:solidFill>
              </a:rPr>
              <a:t>. Ảnh trạng thái thưa (10–20 lần/giây), không đều, có thể mất</a:t>
            </a:r>
            <a:endParaRPr lang="en-US" sz="1400" dirty="0"/>
          </a:p>
        </p:txBody>
      </p:sp>
      <p:sp>
        <p:nvSpPr>
          <p:cNvPr id="7" name="Options label"/>
          <p:cNvSpPr txBox="1"/>
          <p:nvPr/>
        </p:nvSpPr>
        <p:spPr>
          <a:xfrm>
            <a:off x="457200" y="1828800"/>
            <a:ext cx="5212080" cy="201168"/>
          </a:xfrm>
          <a:prstGeom prst="rect">
            <a:avLst/>
          </a:prstGeom>
          <a:noFill/>
          <a:ln/>
        </p:spPr>
        <p:txBody>
          <a:bodyPr wrap="square" lIns="0" tIns="0" rIns="0" bIns="0" rtlCol="0" anchor="ctr"/>
          <a:lstStyle/>
          <a:p>
            <a:pPr indent="0" marL="0">
              <a:buNone/>
            </a:pPr>
            <a:r>
              <a:rPr lang="en-US" sz="1000" b="1" spc="150" kern="0" dirty="0">
                <a:solidFill>
                  <a:schemeClr val="accent5"/>
                </a:solidFill>
              </a:rPr>
              <a:t>CÁC HƯỚNG</a:t>
            </a:r>
            <a:endParaRPr lang="en-US" sz="1000" dirty="0"/>
          </a:p>
        </p:txBody>
      </p:sp>
      <p:sp>
        <p:nvSpPr>
          <p:cNvPr id="8" name="Rating"/>
          <p:cNvSpPr txBox="1"/>
          <p:nvPr/>
        </p:nvSpPr>
        <p:spPr>
          <a:xfrm>
            <a:off x="548640" y="2075688"/>
            <a:ext cx="274320" cy="292608"/>
          </a:xfrm>
          <a:prstGeom prst="rect">
            <a:avLst/>
          </a:prstGeom>
          <a:noFill/>
          <a:ln/>
        </p:spPr>
        <p:txBody>
          <a:bodyPr wrap="square" lIns="0" tIns="0" rIns="0" bIns="0" rtlCol="0" anchor="ctr"/>
          <a:lstStyle/>
          <a:p>
            <a:pPr algn="ctr" indent="0" marL="0">
              <a:buNone/>
            </a:pPr>
            <a:r>
              <a:rPr lang="en-US" sz="1500" dirty="0">
                <a:solidFill>
                  <a:schemeClr val="accent5"/>
                </a:solidFill>
              </a:rPr>
              <a:t>○</a:t>
            </a:r>
            <a:endParaRPr lang="en-US" sz="1500" dirty="0"/>
          </a:p>
        </p:txBody>
      </p:sp>
      <p:sp>
        <p:nvSpPr>
          <p:cNvPr id="9" name="Option"/>
          <p:cNvSpPr txBox="1"/>
          <p:nvPr/>
        </p:nvSpPr>
        <p:spPr>
          <a:xfrm>
            <a:off x="868680" y="2075688"/>
            <a:ext cx="3886200" cy="292608"/>
          </a:xfrm>
          <a:prstGeom prst="rect">
            <a:avLst/>
          </a:prstGeom>
          <a:noFill/>
          <a:ln/>
        </p:spPr>
        <p:txBody>
          <a:bodyPr wrap="square" lIns="0" tIns="0" rIns="0" bIns="0" rtlCol="0" anchor="ctr"/>
          <a:lstStyle/>
          <a:p>
            <a:pPr indent="0" marL="0">
              <a:buNone/>
            </a:pPr>
            <a:r>
              <a:rPr lang="en-US" sz="1400" dirty="0">
                <a:solidFill>
                  <a:schemeClr val="tx1"/>
                </a:solidFill>
              </a:rPr>
              <a:t>Vẽ ảnh mới nhất: giật</a:t>
            </a:r>
            <a:endParaRPr lang="en-US" sz="1400" dirty="0"/>
          </a:p>
        </p:txBody>
      </p:sp>
      <p:sp>
        <p:nvSpPr>
          <p:cNvPr id="10" name="Rating"/>
          <p:cNvSpPr txBox="1"/>
          <p:nvPr/>
        </p:nvSpPr>
        <p:spPr>
          <a:xfrm>
            <a:off x="548640" y="2404872"/>
            <a:ext cx="274320" cy="292608"/>
          </a:xfrm>
          <a:prstGeom prst="rect">
            <a:avLst/>
          </a:prstGeom>
          <a:noFill/>
          <a:ln/>
        </p:spPr>
        <p:txBody>
          <a:bodyPr wrap="square" lIns="0" tIns="0" rIns="0" bIns="0" rtlCol="0" anchor="ctr"/>
          <a:lstStyle/>
          <a:p>
            <a:pPr algn="ctr" indent="0" marL="0">
              <a:buNone/>
            </a:pPr>
            <a:r>
              <a:rPr lang="en-US" sz="1500" dirty="0">
                <a:solidFill>
                  <a:schemeClr val="accent5"/>
                </a:solidFill>
              </a:rPr>
              <a:t>○</a:t>
            </a:r>
            <a:endParaRPr lang="en-US" sz="1500" dirty="0"/>
          </a:p>
        </p:txBody>
      </p:sp>
      <p:sp>
        <p:nvSpPr>
          <p:cNvPr id="11" name="Option"/>
          <p:cNvSpPr txBox="1"/>
          <p:nvPr/>
        </p:nvSpPr>
        <p:spPr>
          <a:xfrm>
            <a:off x="868680" y="2404872"/>
            <a:ext cx="3886200" cy="292608"/>
          </a:xfrm>
          <a:prstGeom prst="rect">
            <a:avLst/>
          </a:prstGeom>
          <a:noFill/>
          <a:ln/>
        </p:spPr>
        <p:txBody>
          <a:bodyPr wrap="square" lIns="0" tIns="0" rIns="0" bIns="0" rtlCol="0" anchor="ctr"/>
          <a:lstStyle/>
          <a:p>
            <a:pPr indent="0" marL="0">
              <a:buNone/>
            </a:pPr>
            <a:r>
              <a:rPr lang="en-US" sz="1400" dirty="0">
                <a:solidFill>
                  <a:schemeClr val="tx1"/>
                </a:solidFill>
              </a:rPr>
              <a:t>Ngoại suy: sai khi đổi hướng</a:t>
            </a:r>
            <a:endParaRPr lang="en-US" sz="1400" dirty="0"/>
          </a:p>
        </p:txBody>
      </p:sp>
      <p:sp>
        <p:nvSpPr>
          <p:cNvPr id="12" name="Chosen option"/>
          <p:cNvSpPr/>
          <p:nvPr/>
        </p:nvSpPr>
        <p:spPr>
          <a:xfrm>
            <a:off x="457200" y="2734056"/>
            <a:ext cx="5212080" cy="292608"/>
          </a:xfrm>
          <a:prstGeom prst="roundRect">
            <a:avLst>
              <a:gd name="adj" fmla="val 25000"/>
            </a:avLst>
          </a:prstGeom>
          <a:solidFill>
            <a:schemeClr val="accent6"/>
          </a:solidFill>
          <a:ln w="12700">
            <a:solidFill>
              <a:schemeClr val="accent6"/>
            </a:solidFill>
            <a:prstDash val="solid"/>
          </a:ln>
        </p:spPr>
      </p:sp>
      <p:sp>
        <p:nvSpPr>
          <p:cNvPr id="13" name="Chosen tag"/>
          <p:cNvSpPr txBox="1"/>
          <p:nvPr/>
        </p:nvSpPr>
        <p:spPr>
          <a:xfrm>
            <a:off x="4800600" y="2734056"/>
            <a:ext cx="777240" cy="292608"/>
          </a:xfrm>
          <a:prstGeom prst="rect">
            <a:avLst/>
          </a:prstGeom>
          <a:noFill/>
          <a:ln/>
        </p:spPr>
        <p:txBody>
          <a:bodyPr wrap="square" lIns="0" tIns="0" rIns="0" bIns="0" rtlCol="0" anchor="ctr"/>
          <a:lstStyle/>
          <a:p>
            <a:pPr algn="r" indent="0" marL="0">
              <a:buNone/>
            </a:pPr>
            <a:r>
              <a:rPr lang="en-US" sz="1000" b="1" dirty="0">
                <a:solidFill>
                  <a:schemeClr val="accent1"/>
                </a:solidFill>
              </a:rPr>
              <a:t>ĐÃ CHỌN</a:t>
            </a:r>
            <a:endParaRPr lang="en-US" sz="1000" dirty="0"/>
          </a:p>
        </p:txBody>
      </p:sp>
      <p:sp>
        <p:nvSpPr>
          <p:cNvPr id="14" name="Rating"/>
          <p:cNvSpPr txBox="1"/>
          <p:nvPr/>
        </p:nvSpPr>
        <p:spPr>
          <a:xfrm>
            <a:off x="548640" y="2734056"/>
            <a:ext cx="274320" cy="292608"/>
          </a:xfrm>
          <a:prstGeom prst="rect">
            <a:avLst/>
          </a:prstGeom>
          <a:noFill/>
          <a:ln/>
        </p:spPr>
        <p:txBody>
          <a:bodyPr wrap="square" lIns="0" tIns="0" rIns="0" bIns="0" rtlCol="0" anchor="ctr"/>
          <a:lstStyle/>
          <a:p>
            <a:pPr algn="ctr" indent="0" marL="0">
              <a:buNone/>
            </a:pPr>
            <a:r>
              <a:rPr lang="en-US" sz="1500" dirty="0">
                <a:solidFill>
                  <a:schemeClr val="accent1"/>
                </a:solidFill>
              </a:rPr>
              <a:t>●</a:t>
            </a:r>
            <a:endParaRPr lang="en-US" sz="1500" dirty="0"/>
          </a:p>
        </p:txBody>
      </p:sp>
      <p:sp>
        <p:nvSpPr>
          <p:cNvPr id="15" name="Option"/>
          <p:cNvSpPr txBox="1"/>
          <p:nvPr/>
        </p:nvSpPr>
        <p:spPr>
          <a:xfrm>
            <a:off x="868680" y="2734056"/>
            <a:ext cx="3886200" cy="292608"/>
          </a:xfrm>
          <a:prstGeom prst="rect">
            <a:avLst/>
          </a:prstGeom>
          <a:noFill/>
          <a:ln/>
        </p:spPr>
        <p:txBody>
          <a:bodyPr wrap="square" lIns="0" tIns="0" rIns="0" bIns="0" rtlCol="0" anchor="ctr"/>
          <a:lstStyle/>
          <a:p>
            <a:pPr indent="0" marL="0">
              <a:buNone/>
            </a:pPr>
            <a:r>
              <a:rPr lang="en-US" sz="1400" b="1" dirty="0">
                <a:solidFill>
                  <a:schemeClr val="tx1"/>
                </a:solidFill>
              </a:rPr>
              <a:t>Nội suy</a:t>
            </a:r>
            <a:endParaRPr lang="en-US" sz="1400" dirty="0"/>
          </a:p>
        </p:txBody>
      </p:sp>
      <p:sp>
        <p:nvSpPr>
          <p:cNvPr id="16" name="Body text"/>
          <p:cNvSpPr txBox="1"/>
          <p:nvPr/>
        </p:nvSpPr>
        <p:spPr>
          <a:xfrm>
            <a:off x="457200" y="3172968"/>
            <a:ext cx="5212080" cy="1444752"/>
          </a:xfrm>
          <a:prstGeom prst="rect">
            <a:avLst/>
          </a:prstGeom>
          <a:noFill/>
          <a:ln/>
        </p:spPr>
        <p:txBody>
          <a:bodyPr wrap="square" lIns="0" tIns="0" rIns="0" bIns="0" rtlCol="0" anchor="t"/>
          <a:lstStyle/>
          <a:p>
            <a:pPr algn="l" marL="177800" indent="-177800">
              <a:spcAft>
                <a:spcPts val="600"/>
              </a:spcAft>
              <a:buSzPct val="100000"/>
              <a:buChar char="•"/>
            </a:pPr>
            <a:r>
              <a:rPr lang="en-US" sz="1400" b="1" dirty="0">
                <a:solidFill>
                  <a:schemeClr val="tx1"/>
                </a:solidFill>
              </a:rPr>
              <a:t>Vẽ đối thủ lùi lại</a:t>
            </a:r>
            <a:pPr algn="l" marL="177800" indent="-177800">
              <a:spcAft>
                <a:spcPts val="600"/>
              </a:spcAft>
              <a:buSzPct val="100000"/>
              <a:buChar char="•"/>
            </a:pPr>
            <a:r>
              <a:rPr lang="en-US" sz="1400" dirty="0">
                <a:solidFill>
                  <a:schemeClr val="tx1"/>
                </a:solidFill>
              </a:rPr>
              <a:t> một khoảng, nội suy giữa 2 ảnh trạng thái bao quanh</a:t>
            </a:r>
            <a:endParaRPr lang="en-US" sz="1400" dirty="0"/>
          </a:p>
          <a:p>
            <a:pPr algn="l" marL="177800" indent="-177800">
              <a:spcAft>
                <a:spcPts val="600"/>
              </a:spcAft>
              <a:buSzPct val="100000"/>
              <a:buChar char="•"/>
            </a:pPr>
            <a:r>
              <a:rPr lang="en-US" sz="1400" dirty="0">
                <a:solidFill>
                  <a:schemeClr val="tx1"/>
                </a:solidFill>
              </a:rPr>
              <a:t>Độ trễ nội suy ≥ </a:t>
            </a:r>
            <a:pPr algn="l" marL="177800" indent="-177800">
              <a:spcAft>
                <a:spcPts val="600"/>
              </a:spcAft>
              <a:buSzPct val="100000"/>
              <a:buChar char="•"/>
            </a:pPr>
            <a:r>
              <a:rPr lang="en-US" sz="1400" b="1" dirty="0">
                <a:solidFill>
                  <a:schemeClr val="tx1"/>
                </a:solidFill>
              </a:rPr>
              <a:t>2 × chu kỳ gửi ảnh + dao động độ trễ</a:t>
            </a:r>
            <a:pPr algn="l" marL="177800" indent="-177800">
              <a:spcAft>
                <a:spcPts val="600"/>
              </a:spcAft>
              <a:buSzPct val="100000"/>
              <a:buChar char="•"/>
            </a:pPr>
            <a:r>
              <a:rPr lang="en-US" sz="1400" dirty="0">
                <a:solidFill>
                  <a:schemeClr val="tx1"/>
                </a:solidFill>
              </a:rPr>
              <a:t> (20 lần/giây thì ~100 ms)</a:t>
            </a:r>
            <a:endParaRPr lang="en-US" sz="1400" dirty="0"/>
          </a:p>
          <a:p>
            <a:pPr algn="l" marL="177800" indent="-177800">
              <a:spcAft>
                <a:spcPts val="600"/>
              </a:spcAft>
              <a:buSzPct val="100000"/>
              <a:buChar char="•"/>
            </a:pPr>
            <a:r>
              <a:rPr lang="en-US" sz="1400" dirty="0">
                <a:solidFill>
                  <a:schemeClr val="tx1"/>
                </a:solidFill>
              </a:rPr>
              <a:t>Đánh đổi: </a:t>
            </a:r>
            <a:pPr algn="l" marL="177800" indent="-177800">
              <a:spcAft>
                <a:spcPts val="600"/>
              </a:spcAft>
              <a:buSzPct val="100000"/>
              <a:buChar char="•"/>
            </a:pPr>
            <a:r>
              <a:rPr lang="en-US" sz="1400" b="1" dirty="0">
                <a:solidFill>
                  <a:schemeClr val="tx1"/>
                </a:solidFill>
              </a:rPr>
              <a:t>mình ở hiện tại, đối thủ ở quá khứ</a:t>
            </a:r>
            <a:endParaRPr lang="en-US" sz="1400" dirty="0"/>
          </a:p>
        </p:txBody>
      </p:sp>
      <p:sp>
        <p:nvSpPr>
          <p:cNvPr id="17" name="Placeholder frame"/>
          <p:cNvSpPr/>
          <p:nvPr/>
        </p:nvSpPr>
        <p:spPr>
          <a:xfrm>
            <a:off x="5897880" y="1234440"/>
            <a:ext cx="2788920" cy="3337560"/>
          </a:xfrm>
          <a:prstGeom prst="roundRect">
            <a:avLst>
              <a:gd name="adj" fmla="val 2623"/>
            </a:avLst>
          </a:prstGeom>
          <a:solidFill>
            <a:schemeClr val="bg2"/>
          </a:solidFill>
          <a:ln w="15875">
            <a:solidFill>
              <a:schemeClr val="accent1"/>
            </a:solidFill>
            <a:prstDash val="dash"/>
          </a:ln>
        </p:spPr>
      </p:sp>
      <p:sp>
        <p:nvSpPr>
          <p:cNvPr id="18" name="Placeholder label"/>
          <p:cNvSpPr txBox="1"/>
          <p:nvPr/>
        </p:nvSpPr>
        <p:spPr>
          <a:xfrm>
            <a:off x="6080760" y="1371600"/>
            <a:ext cx="242316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HÌNH CẦN VẼ</a:t>
            </a:r>
            <a:endParaRPr lang="en-US" sz="1000" dirty="0"/>
          </a:p>
        </p:txBody>
      </p:sp>
      <p:sp>
        <p:nvSpPr>
          <p:cNvPr id="19" name="Placeholder description"/>
          <p:cNvSpPr txBox="1"/>
          <p:nvPr/>
        </p:nvSpPr>
        <p:spPr>
          <a:xfrm>
            <a:off x="6080760" y="1691640"/>
            <a:ext cx="2423160" cy="274320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Trục thời gian: các ảnh S1…S5 là các chấm đặt không đều. Vạch “hiện tại” ở bên phải; vạch “thời điểm vẽ” lùi về giữa S3 và S4. Ô đối thủ nằm trên đoạn nối S3–S4.</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VẤN ĐỀ 4</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Tương tác không công bằng → bù trễ</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3"/>
          </a:solidFill>
          <a:ln w="12700">
            <a:solidFill>
              <a:schemeClr val="accent3"/>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tx1"/>
                </a:solidFill>
              </a:rPr>
              <a:t>#3 · 1,5'</a:t>
            </a:r>
            <a:endParaRPr lang="en-US" sz="1100" dirty="0"/>
          </a:p>
        </p:txBody>
      </p:sp>
      <p:sp>
        <p:nvSpPr>
          <p:cNvPr id="6" name="Body text"/>
          <p:cNvSpPr txBox="1"/>
          <p:nvPr/>
        </p:nvSpPr>
        <p:spPr>
          <a:xfrm>
            <a:off x="457200" y="1234440"/>
            <a:ext cx="5212080" cy="100584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A (RTT 40 ms) và B (RTT 200 ms) cùng nhặt một vật; trên màn hình, </a:t>
            </a:r>
            <a:pPr algn="l" marL="177800" indent="-177800">
              <a:spcAft>
                <a:spcPts val="600"/>
              </a:spcAft>
              <a:buSzPct val="100000"/>
              <a:buChar char="•"/>
            </a:pPr>
            <a:r>
              <a:rPr lang="en-US" sz="1400" b="1" dirty="0">
                <a:solidFill>
                  <a:schemeClr val="tx1"/>
                </a:solidFill>
              </a:rPr>
              <a:t>B chạm trước</a:t>
            </a:r>
            <a:endParaRPr lang="en-US" sz="1400" dirty="0"/>
          </a:p>
          <a:p>
            <a:pPr algn="l" marL="177800" indent="-177800">
              <a:spcAft>
                <a:spcPts val="600"/>
              </a:spcAft>
              <a:buSzPct val="100000"/>
              <a:buChar char="•"/>
            </a:pPr>
            <a:r>
              <a:rPr lang="en-US" sz="1400" dirty="0">
                <a:solidFill>
                  <a:schemeClr val="tx1"/>
                </a:solidFill>
              </a:rPr>
              <a:t>Phân xử theo thứ tự gói đến thì </a:t>
            </a:r>
            <a:pPr algn="l" marL="177800" indent="-177800">
              <a:spcAft>
                <a:spcPts val="600"/>
              </a:spcAft>
              <a:buSzPct val="100000"/>
              <a:buChar char="•"/>
            </a:pPr>
            <a:r>
              <a:rPr lang="en-US" sz="1400" b="1" dirty="0">
                <a:solidFill>
                  <a:schemeClr val="tx1"/>
                </a:solidFill>
              </a:rPr>
              <a:t>A luôn thắng</a:t>
            </a:r>
            <a:pPr algn="l" marL="177800" indent="-177800">
              <a:spcAft>
                <a:spcPts val="600"/>
              </a:spcAft>
              <a:buSzPct val="100000"/>
              <a:buChar char="•"/>
            </a:pPr>
            <a:r>
              <a:rPr lang="en-US" sz="1400" dirty="0">
                <a:solidFill>
                  <a:schemeClr val="tx1"/>
                </a:solidFill>
              </a:rPr>
              <a:t>: người trễ thấp luôn được lợi</a:t>
            </a:r>
            <a:endParaRPr lang="en-US" sz="1400" dirty="0"/>
          </a:p>
        </p:txBody>
      </p:sp>
      <p:sp>
        <p:nvSpPr>
          <p:cNvPr id="7" name="Options label"/>
          <p:cNvSpPr txBox="1"/>
          <p:nvPr/>
        </p:nvSpPr>
        <p:spPr>
          <a:xfrm>
            <a:off x="457200" y="2286000"/>
            <a:ext cx="5212080" cy="201168"/>
          </a:xfrm>
          <a:prstGeom prst="rect">
            <a:avLst/>
          </a:prstGeom>
          <a:noFill/>
          <a:ln/>
        </p:spPr>
        <p:txBody>
          <a:bodyPr wrap="square" lIns="0" tIns="0" rIns="0" bIns="0" rtlCol="0" anchor="ctr"/>
          <a:lstStyle/>
          <a:p>
            <a:pPr indent="0" marL="0">
              <a:buNone/>
            </a:pPr>
            <a:r>
              <a:rPr lang="en-US" sz="1000" b="1" spc="150" kern="0" dirty="0">
                <a:solidFill>
                  <a:schemeClr val="accent5"/>
                </a:solidFill>
              </a:rPr>
              <a:t>CÁC HƯỚNG</a:t>
            </a:r>
            <a:endParaRPr lang="en-US" sz="1000" dirty="0"/>
          </a:p>
        </p:txBody>
      </p:sp>
      <p:sp>
        <p:nvSpPr>
          <p:cNvPr id="8" name="Rating"/>
          <p:cNvSpPr txBox="1"/>
          <p:nvPr/>
        </p:nvSpPr>
        <p:spPr>
          <a:xfrm>
            <a:off x="548640" y="2532888"/>
            <a:ext cx="274320" cy="292608"/>
          </a:xfrm>
          <a:prstGeom prst="rect">
            <a:avLst/>
          </a:prstGeom>
          <a:noFill/>
          <a:ln/>
        </p:spPr>
        <p:txBody>
          <a:bodyPr wrap="square" lIns="0" tIns="0" rIns="0" bIns="0" rtlCol="0" anchor="ctr"/>
          <a:lstStyle/>
          <a:p>
            <a:pPr algn="ctr" indent="0" marL="0">
              <a:buNone/>
            </a:pPr>
            <a:r>
              <a:rPr lang="en-US" sz="1500" dirty="0">
                <a:solidFill>
                  <a:schemeClr val="accent5"/>
                </a:solidFill>
              </a:rPr>
              <a:t>○</a:t>
            </a:r>
            <a:endParaRPr lang="en-US" sz="1500" dirty="0"/>
          </a:p>
        </p:txBody>
      </p:sp>
      <p:sp>
        <p:nvSpPr>
          <p:cNvPr id="9" name="Option"/>
          <p:cNvSpPr txBox="1"/>
          <p:nvPr/>
        </p:nvSpPr>
        <p:spPr>
          <a:xfrm>
            <a:off x="868680" y="2532888"/>
            <a:ext cx="3886200" cy="292608"/>
          </a:xfrm>
          <a:prstGeom prst="rect">
            <a:avLst/>
          </a:prstGeom>
          <a:noFill/>
          <a:ln/>
        </p:spPr>
        <p:txBody>
          <a:bodyPr wrap="square" lIns="0" tIns="0" rIns="0" bIns="0" rtlCol="0" anchor="ctr"/>
          <a:lstStyle/>
          <a:p>
            <a:pPr indent="0" marL="0">
              <a:buNone/>
            </a:pPr>
            <a:r>
              <a:rPr lang="en-US" sz="1400" dirty="0">
                <a:solidFill>
                  <a:schemeClr val="tx1"/>
                </a:solidFill>
              </a:rPr>
              <a:t>Thứ tự gói đến</a:t>
            </a:r>
            <a:endParaRPr lang="en-US" sz="1400" dirty="0"/>
          </a:p>
        </p:txBody>
      </p:sp>
      <p:sp>
        <p:nvSpPr>
          <p:cNvPr id="10" name="Rating"/>
          <p:cNvSpPr txBox="1"/>
          <p:nvPr/>
        </p:nvSpPr>
        <p:spPr>
          <a:xfrm>
            <a:off x="548640" y="2862072"/>
            <a:ext cx="274320" cy="292608"/>
          </a:xfrm>
          <a:prstGeom prst="rect">
            <a:avLst/>
          </a:prstGeom>
          <a:noFill/>
          <a:ln/>
        </p:spPr>
        <p:txBody>
          <a:bodyPr wrap="square" lIns="0" tIns="0" rIns="0" bIns="0" rtlCol="0" anchor="ctr"/>
          <a:lstStyle/>
          <a:p>
            <a:pPr algn="ctr" indent="0" marL="0">
              <a:buNone/>
            </a:pPr>
            <a:r>
              <a:rPr lang="en-US" sz="1500" dirty="0">
                <a:solidFill>
                  <a:schemeClr val="accent5"/>
                </a:solidFill>
              </a:rPr>
              <a:t>○</a:t>
            </a:r>
            <a:endParaRPr lang="en-US" sz="1500" dirty="0"/>
          </a:p>
        </p:txBody>
      </p:sp>
      <p:sp>
        <p:nvSpPr>
          <p:cNvPr id="11" name="Option"/>
          <p:cNvSpPr txBox="1"/>
          <p:nvPr/>
        </p:nvSpPr>
        <p:spPr>
          <a:xfrm>
            <a:off x="868680" y="2862072"/>
            <a:ext cx="3886200" cy="292608"/>
          </a:xfrm>
          <a:prstGeom prst="rect">
            <a:avLst/>
          </a:prstGeom>
          <a:noFill/>
          <a:ln/>
        </p:spPr>
        <p:txBody>
          <a:bodyPr wrap="square" lIns="0" tIns="0" rIns="0" bIns="0" rtlCol="0" anchor="ctr"/>
          <a:lstStyle/>
          <a:p>
            <a:pPr indent="0" marL="0">
              <a:buNone/>
            </a:pPr>
            <a:r>
              <a:rPr lang="en-US" sz="1400" dirty="0">
                <a:solidFill>
                  <a:schemeClr val="tx1"/>
                </a:solidFill>
              </a:rPr>
              <a:t>Client tự quyết (gian lận)</a:t>
            </a:r>
            <a:endParaRPr lang="en-US" sz="1400" dirty="0"/>
          </a:p>
        </p:txBody>
      </p:sp>
      <p:sp>
        <p:nvSpPr>
          <p:cNvPr id="12" name="Chosen option"/>
          <p:cNvSpPr/>
          <p:nvPr/>
        </p:nvSpPr>
        <p:spPr>
          <a:xfrm>
            <a:off x="457200" y="3191256"/>
            <a:ext cx="5212080" cy="292608"/>
          </a:xfrm>
          <a:prstGeom prst="roundRect">
            <a:avLst>
              <a:gd name="adj" fmla="val 25000"/>
            </a:avLst>
          </a:prstGeom>
          <a:solidFill>
            <a:schemeClr val="accent6"/>
          </a:solidFill>
          <a:ln w="12700">
            <a:solidFill>
              <a:schemeClr val="accent6"/>
            </a:solidFill>
            <a:prstDash val="solid"/>
          </a:ln>
        </p:spPr>
      </p:sp>
      <p:sp>
        <p:nvSpPr>
          <p:cNvPr id="13" name="Chosen tag"/>
          <p:cNvSpPr txBox="1"/>
          <p:nvPr/>
        </p:nvSpPr>
        <p:spPr>
          <a:xfrm>
            <a:off x="4800600" y="3191256"/>
            <a:ext cx="777240" cy="292608"/>
          </a:xfrm>
          <a:prstGeom prst="rect">
            <a:avLst/>
          </a:prstGeom>
          <a:noFill/>
          <a:ln/>
        </p:spPr>
        <p:txBody>
          <a:bodyPr wrap="square" lIns="0" tIns="0" rIns="0" bIns="0" rtlCol="0" anchor="ctr"/>
          <a:lstStyle/>
          <a:p>
            <a:pPr algn="r" indent="0" marL="0">
              <a:buNone/>
            </a:pPr>
            <a:r>
              <a:rPr lang="en-US" sz="1000" b="1" dirty="0">
                <a:solidFill>
                  <a:schemeClr val="accent1"/>
                </a:solidFill>
              </a:rPr>
              <a:t>ĐÃ CHỌN</a:t>
            </a:r>
            <a:endParaRPr lang="en-US" sz="1000" dirty="0"/>
          </a:p>
        </p:txBody>
      </p:sp>
      <p:sp>
        <p:nvSpPr>
          <p:cNvPr id="14" name="Rating"/>
          <p:cNvSpPr txBox="1"/>
          <p:nvPr/>
        </p:nvSpPr>
        <p:spPr>
          <a:xfrm>
            <a:off x="548640" y="3191256"/>
            <a:ext cx="274320" cy="292608"/>
          </a:xfrm>
          <a:prstGeom prst="rect">
            <a:avLst/>
          </a:prstGeom>
          <a:noFill/>
          <a:ln/>
        </p:spPr>
        <p:txBody>
          <a:bodyPr wrap="square" lIns="0" tIns="0" rIns="0" bIns="0" rtlCol="0" anchor="ctr"/>
          <a:lstStyle/>
          <a:p>
            <a:pPr algn="ctr" indent="0" marL="0">
              <a:buNone/>
            </a:pPr>
            <a:r>
              <a:rPr lang="en-US" sz="1500" dirty="0">
                <a:solidFill>
                  <a:schemeClr val="accent1"/>
                </a:solidFill>
              </a:rPr>
              <a:t>●</a:t>
            </a:r>
            <a:endParaRPr lang="en-US" sz="1500" dirty="0"/>
          </a:p>
        </p:txBody>
      </p:sp>
      <p:sp>
        <p:nvSpPr>
          <p:cNvPr id="15" name="Option"/>
          <p:cNvSpPr txBox="1"/>
          <p:nvPr/>
        </p:nvSpPr>
        <p:spPr>
          <a:xfrm>
            <a:off x="868680" y="3191256"/>
            <a:ext cx="3886200" cy="292608"/>
          </a:xfrm>
          <a:prstGeom prst="rect">
            <a:avLst/>
          </a:prstGeom>
          <a:noFill/>
          <a:ln/>
        </p:spPr>
        <p:txBody>
          <a:bodyPr wrap="square" lIns="0" tIns="0" rIns="0" bIns="0" rtlCol="0" anchor="ctr"/>
          <a:lstStyle/>
          <a:p>
            <a:pPr indent="0" marL="0">
              <a:buNone/>
            </a:pPr>
            <a:r>
              <a:rPr lang="en-US" sz="1400" b="1" dirty="0">
                <a:solidFill>
                  <a:schemeClr val="tx1"/>
                </a:solidFill>
              </a:rPr>
              <a:t>Bù trễ</a:t>
            </a:r>
            <a:endParaRPr lang="en-US" sz="1400" dirty="0"/>
          </a:p>
        </p:txBody>
      </p:sp>
      <p:sp>
        <p:nvSpPr>
          <p:cNvPr id="16" name="Body text"/>
          <p:cNvSpPr txBox="1"/>
          <p:nvPr/>
        </p:nvSpPr>
        <p:spPr>
          <a:xfrm>
            <a:off x="457200" y="3630168"/>
            <a:ext cx="5212080" cy="987552"/>
          </a:xfrm>
          <a:prstGeom prst="rect">
            <a:avLst/>
          </a:prstGeom>
          <a:noFill/>
          <a:ln/>
        </p:spPr>
        <p:txBody>
          <a:bodyPr wrap="square" lIns="0" tIns="0" rIns="0" bIns="0" rtlCol="0" anchor="t"/>
          <a:lstStyle/>
          <a:p>
            <a:pPr algn="l" marL="177800" indent="-177800">
              <a:spcAft>
                <a:spcPts val="600"/>
              </a:spcAft>
              <a:buSzPct val="100000"/>
              <a:buChar char="•"/>
            </a:pPr>
            <a:r>
              <a:rPr lang="en-US" sz="1400" b="1" dirty="0">
                <a:solidFill>
                  <a:schemeClr val="tx1"/>
                </a:solidFill>
              </a:rPr>
              <a:t>Bù trễ:</a:t>
            </a:r>
            <a:pPr algn="l" marL="177800" indent="-177800">
              <a:spcAft>
                <a:spcPts val="600"/>
              </a:spcAft>
              <a:buSzPct val="100000"/>
              <a:buChar char="•"/>
            </a:pPr>
            <a:r>
              <a:rPr lang="en-US" sz="1400" dirty="0">
                <a:solidFill>
                  <a:schemeClr val="tx1"/>
                </a:solidFill>
              </a:rPr>
              <a:t> server lưu lịch sử 1 giây, </a:t>
            </a:r>
            <a:pPr algn="l" marL="177800" indent="-177800">
              <a:spcAft>
                <a:spcPts val="600"/>
              </a:spcAft>
              <a:buSzPct val="100000"/>
              <a:buChar char="•"/>
            </a:pPr>
            <a:r>
              <a:rPr lang="en-US" sz="1400" b="1" dirty="0">
                <a:solidFill>
                  <a:schemeClr val="tx1"/>
                </a:solidFill>
              </a:rPr>
              <a:t>tua lại</a:t>
            </a:r>
            <a:pPr algn="l" marL="177800" indent="-177800">
              <a:spcAft>
                <a:spcPts val="600"/>
              </a:spcAft>
              <a:buSzPct val="100000"/>
              <a:buChar char="•"/>
            </a:pPr>
            <a:r>
              <a:rPr lang="en-US" sz="1400" dirty="0">
                <a:solidFill>
                  <a:schemeClr val="tx1"/>
                </a:solidFill>
              </a:rPr>
              <a:t> về thời điểm người chơi nhìn thấy rồi mới phân xử</a:t>
            </a:r>
            <a:endParaRPr lang="en-US" sz="1400" dirty="0"/>
          </a:p>
          <a:p>
            <a:pPr algn="l" marL="177800" indent="-177800">
              <a:spcAft>
                <a:spcPts val="600"/>
              </a:spcAft>
              <a:buSzPct val="100000"/>
              <a:buChar char="•"/>
            </a:pPr>
            <a:r>
              <a:rPr lang="en-US" sz="1400" dirty="0">
                <a:solidFill>
                  <a:schemeClr val="tx1"/>
                </a:solidFill>
              </a:rPr>
              <a:t>Tua tối đa ~200–250 ms · Đánh đổi: </a:t>
            </a:r>
            <a:pPr algn="l" marL="177800" indent="-177800">
              <a:spcAft>
                <a:spcPts val="600"/>
              </a:spcAft>
              <a:buSzPct val="100000"/>
              <a:buChar char="•"/>
            </a:pPr>
            <a:r>
              <a:rPr lang="en-US" sz="1400" b="1" dirty="0">
                <a:solidFill>
                  <a:schemeClr val="tx1"/>
                </a:solidFill>
              </a:rPr>
              <a:t>“đã chạy đi rồi vẫn bị bắt”</a:t>
            </a:r>
            <a:endParaRPr lang="en-US" sz="1400" dirty="0"/>
          </a:p>
        </p:txBody>
      </p:sp>
      <p:sp>
        <p:nvSpPr>
          <p:cNvPr id="17" name="Placeholder frame"/>
          <p:cNvSpPr/>
          <p:nvPr/>
        </p:nvSpPr>
        <p:spPr>
          <a:xfrm>
            <a:off x="5897880" y="1234440"/>
            <a:ext cx="2788920" cy="3337560"/>
          </a:xfrm>
          <a:prstGeom prst="roundRect">
            <a:avLst>
              <a:gd name="adj" fmla="val 2623"/>
            </a:avLst>
          </a:prstGeom>
          <a:solidFill>
            <a:schemeClr val="bg2"/>
          </a:solidFill>
          <a:ln w="15875">
            <a:solidFill>
              <a:schemeClr val="accent1"/>
            </a:solidFill>
            <a:prstDash val="dash"/>
          </a:ln>
        </p:spPr>
      </p:sp>
      <p:sp>
        <p:nvSpPr>
          <p:cNvPr id="18" name="Placeholder label"/>
          <p:cNvSpPr txBox="1"/>
          <p:nvPr/>
        </p:nvSpPr>
        <p:spPr>
          <a:xfrm>
            <a:off x="6080760" y="1371600"/>
            <a:ext cx="242316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HÌNH CẦN VẼ</a:t>
            </a:r>
            <a:endParaRPr lang="en-US" sz="1000" dirty="0"/>
          </a:p>
        </p:txBody>
      </p:sp>
      <p:sp>
        <p:nvSpPr>
          <p:cNvPr id="19" name="Placeholder description"/>
          <p:cNvSpPr txBox="1"/>
          <p:nvPr/>
        </p:nvSpPr>
        <p:spPr>
          <a:xfrm>
            <a:off x="6080760" y="1691640"/>
            <a:ext cx="2423160" cy="274320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Dòng thời gian hai client, độ dài mũi tên khác nhau:</a:t>
            </a:r>
            <a:endParaRPr lang="en-US" sz="1200" dirty="0"/>
          </a:p>
          <a:p>
            <a:pPr algn="l" marL="177800" indent="-177800">
              <a:spcAft>
                <a:spcPts val="400"/>
              </a:spcAft>
              <a:buSzPct val="100000"/>
              <a:buChar char="•"/>
            </a:pPr>
            <a:r>
              <a:rPr lang="en-US" sz="1200" dirty="0">
                <a:solidFill>
                  <a:schemeClr val="accent5"/>
                </a:solidFill>
              </a:rPr>
              <a:t>Gói của B đến server sau gói của A</a:t>
            </a:r>
            <a:endParaRPr lang="en-US" sz="1200" dirty="0"/>
          </a:p>
          <a:p>
            <a:pPr algn="l" marL="177800" indent="-177800">
              <a:spcAft>
                <a:spcPts val="400"/>
              </a:spcAft>
              <a:buSzPct val="100000"/>
              <a:buChar char="•"/>
            </a:pPr>
            <a:r>
              <a:rPr lang="en-US" sz="1200" dirty="0">
                <a:solidFill>
                  <a:schemeClr val="accent5"/>
                </a:solidFill>
              </a:rPr>
              <a:t>Không bù trễ: A thắng</a:t>
            </a:r>
            <a:endParaRPr lang="en-US" sz="1200" dirty="0"/>
          </a:p>
          <a:p>
            <a:pPr algn="l" marL="177800" indent="-177800">
              <a:spcAft>
                <a:spcPts val="400"/>
              </a:spcAft>
              <a:buSzPct val="100000"/>
              <a:buChar char="•"/>
            </a:pPr>
            <a:r>
              <a:rPr lang="en-US" sz="1200" dirty="0">
                <a:solidFill>
                  <a:schemeClr val="accent5"/>
                </a:solidFill>
              </a:rPr>
              <a:t>Có bù trễ: server tua về thời điểm của từng người, thấy B trước nên B thắng</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VẤN ĐỀ 5</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Dự đoán hành động bị sai → quay lui</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3"/>
          </a:solidFill>
          <a:ln w="12700">
            <a:solidFill>
              <a:schemeClr val="accent3"/>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tx1"/>
                </a:solidFill>
              </a:rPr>
              <a:t>#3 · 1'</a:t>
            </a:r>
            <a:endParaRPr lang="en-US" sz="1100" dirty="0"/>
          </a:p>
        </p:txBody>
      </p:sp>
      <p:sp>
        <p:nvSpPr>
          <p:cNvPr id="6" name="Body text"/>
          <p:cNvSpPr txBox="1"/>
          <p:nvPr/>
        </p:nvSpPr>
        <p:spPr>
          <a:xfrm>
            <a:off x="457200" y="1234440"/>
            <a:ext cx="5212080" cy="320040"/>
          </a:xfrm>
          <a:prstGeom prst="rect">
            <a:avLst/>
          </a:prstGeom>
          <a:noFill/>
          <a:ln/>
        </p:spPr>
        <p:txBody>
          <a:bodyPr wrap="square" lIns="0" tIns="0" rIns="0" bIns="0" rtlCol="0" anchor="t"/>
          <a:lstStyle/>
          <a:p>
            <a:pPr algn="l" marL="177800" indent="-177800">
              <a:spcAft>
                <a:spcPts val="600"/>
              </a:spcAft>
              <a:buSzPct val="100000"/>
              <a:buChar char="•"/>
            </a:pPr>
            <a:r>
              <a:rPr lang="en-US" sz="1400" dirty="0">
                <a:solidFill>
                  <a:schemeClr val="tx1"/>
                </a:solidFill>
              </a:rPr>
              <a:t>Client đã hiển thị “nhặt được”, server báo </a:t>
            </a:r>
            <a:pPr algn="l" marL="177800" indent="-177800">
              <a:spcAft>
                <a:spcPts val="600"/>
              </a:spcAft>
              <a:buSzPct val="100000"/>
              <a:buChar char="•"/>
            </a:pPr>
            <a:r>
              <a:rPr lang="en-US" sz="1400" b="1" dirty="0">
                <a:solidFill>
                  <a:schemeClr val="tx1"/>
                </a:solidFill>
              </a:rPr>
              <a:t>từ chối</a:t>
            </a:r>
            <a:endParaRPr lang="en-US" sz="1400" dirty="0"/>
          </a:p>
        </p:txBody>
      </p:sp>
      <p:sp>
        <p:nvSpPr>
          <p:cNvPr id="7" name="Options label"/>
          <p:cNvSpPr txBox="1"/>
          <p:nvPr/>
        </p:nvSpPr>
        <p:spPr>
          <a:xfrm>
            <a:off x="457200" y="1600200"/>
            <a:ext cx="5212080" cy="201168"/>
          </a:xfrm>
          <a:prstGeom prst="rect">
            <a:avLst/>
          </a:prstGeom>
          <a:noFill/>
          <a:ln/>
        </p:spPr>
        <p:txBody>
          <a:bodyPr wrap="square" lIns="0" tIns="0" rIns="0" bIns="0" rtlCol="0" anchor="ctr"/>
          <a:lstStyle/>
          <a:p>
            <a:pPr indent="0" marL="0">
              <a:buNone/>
            </a:pPr>
            <a:r>
              <a:rPr lang="en-US" sz="1000" b="1" spc="150" kern="0" dirty="0">
                <a:solidFill>
                  <a:schemeClr val="accent5"/>
                </a:solidFill>
              </a:rPr>
              <a:t>CÁC HƯỚNG</a:t>
            </a:r>
            <a:endParaRPr lang="en-US" sz="1000" dirty="0"/>
          </a:p>
        </p:txBody>
      </p:sp>
      <p:sp>
        <p:nvSpPr>
          <p:cNvPr id="8" name="Rating"/>
          <p:cNvSpPr txBox="1"/>
          <p:nvPr/>
        </p:nvSpPr>
        <p:spPr>
          <a:xfrm>
            <a:off x="548640" y="1847088"/>
            <a:ext cx="274320" cy="292608"/>
          </a:xfrm>
          <a:prstGeom prst="rect">
            <a:avLst/>
          </a:prstGeom>
          <a:noFill/>
          <a:ln/>
        </p:spPr>
        <p:txBody>
          <a:bodyPr wrap="square" lIns="0" tIns="0" rIns="0" bIns="0" rtlCol="0" anchor="ctr"/>
          <a:lstStyle/>
          <a:p>
            <a:pPr algn="ctr" indent="0" marL="0">
              <a:buNone/>
            </a:pPr>
            <a:r>
              <a:rPr lang="en-US" sz="1500" dirty="0">
                <a:solidFill>
                  <a:schemeClr val="accent5"/>
                </a:solidFill>
              </a:rPr>
              <a:t>○</a:t>
            </a:r>
            <a:endParaRPr lang="en-US" sz="1500" dirty="0"/>
          </a:p>
        </p:txBody>
      </p:sp>
      <p:sp>
        <p:nvSpPr>
          <p:cNvPr id="9" name="Option"/>
          <p:cNvSpPr txBox="1"/>
          <p:nvPr/>
        </p:nvSpPr>
        <p:spPr>
          <a:xfrm>
            <a:off x="868680" y="1847088"/>
            <a:ext cx="3886200" cy="292608"/>
          </a:xfrm>
          <a:prstGeom prst="rect">
            <a:avLst/>
          </a:prstGeom>
          <a:noFill/>
          <a:ln/>
        </p:spPr>
        <p:txBody>
          <a:bodyPr wrap="square" lIns="0" tIns="0" rIns="0" bIns="0" rtlCol="0" anchor="ctr"/>
          <a:lstStyle/>
          <a:p>
            <a:pPr indent="0" marL="0">
              <a:buNone/>
            </a:pPr>
            <a:r>
              <a:rPr lang="en-US" sz="1400" dirty="0">
                <a:solidFill>
                  <a:schemeClr val="tx1"/>
                </a:solidFill>
              </a:rPr>
              <a:t>Không dự đoán: chờ 1 RTT</a:t>
            </a:r>
            <a:endParaRPr lang="en-US" sz="1400" dirty="0"/>
          </a:p>
        </p:txBody>
      </p:sp>
      <p:sp>
        <p:nvSpPr>
          <p:cNvPr id="10" name="Chosen option"/>
          <p:cNvSpPr/>
          <p:nvPr/>
        </p:nvSpPr>
        <p:spPr>
          <a:xfrm>
            <a:off x="457200" y="2176272"/>
            <a:ext cx="5212080" cy="292608"/>
          </a:xfrm>
          <a:prstGeom prst="roundRect">
            <a:avLst>
              <a:gd name="adj" fmla="val 25000"/>
            </a:avLst>
          </a:prstGeom>
          <a:solidFill>
            <a:schemeClr val="accent6"/>
          </a:solidFill>
          <a:ln w="12700">
            <a:solidFill>
              <a:schemeClr val="accent6"/>
            </a:solidFill>
            <a:prstDash val="solid"/>
          </a:ln>
        </p:spPr>
      </p:sp>
      <p:sp>
        <p:nvSpPr>
          <p:cNvPr id="11" name="Chosen tag"/>
          <p:cNvSpPr txBox="1"/>
          <p:nvPr/>
        </p:nvSpPr>
        <p:spPr>
          <a:xfrm>
            <a:off x="4800600" y="2176272"/>
            <a:ext cx="777240" cy="292608"/>
          </a:xfrm>
          <a:prstGeom prst="rect">
            <a:avLst/>
          </a:prstGeom>
          <a:noFill/>
          <a:ln/>
        </p:spPr>
        <p:txBody>
          <a:bodyPr wrap="square" lIns="0" tIns="0" rIns="0" bIns="0" rtlCol="0" anchor="ctr"/>
          <a:lstStyle/>
          <a:p>
            <a:pPr algn="r" indent="0" marL="0">
              <a:buNone/>
            </a:pPr>
            <a:r>
              <a:rPr lang="en-US" sz="1000" b="1" dirty="0">
                <a:solidFill>
                  <a:schemeClr val="accent1"/>
                </a:solidFill>
              </a:rPr>
              <a:t>ĐÃ CHỌN</a:t>
            </a:r>
            <a:endParaRPr lang="en-US" sz="1000" dirty="0"/>
          </a:p>
        </p:txBody>
      </p:sp>
      <p:sp>
        <p:nvSpPr>
          <p:cNvPr id="12" name="Rating"/>
          <p:cNvSpPr txBox="1"/>
          <p:nvPr/>
        </p:nvSpPr>
        <p:spPr>
          <a:xfrm>
            <a:off x="548640" y="2176272"/>
            <a:ext cx="274320" cy="292608"/>
          </a:xfrm>
          <a:prstGeom prst="rect">
            <a:avLst/>
          </a:prstGeom>
          <a:noFill/>
          <a:ln/>
        </p:spPr>
        <p:txBody>
          <a:bodyPr wrap="square" lIns="0" tIns="0" rIns="0" bIns="0" rtlCol="0" anchor="ctr"/>
          <a:lstStyle/>
          <a:p>
            <a:pPr algn="ctr" indent="0" marL="0">
              <a:buNone/>
            </a:pPr>
            <a:r>
              <a:rPr lang="en-US" sz="1500" dirty="0">
                <a:solidFill>
                  <a:schemeClr val="accent1"/>
                </a:solidFill>
              </a:rPr>
              <a:t>●</a:t>
            </a:r>
            <a:endParaRPr lang="en-US" sz="1500" dirty="0"/>
          </a:p>
        </p:txBody>
      </p:sp>
      <p:sp>
        <p:nvSpPr>
          <p:cNvPr id="13" name="Option"/>
          <p:cNvSpPr txBox="1"/>
          <p:nvPr/>
        </p:nvSpPr>
        <p:spPr>
          <a:xfrm>
            <a:off x="868680" y="2176272"/>
            <a:ext cx="3886200" cy="292608"/>
          </a:xfrm>
          <a:prstGeom prst="rect">
            <a:avLst/>
          </a:prstGeom>
          <a:noFill/>
          <a:ln/>
        </p:spPr>
        <p:txBody>
          <a:bodyPr wrap="square" lIns="0" tIns="0" rIns="0" bIns="0" rtlCol="0" anchor="ctr"/>
          <a:lstStyle/>
          <a:p>
            <a:pPr indent="0" marL="0">
              <a:buNone/>
            </a:pPr>
            <a:r>
              <a:rPr lang="en-US" sz="1400" b="1" dirty="0">
                <a:solidFill>
                  <a:schemeClr val="tx1"/>
                </a:solidFill>
              </a:rPr>
              <a:t>Dự đoán + quay lui cục bộ</a:t>
            </a:r>
            <a:endParaRPr lang="en-US" sz="1400" dirty="0"/>
          </a:p>
        </p:txBody>
      </p:sp>
      <p:sp>
        <p:nvSpPr>
          <p:cNvPr id="14" name="Rating"/>
          <p:cNvSpPr txBox="1"/>
          <p:nvPr/>
        </p:nvSpPr>
        <p:spPr>
          <a:xfrm>
            <a:off x="548640" y="2505456"/>
            <a:ext cx="274320" cy="292608"/>
          </a:xfrm>
          <a:prstGeom prst="rect">
            <a:avLst/>
          </a:prstGeom>
          <a:noFill/>
          <a:ln/>
        </p:spPr>
        <p:txBody>
          <a:bodyPr wrap="square" lIns="0" tIns="0" rIns="0" bIns="0" rtlCol="0" anchor="ctr"/>
          <a:lstStyle/>
          <a:p>
            <a:pPr algn="ctr" indent="0" marL="0">
              <a:buNone/>
            </a:pPr>
            <a:r>
              <a:rPr lang="en-US" sz="1500" dirty="0">
                <a:solidFill>
                  <a:schemeClr val="accent5"/>
                </a:solidFill>
              </a:rPr>
              <a:t>○</a:t>
            </a:r>
            <a:endParaRPr lang="en-US" sz="1500" dirty="0"/>
          </a:p>
        </p:txBody>
      </p:sp>
      <p:sp>
        <p:nvSpPr>
          <p:cNvPr id="15" name="Option"/>
          <p:cNvSpPr txBox="1"/>
          <p:nvPr/>
        </p:nvSpPr>
        <p:spPr>
          <a:xfrm>
            <a:off x="868680" y="2505456"/>
            <a:ext cx="3886200" cy="292608"/>
          </a:xfrm>
          <a:prstGeom prst="rect">
            <a:avLst/>
          </a:prstGeom>
          <a:noFill/>
          <a:ln/>
        </p:spPr>
        <p:txBody>
          <a:bodyPr wrap="square" lIns="0" tIns="0" rIns="0" bIns="0" rtlCol="0" anchor="ctr"/>
          <a:lstStyle/>
          <a:p>
            <a:pPr indent="0" marL="0">
              <a:buNone/>
            </a:pPr>
            <a:r>
              <a:rPr lang="en-US" sz="1400" dirty="0">
                <a:solidFill>
                  <a:schemeClr val="tx1"/>
                </a:solidFill>
              </a:rPr>
              <a:t>Quay lui toàn phần kiểu GGPO (ngang hàng)</a:t>
            </a:r>
            <a:endParaRPr lang="en-US" sz="1400" dirty="0"/>
          </a:p>
        </p:txBody>
      </p:sp>
      <p:sp>
        <p:nvSpPr>
          <p:cNvPr id="16" name="Body text"/>
          <p:cNvSpPr txBox="1"/>
          <p:nvPr/>
        </p:nvSpPr>
        <p:spPr>
          <a:xfrm>
            <a:off x="457200" y="2944368"/>
            <a:ext cx="5212080" cy="1673352"/>
          </a:xfrm>
          <a:prstGeom prst="rect">
            <a:avLst/>
          </a:prstGeom>
          <a:noFill/>
          <a:ln/>
        </p:spPr>
        <p:txBody>
          <a:bodyPr wrap="square" lIns="0" tIns="0" rIns="0" bIns="0" rtlCol="0" anchor="t"/>
          <a:lstStyle/>
          <a:p>
            <a:pPr algn="l" marL="177800" indent="-177800">
              <a:spcAft>
                <a:spcPts val="600"/>
              </a:spcAft>
              <a:buSzPct val="100000"/>
              <a:buChar char="•"/>
            </a:pPr>
            <a:r>
              <a:rPr lang="en-US" sz="1400" b="1" dirty="0">
                <a:solidFill>
                  <a:schemeClr val="tx1"/>
                </a:solidFill>
              </a:rPr>
              <a:t>Quay lui:</a:t>
            </a:r>
            <a:pPr algn="l" marL="177800" indent="-177800">
              <a:spcAft>
                <a:spcPts val="600"/>
              </a:spcAft>
              <a:buSzPct val="100000"/>
              <a:buChar char="•"/>
            </a:pPr>
            <a:r>
              <a:rPr lang="en-US" sz="1400" dirty="0">
                <a:solidFill>
                  <a:schemeClr val="tx1"/>
                </a:solidFill>
              </a:rPr>
              <a:t> về trạng thái đã xác nhận → mô phỏng lại → vật “bật ra khỏi tay”</a:t>
            </a:r>
            <a:endParaRPr lang="en-US" sz="1400" dirty="0"/>
          </a:p>
          <a:p>
            <a:pPr algn="l" marL="177800" indent="-177800">
              <a:spcAft>
                <a:spcPts val="600"/>
              </a:spcAft>
              <a:buSzPct val="100000"/>
              <a:buChar char="•"/>
            </a:pPr>
            <a:r>
              <a:rPr lang="en-US" sz="1400" dirty="0">
                <a:solidFill>
                  <a:schemeClr val="tx1"/>
                </a:solidFill>
              </a:rPr>
              <a:t>Đối chiếu (VĐ2) là </a:t>
            </a:r>
            <a:pPr algn="l" marL="177800" indent="-177800">
              <a:spcAft>
                <a:spcPts val="600"/>
              </a:spcAft>
              <a:buSzPct val="100000"/>
              <a:buChar char="•"/>
            </a:pPr>
            <a:r>
              <a:rPr lang="en-US" sz="1400" b="1" dirty="0">
                <a:solidFill>
                  <a:schemeClr val="tx1"/>
                </a:solidFill>
              </a:rPr>
              <a:t>trường hợp riêng</a:t>
            </a:r>
            <a:pPr algn="l" marL="177800" indent="-177800">
              <a:spcAft>
                <a:spcPts val="600"/>
              </a:spcAft>
              <a:buSzPct val="100000"/>
              <a:buChar char="•"/>
            </a:pPr>
            <a:r>
              <a:rPr lang="en-US" sz="1400" dirty="0">
                <a:solidFill>
                  <a:schemeClr val="tx1"/>
                </a:solidFill>
              </a:rPr>
              <a:t> của quay lui</a:t>
            </a:r>
            <a:endParaRPr lang="en-US" sz="1400" dirty="0"/>
          </a:p>
          <a:p>
            <a:pPr algn="l" marL="177800" indent="-177800">
              <a:spcAft>
                <a:spcPts val="600"/>
              </a:spcAft>
              <a:buSzPct val="100000"/>
              <a:buChar char="•"/>
            </a:pPr>
            <a:r>
              <a:rPr lang="en-US" sz="1400" dirty="0">
                <a:solidFill>
                  <a:schemeClr val="tx1"/>
                </a:solidFill>
              </a:rPr>
              <a:t>Quay lui ngang hàng cần </a:t>
            </a:r>
            <a:pPr algn="l" marL="177800" indent="-177800">
              <a:spcAft>
                <a:spcPts val="600"/>
              </a:spcAft>
              <a:buSzPct val="100000"/>
              <a:buChar char="•"/>
            </a:pPr>
            <a:r>
              <a:rPr lang="en-US" sz="1400" b="1" dirty="0">
                <a:solidFill>
                  <a:schemeClr val="tx1"/>
                </a:solidFill>
              </a:rPr>
              <a:t>tính tất định tuyệt đối</a:t>
            </a:r>
            <a:pPr algn="l" marL="177800" indent="-177800">
              <a:spcAft>
                <a:spcPts val="600"/>
              </a:spcAft>
              <a:buSzPct val="100000"/>
              <a:buChar char="•"/>
            </a:pPr>
            <a:r>
              <a:rPr lang="en-US" sz="1400" dirty="0">
                <a:solidFill>
                  <a:schemeClr val="tx1"/>
                </a:solidFill>
              </a:rPr>
              <a:t>; mô hình server quyết định chỉ cần “gần giống”</a:t>
            </a:r>
            <a:endParaRPr lang="en-US" sz="1400" dirty="0"/>
          </a:p>
        </p:txBody>
      </p:sp>
      <p:sp>
        <p:nvSpPr>
          <p:cNvPr id="17" name="Placeholder frame"/>
          <p:cNvSpPr/>
          <p:nvPr/>
        </p:nvSpPr>
        <p:spPr>
          <a:xfrm>
            <a:off x="5897880" y="1234440"/>
            <a:ext cx="2788920" cy="3337560"/>
          </a:xfrm>
          <a:prstGeom prst="roundRect">
            <a:avLst>
              <a:gd name="adj" fmla="val 2623"/>
            </a:avLst>
          </a:prstGeom>
          <a:solidFill>
            <a:schemeClr val="bg2"/>
          </a:solidFill>
          <a:ln w="15875">
            <a:solidFill>
              <a:schemeClr val="accent1"/>
            </a:solidFill>
            <a:prstDash val="dash"/>
          </a:ln>
        </p:spPr>
      </p:sp>
      <p:sp>
        <p:nvSpPr>
          <p:cNvPr id="18" name="Placeholder label"/>
          <p:cNvSpPr txBox="1"/>
          <p:nvPr/>
        </p:nvSpPr>
        <p:spPr>
          <a:xfrm>
            <a:off x="6080760" y="1371600"/>
            <a:ext cx="242316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HÌNH CẦN VẼ</a:t>
            </a:r>
            <a:endParaRPr lang="en-US" sz="1000" dirty="0"/>
          </a:p>
        </p:txBody>
      </p:sp>
      <p:sp>
        <p:nvSpPr>
          <p:cNvPr id="19" name="Placeholder description"/>
          <p:cNvSpPr txBox="1"/>
          <p:nvPr/>
        </p:nvSpPr>
        <p:spPr>
          <a:xfrm>
            <a:off x="6080760" y="1691640"/>
            <a:ext cx="2423160" cy="274320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Dòng thời gian client: nhịp 50 bấm nhặt (nét đứt: dự đoán); nhịp 56 nhận “TỪ CHỐI”; mũi tên vòng ngược về nhịp 50; nhánh mới (nét liền) không cầm vật.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TỔNG KẾT</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Năm vấn đề, năm đánh đổi</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3"/>
          </a:solidFill>
          <a:ln w="12700">
            <a:solidFill>
              <a:schemeClr val="accent3"/>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tx1"/>
                </a:solidFill>
              </a:rPr>
              <a:t>#3 · 0,5'</a:t>
            </a:r>
            <a:endParaRPr lang="en-US" sz="1100" dirty="0"/>
          </a:p>
        </p:txBody>
      </p:sp>
      <p:graphicFrame>
        <p:nvGraphicFramePr>
          <p:cNvPr id="13" name="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651760"/>
                <a:gridCol w="2377440"/>
                <a:gridCol w="3200400"/>
              </a:tblGrid>
              <a:tr h="384048">
                <a:tc>
                  <a:txBody>
                    <a:bodyPr/>
                    <a:lstStyle/>
                    <a:p>
                      <a:pPr indent="0" marL="0">
                        <a:buNone/>
                      </a:pPr>
                      <a:r>
                        <a:rPr lang="en-US" sz="1300" b="1" dirty="0">
                          <a:solidFill>
                            <a:schemeClr val="bg1"/>
                          </a:solidFill>
                        </a:rPr>
                        <a:t>Vấn đề</a:t>
                      </a:r>
                      <a:endParaRPr lang="en-US" sz="13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Giải pháp</a:t>
                      </a:r>
                      <a:endParaRPr lang="en-US" sz="13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tx1"/>
                    </a:solidFill>
                  </a:tcPr>
                </a:tc>
                <a:tc>
                  <a:txBody>
                    <a:bodyPr/>
                    <a:lstStyle/>
                    <a:p>
                      <a:pPr indent="0" marL="0">
                        <a:buNone/>
                      </a:pPr>
                      <a:r>
                        <a:rPr lang="en-US" sz="1300" b="1" dirty="0">
                          <a:solidFill>
                            <a:schemeClr val="bg1"/>
                          </a:solidFill>
                        </a:rPr>
                        <a:t>Đánh đổi</a:t>
                      </a:r>
                      <a:endParaRPr lang="en-US" sz="13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tx1"/>
                    </a:solidFill>
                  </a:tcPr>
                </a:tc>
              </a:tr>
              <a:tr h="384048">
                <a:tc>
                  <a:txBody>
                    <a:bodyPr/>
                    <a:lstStyle/>
                    <a:p>
                      <a:pPr indent="0" marL="0">
                        <a:buNone/>
                      </a:pPr>
                      <a:r>
                        <a:rPr lang="en-US" sz="1400" dirty="0">
                          <a:solidFill>
                            <a:schemeClr val="tx1"/>
                          </a:solidFill>
                        </a:rPr>
                        <a:t>Ai quyết định</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Server quyết định</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Trễ 1 RTT</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Điều khiển ì</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Dự đoán + đối chiếu</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Cần mô phỏng chung</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Đối thủ giật</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Nội suy</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Thấy đối thủ ở quá khứ</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Tranh chấp không công bằng</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Bù trễ</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“Chạy rồi vẫn bị bắt”</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2"/>
                    </a:solidFill>
                  </a:tcPr>
                </a:tc>
              </a:tr>
              <a:tr h="384048">
                <a:tc>
                  <a:txBody>
                    <a:bodyPr/>
                    <a:lstStyle/>
                    <a:p>
                      <a:pPr indent="0" marL="0">
                        <a:buNone/>
                      </a:pPr>
                      <a:r>
                        <a:rPr lang="en-US" sz="1400" dirty="0">
                          <a:solidFill>
                            <a:schemeClr val="tx1"/>
                          </a:solidFill>
                        </a:rPr>
                        <a:t>Dự đoán sai</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Quay lui</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Thỉnh thoảng thấy hành động bị huỷ</a:t>
                      </a:r>
                      <a:endParaRPr lang="en-US" sz="1400" dirty="0"/>
                    </a:p>
                  </a:txBody>
                  <a:tcPr marL="91440" marR="91440" marT="45720" marB="45720" anchor="ctr">
                    <a:lnL w="9525" cap="flat" cmpd="sng" algn="ctr">
                      <a:solidFill>
                        <a:srgbClr val="D3DCE6"/>
                      </a:solidFill>
                      <a:prstDash val="solid"/>
                      <a:round/>
                      <a:headEnd type="none" w="med" len="med"/>
                      <a:tailEnd type="none" w="med" len="med"/>
                    </a:lnL>
                    <a:lnR w="9525" cap="flat" cmpd="sng" algn="ctr">
                      <a:solidFill>
                        <a:srgbClr val="D3DCE6"/>
                      </a:solidFill>
                      <a:prstDash val="solid"/>
                      <a:round/>
                      <a:headEnd type="none" w="med" len="med"/>
                      <a:tailEnd type="none" w="med" len="med"/>
                    </a:lnR>
                    <a:lnT w="9525" cap="flat" cmpd="sng" algn="ctr">
                      <a:solidFill>
                        <a:srgbClr val="D3DCE6"/>
                      </a:solidFill>
                      <a:prstDash val="solid"/>
                      <a:round/>
                      <a:headEnd type="none" w="med" len="med"/>
                      <a:tailEnd type="none" w="med" len="med"/>
                    </a:lnT>
                    <a:lnB w="9525" cap="flat" cmpd="sng" algn="ctr">
                      <a:solidFill>
                        <a:srgbClr val="D3DCE6"/>
                      </a:solidFill>
                      <a:prstDash val="solid"/>
                      <a:round/>
                      <a:headEnd type="none" w="med" len="med"/>
                      <a:tailEnd type="none" w="med" len="med"/>
                    </a:lnB>
                    <a:solidFill>
                      <a:schemeClr val="bg1"/>
                    </a:solidFill>
                  </a:tcPr>
                </a:tc>
              </a:tr>
            </a:tbl>
          </a:graphicData>
        </a:graphic>
      </p:graphicFrame>
      <p:sp>
        <p:nvSpPr>
          <p:cNvPr id="7" name="Key message"/>
          <p:cNvSpPr/>
          <p:nvPr/>
        </p:nvSpPr>
        <p:spPr>
          <a:xfrm>
            <a:off x="457200" y="3749040"/>
            <a:ext cx="8229600" cy="777240"/>
          </a:xfrm>
          <a:prstGeom prst="roundRect">
            <a:avLst>
              <a:gd name="adj" fmla="val 11765"/>
            </a:avLst>
          </a:prstGeom>
          <a:solidFill>
            <a:schemeClr val="tx1"/>
          </a:solidFill>
          <a:ln w="12700">
            <a:solidFill>
              <a:schemeClr val="tx1"/>
            </a:solidFill>
            <a:prstDash val="solid"/>
          </a:ln>
        </p:spPr>
      </p:sp>
      <p:sp>
        <p:nvSpPr>
          <p:cNvPr id="8" name="Text 5"/>
          <p:cNvSpPr txBox="1"/>
          <p:nvPr/>
        </p:nvSpPr>
        <p:spPr>
          <a:xfrm>
            <a:off x="731520" y="3749040"/>
            <a:ext cx="7680960" cy="777240"/>
          </a:xfrm>
          <a:prstGeom prst="rect">
            <a:avLst/>
          </a:prstGeom>
          <a:noFill/>
          <a:ln/>
        </p:spPr>
        <p:txBody>
          <a:bodyPr wrap="square" lIns="0" tIns="0" rIns="0" bIns="0" rtlCol="0" anchor="ctr"/>
          <a:lstStyle/>
          <a:p>
            <a:pPr indent="0" marL="0">
              <a:buNone/>
            </a:pPr>
            <a:r>
              <a:rPr lang="en-US" sz="1800" b="1" i="1" dirty="0">
                <a:solidFill>
                  <a:schemeClr val="bg1"/>
                </a:solidFill>
                <a:latin typeface="Cambria" pitchFamily="34" charset="0"/>
                <a:ea typeface="Cambria" pitchFamily="34" charset="-122"/>
                <a:cs typeface="Cambria" pitchFamily="34" charset="-120"/>
              </a:rPr>
              <a:t>Không kỹ thuật nào xoá được độ trễ, chỉ chuyển nó sang chỗ ít bị để ý hơn</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ÁP DỤNG</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Game xếp đơn hàng siêu thị → demo</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3"/>
          </a:solidFill>
          <a:ln w="12700">
            <a:solidFill>
              <a:schemeClr val="accent3"/>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tx1"/>
                </a:solidFill>
              </a:rPr>
              <a:t>#3 · 0,5'</a:t>
            </a:r>
            <a:endParaRPr lang="en-US" sz="1100" dirty="0"/>
          </a:p>
        </p:txBody>
      </p:sp>
      <p:sp>
        <p:nvSpPr>
          <p:cNvPr id="6" name="Body text"/>
          <p:cNvSpPr txBox="1"/>
          <p:nvPr/>
        </p:nvSpPr>
        <p:spPr>
          <a:xfrm>
            <a:off x="457200" y="1234440"/>
            <a:ext cx="5212080" cy="2331720"/>
          </a:xfrm>
          <a:prstGeom prst="rect">
            <a:avLst/>
          </a:prstGeom>
          <a:noFill/>
          <a:ln/>
        </p:spPr>
        <p:txBody>
          <a:bodyPr wrap="square" lIns="0" tIns="0" rIns="0" bIns="0" rtlCol="0" anchor="t"/>
          <a:lstStyle/>
          <a:p>
            <a:pPr algn="l" marL="177800" indent="-177800">
              <a:spcAft>
                <a:spcPts val="800"/>
              </a:spcAft>
              <a:buSzPct val="100000"/>
              <a:buChar char="•"/>
            </a:pPr>
            <a:r>
              <a:rPr lang="en-US" sz="1400" dirty="0">
                <a:solidFill>
                  <a:schemeClr val="tx1"/>
                </a:solidFill>
              </a:rPr>
              <a:t>Game 2 người, mỗi người là nhân viên siêu thị: </a:t>
            </a:r>
            <a:pPr algn="l" marL="177800" indent="-177800">
              <a:spcAft>
                <a:spcPts val="800"/>
              </a:spcAft>
              <a:buSzPct val="100000"/>
              <a:buChar char="•"/>
            </a:pPr>
            <a:r>
              <a:rPr lang="en-US" sz="1400" b="1" dirty="0">
                <a:solidFill>
                  <a:schemeClr val="tx1"/>
                </a:solidFill>
              </a:rPr>
              <a:t>WASD</a:t>
            </a:r>
            <a:pPr algn="l" marL="177800" indent="-177800">
              <a:spcAft>
                <a:spcPts val="800"/>
              </a:spcAft>
              <a:buSzPct val="100000"/>
              <a:buChar char="•"/>
            </a:pPr>
            <a:r>
              <a:rPr lang="en-US" sz="1400" dirty="0">
                <a:solidFill>
                  <a:schemeClr val="tx1"/>
                </a:solidFill>
              </a:rPr>
              <a:t> di chuyển, </a:t>
            </a:r>
            <a:pPr algn="l" marL="177800" indent="-177800">
              <a:spcAft>
                <a:spcPts val="800"/>
              </a:spcAft>
              <a:buSzPct val="100000"/>
              <a:buChar char="•"/>
            </a:pPr>
            <a:r>
              <a:rPr lang="en-US" sz="1400" b="1" dirty="0">
                <a:solidFill>
                  <a:schemeClr val="tx1"/>
                </a:solidFill>
              </a:rPr>
              <a:t>J</a:t>
            </a:r>
            <a:pPr algn="l" marL="177800" indent="-177800">
              <a:spcAft>
                <a:spcPts val="800"/>
              </a:spcAft>
              <a:buSzPct val="100000"/>
              <a:buChar char="•"/>
            </a:pPr>
            <a:r>
              <a:rPr lang="en-US" sz="1400" dirty="0">
                <a:solidFill>
                  <a:schemeClr val="tx1"/>
                </a:solidFill>
              </a:rPr>
              <a:t> nhặt / giao, </a:t>
            </a:r>
            <a:pPr algn="l" marL="177800" indent="-177800">
              <a:spcAft>
                <a:spcPts val="800"/>
              </a:spcAft>
              <a:buSzPct val="100000"/>
              <a:buChar char="•"/>
            </a:pPr>
            <a:r>
              <a:rPr lang="en-US" sz="1400" b="1" dirty="0">
                <a:solidFill>
                  <a:schemeClr val="tx1"/>
                </a:solidFill>
              </a:rPr>
              <a:t>K</a:t>
            </a:r>
            <a:pPr algn="l" marL="177800" indent="-177800">
              <a:spcAft>
                <a:spcPts val="800"/>
              </a:spcAft>
              <a:buSzPct val="100000"/>
              <a:buChar char="•"/>
            </a:pPr>
            <a:r>
              <a:rPr lang="en-US" sz="1400" dirty="0">
                <a:solidFill>
                  <a:schemeClr val="tx1"/>
                </a:solidFill>
              </a:rPr>
              <a:t> thả</a:t>
            </a:r>
            <a:endParaRPr lang="en-US" sz="1400" dirty="0"/>
          </a:p>
          <a:p>
            <a:pPr algn="l" marL="177800" indent="-177800">
              <a:spcAft>
                <a:spcPts val="800"/>
              </a:spcAft>
              <a:buSzPct val="100000"/>
              <a:buChar char="•"/>
            </a:pPr>
            <a:r>
              <a:rPr lang="en-US" sz="1400" dirty="0">
                <a:solidFill>
                  <a:schemeClr val="tx1"/>
                </a:solidFill>
              </a:rPr>
              <a:t>Mỗi khách cần 3 món theo thứ tự, giao đúng </a:t>
            </a:r>
            <a:pPr algn="l" marL="177800" indent="-177800">
              <a:spcAft>
                <a:spcPts val="800"/>
              </a:spcAft>
              <a:buSzPct val="100000"/>
              <a:buChar char="•"/>
            </a:pPr>
            <a:r>
              <a:rPr lang="en-US" sz="1400" b="1" dirty="0">
                <a:solidFill>
                  <a:schemeClr val="tx1"/>
                </a:solidFill>
              </a:rPr>
              <a:t>+5 điểm</a:t>
            </a:r>
            <a:pPr algn="l" marL="177800" indent="-177800">
              <a:spcAft>
                <a:spcPts val="800"/>
              </a:spcAft>
              <a:buSzPct val="100000"/>
              <a:buChar char="•"/>
            </a:pPr>
            <a:r>
              <a:rPr lang="en-US" sz="1400" dirty="0">
                <a:solidFill>
                  <a:schemeClr val="tx1"/>
                </a:solidFill>
              </a:rPr>
              <a:t>, trận </a:t>
            </a:r>
            <a:pPr algn="l" marL="177800" indent="-177800">
              <a:spcAft>
                <a:spcPts val="800"/>
              </a:spcAft>
              <a:buSzPct val="100000"/>
              <a:buChar char="•"/>
            </a:pPr>
            <a:r>
              <a:rPr lang="en-US" sz="1400" b="1" dirty="0">
                <a:solidFill>
                  <a:schemeClr val="tx1"/>
                </a:solidFill>
              </a:rPr>
              <a:t>2 phút 30 giây</a:t>
            </a:r>
            <a:endParaRPr lang="en-US" sz="1400" dirty="0"/>
          </a:p>
          <a:p>
            <a:pPr algn="l" marL="177800" indent="-177800">
              <a:spcAft>
                <a:spcPts val="800"/>
              </a:spcAft>
              <a:buSzPct val="100000"/>
              <a:buChar char="•"/>
            </a:pPr>
            <a:r>
              <a:rPr lang="en-US" sz="1400" b="1" dirty="0">
                <a:solidFill>
                  <a:schemeClr val="tx1"/>
                </a:solidFill>
              </a:rPr>
              <a:t>Món hàng hiếm</a:t>
            </a:r>
            <a:pPr algn="l" marL="177800" indent="-177800">
              <a:spcAft>
                <a:spcPts val="800"/>
              </a:spcAft>
              <a:buSzPct val="100000"/>
              <a:buChar char="•"/>
            </a:pPr>
            <a:r>
              <a:rPr lang="en-US" sz="1400" dirty="0">
                <a:solidFill>
                  <a:schemeClr val="tx1"/>
                </a:solidFill>
              </a:rPr>
              <a:t> chỉ có 1 cái ở kệ giữa → tranh chấp → bù trễ + quay lui</a:t>
            </a:r>
            <a:endParaRPr lang="en-US" sz="1400" dirty="0"/>
          </a:p>
          <a:p>
            <a:pPr algn="l" marL="177800" indent="-177800">
              <a:spcAft>
                <a:spcPts val="800"/>
              </a:spcAft>
              <a:buSzPct val="100000"/>
              <a:buChar char="•"/>
            </a:pPr>
            <a:r>
              <a:rPr lang="en-US" sz="1400" dirty="0">
                <a:solidFill>
                  <a:schemeClr val="tx1"/>
                </a:solidFill>
              </a:rPr>
              <a:t>Unity (C#) + .NET server · TCP + UDP · SQLite</a:t>
            </a:r>
            <a:endParaRPr lang="en-US" sz="1400" dirty="0"/>
          </a:p>
        </p:txBody>
      </p:sp>
      <p:sp>
        <p:nvSpPr>
          <p:cNvPr id="7" name="Demo callout"/>
          <p:cNvSpPr/>
          <p:nvPr/>
        </p:nvSpPr>
        <p:spPr>
          <a:xfrm>
            <a:off x="457200" y="3703320"/>
            <a:ext cx="5212080" cy="868680"/>
          </a:xfrm>
          <a:prstGeom prst="roundRect">
            <a:avLst>
              <a:gd name="adj" fmla="val 10526"/>
            </a:avLst>
          </a:prstGeom>
          <a:solidFill>
            <a:schemeClr val="accent6"/>
          </a:solidFill>
          <a:ln w="12700">
            <a:solidFill>
              <a:schemeClr val="accent6"/>
            </a:solidFill>
            <a:prstDash val="solid"/>
          </a:ln>
        </p:spPr>
      </p:sp>
      <p:sp>
        <p:nvSpPr>
          <p:cNvPr id="8" name="Text 6"/>
          <p:cNvSpPr txBox="1"/>
          <p:nvPr/>
        </p:nvSpPr>
        <p:spPr>
          <a:xfrm>
            <a:off x="685800" y="3703320"/>
            <a:ext cx="4800600" cy="868680"/>
          </a:xfrm>
          <a:prstGeom prst="rect">
            <a:avLst/>
          </a:prstGeom>
          <a:noFill/>
          <a:ln/>
        </p:spPr>
        <p:txBody>
          <a:bodyPr wrap="square" lIns="0" tIns="0" rIns="0" bIns="0" rtlCol="0" anchor="ctr"/>
          <a:lstStyle/>
          <a:p>
            <a:pPr indent="0" marL="0">
              <a:buNone/>
            </a:pPr>
            <a:r>
              <a:rPr lang="en-US" sz="1400" b="1" dirty="0">
                <a:solidFill>
                  <a:schemeClr val="tx1"/>
                </a:solidFill>
              </a:rPr>
              <a:t>Demo hôm nay:</a:t>
            </a:r>
            <a:pPr indent="0" marL="0">
              <a:buNone/>
            </a:pPr>
            <a:r>
              <a:rPr lang="en-US" sz="1400" dirty="0">
                <a:solidFill>
                  <a:schemeClr val="tx1"/>
                </a:solidFill>
              </a:rPr>
              <a:t> bản chứng minh ý tưởng, 2 ô vuông, 3 khung nhìn, mạng giả lập</a:t>
            </a:r>
            <a:endParaRPr lang="en-US" sz="1400" dirty="0"/>
          </a:p>
        </p:txBody>
      </p:sp>
      <p:sp>
        <p:nvSpPr>
          <p:cNvPr id="9" name="Placeholder frame"/>
          <p:cNvSpPr/>
          <p:nvPr/>
        </p:nvSpPr>
        <p:spPr>
          <a:xfrm>
            <a:off x="5897880" y="1234440"/>
            <a:ext cx="2788920" cy="3337560"/>
          </a:xfrm>
          <a:prstGeom prst="roundRect">
            <a:avLst>
              <a:gd name="adj" fmla="val 2623"/>
            </a:avLst>
          </a:prstGeom>
          <a:solidFill>
            <a:schemeClr val="bg2"/>
          </a:solidFill>
          <a:ln w="15875">
            <a:solidFill>
              <a:schemeClr val="accent1"/>
            </a:solidFill>
            <a:prstDash val="dash"/>
          </a:ln>
        </p:spPr>
      </p:sp>
      <p:sp>
        <p:nvSpPr>
          <p:cNvPr id="10" name="Placeholder label"/>
          <p:cNvSpPr txBox="1"/>
          <p:nvPr/>
        </p:nvSpPr>
        <p:spPr>
          <a:xfrm>
            <a:off x="6080760" y="1371600"/>
            <a:ext cx="242316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HÌNH CẦN VẼ</a:t>
            </a:r>
            <a:endParaRPr lang="en-US" sz="1000" dirty="0"/>
          </a:p>
        </p:txBody>
      </p:sp>
      <p:sp>
        <p:nvSpPr>
          <p:cNvPr id="11" name="Placeholder description"/>
          <p:cNvSpPr txBox="1"/>
          <p:nvPr/>
        </p:nvSpPr>
        <p:spPr>
          <a:xfrm>
            <a:off x="6080760" y="1691640"/>
            <a:ext cx="2423160" cy="274320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Ảnh phác bản đồ siêu thị: hai quầy khách hai bên, kệ hàng, món hàng hiếm phát sáng ở giữa.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6"/>
                </a:solidFill>
              </a:rPr>
              <a:t>DEMO · 5–6 PHÚT</a:t>
            </a:r>
            <a:endParaRPr lang="en-US" sz="1100" dirty="0"/>
          </a:p>
        </p:txBody>
      </p:sp>
      <p:sp>
        <p:nvSpPr>
          <p:cNvPr id="3" name="Text 0"/>
          <p:cNvSpPr/>
          <p:nvPr>
            <p:ph idx="101"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bg1"/>
                </a:solidFill>
              </a:rPr>
              <a:t>Bản chứng minh ý tưởng: phần di chuyển</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3"/>
          </a:solidFill>
          <a:ln w="12700">
            <a:solidFill>
              <a:schemeClr val="accent3"/>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tx1"/>
                </a:solidFill>
              </a:rPr>
              <a:t>#3 + #2 · 5–6'</a:t>
            </a:r>
            <a:endParaRPr lang="en-US" sz="1100" dirty="0"/>
          </a:p>
        </p:txBody>
      </p:sp>
      <p:sp>
        <p:nvSpPr>
          <p:cNvPr id="6" name="Client A pane"/>
          <p:cNvSpPr/>
          <p:nvPr/>
        </p:nvSpPr>
        <p:spPr>
          <a:xfrm>
            <a:off x="457200" y="1234440"/>
            <a:ext cx="2560320" cy="1600200"/>
          </a:xfrm>
          <a:prstGeom prst="roundRect">
            <a:avLst>
              <a:gd name="adj" fmla="val 4571"/>
            </a:avLst>
          </a:prstGeom>
          <a:solidFill>
            <a:schemeClr val="tx1"/>
          </a:solidFill>
          <a:ln w="12700">
            <a:solidFill>
              <a:schemeClr val="accent6"/>
            </a:solidFill>
            <a:prstDash val="solid"/>
          </a:ln>
        </p:spPr>
      </p:sp>
      <p:sp>
        <p:nvSpPr>
          <p:cNvPr id="7" name="Text 5"/>
          <p:cNvSpPr txBox="1"/>
          <p:nvPr/>
        </p:nvSpPr>
        <p:spPr>
          <a:xfrm>
            <a:off x="640080" y="1325880"/>
            <a:ext cx="2194560" cy="274320"/>
          </a:xfrm>
          <a:prstGeom prst="rect">
            <a:avLst/>
          </a:prstGeom>
          <a:noFill/>
          <a:ln/>
        </p:spPr>
        <p:txBody>
          <a:bodyPr wrap="square" lIns="0" tIns="0" rIns="0" bIns="0" rtlCol="0" anchor="ctr"/>
          <a:lstStyle/>
          <a:p>
            <a:pPr indent="0" marL="0">
              <a:buNone/>
            </a:pPr>
            <a:r>
              <a:rPr lang="en-US" sz="1300" b="1" dirty="0">
                <a:solidFill>
                  <a:schemeClr val="accent6"/>
                </a:solidFill>
              </a:rPr>
              <a:t>Client A</a:t>
            </a:r>
            <a:endParaRPr lang="en-US" sz="1300" dirty="0"/>
          </a:p>
        </p:txBody>
      </p:sp>
      <p:sp>
        <p:nvSpPr>
          <p:cNvPr id="8" name="Square A"/>
          <p:cNvSpPr/>
          <p:nvPr/>
        </p:nvSpPr>
        <p:spPr>
          <a:xfrm>
            <a:off x="960120" y="1828800"/>
            <a:ext cx="384048" cy="384048"/>
          </a:xfrm>
          <a:prstGeom prst="rect">
            <a:avLst/>
          </a:prstGeom>
          <a:solidFill>
            <a:schemeClr val="accent1"/>
          </a:solidFill>
          <a:ln w="12700">
            <a:solidFill>
              <a:schemeClr val="accent1"/>
            </a:solidFill>
            <a:prstDash val="solid"/>
          </a:ln>
        </p:spPr>
      </p:sp>
      <p:sp>
        <p:nvSpPr>
          <p:cNvPr id="9" name="Square B"/>
          <p:cNvSpPr/>
          <p:nvPr/>
        </p:nvSpPr>
        <p:spPr>
          <a:xfrm>
            <a:off x="2057400" y="1965960"/>
            <a:ext cx="384048" cy="384048"/>
          </a:xfrm>
          <a:prstGeom prst="rect">
            <a:avLst/>
          </a:prstGeom>
          <a:solidFill>
            <a:schemeClr val="accent3"/>
          </a:solidFill>
          <a:ln w="12700">
            <a:solidFill>
              <a:schemeClr val="accent3"/>
            </a:solidFill>
            <a:prstDash val="solid"/>
          </a:ln>
        </p:spPr>
      </p:sp>
      <p:sp>
        <p:nvSpPr>
          <p:cNvPr id="10" name="Text 8"/>
          <p:cNvSpPr txBox="1"/>
          <p:nvPr/>
        </p:nvSpPr>
        <p:spPr>
          <a:xfrm>
            <a:off x="640080" y="2450592"/>
            <a:ext cx="2194560" cy="274320"/>
          </a:xfrm>
          <a:prstGeom prst="rect">
            <a:avLst/>
          </a:prstGeom>
          <a:noFill/>
          <a:ln/>
        </p:spPr>
        <p:txBody>
          <a:bodyPr wrap="square" lIns="0" tIns="0" rIns="0" bIns="0" rtlCol="0" anchor="ctr"/>
          <a:lstStyle/>
          <a:p>
            <a:pPr indent="0" marL="0">
              <a:buNone/>
            </a:pPr>
            <a:r>
              <a:rPr lang="en-US" sz="1100" i="1" dirty="0">
                <a:solidFill>
                  <a:schemeClr val="bg1"/>
                </a:solidFill>
              </a:rPr>
              <a:t>dự đoán + đối chiếu</a:t>
            </a:r>
            <a:endParaRPr lang="en-US" sz="1100" dirty="0"/>
          </a:p>
        </p:txBody>
      </p:sp>
      <p:sp>
        <p:nvSpPr>
          <p:cNvPr id="11" name="Server pane"/>
          <p:cNvSpPr/>
          <p:nvPr/>
        </p:nvSpPr>
        <p:spPr>
          <a:xfrm>
            <a:off x="3291840" y="1234440"/>
            <a:ext cx="2560320" cy="1600200"/>
          </a:xfrm>
          <a:prstGeom prst="roundRect">
            <a:avLst>
              <a:gd name="adj" fmla="val 4571"/>
            </a:avLst>
          </a:prstGeom>
          <a:solidFill>
            <a:schemeClr val="tx1"/>
          </a:solidFill>
          <a:ln w="12700">
            <a:solidFill>
              <a:schemeClr val="accent6"/>
            </a:solidFill>
            <a:prstDash val="solid"/>
          </a:ln>
        </p:spPr>
      </p:sp>
      <p:sp>
        <p:nvSpPr>
          <p:cNvPr id="12" name="Text 10"/>
          <p:cNvSpPr txBox="1"/>
          <p:nvPr/>
        </p:nvSpPr>
        <p:spPr>
          <a:xfrm>
            <a:off x="3474720" y="1325880"/>
            <a:ext cx="2194560" cy="274320"/>
          </a:xfrm>
          <a:prstGeom prst="rect">
            <a:avLst/>
          </a:prstGeom>
          <a:noFill/>
          <a:ln/>
        </p:spPr>
        <p:txBody>
          <a:bodyPr wrap="square" lIns="0" tIns="0" rIns="0" bIns="0" rtlCol="0" anchor="ctr"/>
          <a:lstStyle/>
          <a:p>
            <a:pPr indent="0" marL="0">
              <a:buNone/>
            </a:pPr>
            <a:r>
              <a:rPr lang="en-US" sz="1300" b="1" dirty="0">
                <a:solidFill>
                  <a:schemeClr val="accent6"/>
                </a:solidFill>
              </a:rPr>
              <a:t>Server</a:t>
            </a:r>
            <a:endParaRPr lang="en-US" sz="1300" dirty="0"/>
          </a:p>
        </p:txBody>
      </p:sp>
      <p:sp>
        <p:nvSpPr>
          <p:cNvPr id="13" name="Square A"/>
          <p:cNvSpPr/>
          <p:nvPr/>
        </p:nvSpPr>
        <p:spPr>
          <a:xfrm>
            <a:off x="3931920" y="1828800"/>
            <a:ext cx="384048" cy="384048"/>
          </a:xfrm>
          <a:prstGeom prst="rect">
            <a:avLst/>
          </a:prstGeom>
          <a:solidFill>
            <a:schemeClr val="accent1"/>
          </a:solidFill>
          <a:ln w="12700">
            <a:solidFill>
              <a:schemeClr val="accent1"/>
            </a:solidFill>
            <a:prstDash val="solid"/>
          </a:ln>
        </p:spPr>
      </p:sp>
      <p:sp>
        <p:nvSpPr>
          <p:cNvPr id="14" name="Square B"/>
          <p:cNvSpPr/>
          <p:nvPr/>
        </p:nvSpPr>
        <p:spPr>
          <a:xfrm>
            <a:off x="4892040" y="1920240"/>
            <a:ext cx="384048" cy="384048"/>
          </a:xfrm>
          <a:prstGeom prst="rect">
            <a:avLst/>
          </a:prstGeom>
          <a:solidFill>
            <a:schemeClr val="accent3"/>
          </a:solidFill>
          <a:ln w="12700">
            <a:solidFill>
              <a:schemeClr val="accent3"/>
            </a:solidFill>
            <a:prstDash val="solid"/>
          </a:ln>
        </p:spPr>
      </p:sp>
      <p:sp>
        <p:nvSpPr>
          <p:cNvPr id="15" name="Text 13"/>
          <p:cNvSpPr txBox="1"/>
          <p:nvPr/>
        </p:nvSpPr>
        <p:spPr>
          <a:xfrm>
            <a:off x="3474720" y="2450592"/>
            <a:ext cx="2194560" cy="274320"/>
          </a:xfrm>
          <a:prstGeom prst="rect">
            <a:avLst/>
          </a:prstGeom>
          <a:noFill/>
          <a:ln/>
        </p:spPr>
        <p:txBody>
          <a:bodyPr wrap="square" lIns="0" tIns="0" rIns="0" bIns="0" rtlCol="0" anchor="ctr"/>
          <a:lstStyle/>
          <a:p>
            <a:pPr indent="0" marL="0">
              <a:buNone/>
            </a:pPr>
            <a:r>
              <a:rPr lang="en-US" sz="1100" i="1" dirty="0">
                <a:solidFill>
                  <a:schemeClr val="bg1"/>
                </a:solidFill>
              </a:rPr>
              <a:t>người quyết định</a:t>
            </a:r>
            <a:endParaRPr lang="en-US" sz="1100" dirty="0"/>
          </a:p>
        </p:txBody>
      </p:sp>
      <p:sp>
        <p:nvSpPr>
          <p:cNvPr id="16" name="Client B pane"/>
          <p:cNvSpPr/>
          <p:nvPr/>
        </p:nvSpPr>
        <p:spPr>
          <a:xfrm>
            <a:off x="6126480" y="1234440"/>
            <a:ext cx="2560320" cy="1600200"/>
          </a:xfrm>
          <a:prstGeom prst="roundRect">
            <a:avLst>
              <a:gd name="adj" fmla="val 4571"/>
            </a:avLst>
          </a:prstGeom>
          <a:solidFill>
            <a:schemeClr val="tx1"/>
          </a:solidFill>
          <a:ln w="12700">
            <a:solidFill>
              <a:schemeClr val="accent6"/>
            </a:solidFill>
            <a:prstDash val="solid"/>
          </a:ln>
        </p:spPr>
      </p:sp>
      <p:sp>
        <p:nvSpPr>
          <p:cNvPr id="17" name="Text 15"/>
          <p:cNvSpPr txBox="1"/>
          <p:nvPr/>
        </p:nvSpPr>
        <p:spPr>
          <a:xfrm>
            <a:off x="6309360" y="1325880"/>
            <a:ext cx="2194560" cy="274320"/>
          </a:xfrm>
          <a:prstGeom prst="rect">
            <a:avLst/>
          </a:prstGeom>
          <a:noFill/>
          <a:ln/>
        </p:spPr>
        <p:txBody>
          <a:bodyPr wrap="square" lIns="0" tIns="0" rIns="0" bIns="0" rtlCol="0" anchor="ctr"/>
          <a:lstStyle/>
          <a:p>
            <a:pPr indent="0" marL="0">
              <a:buNone/>
            </a:pPr>
            <a:r>
              <a:rPr lang="en-US" sz="1300" b="1" dirty="0">
                <a:solidFill>
                  <a:schemeClr val="accent6"/>
                </a:solidFill>
              </a:rPr>
              <a:t>Client B</a:t>
            </a:r>
            <a:endParaRPr lang="en-US" sz="1300" dirty="0"/>
          </a:p>
        </p:txBody>
      </p:sp>
      <p:sp>
        <p:nvSpPr>
          <p:cNvPr id="18" name="Square A"/>
          <p:cNvSpPr/>
          <p:nvPr/>
        </p:nvSpPr>
        <p:spPr>
          <a:xfrm>
            <a:off x="6903720" y="1828800"/>
            <a:ext cx="384048" cy="384048"/>
          </a:xfrm>
          <a:prstGeom prst="rect">
            <a:avLst/>
          </a:prstGeom>
          <a:solidFill>
            <a:schemeClr val="accent1"/>
          </a:solidFill>
          <a:ln w="12700">
            <a:solidFill>
              <a:schemeClr val="accent1"/>
            </a:solidFill>
            <a:prstDash val="solid"/>
          </a:ln>
        </p:spPr>
      </p:sp>
      <p:sp>
        <p:nvSpPr>
          <p:cNvPr id="19" name="Square B"/>
          <p:cNvSpPr/>
          <p:nvPr/>
        </p:nvSpPr>
        <p:spPr>
          <a:xfrm>
            <a:off x="7726680" y="1874520"/>
            <a:ext cx="384048" cy="384048"/>
          </a:xfrm>
          <a:prstGeom prst="rect">
            <a:avLst/>
          </a:prstGeom>
          <a:solidFill>
            <a:schemeClr val="accent3"/>
          </a:solidFill>
          <a:ln w="12700">
            <a:solidFill>
              <a:schemeClr val="accent3"/>
            </a:solidFill>
            <a:prstDash val="solid"/>
          </a:ln>
        </p:spPr>
      </p:sp>
      <p:sp>
        <p:nvSpPr>
          <p:cNvPr id="20" name="Text 18"/>
          <p:cNvSpPr txBox="1"/>
          <p:nvPr/>
        </p:nvSpPr>
        <p:spPr>
          <a:xfrm>
            <a:off x="6309360" y="2450592"/>
            <a:ext cx="2194560" cy="274320"/>
          </a:xfrm>
          <a:prstGeom prst="rect">
            <a:avLst/>
          </a:prstGeom>
          <a:noFill/>
          <a:ln/>
        </p:spPr>
        <p:txBody>
          <a:bodyPr wrap="square" lIns="0" tIns="0" rIns="0" bIns="0" rtlCol="0" anchor="ctr"/>
          <a:lstStyle/>
          <a:p>
            <a:pPr indent="0" marL="0">
              <a:buNone/>
            </a:pPr>
            <a:r>
              <a:rPr lang="en-US" sz="1100" i="1" dirty="0">
                <a:solidFill>
                  <a:schemeClr val="bg1"/>
                </a:solidFill>
              </a:rPr>
              <a:t>nội suy ô của A</a:t>
            </a:r>
            <a:endParaRPr lang="en-US" sz="1100" dirty="0"/>
          </a:p>
        </p:txBody>
      </p:sp>
      <p:sp>
        <p:nvSpPr>
          <p:cNvPr id="21" name="Text 19"/>
          <p:cNvSpPr txBox="1"/>
          <p:nvPr/>
        </p:nvSpPr>
        <p:spPr>
          <a:xfrm>
            <a:off x="457200" y="3044952"/>
            <a:ext cx="1188720" cy="310896"/>
          </a:xfrm>
          <a:prstGeom prst="rect">
            <a:avLst/>
          </a:prstGeom>
          <a:noFill/>
          <a:ln/>
        </p:spPr>
        <p:txBody>
          <a:bodyPr wrap="square" lIns="0" tIns="0" rIns="0" bIns="0" rtlCol="0" anchor="ctr"/>
          <a:lstStyle/>
          <a:p>
            <a:pPr indent="0" marL="0">
              <a:buNone/>
            </a:pPr>
            <a:r>
              <a:rPr lang="en-US" sz="1000" b="1" spc="150" kern="0" dirty="0">
                <a:solidFill>
                  <a:schemeClr val="accent6"/>
                </a:solidFill>
              </a:rPr>
              <a:t>THANH TRƯỢT</a:t>
            </a:r>
            <a:endParaRPr lang="en-US" sz="1000" dirty="0"/>
          </a:p>
        </p:txBody>
      </p:sp>
      <p:sp>
        <p:nvSpPr>
          <p:cNvPr id="22" name="Slider chip"/>
          <p:cNvSpPr/>
          <p:nvPr/>
        </p:nvSpPr>
        <p:spPr>
          <a:xfrm>
            <a:off x="1691640" y="3044952"/>
            <a:ext cx="914400" cy="310896"/>
          </a:xfrm>
          <a:prstGeom prst="roundRect">
            <a:avLst>
              <a:gd name="adj" fmla="val 50000"/>
            </a:avLst>
          </a:prstGeom>
          <a:solidFill>
            <a:schemeClr val="tx2"/>
          </a:solidFill>
          <a:ln w="9525">
            <a:solidFill>
              <a:schemeClr val="accent6"/>
            </a:solidFill>
            <a:prstDash val="solid"/>
          </a:ln>
        </p:spPr>
      </p:sp>
      <p:sp>
        <p:nvSpPr>
          <p:cNvPr id="23" name="Text 21"/>
          <p:cNvSpPr txBox="1"/>
          <p:nvPr/>
        </p:nvSpPr>
        <p:spPr>
          <a:xfrm>
            <a:off x="1691640" y="3044952"/>
            <a:ext cx="914400" cy="310896"/>
          </a:xfrm>
          <a:prstGeom prst="rect">
            <a:avLst/>
          </a:prstGeom>
          <a:noFill/>
          <a:ln/>
        </p:spPr>
        <p:txBody>
          <a:bodyPr wrap="square" lIns="0" tIns="0" rIns="0" bIns="0" rtlCol="0" anchor="ctr"/>
          <a:lstStyle/>
          <a:p>
            <a:pPr algn="ctr" indent="0" marL="0">
              <a:buNone/>
            </a:pPr>
            <a:r>
              <a:rPr lang="en-US" sz="1100" dirty="0">
                <a:solidFill>
                  <a:schemeClr val="bg1"/>
                </a:solidFill>
              </a:rPr>
              <a:t>Độ trễ</a:t>
            </a:r>
            <a:endParaRPr lang="en-US" sz="1100" dirty="0"/>
          </a:p>
        </p:txBody>
      </p:sp>
      <p:sp>
        <p:nvSpPr>
          <p:cNvPr id="24" name="Slider chip"/>
          <p:cNvSpPr/>
          <p:nvPr/>
        </p:nvSpPr>
        <p:spPr>
          <a:xfrm>
            <a:off x="2715768" y="3044952"/>
            <a:ext cx="1417320" cy="310896"/>
          </a:xfrm>
          <a:prstGeom prst="roundRect">
            <a:avLst>
              <a:gd name="adj" fmla="val 50000"/>
            </a:avLst>
          </a:prstGeom>
          <a:solidFill>
            <a:schemeClr val="tx2"/>
          </a:solidFill>
          <a:ln w="9525">
            <a:solidFill>
              <a:schemeClr val="accent6"/>
            </a:solidFill>
            <a:prstDash val="solid"/>
          </a:ln>
        </p:spPr>
      </p:sp>
      <p:sp>
        <p:nvSpPr>
          <p:cNvPr id="25" name="Text 23"/>
          <p:cNvSpPr txBox="1"/>
          <p:nvPr/>
        </p:nvSpPr>
        <p:spPr>
          <a:xfrm>
            <a:off x="2715768" y="3044952"/>
            <a:ext cx="1417320" cy="310896"/>
          </a:xfrm>
          <a:prstGeom prst="rect">
            <a:avLst/>
          </a:prstGeom>
          <a:noFill/>
          <a:ln/>
        </p:spPr>
        <p:txBody>
          <a:bodyPr wrap="square" lIns="0" tIns="0" rIns="0" bIns="0" rtlCol="0" anchor="ctr"/>
          <a:lstStyle/>
          <a:p>
            <a:pPr algn="ctr" indent="0" marL="0">
              <a:buNone/>
            </a:pPr>
            <a:r>
              <a:rPr lang="en-US" sz="1100" dirty="0">
                <a:solidFill>
                  <a:schemeClr val="bg1"/>
                </a:solidFill>
              </a:rPr>
              <a:t>Dao động độ trễ</a:t>
            </a:r>
            <a:endParaRPr lang="en-US" sz="1100" dirty="0"/>
          </a:p>
        </p:txBody>
      </p:sp>
      <p:sp>
        <p:nvSpPr>
          <p:cNvPr id="26" name="Slider chip"/>
          <p:cNvSpPr/>
          <p:nvPr/>
        </p:nvSpPr>
        <p:spPr>
          <a:xfrm>
            <a:off x="4242816" y="3044952"/>
            <a:ext cx="914400" cy="310896"/>
          </a:xfrm>
          <a:prstGeom prst="roundRect">
            <a:avLst>
              <a:gd name="adj" fmla="val 50000"/>
            </a:avLst>
          </a:prstGeom>
          <a:solidFill>
            <a:schemeClr val="tx2"/>
          </a:solidFill>
          <a:ln w="9525">
            <a:solidFill>
              <a:schemeClr val="accent6"/>
            </a:solidFill>
            <a:prstDash val="solid"/>
          </a:ln>
        </p:spPr>
      </p:sp>
      <p:sp>
        <p:nvSpPr>
          <p:cNvPr id="27" name="Text 25"/>
          <p:cNvSpPr txBox="1"/>
          <p:nvPr/>
        </p:nvSpPr>
        <p:spPr>
          <a:xfrm>
            <a:off x="4242816" y="3044952"/>
            <a:ext cx="914400" cy="310896"/>
          </a:xfrm>
          <a:prstGeom prst="rect">
            <a:avLst/>
          </a:prstGeom>
          <a:noFill/>
          <a:ln/>
        </p:spPr>
        <p:txBody>
          <a:bodyPr wrap="square" lIns="0" tIns="0" rIns="0" bIns="0" rtlCol="0" anchor="ctr"/>
          <a:lstStyle/>
          <a:p>
            <a:pPr algn="ctr" indent="0" marL="0">
              <a:buNone/>
            </a:pPr>
            <a:r>
              <a:rPr lang="en-US" sz="1100" dirty="0">
                <a:solidFill>
                  <a:schemeClr val="bg1"/>
                </a:solidFill>
              </a:rPr>
              <a:t>Mất gói</a:t>
            </a:r>
            <a:endParaRPr lang="en-US" sz="1100" dirty="0"/>
          </a:p>
        </p:txBody>
      </p:sp>
      <p:sp>
        <p:nvSpPr>
          <p:cNvPr id="28" name="Slider chip"/>
          <p:cNvSpPr/>
          <p:nvPr/>
        </p:nvSpPr>
        <p:spPr>
          <a:xfrm>
            <a:off x="5266944" y="3044952"/>
            <a:ext cx="1371600" cy="310896"/>
          </a:xfrm>
          <a:prstGeom prst="roundRect">
            <a:avLst>
              <a:gd name="adj" fmla="val 50000"/>
            </a:avLst>
          </a:prstGeom>
          <a:solidFill>
            <a:schemeClr val="tx2"/>
          </a:solidFill>
          <a:ln w="9525">
            <a:solidFill>
              <a:schemeClr val="accent6"/>
            </a:solidFill>
            <a:prstDash val="solid"/>
          </a:ln>
        </p:spPr>
      </p:sp>
      <p:sp>
        <p:nvSpPr>
          <p:cNvPr id="29" name="Text 27"/>
          <p:cNvSpPr txBox="1"/>
          <p:nvPr/>
        </p:nvSpPr>
        <p:spPr>
          <a:xfrm>
            <a:off x="5266944" y="3044952"/>
            <a:ext cx="1371600" cy="310896"/>
          </a:xfrm>
          <a:prstGeom prst="rect">
            <a:avLst/>
          </a:prstGeom>
          <a:noFill/>
          <a:ln/>
        </p:spPr>
        <p:txBody>
          <a:bodyPr wrap="square" lIns="0" tIns="0" rIns="0" bIns="0" rtlCol="0" anchor="ctr"/>
          <a:lstStyle/>
          <a:p>
            <a:pPr algn="ctr" indent="0" marL="0">
              <a:buNone/>
            </a:pPr>
            <a:r>
              <a:rPr lang="en-US" sz="1100" dirty="0">
                <a:solidFill>
                  <a:schemeClr val="bg1"/>
                </a:solidFill>
              </a:rPr>
              <a:t>Tần số gửi ảnh</a:t>
            </a:r>
            <a:endParaRPr lang="en-US" sz="1100" dirty="0"/>
          </a:p>
        </p:txBody>
      </p:sp>
      <p:sp>
        <p:nvSpPr>
          <p:cNvPr id="30" name="Scene number"/>
          <p:cNvSpPr/>
          <p:nvPr/>
        </p:nvSpPr>
        <p:spPr>
          <a:xfrm>
            <a:off x="457200" y="3611880"/>
            <a:ext cx="329184" cy="329184"/>
          </a:xfrm>
          <a:prstGeom prst="ellipse">
            <a:avLst/>
          </a:prstGeom>
          <a:solidFill>
            <a:schemeClr val="accent1"/>
          </a:solidFill>
          <a:ln w="12700">
            <a:solidFill>
              <a:schemeClr val="accent1"/>
            </a:solidFill>
            <a:prstDash val="solid"/>
          </a:ln>
        </p:spPr>
      </p:sp>
      <p:sp>
        <p:nvSpPr>
          <p:cNvPr id="31" name="Text 29"/>
          <p:cNvSpPr txBox="1"/>
          <p:nvPr/>
        </p:nvSpPr>
        <p:spPr>
          <a:xfrm>
            <a:off x="457200" y="361188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0</a:t>
            </a:r>
            <a:endParaRPr lang="en-US" sz="1200" dirty="0"/>
          </a:p>
        </p:txBody>
      </p:sp>
      <p:sp>
        <p:nvSpPr>
          <p:cNvPr id="32" name="Scene label"/>
          <p:cNvSpPr txBox="1"/>
          <p:nvPr/>
        </p:nvSpPr>
        <p:spPr>
          <a:xfrm>
            <a:off x="457200" y="4005072"/>
            <a:ext cx="1298448" cy="502920"/>
          </a:xfrm>
          <a:prstGeom prst="rect">
            <a:avLst/>
          </a:prstGeom>
          <a:noFill/>
          <a:ln/>
        </p:spPr>
        <p:txBody>
          <a:bodyPr wrap="square" lIns="0" tIns="0" rIns="0" bIns="0" rtlCol="0" anchor="t"/>
          <a:lstStyle/>
          <a:p>
            <a:pPr indent="0" marL="0">
              <a:buNone/>
            </a:pPr>
            <a:r>
              <a:rPr lang="en-US" sz="1100" dirty="0">
                <a:solidFill>
                  <a:schemeClr val="bg1"/>
                </a:solidFill>
              </a:rPr>
              <a:t>Client tự quyết</a:t>
            </a:r>
            <a:endParaRPr lang="en-US" sz="1100" dirty="0"/>
          </a:p>
        </p:txBody>
      </p:sp>
      <p:sp>
        <p:nvSpPr>
          <p:cNvPr id="33" name="Scene number"/>
          <p:cNvSpPr/>
          <p:nvPr/>
        </p:nvSpPr>
        <p:spPr>
          <a:xfrm>
            <a:off x="1847088" y="3611880"/>
            <a:ext cx="329184" cy="329184"/>
          </a:xfrm>
          <a:prstGeom prst="ellipse">
            <a:avLst/>
          </a:prstGeom>
          <a:solidFill>
            <a:schemeClr val="accent1"/>
          </a:solidFill>
          <a:ln w="12700">
            <a:solidFill>
              <a:schemeClr val="accent1"/>
            </a:solidFill>
            <a:prstDash val="solid"/>
          </a:ln>
        </p:spPr>
      </p:sp>
      <p:sp>
        <p:nvSpPr>
          <p:cNvPr id="34" name="Text 32"/>
          <p:cNvSpPr txBox="1"/>
          <p:nvPr/>
        </p:nvSpPr>
        <p:spPr>
          <a:xfrm>
            <a:off x="1847088" y="361188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5" name="Scene label"/>
          <p:cNvSpPr txBox="1"/>
          <p:nvPr/>
        </p:nvSpPr>
        <p:spPr>
          <a:xfrm>
            <a:off x="1847088" y="4005072"/>
            <a:ext cx="1298448" cy="502920"/>
          </a:xfrm>
          <a:prstGeom prst="rect">
            <a:avLst/>
          </a:prstGeom>
          <a:noFill/>
          <a:ln/>
        </p:spPr>
        <p:txBody>
          <a:bodyPr wrap="square" lIns="0" tIns="0" rIns="0" bIns="0" rtlCol="0" anchor="t"/>
          <a:lstStyle/>
          <a:p>
            <a:pPr indent="0" marL="0">
              <a:buNone/>
            </a:pPr>
            <a:r>
              <a:rPr lang="en-US" sz="1100" dirty="0">
                <a:solidFill>
                  <a:schemeClr val="bg1"/>
                </a:solidFill>
              </a:rPr>
              <a:t>Server quyết định</a:t>
            </a:r>
            <a:endParaRPr lang="en-US" sz="1100" dirty="0"/>
          </a:p>
        </p:txBody>
      </p:sp>
      <p:sp>
        <p:nvSpPr>
          <p:cNvPr id="36" name="Scene number"/>
          <p:cNvSpPr/>
          <p:nvPr/>
        </p:nvSpPr>
        <p:spPr>
          <a:xfrm>
            <a:off x="3236976" y="3611880"/>
            <a:ext cx="329184" cy="329184"/>
          </a:xfrm>
          <a:prstGeom prst="ellipse">
            <a:avLst/>
          </a:prstGeom>
          <a:solidFill>
            <a:schemeClr val="accent1"/>
          </a:solidFill>
          <a:ln w="12700">
            <a:solidFill>
              <a:schemeClr val="accent1"/>
            </a:solidFill>
            <a:prstDash val="solid"/>
          </a:ln>
        </p:spPr>
      </p:sp>
      <p:sp>
        <p:nvSpPr>
          <p:cNvPr id="37" name="Text 35"/>
          <p:cNvSpPr txBox="1"/>
          <p:nvPr/>
        </p:nvSpPr>
        <p:spPr>
          <a:xfrm>
            <a:off x="3236976" y="361188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38" name="Scene label"/>
          <p:cNvSpPr txBox="1"/>
          <p:nvPr/>
        </p:nvSpPr>
        <p:spPr>
          <a:xfrm>
            <a:off x="3236976" y="4005072"/>
            <a:ext cx="1298448" cy="502920"/>
          </a:xfrm>
          <a:prstGeom prst="rect">
            <a:avLst/>
          </a:prstGeom>
          <a:noFill/>
          <a:ln/>
        </p:spPr>
        <p:txBody>
          <a:bodyPr wrap="square" lIns="0" tIns="0" rIns="0" bIns="0" rtlCol="0" anchor="t"/>
          <a:lstStyle/>
          <a:p>
            <a:pPr indent="0" marL="0">
              <a:buNone/>
            </a:pPr>
            <a:r>
              <a:rPr lang="en-US" sz="1100" dirty="0">
                <a:solidFill>
                  <a:schemeClr val="bg1"/>
                </a:solidFill>
              </a:rPr>
              <a:t>Bật dự đoán</a:t>
            </a:r>
            <a:endParaRPr lang="en-US" sz="1100" dirty="0"/>
          </a:p>
        </p:txBody>
      </p:sp>
      <p:sp>
        <p:nvSpPr>
          <p:cNvPr id="39" name="Scene number"/>
          <p:cNvSpPr/>
          <p:nvPr/>
        </p:nvSpPr>
        <p:spPr>
          <a:xfrm>
            <a:off x="4626864" y="3611880"/>
            <a:ext cx="329184" cy="329184"/>
          </a:xfrm>
          <a:prstGeom prst="ellipse">
            <a:avLst/>
          </a:prstGeom>
          <a:solidFill>
            <a:schemeClr val="accent1"/>
          </a:solidFill>
          <a:ln w="12700">
            <a:solidFill>
              <a:schemeClr val="accent1"/>
            </a:solidFill>
            <a:prstDash val="solid"/>
          </a:ln>
        </p:spPr>
      </p:sp>
      <p:sp>
        <p:nvSpPr>
          <p:cNvPr id="40" name="Text 38"/>
          <p:cNvSpPr txBox="1"/>
          <p:nvPr/>
        </p:nvSpPr>
        <p:spPr>
          <a:xfrm>
            <a:off x="4626864" y="361188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41" name="Scene label"/>
          <p:cNvSpPr txBox="1"/>
          <p:nvPr/>
        </p:nvSpPr>
        <p:spPr>
          <a:xfrm>
            <a:off x="4626864" y="4005072"/>
            <a:ext cx="1298448" cy="502920"/>
          </a:xfrm>
          <a:prstGeom prst="rect">
            <a:avLst/>
          </a:prstGeom>
          <a:noFill/>
          <a:ln/>
        </p:spPr>
        <p:txBody>
          <a:bodyPr wrap="square" lIns="0" tIns="0" rIns="0" bIns="0" rtlCol="0" anchor="t"/>
          <a:lstStyle/>
          <a:p>
            <a:pPr indent="0" marL="0">
              <a:buNone/>
            </a:pPr>
            <a:r>
              <a:rPr lang="en-US" sz="1100" dirty="0">
                <a:solidFill>
                  <a:schemeClr val="bg1"/>
                </a:solidFill>
              </a:rPr>
              <a:t>Bật đối chiếu</a:t>
            </a:r>
            <a:endParaRPr lang="en-US" sz="1100" dirty="0"/>
          </a:p>
        </p:txBody>
      </p:sp>
      <p:sp>
        <p:nvSpPr>
          <p:cNvPr id="42" name="Scene number"/>
          <p:cNvSpPr/>
          <p:nvPr/>
        </p:nvSpPr>
        <p:spPr>
          <a:xfrm>
            <a:off x="6016752" y="3611880"/>
            <a:ext cx="329184" cy="329184"/>
          </a:xfrm>
          <a:prstGeom prst="ellipse">
            <a:avLst/>
          </a:prstGeom>
          <a:solidFill>
            <a:schemeClr val="accent1"/>
          </a:solidFill>
          <a:ln w="12700">
            <a:solidFill>
              <a:schemeClr val="accent1"/>
            </a:solidFill>
            <a:prstDash val="solid"/>
          </a:ln>
        </p:spPr>
      </p:sp>
      <p:sp>
        <p:nvSpPr>
          <p:cNvPr id="43" name="Text 41"/>
          <p:cNvSpPr txBox="1"/>
          <p:nvPr/>
        </p:nvSpPr>
        <p:spPr>
          <a:xfrm>
            <a:off x="6016752" y="361188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44" name="Scene label"/>
          <p:cNvSpPr txBox="1"/>
          <p:nvPr/>
        </p:nvSpPr>
        <p:spPr>
          <a:xfrm>
            <a:off x="6016752" y="4005072"/>
            <a:ext cx="1298448" cy="502920"/>
          </a:xfrm>
          <a:prstGeom prst="rect">
            <a:avLst/>
          </a:prstGeom>
          <a:noFill/>
          <a:ln/>
        </p:spPr>
        <p:txBody>
          <a:bodyPr wrap="square" lIns="0" tIns="0" rIns="0" bIns="0" rtlCol="0" anchor="t"/>
          <a:lstStyle/>
          <a:p>
            <a:pPr indent="0" marL="0">
              <a:buNone/>
            </a:pPr>
            <a:r>
              <a:rPr lang="en-US" sz="1100" dirty="0">
                <a:solidFill>
                  <a:schemeClr val="bg1"/>
                </a:solidFill>
              </a:rPr>
              <a:t>Ảnh thưa, chưa nội suy</a:t>
            </a:r>
            <a:endParaRPr lang="en-US" sz="1100" dirty="0"/>
          </a:p>
        </p:txBody>
      </p:sp>
      <p:sp>
        <p:nvSpPr>
          <p:cNvPr id="45" name="Scene number"/>
          <p:cNvSpPr/>
          <p:nvPr/>
        </p:nvSpPr>
        <p:spPr>
          <a:xfrm>
            <a:off x="7406640" y="3611880"/>
            <a:ext cx="329184" cy="329184"/>
          </a:xfrm>
          <a:prstGeom prst="ellipse">
            <a:avLst/>
          </a:prstGeom>
          <a:solidFill>
            <a:schemeClr val="accent1"/>
          </a:solidFill>
          <a:ln w="12700">
            <a:solidFill>
              <a:schemeClr val="accent1"/>
            </a:solidFill>
            <a:prstDash val="solid"/>
          </a:ln>
        </p:spPr>
      </p:sp>
      <p:sp>
        <p:nvSpPr>
          <p:cNvPr id="46" name="Text 44"/>
          <p:cNvSpPr txBox="1"/>
          <p:nvPr/>
        </p:nvSpPr>
        <p:spPr>
          <a:xfrm>
            <a:off x="7406640" y="361188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47" name="Scene label"/>
          <p:cNvSpPr txBox="1"/>
          <p:nvPr/>
        </p:nvSpPr>
        <p:spPr>
          <a:xfrm>
            <a:off x="7406640" y="4005072"/>
            <a:ext cx="1298448" cy="502920"/>
          </a:xfrm>
          <a:prstGeom prst="rect">
            <a:avLst/>
          </a:prstGeom>
          <a:noFill/>
          <a:ln/>
        </p:spPr>
        <p:txBody>
          <a:bodyPr wrap="square" lIns="0" tIns="0" rIns="0" bIns="0" rtlCol="0" anchor="t"/>
          <a:lstStyle/>
          <a:p>
            <a:pPr indent="0" marL="0">
              <a:buNone/>
            </a:pPr>
            <a:r>
              <a:rPr lang="en-US" sz="1100" dirty="0">
                <a:solidFill>
                  <a:schemeClr val="bg1"/>
                </a:solidFill>
              </a:rPr>
              <a:t>Bật nội suy</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5303520" cy="274320"/>
          </a:xfrm>
          <a:prstGeom prst="rect">
            <a:avLst/>
          </a:prstGeom>
          <a:noFill/>
          <a:ln/>
        </p:spPr>
        <p:txBody>
          <a:bodyPr wrap="square" lIns="0" tIns="0" rIns="0" bIns="0" rtlCol="0"/>
          <a:lstStyle/>
          <a:p>
            <a:pPr indent="0" marL="0">
              <a:buNone/>
            </a:pPr>
            <a:r>
              <a:rPr lang="en-US" sz="1200" b="1" spc="200" kern="0" dirty="0">
                <a:solidFill>
                  <a:schemeClr val="accent6"/>
                </a:solidFill>
              </a:rPr>
              <a:t>HỎI &amp; ĐÁP · 3–5 PHÚT</a:t>
            </a:r>
            <a:endParaRPr lang="en-US" sz="1200" dirty="0"/>
          </a:p>
        </p:txBody>
      </p:sp>
      <p:sp>
        <p:nvSpPr>
          <p:cNvPr id="3" name="Text 0"/>
          <p:cNvSpPr/>
          <p:nvPr>
            <p:ph idx="101" type="title" hasCustomPrompt="1"/>
          </p:nvPr>
        </p:nvSpPr>
        <p:spPr>
          <a:xfrm>
            <a:off x="548640" y="1463040"/>
            <a:ext cx="5303520" cy="1325880"/>
          </a:xfrm>
          <a:prstGeom prst="rect">
            <a:avLst/>
          </a:prstGeom>
          <a:noFill/>
          <a:ln/>
        </p:spPr>
        <p:txBody>
          <a:bodyPr wrap="square" lIns="0" tIns="0" rIns="0" bIns="0" rtlCol="0" anchor="t"/>
          <a:lstStyle/>
          <a:p>
            <a:pPr algn="l" indent="0" marL="0">
              <a:buNone/>
            </a:pPr>
            <a:r>
              <a:rPr lang="en-US" sz="2800" b="1" dirty="0">
                <a:solidFill>
                  <a:schemeClr val="bg1"/>
                </a:solidFill>
              </a:rPr>
              <a:t>Cảm ơn thầy và các bạn</a:t>
            </a:r>
            <a:endParaRPr lang="en-US" sz="2800" dirty="0"/>
          </a:p>
        </p:txBody>
      </p:sp>
      <p:sp>
        <p:nvSpPr>
          <p:cNvPr id="4" name="Text 0"/>
          <p:cNvSpPr/>
          <p:nvPr>
            <p:ph idx="102" type="body" hasCustomPrompt="1"/>
          </p:nvPr>
        </p:nvSpPr>
        <p:spPr>
          <a:xfrm>
            <a:off x="548640" y="2834640"/>
            <a:ext cx="5303520" cy="457200"/>
          </a:xfrm>
          <a:prstGeom prst="rect">
            <a:avLst/>
          </a:prstGeom>
          <a:noFill/>
          <a:ln/>
        </p:spPr>
        <p:txBody>
          <a:bodyPr wrap="square" lIns="0" tIns="0" rIns="0" bIns="0" rtlCol="0"/>
          <a:lstStyle/>
          <a:p>
            <a:pPr indent="0" marL="0">
              <a:buNone/>
            </a:pPr>
            <a:r>
              <a:rPr lang="en-US" sz="2000" b="1" dirty="0">
                <a:solidFill>
                  <a:schemeClr val="accent6"/>
                </a:solidFill>
              </a:rPr>
              <a:t>Nhóm T47 sẵn sàng trả lời câu hỏi</a:t>
            </a:r>
            <a:endParaRPr lang="en-US" sz="2000" dirty="0"/>
          </a:p>
        </p:txBody>
      </p:sp>
      <p:sp>
        <p:nvSpPr>
          <p:cNvPr id="5" name="Text 0"/>
          <p:cNvSpPr/>
          <p:nvPr>
            <p:ph idx="103" type="body" hasCustomPrompt="1"/>
          </p:nvPr>
        </p:nvSpPr>
        <p:spPr>
          <a:xfrm>
            <a:off x="548640" y="3383280"/>
            <a:ext cx="5303520" cy="1097280"/>
          </a:xfrm>
          <a:prstGeom prst="rect">
            <a:avLst/>
          </a:prstGeom>
          <a:noFill/>
          <a:ln/>
        </p:spPr>
        <p:txBody>
          <a:bodyPr wrap="square" lIns="0" tIns="0" rIns="0" bIns="0" rtlCol="0" anchor="t"/>
          <a:lstStyle/>
          <a:p>
            <a:pPr indent="0" marL="0">
              <a:buNone/>
            </a:pPr>
            <a:r>
              <a:rPr lang="en-US" sz="1300" dirty="0">
                <a:solidFill>
                  <a:schemeClr val="bg1"/>
                </a:solidFill>
              </a:rPr>
              <a:t>Mỗi người trả lời các câu thuộc vấn đề con của mình</a:t>
            </a:r>
            <a:endParaRPr lang="en-US" sz="1300" dirty="0"/>
          </a:p>
        </p:txBody>
      </p:sp>
      <p:sp>
        <p:nvSpPr>
          <p:cNvPr id="6" name="Link A"/>
          <p:cNvSpPr/>
          <p:nvPr/>
        </p:nvSpPr>
        <p:spPr>
          <a:xfrm flipV="1">
            <a:off x="6400800" y="1508760"/>
            <a:ext cx="914400" cy="1874520"/>
          </a:xfrm>
          <a:prstGeom prst="line">
            <a:avLst/>
          </a:prstGeom>
          <a:noFill/>
          <a:ln w="25400">
            <a:solidFill>
              <a:schemeClr val="accent6"/>
            </a:solidFill>
            <a:prstDash val="dash"/>
          </a:ln>
        </p:spPr>
      </p:sp>
      <p:sp>
        <p:nvSpPr>
          <p:cNvPr id="7" name="Link B"/>
          <p:cNvSpPr/>
          <p:nvPr/>
        </p:nvSpPr>
        <p:spPr>
          <a:xfrm>
            <a:off x="7315200" y="1508760"/>
            <a:ext cx="914400" cy="1874520"/>
          </a:xfrm>
          <a:prstGeom prst="line">
            <a:avLst/>
          </a:prstGeom>
          <a:noFill/>
          <a:ln w="25400">
            <a:solidFill>
              <a:schemeClr val="accent6"/>
            </a:solidFill>
            <a:prstDash val="dash"/>
          </a:ln>
        </p:spPr>
      </p:sp>
      <p:sp>
        <p:nvSpPr>
          <p:cNvPr id="8" name="Packet"/>
          <p:cNvSpPr/>
          <p:nvPr/>
        </p:nvSpPr>
        <p:spPr>
          <a:xfrm>
            <a:off x="6647688" y="2654046"/>
            <a:ext cx="146304" cy="146304"/>
          </a:xfrm>
          <a:prstGeom prst="ellipse">
            <a:avLst/>
          </a:prstGeom>
          <a:solidFill>
            <a:schemeClr val="accent1"/>
          </a:solidFill>
          <a:ln w="12700">
            <a:solidFill>
              <a:schemeClr val="accent1"/>
            </a:solidFill>
            <a:prstDash val="solid"/>
          </a:ln>
        </p:spPr>
      </p:sp>
      <p:sp>
        <p:nvSpPr>
          <p:cNvPr id="9" name="Packet"/>
          <p:cNvSpPr/>
          <p:nvPr/>
        </p:nvSpPr>
        <p:spPr>
          <a:xfrm>
            <a:off x="6922008" y="2091690"/>
            <a:ext cx="146304" cy="146304"/>
          </a:xfrm>
          <a:prstGeom prst="ellipse">
            <a:avLst/>
          </a:prstGeom>
          <a:solidFill>
            <a:schemeClr val="accent3"/>
          </a:solidFill>
          <a:ln w="12700">
            <a:solidFill>
              <a:schemeClr val="accent3"/>
            </a:solidFill>
            <a:prstDash val="solid"/>
          </a:ln>
        </p:spPr>
      </p:sp>
      <p:sp>
        <p:nvSpPr>
          <p:cNvPr id="10" name="Packet"/>
          <p:cNvSpPr/>
          <p:nvPr/>
        </p:nvSpPr>
        <p:spPr>
          <a:xfrm>
            <a:off x="7790688" y="2560320"/>
            <a:ext cx="146304" cy="146304"/>
          </a:xfrm>
          <a:prstGeom prst="ellipse">
            <a:avLst/>
          </a:prstGeom>
          <a:solidFill>
            <a:schemeClr val="accent3"/>
          </a:solidFill>
          <a:ln w="12700">
            <a:solidFill>
              <a:schemeClr val="accent3"/>
            </a:solidFill>
            <a:prstDash val="solid"/>
          </a:ln>
        </p:spPr>
      </p:sp>
      <p:sp>
        <p:nvSpPr>
          <p:cNvPr id="11" name="Packet"/>
          <p:cNvSpPr/>
          <p:nvPr/>
        </p:nvSpPr>
        <p:spPr>
          <a:xfrm>
            <a:off x="7516368" y="1997964"/>
            <a:ext cx="146304" cy="146304"/>
          </a:xfrm>
          <a:prstGeom prst="ellipse">
            <a:avLst/>
          </a:prstGeom>
          <a:solidFill>
            <a:schemeClr val="accent1"/>
          </a:solidFill>
          <a:ln w="12700">
            <a:solidFill>
              <a:schemeClr val="accent1"/>
            </a:solidFill>
            <a:prstDash val="solid"/>
          </a:ln>
        </p:spPr>
      </p:sp>
      <p:sp>
        <p:nvSpPr>
          <p:cNvPr id="12" name="Server node"/>
          <p:cNvSpPr/>
          <p:nvPr/>
        </p:nvSpPr>
        <p:spPr>
          <a:xfrm>
            <a:off x="6858000" y="1051560"/>
            <a:ext cx="914400" cy="914400"/>
          </a:xfrm>
          <a:prstGeom prst="ellipse">
            <a:avLst/>
          </a:prstGeom>
          <a:solidFill>
            <a:schemeClr val="accent1"/>
          </a:solidFill>
          <a:ln w="25400">
            <a:solidFill>
              <a:schemeClr val="accent6"/>
            </a:solidFill>
            <a:prstDash val="solid"/>
          </a:ln>
        </p:spPr>
      </p:sp>
      <p:sp>
        <p:nvSpPr>
          <p:cNvPr id="13" name="Text 11"/>
          <p:cNvSpPr txBox="1"/>
          <p:nvPr/>
        </p:nvSpPr>
        <p:spPr>
          <a:xfrm>
            <a:off x="6858000" y="1051560"/>
            <a:ext cx="914400" cy="914400"/>
          </a:xfrm>
          <a:prstGeom prst="rect">
            <a:avLst/>
          </a:prstGeom>
          <a:noFill/>
          <a:ln/>
        </p:spPr>
        <p:txBody>
          <a:bodyPr wrap="square" lIns="0" tIns="0" rIns="0" bIns="0" rtlCol="0" anchor="ctr"/>
          <a:lstStyle/>
          <a:p>
            <a:pPr algn="ctr" indent="0" marL="0">
              <a:buNone/>
            </a:pPr>
            <a:r>
              <a:rPr lang="en-US" sz="1300" b="1" dirty="0">
                <a:solidFill>
                  <a:schemeClr val="bg1"/>
                </a:solidFill>
              </a:rPr>
              <a:t>Server</a:t>
            </a:r>
            <a:endParaRPr lang="en-US" sz="1300" dirty="0"/>
          </a:p>
        </p:txBody>
      </p:sp>
      <p:sp>
        <p:nvSpPr>
          <p:cNvPr id="14" name="Client A node"/>
          <p:cNvSpPr/>
          <p:nvPr/>
        </p:nvSpPr>
        <p:spPr>
          <a:xfrm>
            <a:off x="5989320" y="2971800"/>
            <a:ext cx="822960" cy="822960"/>
          </a:xfrm>
          <a:prstGeom prst="ellipse">
            <a:avLst/>
          </a:prstGeom>
          <a:solidFill>
            <a:schemeClr val="tx2"/>
          </a:solidFill>
          <a:ln w="25400">
            <a:solidFill>
              <a:schemeClr val="accent6"/>
            </a:solidFill>
            <a:prstDash val="solid"/>
          </a:ln>
        </p:spPr>
      </p:sp>
      <p:sp>
        <p:nvSpPr>
          <p:cNvPr id="15" name="Text 13"/>
          <p:cNvSpPr txBox="1"/>
          <p:nvPr/>
        </p:nvSpPr>
        <p:spPr>
          <a:xfrm>
            <a:off x="5989320" y="2971800"/>
            <a:ext cx="822960" cy="822960"/>
          </a:xfrm>
          <a:prstGeom prst="rect">
            <a:avLst/>
          </a:prstGeom>
          <a:noFill/>
          <a:ln/>
        </p:spPr>
        <p:txBody>
          <a:bodyPr wrap="square" lIns="0" tIns="0" rIns="0" bIns="0" rtlCol="0" anchor="ctr"/>
          <a:lstStyle/>
          <a:p>
            <a:pPr algn="ctr" indent="0" marL="0">
              <a:buNone/>
            </a:pPr>
            <a:r>
              <a:rPr lang="en-US" sz="1100" b="1" dirty="0">
                <a:solidFill>
                  <a:schemeClr val="accent6"/>
                </a:solidFill>
              </a:rPr>
              <a:t>Client</a:t>
            </a:r>
            <a:endParaRPr lang="en-US" sz="1100" dirty="0"/>
          </a:p>
          <a:p>
            <a:pPr algn="ctr" indent="0" marL="0">
              <a:buNone/>
            </a:pPr>
            <a:r>
              <a:rPr lang="en-US" sz="1100" b="1" dirty="0">
                <a:solidFill>
                  <a:schemeClr val="accent6"/>
                </a:solidFill>
              </a:rPr>
              <a:t>A</a:t>
            </a:r>
            <a:endParaRPr lang="en-US" sz="1100" dirty="0"/>
          </a:p>
        </p:txBody>
      </p:sp>
      <p:sp>
        <p:nvSpPr>
          <p:cNvPr id="16" name="Client B node"/>
          <p:cNvSpPr/>
          <p:nvPr/>
        </p:nvSpPr>
        <p:spPr>
          <a:xfrm>
            <a:off x="7818120" y="2971800"/>
            <a:ext cx="822960" cy="822960"/>
          </a:xfrm>
          <a:prstGeom prst="ellipse">
            <a:avLst/>
          </a:prstGeom>
          <a:solidFill>
            <a:schemeClr val="tx2"/>
          </a:solidFill>
          <a:ln w="25400">
            <a:solidFill>
              <a:schemeClr val="accent6"/>
            </a:solidFill>
            <a:prstDash val="solid"/>
          </a:ln>
        </p:spPr>
      </p:sp>
      <p:sp>
        <p:nvSpPr>
          <p:cNvPr id="17" name="Text 15"/>
          <p:cNvSpPr txBox="1"/>
          <p:nvPr/>
        </p:nvSpPr>
        <p:spPr>
          <a:xfrm>
            <a:off x="7818120" y="2971800"/>
            <a:ext cx="822960" cy="822960"/>
          </a:xfrm>
          <a:prstGeom prst="rect">
            <a:avLst/>
          </a:prstGeom>
          <a:noFill/>
          <a:ln/>
        </p:spPr>
        <p:txBody>
          <a:bodyPr wrap="square" lIns="0" tIns="0" rIns="0" bIns="0" rtlCol="0" anchor="ctr"/>
          <a:lstStyle/>
          <a:p>
            <a:pPr algn="ctr" indent="0" marL="0">
              <a:buNone/>
            </a:pPr>
            <a:r>
              <a:rPr lang="en-US" sz="1100" b="1" dirty="0">
                <a:solidFill>
                  <a:schemeClr val="accent6"/>
                </a:solidFill>
              </a:rPr>
              <a:t>Client</a:t>
            </a:r>
            <a:endParaRPr lang="en-US" sz="1100" dirty="0"/>
          </a:p>
          <a:p>
            <a:pPr algn="ctr" indent="0" marL="0">
              <a:buNone/>
            </a:pPr>
            <a:r>
              <a:rPr lang="en-US" sz="1100" b="1" dirty="0">
                <a:solidFill>
                  <a:schemeClr val="accent6"/>
                </a:solidFill>
              </a:rPr>
              <a:t>B</a:t>
            </a:r>
            <a:endParaRPr lang="en-US" sz="1100" dirty="0"/>
          </a:p>
        </p:txBody>
      </p:sp>
      <p:sp>
        <p:nvSpPr>
          <p:cNvPr id="18" name="RTT label"/>
          <p:cNvSpPr txBox="1"/>
          <p:nvPr/>
        </p:nvSpPr>
        <p:spPr>
          <a:xfrm>
            <a:off x="6400800" y="3904488"/>
            <a:ext cx="1828800" cy="274320"/>
          </a:xfrm>
          <a:prstGeom prst="rect">
            <a:avLst/>
          </a:prstGeom>
          <a:noFill/>
          <a:ln/>
        </p:spPr>
        <p:txBody>
          <a:bodyPr wrap="square" lIns="0" tIns="0" rIns="0" bIns="0" rtlCol="0" anchor="ctr"/>
          <a:lstStyle/>
          <a:p>
            <a:pPr algn="ctr" indent="0" marL="0">
              <a:buNone/>
            </a:pPr>
            <a:r>
              <a:rPr lang="en-US" sz="1100" i="1" dirty="0">
                <a:solidFill>
                  <a:schemeClr val="accent6"/>
                </a:solidFill>
              </a:rPr>
              <a:t>RTT 100–200 ms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5303520" cy="274320"/>
          </a:xfrm>
          <a:prstGeom prst="rect">
            <a:avLst/>
          </a:prstGeom>
          <a:noFill/>
          <a:ln/>
        </p:spPr>
        <p:txBody>
          <a:bodyPr wrap="square" lIns="0" tIns="0" rIns="0" bIns="0" rtlCol="0"/>
          <a:lstStyle/>
          <a:p>
            <a:pPr indent="0" marL="0">
              <a:buNone/>
            </a:pPr>
            <a:r>
              <a:rPr lang="en-US" sz="1200" b="1" spc="200" kern="0" dirty="0">
                <a:solidFill>
                  <a:schemeClr val="accent6"/>
                </a:solidFill>
              </a:rPr>
              <a:t>PHỤ LỤC · KHÔNG TRÌNH BÀY</a:t>
            </a:r>
            <a:endParaRPr lang="en-US" sz="1200" dirty="0"/>
          </a:p>
        </p:txBody>
      </p:sp>
      <p:sp>
        <p:nvSpPr>
          <p:cNvPr id="3" name="Text 0"/>
          <p:cNvSpPr/>
          <p:nvPr>
            <p:ph idx="101" type="title" hasCustomPrompt="1"/>
          </p:nvPr>
        </p:nvSpPr>
        <p:spPr>
          <a:xfrm>
            <a:off x="548640" y="1463040"/>
            <a:ext cx="5303520" cy="1325880"/>
          </a:xfrm>
          <a:prstGeom prst="rect">
            <a:avLst/>
          </a:prstGeom>
          <a:noFill/>
          <a:ln/>
        </p:spPr>
        <p:txBody>
          <a:bodyPr wrap="square" lIns="0" tIns="0" rIns="0" bIns="0" rtlCol="0" anchor="t"/>
          <a:lstStyle/>
          <a:p>
            <a:pPr algn="l" indent="0" marL="0">
              <a:buNone/>
            </a:pPr>
            <a:r>
              <a:rPr lang="en-US" sz="2800" b="1" dirty="0">
                <a:solidFill>
                  <a:schemeClr val="bg1"/>
                </a:solidFill>
              </a:rPr>
              <a:t>Slide dự phòng cho Q&amp;A</a:t>
            </a:r>
            <a:endParaRPr lang="en-US" sz="2800" dirty="0"/>
          </a:p>
        </p:txBody>
      </p:sp>
      <p:sp>
        <p:nvSpPr>
          <p:cNvPr id="4" name="Text 0"/>
          <p:cNvSpPr/>
          <p:nvPr>
            <p:ph idx="102" type="body" hasCustomPrompt="1"/>
          </p:nvPr>
        </p:nvSpPr>
        <p:spPr>
          <a:xfrm>
            <a:off x="548640" y="2834640"/>
            <a:ext cx="5303520" cy="457200"/>
          </a:xfrm>
          <a:prstGeom prst="rect">
            <a:avLst/>
          </a:prstGeom>
          <a:noFill/>
          <a:ln/>
        </p:spPr>
        <p:txBody>
          <a:bodyPr wrap="square" lIns="0" tIns="0" rIns="0" bIns="0" rtlCol="0"/>
          <a:lstStyle/>
          <a:p>
            <a:pPr indent="0" marL="0">
              <a:buNone/>
            </a:pPr>
            <a:r>
              <a:rPr lang="en-US" sz="2000" b="1" dirty="0">
                <a:solidFill>
                  <a:schemeClr val="accent6"/>
                </a:solidFill>
              </a:rPr>
              <a:t>Chỉ mở khi bị hỏi</a:t>
            </a:r>
            <a:endParaRPr lang="en-US" sz="2000" dirty="0"/>
          </a:p>
        </p:txBody>
      </p:sp>
      <p:sp>
        <p:nvSpPr>
          <p:cNvPr id="5" name="Text 0"/>
          <p:cNvSpPr/>
          <p:nvPr>
            <p:ph idx="103" type="body" hasCustomPrompt="1"/>
          </p:nvPr>
        </p:nvSpPr>
        <p:spPr>
          <a:xfrm>
            <a:off x="548640" y="3383280"/>
            <a:ext cx="5303520" cy="1097280"/>
          </a:xfrm>
          <a:prstGeom prst="rect">
            <a:avLst/>
          </a:prstGeom>
          <a:noFill/>
          <a:ln/>
        </p:spPr>
        <p:txBody>
          <a:bodyPr wrap="square" lIns="0" tIns="0" rIns="0" bIns="0" rtlCol="0" anchor="t"/>
          <a:lstStyle/>
          <a:p>
            <a:pPr indent="0" marL="0">
              <a:buNone/>
            </a:pPr>
            <a:r>
              <a:rPr lang="en-US" sz="1300" dirty="0">
                <a:solidFill>
                  <a:schemeClr val="bg1"/>
                </a:solidFill>
              </a:rPr>
              <a:t>Nội dung lấy từ NoiDung_ChiTiet.md. Câu trả lời mẫu ở phụ lục A, thuật ngữ Việt – Anh ở phụ lục B.</a:t>
            </a:r>
            <a:endParaRPr lang="en-US" sz="1300" dirty="0"/>
          </a:p>
        </p:txBody>
      </p:sp>
      <p:sp>
        <p:nvSpPr>
          <p:cNvPr id="6" name="Link A"/>
          <p:cNvSpPr/>
          <p:nvPr/>
        </p:nvSpPr>
        <p:spPr>
          <a:xfrm flipV="1">
            <a:off x="6400800" y="1508760"/>
            <a:ext cx="914400" cy="1874520"/>
          </a:xfrm>
          <a:prstGeom prst="line">
            <a:avLst/>
          </a:prstGeom>
          <a:noFill/>
          <a:ln w="25400">
            <a:solidFill>
              <a:schemeClr val="accent6"/>
            </a:solidFill>
            <a:prstDash val="dash"/>
          </a:ln>
        </p:spPr>
      </p:sp>
      <p:sp>
        <p:nvSpPr>
          <p:cNvPr id="7" name="Link B"/>
          <p:cNvSpPr/>
          <p:nvPr/>
        </p:nvSpPr>
        <p:spPr>
          <a:xfrm>
            <a:off x="7315200" y="1508760"/>
            <a:ext cx="914400" cy="1874520"/>
          </a:xfrm>
          <a:prstGeom prst="line">
            <a:avLst/>
          </a:prstGeom>
          <a:noFill/>
          <a:ln w="25400">
            <a:solidFill>
              <a:schemeClr val="accent6"/>
            </a:solidFill>
            <a:prstDash val="dash"/>
          </a:ln>
        </p:spPr>
      </p:sp>
      <p:sp>
        <p:nvSpPr>
          <p:cNvPr id="8" name="Packet"/>
          <p:cNvSpPr/>
          <p:nvPr/>
        </p:nvSpPr>
        <p:spPr>
          <a:xfrm>
            <a:off x="6647688" y="2654046"/>
            <a:ext cx="146304" cy="146304"/>
          </a:xfrm>
          <a:prstGeom prst="ellipse">
            <a:avLst/>
          </a:prstGeom>
          <a:solidFill>
            <a:schemeClr val="accent1"/>
          </a:solidFill>
          <a:ln w="12700">
            <a:solidFill>
              <a:schemeClr val="accent1"/>
            </a:solidFill>
            <a:prstDash val="solid"/>
          </a:ln>
        </p:spPr>
      </p:sp>
      <p:sp>
        <p:nvSpPr>
          <p:cNvPr id="9" name="Packet"/>
          <p:cNvSpPr/>
          <p:nvPr/>
        </p:nvSpPr>
        <p:spPr>
          <a:xfrm>
            <a:off x="6922008" y="2091690"/>
            <a:ext cx="146304" cy="146304"/>
          </a:xfrm>
          <a:prstGeom prst="ellipse">
            <a:avLst/>
          </a:prstGeom>
          <a:solidFill>
            <a:schemeClr val="accent3"/>
          </a:solidFill>
          <a:ln w="12700">
            <a:solidFill>
              <a:schemeClr val="accent3"/>
            </a:solidFill>
            <a:prstDash val="solid"/>
          </a:ln>
        </p:spPr>
      </p:sp>
      <p:sp>
        <p:nvSpPr>
          <p:cNvPr id="10" name="Packet"/>
          <p:cNvSpPr/>
          <p:nvPr/>
        </p:nvSpPr>
        <p:spPr>
          <a:xfrm>
            <a:off x="7790688" y="2560320"/>
            <a:ext cx="146304" cy="146304"/>
          </a:xfrm>
          <a:prstGeom prst="ellipse">
            <a:avLst/>
          </a:prstGeom>
          <a:solidFill>
            <a:schemeClr val="accent3"/>
          </a:solidFill>
          <a:ln w="12700">
            <a:solidFill>
              <a:schemeClr val="accent3"/>
            </a:solidFill>
            <a:prstDash val="solid"/>
          </a:ln>
        </p:spPr>
      </p:sp>
      <p:sp>
        <p:nvSpPr>
          <p:cNvPr id="11" name="Packet"/>
          <p:cNvSpPr/>
          <p:nvPr/>
        </p:nvSpPr>
        <p:spPr>
          <a:xfrm>
            <a:off x="7516368" y="1997964"/>
            <a:ext cx="146304" cy="146304"/>
          </a:xfrm>
          <a:prstGeom prst="ellipse">
            <a:avLst/>
          </a:prstGeom>
          <a:solidFill>
            <a:schemeClr val="accent1"/>
          </a:solidFill>
          <a:ln w="12700">
            <a:solidFill>
              <a:schemeClr val="accent1"/>
            </a:solidFill>
            <a:prstDash val="solid"/>
          </a:ln>
        </p:spPr>
      </p:sp>
      <p:sp>
        <p:nvSpPr>
          <p:cNvPr id="12" name="Server node"/>
          <p:cNvSpPr/>
          <p:nvPr/>
        </p:nvSpPr>
        <p:spPr>
          <a:xfrm>
            <a:off x="6858000" y="1051560"/>
            <a:ext cx="914400" cy="914400"/>
          </a:xfrm>
          <a:prstGeom prst="ellipse">
            <a:avLst/>
          </a:prstGeom>
          <a:solidFill>
            <a:schemeClr val="accent1"/>
          </a:solidFill>
          <a:ln w="25400">
            <a:solidFill>
              <a:schemeClr val="accent6"/>
            </a:solidFill>
            <a:prstDash val="solid"/>
          </a:ln>
        </p:spPr>
      </p:sp>
      <p:sp>
        <p:nvSpPr>
          <p:cNvPr id="13" name="Text 11"/>
          <p:cNvSpPr txBox="1"/>
          <p:nvPr/>
        </p:nvSpPr>
        <p:spPr>
          <a:xfrm>
            <a:off x="6858000" y="1051560"/>
            <a:ext cx="914400" cy="914400"/>
          </a:xfrm>
          <a:prstGeom prst="rect">
            <a:avLst/>
          </a:prstGeom>
          <a:noFill/>
          <a:ln/>
        </p:spPr>
        <p:txBody>
          <a:bodyPr wrap="square" lIns="0" tIns="0" rIns="0" bIns="0" rtlCol="0" anchor="ctr"/>
          <a:lstStyle/>
          <a:p>
            <a:pPr algn="ctr" indent="0" marL="0">
              <a:buNone/>
            </a:pPr>
            <a:r>
              <a:rPr lang="en-US" sz="1300" b="1" dirty="0">
                <a:solidFill>
                  <a:schemeClr val="bg1"/>
                </a:solidFill>
              </a:rPr>
              <a:t>Server</a:t>
            </a:r>
            <a:endParaRPr lang="en-US" sz="1300" dirty="0"/>
          </a:p>
        </p:txBody>
      </p:sp>
      <p:sp>
        <p:nvSpPr>
          <p:cNvPr id="14" name="Client A node"/>
          <p:cNvSpPr/>
          <p:nvPr/>
        </p:nvSpPr>
        <p:spPr>
          <a:xfrm>
            <a:off x="5989320" y="2971800"/>
            <a:ext cx="822960" cy="822960"/>
          </a:xfrm>
          <a:prstGeom prst="ellipse">
            <a:avLst/>
          </a:prstGeom>
          <a:solidFill>
            <a:schemeClr val="tx2"/>
          </a:solidFill>
          <a:ln w="25400">
            <a:solidFill>
              <a:schemeClr val="accent6"/>
            </a:solidFill>
            <a:prstDash val="solid"/>
          </a:ln>
        </p:spPr>
      </p:sp>
      <p:sp>
        <p:nvSpPr>
          <p:cNvPr id="15" name="Text 13"/>
          <p:cNvSpPr txBox="1"/>
          <p:nvPr/>
        </p:nvSpPr>
        <p:spPr>
          <a:xfrm>
            <a:off x="5989320" y="2971800"/>
            <a:ext cx="822960" cy="822960"/>
          </a:xfrm>
          <a:prstGeom prst="rect">
            <a:avLst/>
          </a:prstGeom>
          <a:noFill/>
          <a:ln/>
        </p:spPr>
        <p:txBody>
          <a:bodyPr wrap="square" lIns="0" tIns="0" rIns="0" bIns="0" rtlCol="0" anchor="ctr"/>
          <a:lstStyle/>
          <a:p>
            <a:pPr algn="ctr" indent="0" marL="0">
              <a:buNone/>
            </a:pPr>
            <a:r>
              <a:rPr lang="en-US" sz="1100" b="1" dirty="0">
                <a:solidFill>
                  <a:schemeClr val="accent6"/>
                </a:solidFill>
              </a:rPr>
              <a:t>Client</a:t>
            </a:r>
            <a:endParaRPr lang="en-US" sz="1100" dirty="0"/>
          </a:p>
          <a:p>
            <a:pPr algn="ctr" indent="0" marL="0">
              <a:buNone/>
            </a:pPr>
            <a:r>
              <a:rPr lang="en-US" sz="1100" b="1" dirty="0">
                <a:solidFill>
                  <a:schemeClr val="accent6"/>
                </a:solidFill>
              </a:rPr>
              <a:t>A</a:t>
            </a:r>
            <a:endParaRPr lang="en-US" sz="1100" dirty="0"/>
          </a:p>
        </p:txBody>
      </p:sp>
      <p:sp>
        <p:nvSpPr>
          <p:cNvPr id="16" name="Client B node"/>
          <p:cNvSpPr/>
          <p:nvPr/>
        </p:nvSpPr>
        <p:spPr>
          <a:xfrm>
            <a:off x="7818120" y="2971800"/>
            <a:ext cx="822960" cy="822960"/>
          </a:xfrm>
          <a:prstGeom prst="ellipse">
            <a:avLst/>
          </a:prstGeom>
          <a:solidFill>
            <a:schemeClr val="tx2"/>
          </a:solidFill>
          <a:ln w="25400">
            <a:solidFill>
              <a:schemeClr val="accent6"/>
            </a:solidFill>
            <a:prstDash val="solid"/>
          </a:ln>
        </p:spPr>
      </p:sp>
      <p:sp>
        <p:nvSpPr>
          <p:cNvPr id="17" name="Text 15"/>
          <p:cNvSpPr txBox="1"/>
          <p:nvPr/>
        </p:nvSpPr>
        <p:spPr>
          <a:xfrm>
            <a:off x="7818120" y="2971800"/>
            <a:ext cx="822960" cy="822960"/>
          </a:xfrm>
          <a:prstGeom prst="rect">
            <a:avLst/>
          </a:prstGeom>
          <a:noFill/>
          <a:ln/>
        </p:spPr>
        <p:txBody>
          <a:bodyPr wrap="square" lIns="0" tIns="0" rIns="0" bIns="0" rtlCol="0" anchor="ctr"/>
          <a:lstStyle/>
          <a:p>
            <a:pPr algn="ctr" indent="0" marL="0">
              <a:buNone/>
            </a:pPr>
            <a:r>
              <a:rPr lang="en-US" sz="1100" b="1" dirty="0">
                <a:solidFill>
                  <a:schemeClr val="accent6"/>
                </a:solidFill>
              </a:rPr>
              <a:t>Client</a:t>
            </a:r>
            <a:endParaRPr lang="en-US" sz="1100" dirty="0"/>
          </a:p>
          <a:p>
            <a:pPr algn="ctr" indent="0" marL="0">
              <a:buNone/>
            </a:pPr>
            <a:r>
              <a:rPr lang="en-US" sz="1100" b="1" dirty="0">
                <a:solidFill>
                  <a:schemeClr val="accent6"/>
                </a:solidFill>
              </a:rPr>
              <a:t>B</a:t>
            </a:r>
            <a:endParaRPr lang="en-US" sz="1100" dirty="0"/>
          </a:p>
        </p:txBody>
      </p:sp>
      <p:sp>
        <p:nvSpPr>
          <p:cNvPr id="18" name="RTT label"/>
          <p:cNvSpPr txBox="1"/>
          <p:nvPr/>
        </p:nvSpPr>
        <p:spPr>
          <a:xfrm>
            <a:off x="6400800" y="3904488"/>
            <a:ext cx="1828800" cy="274320"/>
          </a:xfrm>
          <a:prstGeom prst="rect">
            <a:avLst/>
          </a:prstGeom>
          <a:noFill/>
          <a:ln/>
        </p:spPr>
        <p:txBody>
          <a:bodyPr wrap="square" lIns="0" tIns="0" rIns="0" bIns="0" rtlCol="0" anchor="ctr"/>
          <a:lstStyle/>
          <a:p>
            <a:pPr algn="ctr" indent="0" marL="0">
              <a:buNone/>
            </a:pPr>
            <a:r>
              <a:rPr lang="en-US" sz="1100" i="1" dirty="0">
                <a:solidFill>
                  <a:schemeClr val="accent6"/>
                </a:solidFill>
              </a:rPr>
              <a:t>RTT 100–200 ms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D1 · NGUỒN: MỤC 2.1</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Thành phần của độ trễ</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“Độ trễ đến từ đâu, giảm được không?”</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lan truyền, truyền, xếp hàng, xử lý</a:t>
            </a:r>
            <a:endParaRPr lang="en-US" sz="1200" dirty="0"/>
          </a:p>
          <a:p>
            <a:pPr algn="l" indent="0" marL="0">
              <a:spcAft>
                <a:spcPts val="400"/>
              </a:spcAft>
              <a:buNone/>
            </a:pPr>
            <a:r>
              <a:rPr lang="en-US" sz="1200" dirty="0">
                <a:solidFill>
                  <a:schemeClr val="accent5"/>
                </a:solidFill>
              </a:rPr>
              <a:t>Lấy từ NoiDung_ChiTiet.md, Mục 2.1.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D2 · NGUỒN: MỤC 2.3</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TCP chi tiết</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“Sao không dùng TCP cho tất cả, tắt Nagle là xong?”</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thời gian chờ gửi lại, thuật toán Nagle</a:t>
            </a:r>
            <a:endParaRPr lang="en-US" sz="1200" dirty="0"/>
          </a:p>
          <a:p>
            <a:pPr algn="l" indent="0" marL="0">
              <a:spcAft>
                <a:spcPts val="400"/>
              </a:spcAft>
              <a:buNone/>
            </a:pPr>
            <a:r>
              <a:rPr lang="en-US" sz="1200" dirty="0">
                <a:solidFill>
                  <a:schemeClr val="accent5"/>
                </a:solidFill>
              </a:rPr>
              <a:t>Lấy từ NoiDung_ChiTiet.md, Mục 2.3.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D3 · NGUỒN: VĐ1</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Bộ tích luỹ thời gian</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“Chọn 30 nhịp/giây thế nào? Client 144 Hz thì sao?”</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tần số mô phỏng và tần số gửi ảnh</a:t>
            </a:r>
            <a:endParaRPr lang="en-US" sz="1200" dirty="0"/>
          </a:p>
          <a:p>
            <a:pPr algn="l" indent="0" marL="0">
              <a:spcAft>
                <a:spcPts val="400"/>
              </a:spcAft>
              <a:buNone/>
            </a:pPr>
            <a:r>
              <a:rPr lang="en-US" sz="1200" dirty="0">
                <a:solidFill>
                  <a:schemeClr val="accent5"/>
                </a:solidFill>
              </a:rPr>
              <a:t>Lấy từ NoiDung_ChiTiet.md, VĐ1.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D4 · NGUỒN: VĐ1</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Hàng đợi lệnh ở server</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“Lệnh đến không đều thì server làm gì?”</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thiếu lệnh, dồn lệnh, chống hack tốc độ</a:t>
            </a:r>
            <a:endParaRPr lang="en-US" sz="1200" dirty="0"/>
          </a:p>
          <a:p>
            <a:pPr algn="l" indent="0" marL="0">
              <a:spcAft>
                <a:spcPts val="400"/>
              </a:spcAft>
              <a:buNone/>
            </a:pPr>
            <a:r>
              <a:rPr lang="en-US" sz="1200" dirty="0">
                <a:solidFill>
                  <a:schemeClr val="accent5"/>
                </a:solidFill>
              </a:rPr>
              <a:t>Lấy từ NoiDung_ChiTiet.md, VĐ1.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D5 · NGUỒN: MỤC 5</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Bảng giao thức</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“Định dạng gói tin thế nào?”</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a:t>
            </a:r>
            <a:pPr algn="l" indent="0" marL="0">
              <a:spcAft>
                <a:spcPts val="400"/>
              </a:spcAft>
              <a:buNone/>
            </a:pPr>
            <a:r>
              <a:rPr lang="en-US" sz="1200" dirty="0">
                <a:solidFill>
                  <a:schemeClr val="accent5"/>
                </a:solidFill>
                <a:latin typeface="Courier New" pitchFamily="34" charset="0"/>
                <a:ea typeface="Courier New" pitchFamily="34" charset="-122"/>
                <a:cs typeface="Courier New" pitchFamily="34" charset="-120"/>
              </a:rPr>
              <a:t>INPUT</a:t>
            </a:r>
            <a:pPr algn="l" indent="0" marL="0">
              <a:spcAft>
                <a:spcPts val="400"/>
              </a:spcAft>
              <a:buNone/>
            </a:pPr>
            <a:r>
              <a:rPr lang="en-US" sz="1200" dirty="0">
                <a:solidFill>
                  <a:schemeClr val="accent5"/>
                </a:solidFill>
              </a:rPr>
              <a:t>, </a:t>
            </a:r>
            <a:pPr algn="l" indent="0" marL="0">
              <a:spcAft>
                <a:spcPts val="400"/>
              </a:spcAft>
              <a:buNone/>
            </a:pPr>
            <a:r>
              <a:rPr lang="en-US" sz="1200" dirty="0">
                <a:solidFill>
                  <a:schemeClr val="accent5"/>
                </a:solidFill>
                <a:latin typeface="Courier New" pitchFamily="34" charset="0"/>
                <a:ea typeface="Courier New" pitchFamily="34" charset="-122"/>
                <a:cs typeface="Courier New" pitchFamily="34" charset="-120"/>
              </a:rPr>
              <a:t>SNAPSHOT</a:t>
            </a:r>
            <a:pPr algn="l" indent="0" marL="0">
              <a:spcAft>
                <a:spcPts val="400"/>
              </a:spcAft>
              <a:buNone/>
            </a:pPr>
            <a:r>
              <a:rPr lang="en-US" sz="1200" dirty="0">
                <a:solidFill>
                  <a:schemeClr val="accent5"/>
                </a:solidFill>
              </a:rPr>
              <a:t>, </a:t>
            </a:r>
            <a:pPr algn="l" indent="0" marL="0">
              <a:spcAft>
                <a:spcPts val="400"/>
              </a:spcAft>
              <a:buNone/>
            </a:pPr>
            <a:r>
              <a:rPr lang="en-US" sz="1200" dirty="0">
                <a:solidFill>
                  <a:schemeClr val="accent5"/>
                </a:solidFill>
                <a:latin typeface="Courier New" pitchFamily="34" charset="0"/>
                <a:ea typeface="Courier New" pitchFamily="34" charset="-122"/>
                <a:cs typeface="Courier New" pitchFamily="34" charset="-120"/>
              </a:rPr>
              <a:t>ITEM_*</a:t>
            </a:r>
            <a:endParaRPr lang="en-US" sz="1200" dirty="0"/>
          </a:p>
          <a:p>
            <a:pPr algn="l" indent="0" marL="0">
              <a:spcAft>
                <a:spcPts val="400"/>
              </a:spcAft>
              <a:buNone/>
            </a:pPr>
            <a:r>
              <a:rPr lang="en-US" sz="1200" dirty="0">
                <a:solidFill>
                  <a:schemeClr val="accent5"/>
                </a:solidFill>
              </a:rPr>
              <a:t>Lấy từ NoiDung_ChiTiet.md, Mục 5.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D6 · NGUỒN: VĐ3</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Chọn độ trễ nội suy</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“Độ trễ nội suy chọn bao nhiêu? Mất nhiều gói thì sao?”</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bảng theo tần số gửi ảnh, ngoại suy dự phòng</a:t>
            </a:r>
            <a:endParaRPr lang="en-US" sz="1200" dirty="0"/>
          </a:p>
          <a:p>
            <a:pPr algn="l" indent="0" marL="0">
              <a:spcAft>
                <a:spcPts val="400"/>
              </a:spcAft>
              <a:buNone/>
            </a:pPr>
            <a:r>
              <a:rPr lang="en-US" sz="1200" dirty="0">
                <a:solidFill>
                  <a:schemeClr val="accent5"/>
                </a:solidFill>
              </a:rPr>
              <a:t>Lấy từ NoiDung_ChiTiet.md, VĐ3.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D7 · NGUỒN: VĐ4</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Phân xử món hàng hiếm</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“Hai người cùng nhặt thì xử thế nào? Gửi nhịp giả thì sao?”</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cửa sổ phân xử, kiểm tra số nhịp giả</a:t>
            </a:r>
            <a:endParaRPr lang="en-US" sz="1200" dirty="0"/>
          </a:p>
          <a:p>
            <a:pPr algn="l" indent="0" marL="0">
              <a:spcAft>
                <a:spcPts val="400"/>
              </a:spcAft>
              <a:buNone/>
            </a:pPr>
            <a:r>
              <a:rPr lang="en-US" sz="1200" dirty="0">
                <a:solidFill>
                  <a:schemeClr val="accent5"/>
                </a:solidFill>
              </a:rPr>
              <a:t>Lấy từ NoiDung_ChiTiet.md, VĐ4.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D8 · NGUỒN: VĐ5</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Các nguồn phá tính tất định</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“Tính tất định ảnh hưởng thế nào?”</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số thực, thứ tự duyệt, số ngẫu nhiên</a:t>
            </a:r>
            <a:endParaRPr lang="en-US" sz="1200" dirty="0"/>
          </a:p>
          <a:p>
            <a:pPr algn="l" indent="0" marL="0">
              <a:spcAft>
                <a:spcPts val="400"/>
              </a:spcAft>
              <a:buNone/>
            </a:pPr>
            <a:r>
              <a:rPr lang="en-US" sz="1200" dirty="0">
                <a:solidFill>
                  <a:schemeClr val="accent5"/>
                </a:solidFill>
              </a:rPr>
              <a:t>Lấy từ NoiDung_ChiTiet.md, VĐ5.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D9 · NGUỒN: VĐ1, VĐ5</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Đồng bộ theo bước / GGPO vs mô hình của nhóm</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“Sao không làm ngang hàng?”</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so sánh hai mô hình</a:t>
            </a:r>
            <a:endParaRPr lang="en-US" sz="1200" dirty="0"/>
          </a:p>
          <a:p>
            <a:pPr algn="l" indent="0" marL="0">
              <a:spcAft>
                <a:spcPts val="400"/>
              </a:spcAft>
              <a:buNone/>
            </a:pPr>
            <a:r>
              <a:rPr lang="en-US" sz="1200" dirty="0">
                <a:solidFill>
                  <a:schemeClr val="accent5"/>
                </a:solidFill>
              </a:rPr>
              <a:t>Lấy từ NoiDung_ChiTiet.md, VĐ1, VĐ5.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457200" y="292608"/>
            <a:ext cx="6949440" cy="256032"/>
          </a:xfrm>
          <a:prstGeom prst="rect">
            <a:avLst/>
          </a:prstGeom>
          <a:noFill/>
          <a:ln/>
        </p:spPr>
        <p:txBody>
          <a:bodyPr wrap="square" lIns="0" tIns="0" rIns="0" bIns="0" rtlCol="0"/>
          <a:lstStyle/>
          <a:p>
            <a:pPr indent="0" marL="0">
              <a:buNone/>
            </a:pPr>
            <a:r>
              <a:rPr lang="en-US" sz="1100" b="1" spc="150" kern="0" dirty="0">
                <a:solidFill>
                  <a:schemeClr val="accent1"/>
                </a:solidFill>
              </a:rPr>
              <a:t>DỰ PHÒNG D10 · NGUỒN: MỤC 7.2</a:t>
            </a:r>
            <a:endParaRPr lang="en-US" sz="1100" dirty="0"/>
          </a:p>
        </p:txBody>
      </p:sp>
      <p:sp>
        <p:nvSpPr>
          <p:cNvPr id="3" name="Text 1"/>
          <p:cNvSpPr/>
          <p:nvPr>
            <p:ph idx="102" type="title" hasCustomPrompt="1"/>
          </p:nvPr>
        </p:nvSpPr>
        <p:spPr>
          <a:xfrm>
            <a:off x="457200" y="548640"/>
            <a:ext cx="7040880" cy="548640"/>
          </a:xfrm>
          <a:prstGeom prst="rect">
            <a:avLst/>
          </a:prstGeom>
          <a:noFill/>
          <a:ln/>
        </p:spPr>
        <p:txBody>
          <a:bodyPr wrap="square" lIns="0" tIns="0" rIns="0" bIns="0" rtlCol="0" anchor="ctr"/>
          <a:lstStyle/>
          <a:p>
            <a:pPr algn="l" indent="0" marL="0">
              <a:buNone/>
            </a:pPr>
            <a:r>
              <a:rPr lang="en-US" sz="2600" b="1" dirty="0">
                <a:solidFill>
                  <a:schemeClr val="tx1"/>
                </a:solidFill>
              </a:rPr>
              <a:t>Mạng giả lập</a:t>
            </a:r>
            <a:endParaRPr lang="en-US" sz="2600" dirty="0"/>
          </a:p>
        </p:txBody>
      </p:sp>
      <p:sp>
        <p:nvSpPr>
          <p:cNvPr id="4" name="Presenter chip"/>
          <p:cNvSpPr/>
          <p:nvPr/>
        </p:nvSpPr>
        <p:spPr>
          <a:xfrm>
            <a:off x="7635240" y="347472"/>
            <a:ext cx="1051560" cy="310896"/>
          </a:xfrm>
          <a:prstGeom prst="roundRect">
            <a:avLst>
              <a:gd name="adj" fmla="val 50000"/>
            </a:avLst>
          </a:prstGeom>
          <a:solidFill>
            <a:schemeClr val="accent5"/>
          </a:solidFill>
          <a:ln w="12700">
            <a:solidFill>
              <a:schemeClr val="accent5"/>
            </a:solidFill>
            <a:prstDash val="solid"/>
          </a:ln>
        </p:spPr>
      </p:sp>
      <p:sp>
        <p:nvSpPr>
          <p:cNvPr id="5" name="Presenter chip text"/>
          <p:cNvSpPr txBox="1"/>
          <p:nvPr/>
        </p:nvSpPr>
        <p:spPr>
          <a:xfrm>
            <a:off x="7635240" y="347472"/>
            <a:ext cx="1051560" cy="310896"/>
          </a:xfrm>
          <a:prstGeom prst="rect">
            <a:avLst/>
          </a:prstGeom>
          <a:noFill/>
          <a:ln/>
        </p:spPr>
        <p:txBody>
          <a:bodyPr wrap="square" lIns="0" tIns="0" rIns="0" bIns="0" rtlCol="0" anchor="ctr"/>
          <a:lstStyle/>
          <a:p>
            <a:pPr algn="ctr" indent="0" marL="0">
              <a:buNone/>
            </a:pPr>
            <a:r>
              <a:rPr lang="en-US" sz="1100" b="1" dirty="0">
                <a:solidFill>
                  <a:schemeClr val="bg1"/>
                </a:solidFill>
              </a:rPr>
              <a:t>Q&amp;A</a:t>
            </a:r>
            <a:endParaRPr lang="en-US" sz="1100" dirty="0"/>
          </a:p>
        </p:txBody>
      </p:sp>
      <p:sp>
        <p:nvSpPr>
          <p:cNvPr id="6" name="Trigger question"/>
          <p:cNvSpPr/>
          <p:nvPr/>
        </p:nvSpPr>
        <p:spPr>
          <a:xfrm>
            <a:off x="457200" y="1234440"/>
            <a:ext cx="8229600" cy="731520"/>
          </a:xfrm>
          <a:prstGeom prst="roundRect">
            <a:avLst>
              <a:gd name="adj" fmla="val 12500"/>
            </a:avLst>
          </a:prstGeom>
          <a:solidFill>
            <a:schemeClr val="tx1"/>
          </a:solidFill>
          <a:ln w="12700">
            <a:solidFill>
              <a:schemeClr val="tx1"/>
            </a:solidFill>
            <a:prstDash val="solid"/>
          </a:ln>
        </p:spPr>
      </p:sp>
      <p:sp>
        <p:nvSpPr>
          <p:cNvPr id="7" name="Text 5"/>
          <p:cNvSpPr txBox="1"/>
          <p:nvPr/>
        </p:nvSpPr>
        <p:spPr>
          <a:xfrm>
            <a:off x="685800" y="1234440"/>
            <a:ext cx="1188720" cy="731520"/>
          </a:xfrm>
          <a:prstGeom prst="rect">
            <a:avLst/>
          </a:prstGeom>
          <a:noFill/>
          <a:ln/>
        </p:spPr>
        <p:txBody>
          <a:bodyPr wrap="square" lIns="0" tIns="0" rIns="0" bIns="0" rtlCol="0" anchor="ctr"/>
          <a:lstStyle/>
          <a:p>
            <a:pPr indent="0" marL="0">
              <a:buNone/>
            </a:pPr>
            <a:r>
              <a:rPr lang="en-US" sz="1000" b="1" spc="150" kern="0" dirty="0">
                <a:solidFill>
                  <a:schemeClr val="accent6"/>
                </a:solidFill>
              </a:rPr>
              <a:t>KHI BỊ HỎI</a:t>
            </a:r>
            <a:endParaRPr lang="en-US" sz="1000" dirty="0"/>
          </a:p>
        </p:txBody>
      </p:sp>
      <p:sp>
        <p:nvSpPr>
          <p:cNvPr id="8" name="Text 6"/>
          <p:cNvSpPr txBox="1"/>
          <p:nvPr/>
        </p:nvSpPr>
        <p:spPr>
          <a:xfrm>
            <a:off x="1874520" y="1234440"/>
            <a:ext cx="6583680" cy="731520"/>
          </a:xfrm>
          <a:prstGeom prst="rect">
            <a:avLst/>
          </a:prstGeom>
          <a:noFill/>
          <a:ln/>
        </p:spPr>
        <p:txBody>
          <a:bodyPr wrap="square" lIns="0" tIns="0" rIns="0" bIns="0" rtlCol="0" anchor="ctr"/>
          <a:lstStyle/>
          <a:p>
            <a:pPr indent="0" marL="0">
              <a:buNone/>
            </a:pPr>
            <a:r>
              <a:rPr lang="en-US" sz="1600" i="1" dirty="0">
                <a:solidFill>
                  <a:schemeClr val="bg1"/>
                </a:solidFill>
              </a:rPr>
              <a:t>“Demo có phản ánh mạng thật không?”</a:t>
            </a:r>
            <a:endParaRPr lang="en-US" sz="1600" dirty="0"/>
          </a:p>
        </p:txBody>
      </p:sp>
      <p:sp>
        <p:nvSpPr>
          <p:cNvPr id="9" name="Placeholder frame"/>
          <p:cNvSpPr/>
          <p:nvPr/>
        </p:nvSpPr>
        <p:spPr>
          <a:xfrm>
            <a:off x="457200" y="2194560"/>
            <a:ext cx="8229600" cy="2377440"/>
          </a:xfrm>
          <a:prstGeom prst="roundRect">
            <a:avLst>
              <a:gd name="adj" fmla="val 3077"/>
            </a:avLst>
          </a:prstGeom>
          <a:solidFill>
            <a:schemeClr val="bg2"/>
          </a:solidFill>
          <a:ln w="15875">
            <a:solidFill>
              <a:schemeClr val="accent1"/>
            </a:solidFill>
            <a:prstDash val="dash"/>
          </a:ln>
        </p:spPr>
      </p:sp>
      <p:sp>
        <p:nvSpPr>
          <p:cNvPr id="10" name="Placeholder label"/>
          <p:cNvSpPr txBox="1"/>
          <p:nvPr/>
        </p:nvSpPr>
        <p:spPr>
          <a:xfrm>
            <a:off x="640080" y="2331720"/>
            <a:ext cx="7863840" cy="256032"/>
          </a:xfrm>
          <a:prstGeom prst="rect">
            <a:avLst/>
          </a:prstGeom>
          <a:noFill/>
          <a:ln/>
        </p:spPr>
        <p:txBody>
          <a:bodyPr wrap="square" lIns="0" tIns="0" rIns="0" bIns="0" rtlCol="0" anchor="ctr"/>
          <a:lstStyle/>
          <a:p>
            <a:pPr indent="0" marL="0">
              <a:buNone/>
            </a:pPr>
            <a:r>
              <a:rPr lang="en-US" sz="1000" b="1" spc="150" kern="0" dirty="0">
                <a:solidFill>
                  <a:schemeClr val="accent1"/>
                </a:solidFill>
              </a:rPr>
              <a:t>NỘI DUNG CẦN ĐIỀN</a:t>
            </a:r>
            <a:endParaRPr lang="en-US" sz="1000" dirty="0"/>
          </a:p>
        </p:txBody>
      </p:sp>
      <p:sp>
        <p:nvSpPr>
          <p:cNvPr id="11" name="Placeholder description"/>
          <p:cNvSpPr txBox="1"/>
          <p:nvPr/>
        </p:nvSpPr>
        <p:spPr>
          <a:xfrm>
            <a:off x="640080" y="2651760"/>
            <a:ext cx="7863840" cy="1783080"/>
          </a:xfrm>
          <a:prstGeom prst="rect">
            <a:avLst/>
          </a:prstGeom>
          <a:noFill/>
          <a:ln/>
        </p:spPr>
        <p:txBody>
          <a:bodyPr wrap="square" lIns="0" tIns="0" rIns="0" bIns="0" rtlCol="0" anchor="t"/>
          <a:lstStyle/>
          <a:p>
            <a:pPr algn="l" indent="0" marL="0">
              <a:spcAft>
                <a:spcPts val="400"/>
              </a:spcAft>
              <a:buNone/>
            </a:pPr>
            <a:r>
              <a:rPr lang="en-US" sz="1200" dirty="0">
                <a:solidFill>
                  <a:schemeClr val="accent5"/>
                </a:solidFill>
              </a:rPr>
              <a:t>Phạm vi: </a:t>
            </a:r>
            <a:pPr algn="l" indent="0" marL="0">
              <a:spcAft>
                <a:spcPts val="400"/>
              </a:spcAft>
              <a:buNone/>
            </a:pPr>
            <a:r>
              <a:rPr lang="en-US" sz="1200" dirty="0">
                <a:solidFill>
                  <a:schemeClr val="accent5"/>
                </a:solidFill>
                <a:latin typeface="Courier New" pitchFamily="34" charset="0"/>
                <a:ea typeface="Courier New" pitchFamily="34" charset="-122"/>
                <a:cs typeface="Courier New" pitchFamily="34" charset="-120"/>
              </a:rPr>
              <a:t>ITransport</a:t>
            </a:r>
            <a:pPr algn="l" indent="0" marL="0">
              <a:spcAft>
                <a:spcPts val="400"/>
              </a:spcAft>
              <a:buNone/>
            </a:pPr>
            <a:r>
              <a:rPr lang="en-US" sz="1200" dirty="0">
                <a:solidFill>
                  <a:schemeClr val="accent5"/>
                </a:solidFill>
              </a:rPr>
              <a:t>, cách tạo độ trễ, mất gói</a:t>
            </a:r>
            <a:endParaRPr lang="en-US" sz="1200" dirty="0"/>
          </a:p>
          <a:p>
            <a:pPr algn="l" indent="0" marL="0">
              <a:spcAft>
                <a:spcPts val="400"/>
              </a:spcAft>
              <a:buNone/>
            </a:pPr>
            <a:r>
              <a:rPr lang="en-US" sz="1200" dirty="0">
                <a:solidFill>
                  <a:schemeClr val="accent5"/>
                </a:solidFill>
              </a:rPr>
              <a:t>Lấy từ NoiDung_ChiTiet.md, Mục 7.2. Câu trả lời mẫu: phụ lục 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T47 Netcode">
  <a:themeElements>
    <a:clrScheme name="T47 Netcode">
      <a:dk1>
        <a:srgbClr val="14213D"/>
      </a:dk1>
      <a:lt1>
        <a:srgbClr val="FFFFFF"/>
      </a:lt1>
      <a:dk2>
        <a:srgbClr val="0B1626"/>
      </a:dk2>
      <a:lt2>
        <a:srgbClr val="EEF3F8"/>
      </a:lt2>
      <a:accent1>
        <a:srgbClr val="00897B"/>
      </a:accent1>
      <a:accent2>
        <a:srgbClr val="6C5CE7"/>
      </a:accent2>
      <a:accent3>
        <a:srgbClr val="F4A259"/>
      </a:accent3>
      <a:accent4>
        <a:srgbClr val="D93A3F"/>
      </a:accent4>
      <a:accent5>
        <a:srgbClr val="5B6B82"/>
      </a:accent5>
      <a:accent6>
        <a:srgbClr val="BFE8E3"/>
      </a:accent6>
      <a:hlink>
        <a:srgbClr val="00897B"/>
      </a:hlink>
      <a:folHlink>
        <a:srgbClr val="6C5CE7"/>
      </a:folHlink>
    </a:clrScheme>
    <a:fontScheme name="T47 Netcod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T47 — Dự đoán phía client</dc:title>
  <dc:subject>PptxGenJS Presentation</dc:subject>
  <dc:creator>Nhóm T47</dc:creator>
  <cp:lastModifiedBy>Nhóm T47</cp:lastModifiedBy>
  <cp:revision>1</cp:revision>
  <dcterms:created xsi:type="dcterms:W3CDTF">2026-10-23T03:02:06Z</dcterms:created>
  <dcterms:modified xsi:type="dcterms:W3CDTF">2026-10-23T03:02:06Z</dcterms:modified>
</cp:coreProperties>
</file>