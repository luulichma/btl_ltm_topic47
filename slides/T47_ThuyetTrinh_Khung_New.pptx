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85" r:id="rId5"/>
    <p:sldId id="282" r:id="rId6"/>
    <p:sldId id="286" r:id="rId7"/>
    <p:sldId id="257" r:id="rId8"/>
    <p:sldId id="258" r:id="rId9"/>
    <p:sldId id="283" r:id="rId10"/>
    <p:sldId id="260" r:id="rId11"/>
    <p:sldId id="261" r:id="rId12"/>
    <p:sldId id="262" r:id="rId13"/>
    <p:sldId id="263" r:id="rId14"/>
    <p:sldId id="264" r:id="rId15"/>
    <p:sldId id="265" r:id="rId16"/>
    <p:sldId id="266" r:id="rId17"/>
    <p:sldId id="284" r:id="rId18"/>
    <p:sldId id="268" r:id="rId19"/>
    <p:sldId id="269" r:id="rId20"/>
    <p:sldId id="270" r:id="rId21"/>
    <p:sldId id="271" r:id="rId22"/>
    <p:sldId id="259" r:id="rId23"/>
    <p:sldId id="267" r:id="rId24"/>
    <p:sldId id="272" r:id="rId25"/>
    <p:sldId id="273" r:id="rId26"/>
    <p:sldId id="274" r:id="rId27"/>
    <p:sldId id="275" r:id="rId28"/>
    <p:sldId id="276" r:id="rId29"/>
    <p:sldId id="277" r:id="rId30"/>
    <p:sldId id="278" r:id="rId31"/>
    <p:sldId id="279" r:id="rId32"/>
    <p:sldId id="280" r:id="rId33"/>
    <p:sldId id="281" r:id="rId34"/>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5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51"/>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7" Type="http://schemas.openxmlformats.org/officeDocument/2006/relationships/tableStyles" Target="tableStyles.xml"/><Relationship Id="rId36" Type="http://schemas.openxmlformats.org/officeDocument/2006/relationships/viewProps" Target="viewProps.xml"/><Relationship Id="rId35" Type="http://schemas.openxmlformats.org/officeDocument/2006/relationships/presProps" Target="presProps.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0,25'</a:t>
            </a:r>
            <a:endParaRPr lang="vi-VN"/>
          </a:p>
          <a:p>
            <a:endParaRPr lang="vi-VN"/>
          </a:p>
          <a:p>
            <a:r>
              <a:rPr lang="vi-VN"/>
              <a:t>Chào thầy và các bạn. Nhóm em trình bày đề tài T47 về kỹ thuật mạng cho game nhiều người chơi thời gian thực. Câu hỏi nhóm em muốn trả lời là: làm sao để chơi game qua mạng mà vẫn có cảm giác như chơi trên máy mình, khi mỗi gói tin mất cả trăm mili giây mới tới server.</a:t>
            </a:r>
            <a:endParaRPr lang="vi-VN"/>
          </a:p>
          <a:p>
            <a:endParaRPr lang="vi-VN"/>
          </a:p>
          <a:p>
            <a:r>
              <a:rPr lang="vi-VN"/>
              <a:t>— Ghi chú tập luyện:</a:t>
            </a:r>
            <a:endParaRPr lang="vi-VN"/>
          </a:p>
          <a:p>
            <a:r>
              <a:rPr lang="vi-VN"/>
              <a:t>• Vai: #1 mục lục, phần 1 và VĐ1 (slide 1–9) · #2 VĐ2, VĐ3 (slide 10–12) · #3 VĐ4, VĐ5, phần 3 và demo (slide 13–17).</a:t>
            </a:r>
            <a:endParaRPr lang="vi-VN"/>
          </a:p>
          <a:p>
            <a:r>
              <a:rPr lang="vi-VN"/>
              <a:t>• Chuyển người nói ở cuối slide 9 (#1 → #2) và cuối slide 12 (#2 → #3).</a:t>
            </a:r>
            <a:endParaRPr lang="vi-VN"/>
          </a:p>
          <a:p>
            <a:r>
              <a:rPr lang="vi-VN"/>
              <a:t>• Mục tiêu: kỹ thuật ~11' (kể cả 3 slide chuyển phần, mỗi slide ~5 giây), demo 5', Q&amp;A 3–5'. Bấm giờ theo cột cộng dồn; đến slide 12 mà quá 8' thì nói nhanh slide 13–14.</a:t>
            </a:r>
            <a:endParaRPr lang="vi-VN"/>
          </a:p>
          <a:p>
            <a:r>
              <a:rPr lang="vi-VN"/>
              <a:t>• Nhãn trên slide chỉ ghi người nói (#1/#2/#3); thời gian từng slide xem ở dòng đầu ghi chú.</a:t>
            </a:r>
            <a:endParaRPr lang="vi-VN"/>
          </a:p>
          <a:p>
            <a:r>
              <a:rPr lang="vi-VN"/>
              <a:t>1</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0,5'</a:t>
            </a:r>
            <a:endParaRPr lang="vi-VN"/>
          </a:p>
          <a:p>
            <a:endParaRPr lang="vi-VN"/>
          </a:p>
          <a:p>
            <a:r>
              <a:rPr lang="vi-VN"/>
              <a:t>Bài trình bày của nhóm em gồm 4 phần: vấn đề gốc là bài toán đường truyền mạng; các vấn đề con và giải pháp; áp dụng và demo; cuối cùng là phần hỏi đáp.</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endParaRPr lang="vi-VN"/>
          </a:p>
          <a:p>
            <a:endParaRPr lang="vi-VN"/>
          </a:p>
          <a:p>
            <a:r>
              <a:rPr lang="vi-VN"/>
              <a:t>Đầu tiên là vấn đề gốc: bài toán đường truyền mạng.</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a:t>
            </a:r>
            <a:endParaRPr lang="vi-VN"/>
          </a:p>
          <a:p>
            <a:endParaRPr lang="vi-VN"/>
          </a:p>
          <a:p>
            <a:r>
              <a:rPr lang="vi-VN"/>
              <a:t>Game nhiều người chơi thời gian thực là game có nhiều người cùng chơi trong một thế giới chung, và trạng thái thay đổi liên tục theo thao tác của họ: bắn súng, đối kháng, đua xe. Khác với cờ vua trực tuyến, ở đây từng phần trăm giây đều có ý nghĩa.</a:t>
            </a:r>
            <a:endParaRPr lang="vi-VN"/>
          </a:p>
          <a:p>
            <a:endParaRPr lang="vi-VN"/>
          </a:p>
          <a:p>
            <a:r>
              <a:rPr lang="vi-VN"/>
              <a:t>Nếu mọi người chơi trên cùng một máy thì bấm phím là thấy ngay. Nhưng qua mạng, mỗi thao tác mất 100 đến 200 mili giây mới tới máy khác, có lúc đến trễ, sai thứ tự hoặc mất hẳn. Bài toán của nhóm em là: làm sao chơi qua mạng mà vẫn có cảm giác như chơi trên cùng một máy.</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1,5'</a:t>
            </a:r>
            <a:endParaRPr lang="vi-VN"/>
          </a:p>
          <a:p>
            <a:endParaRPr lang="vi-VN"/>
          </a:p>
          <a:p>
            <a:r>
              <a:rPr lang="vi-VN"/>
              <a:t>Muốn vậy, game phải thoả hai yêu cầu cùng lúc. Một là độ phản hồi: bấm phím là nhân vật chạy ngay; trễ khoảng 100 mili giây là người chơi đã thấy ì. Hai là tính nhất quán: mọi người phải thấy cùng một thế giới, và không ai được tự ý sửa nó.</a:t>
            </a:r>
            <a:endParaRPr lang="vi-VN"/>
          </a:p>
          <a:p>
            <a:endParaRPr lang="vi-VN"/>
          </a:p>
          <a:p>
            <a:r>
              <a:rPr lang="vi-VN"/>
              <a:t>Trên một máy thì hai yêu cầu này không mâu thuẫn. Nhưng khi có mạng ở giữa, muốn nhất quán thì phải chờ thông tin đi hết đường, còn muốn phản hồi ngay thì không được chờ. Toàn bộ đề tài là cách dung hoà hai yêu cầu đó.</a:t>
            </a:r>
            <a:endParaRPr lang="vi-VN"/>
          </a:p>
          <a:p>
            <a:endParaRPr lang="vi-VN"/>
          </a:p>
          <a:p>
            <a:r>
              <a:rPr lang="vi-VN"/>
              <a:t>2</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1' · Cộng dồn: 2,5'</a:t>
            </a:r>
            <a:endParaRPr lang="vi-VN"/>
          </a:p>
          <a:p>
            <a:endParaRPr lang="vi-VN"/>
          </a:p>
          <a:p>
            <a:r>
              <a:rPr lang="vi-VN"/>
              <a:t>Vấn đề gốc nằm ở mạng. Thứ nhất là độ trễ: nó có giới hạn vật lý nên không bao giờ về 0; từ Việt Nam sang Singapore đo thực tế khoảng 30 đến 60 mili giây. Thứ hai, độ trễ không đều: gói gửi đều đặn nhưng đến lúc nhanh lúc chậm, gọi là dao động độ trễ. Thứ ba, gói có thể mất hoặc đến sai thứ tự.</a:t>
            </a:r>
            <a:endParaRPr lang="vi-VN"/>
          </a:p>
          <a:p>
            <a:endParaRPr lang="vi-VN"/>
          </a:p>
          <a:p>
            <a:r>
              <a:rPr lang="vi-VN"/>
              <a:t>Hai giao thức xử lý chuyện này khác nhau. TCP đảm bảo thứ tự, nên khi mất một gói nó giữ lại mọi gói phía sau để chờ gửi lại; hiện tượng này gọi là nghẽn đầu hàng. UDP thì gói nào mất là mất, các gói sau vẫn đến bình thường.</a:t>
            </a:r>
            <a:endParaRPr lang="vi-VN"/>
          </a:p>
          <a:p>
            <a:endParaRPr lang="vi-VN"/>
          </a:p>
          <a:p>
            <a:r>
              <a:rPr lang="vi-VN"/>
              <a:t>Những hiện tượng này không thể loại bỏ, chỉ có thể che giấu. Nhóm em chia bài toán thành 5 vấn đề con nối thành chuỗi: giải quyết vấn đề trước thì lộ ra vấn đề sau. Với mỗi vấn đề, nhóm em so sánh vài hướng theo hai tiêu chí chính là độ phản hồi và tính nhất quán, rồi chọn.</a:t>
            </a:r>
            <a:endParaRPr lang="vi-VN"/>
          </a:p>
          <a:p>
            <a:endParaRPr lang="vi-VN"/>
          </a:p>
          <a:p>
            <a:r>
              <a:rPr lang="vi-VN"/>
              <a:t>— VIỆC CẦN LÀM: thay số liệu mất gói "(cần đo lại)" bằng số đo thật trước buổi trình bày.</a:t>
            </a:r>
            <a:endParaRPr lang="vi-VN"/>
          </a:p>
          <a:p>
            <a:r>
              <a:rPr lang="vi-VN"/>
              <a:t>3</a:t>
            </a:r>
            <a:endParaRPr lang="vi-VN"/>
          </a:p>
          <a:p>
            <a:r>
              <a:rPr lang="vi-VN"/>
              <a:t>— Bị hỏi phép tính giới hạn vật lý: Hà Nội – Singapore ≈ 2.200 km, cáp quang ≈ 200.000 km/s → RTT tối thiểu ≈ 22 ms (slide dự phòng D1).</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endParaRPr lang="vi-VN"/>
          </a:p>
          <a:p>
            <a:endParaRPr lang="vi-VN"/>
          </a:p>
          <a:p>
            <a:r>
              <a:rPr lang="vi-VN"/>
              <a:t>Phần hai: các vấn đề con và giải pháp. Với mỗi vấn đề, nhóm em đi theo thứ tự: vấn đề, các hướng giải pháp, so sánh, rồi chọn.</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3,25'</a:t>
            </a:r>
            <a:endParaRPr lang="vi-VN"/>
          </a:p>
          <a:p>
            <a:endParaRPr lang="vi-VN"/>
          </a:p>
          <a:p>
            <a:r>
              <a:rPr lang="vi-VN"/>
              <a:t>Vấn đề đầu tiên: khi mỗi máy giữ một bản sao thế giới, ai được quyền quyết định bản nào đúng?</a:t>
            </a:r>
            <a:endParaRPr lang="vi-VN"/>
          </a:p>
          <a:p>
            <a:endParaRPr lang="vi-VN"/>
          </a:p>
          <a:p>
            <a:r>
              <a:rPr lang="vi-VN"/>
              <a:t>Cho client tự quyết thì phản hồi rất tốt, nhưng client chạy trên máy người chơi: sửa gói tin là dịch chuyển được, chạy nhanh gấp đôi được, tự cộng điểm được. Đồng bộ theo bước kiểu game chiến thuật thì phải chờ người chậm nhất.</a:t>
            </a:r>
            <a:endParaRPr lang="vi-VN"/>
          </a:p>
          <a:p>
            <a:endParaRPr lang="vi-VN"/>
          </a:p>
          <a:p>
            <a:endParaRPr lang="vi-VN"/>
          </a:p>
          <a:p>
            <a:r>
              <a:rPr lang="vi-VN"/>
              <a:t>Nhóm em chọn server quyết định: client chỉ được nói "tôi bấm phím gì", còn kết quả do server tính.</a:t>
            </a:r>
            <a:endParaRPr lang="vi-VN"/>
          </a:p>
          <a:p>
            <a:r>
              <a:rPr lang="vi-VN"/>
              <a:t>5</a:t>
            </a:r>
            <a:endParaRPr lang="vi-VN"/>
          </a:p>
          <a:p>
            <a:endParaRPr lang="vi-VN"/>
          </a:p>
          <a:p>
            <a:r>
              <a:rPr lang="vi-VN"/>
              <a:t>— Bị hỏi sâu về đồng bộ theo bước / ngang hàng, tính tất định: mở slide dự phòng D9.</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4'</a:t>
            </a:r>
            <a:endParaRPr lang="vi-VN"/>
          </a:p>
          <a:p>
            <a:endParaRPr lang="vi-VN"/>
          </a:p>
          <a:p>
            <a:r>
              <a:rPr lang="vi-VN"/>
              <a:t>Server chạy mô phỏng theo nhịp cố định, 30 nhịp mỗi giây, nên mô phỏng lặp lại được và hai bên có chung một đồng hồ là số nhịp. Mỗi nhịp server chỉ xử lý tối đa một lệnh cho mỗi người, nên gửi dồn dập cũng không chạy nhanh hơn.</a:t>
            </a:r>
            <a:endParaRPr lang="vi-VN"/>
          </a:p>
          <a:p>
            <a:endParaRPr lang="vi-VN"/>
          </a:p>
          <a:p>
            <a:r>
              <a:rPr lang="vi-VN"/>
              <a:t>Dữ liệu chuyển động đi bằng UDP, vì vị trí cũ 200 mili giây thì gửi lại cũng vô ích. Đăng nhập và kết quả quan trọng đi bằng TCP, vì bắt buộc phải tới nơi.</a:t>
            </a:r>
            <a:endParaRPr lang="vi-VN"/>
          </a:p>
          <a:p>
            <a:endParaRPr lang="vi-VN"/>
          </a:p>
          <a:p>
            <a:r>
              <a:rPr lang="vi-VN"/>
              <a:t>Nhưng có một cái giá: nhìn dòng thời gian thì thấy, bấm phím xong phải chờ khoảng một RTT mới thấy nhân vật chạy. Phần này bạn [#2] trình bày tiếp.</a:t>
            </a:r>
            <a:endParaRPr lang="vi-VN"/>
          </a:p>
          <a:p>
            <a:endParaRPr lang="vi-VN"/>
          </a:p>
          <a:p>
            <a:r>
              <a:rPr lang="vi-VN"/>
              <a:t>— Bị hỏi cơ chế bổ sung trên UDP (số thứ tự, xác nhận lastProcessedSeq, gửi dư 2–3 lệnh trước): mở D4, D5.</a:t>
            </a:r>
            <a:endParaRPr lang="vi-VN"/>
          </a:p>
          <a:p>
            <a:r>
              <a:rPr lang="vi-VN"/>
              <a:t>6</a:t>
            </a:r>
            <a:endParaRPr lang="vi-VN"/>
          </a:p>
          <a:p>
            <a:r>
              <a:rPr lang="vi-VN"/>
              <a:t>— CHUYỂN NGƯỜI NÓI: #1 → #2.</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5,25'</a:t>
            </a:r>
            <a:endParaRPr lang="vi-VN"/>
          </a:p>
          <a:p>
            <a:endParaRPr lang="vi-VN"/>
          </a:p>
          <a:p>
            <a:r>
              <a:rPr lang="vi-VN"/>
              <a:t>Với RTT 200 mili giây, mỗi lần bấm phím phải chờ 200 đến gần 300 mili giây. Gian lận đã bị chặn, nhưng game không chơi được.</a:t>
            </a:r>
            <a:endParaRPr lang="vi-VN"/>
          </a:p>
          <a:p>
            <a:endParaRPr lang="vi-VN"/>
          </a:p>
          <a:p>
            <a:r>
              <a:rPr lang="vi-VN"/>
              <a:t>Có thể chấp nhận chờ, hoặc che bằng hoạt ảnh lấy đà, nhưng di chuyển bằng WASD cần phản hồi ngay. Nhóm em chọn dự đoán phía client. Hầu như lúc nào server cũng đồng ý với lệnh của mình, nên client cứ tự áp lệnh luôn, không chờ. Điều kiện là client phải tính ra đúng kết quả như server, nên hai bên dùng chung một hàm mô phỏng. Trong demo, đó là file simulation.js chạy chung cho server Node.js và trình duyệt; bản cuối dùng chung C# cho Unity và .NET.</a:t>
            </a:r>
            <a:endParaRPr lang="vi-VN"/>
          </a:p>
          <a:p>
            <a:endParaRPr lang="vi-VN"/>
          </a:p>
          <a:p>
            <a:r>
              <a:rPr lang="vi-VN"/>
              <a:t>Nhưng nếu chỉ dự đoán thì có vấn đề. Ảnh trạng thái từ server phản ánh quá khứ. Client đang ở x bằng 2, server báo 0,8; ghi đè vào thì nhân vật bị kéo giật lùi. Hiện tượng này gọi là giật ngược.</a:t>
            </a:r>
            <a:endParaRPr lang="vi-VN"/>
          </a:p>
          <a:p>
            <a:r>
              <a:rPr lang="vi-VN"/>
              <a:t>7</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6,5'</a:t>
            </a:r>
            <a:endParaRPr lang="vi-VN"/>
          </a:p>
          <a:p>
            <a:endParaRPr lang="vi-VN"/>
          </a:p>
          <a:p>
            <a:r>
              <a:rPr lang="vi-VN"/>
              <a:t>Cách sửa là đối chiếu với server. Client giữ lại mọi lệnh đã gửi mà server chưa xác nhận. Server gửi ảnh trạng thái kèm số thứ tự lệnh cuối cùng nó đã xử lý.</a:t>
            </a:r>
            <a:endParaRPr lang="vi-VN"/>
          </a:p>
          <a:p>
            <a:endParaRPr lang="vi-VN"/>
          </a:p>
          <a:p>
            <a:r>
              <a:rPr lang="vi-VN"/>
              <a:t>Ví dụ: client đã gửi 10 lệnh, mỗi lệnh đi 0,2 đơn vị, đang dự đoán ở x bằng 2. Server báo "x bằng 0,8, đã xử lý tới lệnh 4". Client đặt lại x bằng 0,8, bỏ lệnh 1 đến 4, chạy lại 6 lệnh còn lại, và được đúng 2,0. Người chơi không thấy gì.</a:t>
            </a:r>
            <a:endParaRPr lang="vi-VN"/>
          </a:p>
          <a:p>
            <a:endParaRPr lang="vi-VN"/>
          </a:p>
          <a:p>
            <a:r>
              <a:rPr lang="vi-VN"/>
              <a:t>Chỉ khi dự đoán thật sự sai, ví dụ server thấy có va chạm mà client không biết, thì vị trí mới thay đổi; lệch nhỏ thì làm mượt trong vài khung hình. Trong demo, các bạn sẽ thấy số lệnh trong bộ đệm luôn xấp xỉ RTT chia độ dài một nhịp.</a:t>
            </a:r>
            <a:endParaRPr lang="vi-VN"/>
          </a:p>
          <a:p>
            <a:r>
              <a:rPr lang="vi-VN"/>
              <a:t>8</a:t>
            </a:r>
            <a:endParaRPr lang="vi-VN"/>
          </a:p>
          <a:p>
            <a:endParaRPr lang="vi-VN"/>
          </a:p>
          <a:p>
            <a:r>
              <a:rPr lang="vi-VN"/>
              <a:t>— Đoạn code trên slide là code thật của demo (hàm xử lý ảnh trạng thái ở client).</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1,5' · Cộng dồn: 8'</a:t>
            </a:r>
            <a:endParaRPr lang="vi-VN"/>
          </a:p>
          <a:p>
            <a:endParaRPr lang="vi-VN"/>
          </a:p>
          <a:p>
            <a:r>
              <a:rPr lang="vi-VN"/>
              <a:t>Dự đoán chỉ dùng được cho chính mình, vì mình không biết đối thủ sắp bấm gì. Thông tin về đối thủ chỉ đến qua ảnh trạng thái, mà ảnh thì thưa, không đều và có thể mất. Vẽ theo ảnh mới nhất thì đối thủ đứng yên rồi nhảy cóc. Ngoại suy theo vận tốc thì sai mỗi khi đối thủ đổi hướng.</a:t>
            </a:r>
            <a:endParaRPr lang="vi-VN"/>
          </a:p>
          <a:p>
            <a:endParaRPr lang="vi-VN"/>
          </a:p>
          <a:p>
            <a:r>
              <a:rPr lang="vi-VN"/>
              <a:t>Nhóm em chọn nội suy: cố ý vẽ đối thủ lùi lại một khoảng, ví dụ 100 mili giây. Nhờ lùi lại, ta luôn có hai ảnh trạng thái kẹp hai bên thời điểm vẽ, và chỉ cần nội suy đường thẳng giữa chúng. Khoảng lùi phải ít nhất bằng hai chu kỳ gửi ảnh cộng dao động độ trễ, để mất một gói vẫn còn dữ liệu.</a:t>
            </a:r>
            <a:endParaRPr lang="vi-VN"/>
          </a:p>
          <a:p>
            <a:endParaRPr lang="vi-VN"/>
          </a:p>
          <a:p>
            <a:r>
              <a:rPr lang="vi-VN"/>
              <a:t>Cái giá là ta luôn thấy đối thủ ở quá khứ. Như vậy trên màn hình mỗi người có hai mốc thời gian: mình ở hiện tại, đối thủ ở quá khứ. Khi hai người tranh cùng một thứ thì sao? Bạn [#3] trình bày tiếp.</a:t>
            </a:r>
            <a:endParaRPr lang="vi-VN"/>
          </a:p>
          <a:p>
            <a:endParaRPr lang="vi-VN"/>
          </a:p>
          <a:p>
            <a:r>
              <a:rPr lang="vi-VN"/>
              <a:t>— CHUYỂN NGƯỜI NÓI: #2 → #3.</a:t>
            </a:r>
            <a:endParaRPr lang="vi-VN"/>
          </a:p>
          <a:p>
            <a:r>
              <a:rPr lang="vi-VN"/>
              <a:t>9</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1,5' · Cộng dồn: 9,5'</a:t>
            </a:r>
            <a:endParaRPr lang="vi-VN"/>
          </a:p>
          <a:p>
            <a:endParaRPr lang="vi-VN"/>
          </a:p>
          <a:p>
            <a:r>
              <a:rPr lang="vi-VN"/>
              <a:t>Ví dụ kinh điển là game bắn súng: trên màn hình tôi ngắm trúng đầu, nhưng thứ tôi thấy là đối thủ của 200 mili giây trước. Lệnh bắn tới server thì đối thủ đã đi chỗ khác.</a:t>
            </a:r>
            <a:endParaRPr lang="vi-VN"/>
          </a:p>
          <a:p>
            <a:endParaRPr lang="vi-VN"/>
          </a:p>
          <a:p>
            <a:r>
              <a:rPr lang="vi-VN"/>
              <a:t>Với vật dùng chung cũng vậy. A ping 40, B ping 200, trên màn hình B chạm vật trước. Nhưng gói của A tới server nhanh hơn, nên nếu xử theo thứ tự gói đến thì A luôn thắng. Để client tự quyết thì quay lại chuyện gian lận.</a:t>
            </a:r>
            <a:endParaRPr lang="vi-VN"/>
          </a:p>
          <a:p>
            <a:endParaRPr lang="vi-VN"/>
          </a:p>
          <a:p>
            <a:r>
              <a:rPr lang="vi-VN"/>
              <a:t>Giải pháp là bù trễ. Server lưu lịch sử trạng thái khoảng một giây. Mỗi hành động gửi kèm thời điểm người chơi đang nhìn thấy. Server tua lại về đúng lúc đó, kiểm tra, rồi mới phân xử. Để chống gửi thời điểm giả, server giới hạn chỉ tua tối đa khoảng 200 mili giây.</a:t>
            </a:r>
            <a:endParaRPr lang="vi-VN"/>
          </a:p>
          <a:p>
            <a:endParaRPr lang="vi-VN"/>
          </a:p>
          <a:p>
            <a:r>
              <a:rPr lang="vi-VN"/>
              <a:t>Đánh đổi là công bằng cho người hành động thì người kia chịu thiệt: trên màn hình mình đã chạy đi rồi, vẫn bị tính là bị bắt. Không cách nào làm cả hai cùng thấy công bằng.</a:t>
            </a:r>
            <a:endParaRPr lang="vi-VN"/>
          </a:p>
          <a:p>
            <a:r>
              <a:rPr lang="vi-VN"/>
              <a:t>10</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0,75' · Cộng dồn: 10,25'</a:t>
            </a:r>
            <a:endParaRPr lang="vi-VN"/>
          </a:p>
          <a:p>
            <a:endParaRPr lang="vi-VN"/>
          </a:p>
          <a:p>
            <a:r>
              <a:rPr lang="vi-VN"/>
              <a:t>Kết quả phân xử về muộn, mà client đã cho người chơi cầm vật từ trước, vì không muốn bắt họ chờ. Nếu thua thì sao? Client quay về trạng thái đã được xác nhận, mô phỏng lại với thông tin đúng, và người chơi thấy vật bật ra khỏi tay. Đó là quay lui.</a:t>
            </a:r>
            <a:endParaRPr lang="vi-VN"/>
          </a:p>
          <a:p>
            <a:endParaRPr lang="vi-VN"/>
          </a:p>
          <a:p>
            <a:r>
              <a:rPr lang="vi-VN"/>
              <a:t>Đối chiếu ở VĐ2 thực chất là trường hợp riêng của quay lui, chỉ áp cho di chuyển của chính mình.</a:t>
            </a:r>
            <a:endParaRPr lang="vi-VN"/>
          </a:p>
          <a:p>
            <a:r>
              <a:rPr lang="vi-VN"/>
              <a:t>11</a:t>
            </a:r>
            <a:endParaRPr lang="vi-VN"/>
          </a:p>
          <a:p>
            <a:endParaRPr lang="vi-VN"/>
          </a:p>
          <a:p>
            <a:r>
              <a:rPr lang="vi-VN"/>
              <a:t>— Bị hỏi GGPO / tính tất định: mở D8, D9. Ý chính: quay lui ngang hàng cần mô phỏng giống nhau đến từng bit giữa các máy; nhóm em có server sửa định kỳ nên chỉ cần gần giống.</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Slide chuyển phần (~5 giây)</a:t>
            </a:r>
            <a:endParaRPr lang="vi-VN"/>
          </a:p>
          <a:p>
            <a:endParaRPr lang="vi-VN"/>
          </a:p>
          <a:p>
            <a:r>
              <a:rPr lang="vi-VN"/>
              <a:t>Phần ba: nhóm em áp dụng các kỹ thuật này vào một game cụ thể, rồi demo.</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0,5' · Cộng dồn: 10,75'</a:t>
            </a:r>
            <a:endParaRPr lang="vi-VN"/>
          </a:p>
          <a:p>
            <a:endParaRPr lang="vi-VN"/>
          </a:p>
          <a:p>
            <a:r>
              <a:rPr lang="vi-VN"/>
              <a:t>Nhóm em sẽ áp dụng các kỹ thuật này vào game xếp đơn hàng siêu thị cho 2 người. Game có di chuyển liên tục, nên cần dự đoán và nội suy. Món hàng hiếm chỉ có một cái, hai người phải tranh nhau, nên cần bù trễ và quay lui.</a:t>
            </a:r>
            <a:endParaRPr lang="vi-VN"/>
          </a:p>
          <a:p>
            <a:endParaRPr lang="vi-VN"/>
          </a:p>
          <a:p>
            <a:r>
              <a:rPr lang="vi-VN"/>
              <a:t>Tóm lại, không kỹ thuật nào xoá được độ trễ, chỉ chuyển nó sang chỗ ít bị để ý hơn: mình đi trước nhờ dự đoán, đối thủ đi sau nhờ nội suy, và server bù lại sự lệch thời gian khi hai bên tương tác.</a:t>
            </a:r>
            <a:endParaRPr lang="vi-VN"/>
          </a:p>
          <a:p>
            <a:endParaRPr lang="vi-VN"/>
          </a:p>
          <a:p>
            <a:r>
              <a:rPr lang="vi-VN"/>
              <a:t>Hôm nay nhóm em demo bản chứng minh ý tưởng cho phần di chuyển: server Node.js thật, trình duyệt kết nối qua WebSocket, còn mạng xấu được giả lập để thấy rõ hiệu ứng.</a:t>
            </a:r>
            <a:endParaRPr lang="vi-VN"/>
          </a:p>
          <a:p>
            <a:endParaRPr lang="vi-VN"/>
          </a:p>
          <a:p>
            <a:r>
              <a:rPr lang="vi-VN"/>
              <a:t>— Bị hỏi vì sao demo dùng JavaScript mà bản cuối dùng C#: demo cần làm nhanh và chạy ngay trên trình duyệt. Kỹ thuật netcode không phụ thuộc ngôn ngữ, và ý tưởng dùng chung code mô phỏng vẫn giữ nguyên (simulation.js ↔ Simulation.Step).</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dẫn, #2 điều khiển client B · Thời gian: 5' · Cộng dồn: ~16'</a:t>
            </a:r>
            <a:endParaRPr lang="vi-VN"/>
          </a:p>
          <a:p>
            <a:endParaRPr lang="vi-VN"/>
          </a:p>
          <a:p>
            <a:r>
              <a:rPr lang="vi-VN"/>
              <a:t>Màn hình chia 3 khung: Client A · Server · Client B. Thanh trượt chỉnh RTT, dao động độ trễ, mất gói, tần số gửi ảnh. Phím 0–5 chuyển ngay sang cấu hình của từng cảnh, không kéo thanh trượt trên sân khấu. Mỗi cảnh khoảng 45 giây.</a:t>
            </a:r>
            <a:endParaRPr lang="vi-VN"/>
          </a:p>
          <a:p>
            <a:endParaRPr lang="vi-VN"/>
          </a:p>
          <a:p>
            <a:r>
              <a:rPr lang="vi-VN"/>
              <a:t>Cảnh 0 — Client tự quyết, RTT 100 ms. Thao tác: bấm nút "dịch chuyển".</a:t>
            </a:r>
            <a:endParaRPr lang="vi-VN"/>
          </a:p>
          <a:p>
            <a:r>
              <a:rPr lang="vi-VN"/>
              <a:t>"Đây là cách client tự quyết. Em giả lập sửa gói tin, ô của A nhảy sang đây, và server lẫn B đều chấp nhận."</a:t>
            </a:r>
            <a:endParaRPr lang="vi-VN"/>
          </a:p>
          <a:p>
            <a:endParaRPr lang="vi-VN"/>
          </a:p>
          <a:p>
            <a:r>
              <a:rPr lang="vi-VN"/>
              <a:t>Cảnh 1 — Server quyết định, RTT 200 ms, tắt hết. Thao tác: A chạy qua lại; bấm lại "dịch chuyển".</a:t>
            </a:r>
            <a:endParaRPr lang="vi-VN"/>
          </a:p>
          <a:p>
            <a:r>
              <a:rPr lang="vi-VN"/>
              <a:t>"Chuyển sang server quyết định: dịch chuyển hết tác dụng, khung server đếm số gói bị từ chối. Nhưng thầy để ý, em bấm phím khoảng 0,2 giây sau ô mới chạy."</a:t>
            </a:r>
            <a:endParaRPr lang="vi-VN"/>
          </a:p>
          <a:p>
            <a:endParaRPr lang="vi-VN"/>
          </a:p>
          <a:p>
            <a:r>
              <a:rPr lang="vi-VN"/>
              <a:t>Cảnh 2 — Bật dự đoán. Thao tác: chạy rồi dừng đột ngột.</a:t>
            </a:r>
            <a:endParaRPr lang="vi-VN"/>
          </a:p>
          <a:p>
            <a:r>
              <a:rPr lang="vi-VN"/>
              <a:t>"Bật dự đoán: phản hồi ngay. Nhưng khi dừng lại, ô bị kéo giật lùi, đó là giật ngược."</a:t>
            </a:r>
            <a:endParaRPr lang="vi-VN"/>
          </a:p>
          <a:p>
            <a:endParaRPr lang="vi-VN"/>
          </a:p>
          <a:p>
            <a:r>
              <a:rPr lang="vi-VN"/>
              <a:t>Cảnh 3 — Bật đối chiếu. Thao tác: lặp lại.</a:t>
            </a:r>
            <a:endParaRPr lang="vi-VN"/>
          </a:p>
          <a:p>
            <a:r>
              <a:rPr lang="vi-VN"/>
              <a:t>"Bật đối chiếu: mượt và khớp với bóng xám là vị trí theo server. Bộ đệm đang có khoảng 6 lệnh, đúng bằng RTT chia nhịp."</a:t>
            </a:r>
            <a:endParaRPr lang="vi-VN"/>
          </a:p>
          <a:p>
            <a:endParaRPr lang="vi-VN"/>
          </a:p>
          <a:p>
            <a:r>
              <a:rPr lang="vi-VN"/>
              <a:t>Cảnh 4 — Nhìn khung B; gửi ảnh 10 lần/giây, dao động 50 ms. Thao tác: A chạy vòng tròn.</a:t>
            </a:r>
            <a:endParaRPr lang="vi-VN"/>
          </a:p>
          <a:p>
            <a:r>
              <a:rPr lang="vi-VN"/>
              <a:t>"Giờ nhìn sang màn hình của B: ô của A giật từng nấc vì ảnh trạng thái đến thưa và không đều."</a:t>
            </a:r>
            <a:endParaRPr lang="vi-VN"/>
          </a:p>
          <a:p>
            <a:endParaRPr lang="vi-VN"/>
          </a:p>
          <a:p>
            <a:r>
              <a:rPr lang="vi-VN"/>
              <a:t>Cảnh 5 — Bật nội suy (độ trễ nội suy tự tính ≈ 250 ms); sau đó tăng lên 20 lần/giây. Thao tác: lặp lại.</a:t>
            </a:r>
            <a:endParaRPr lang="vi-VN"/>
          </a:p>
          <a:p>
            <a:r>
              <a:rPr lang="vi-VN"/>
              <a:t>"Bật nội suy: mượt, nhưng so với khung server thì ô của A trễ hơn, đó là đánh đổi. Tăng tần số gửi ảnh lên 20 thì độ trễ giảm còn khoảng 150 mili giây."</a:t>
            </a:r>
            <a:endParaRPr lang="vi-VN"/>
          </a:p>
          <a:p>
            <a:endParaRPr lang="vi-VN"/>
          </a:p>
          <a:p>
            <a:r>
              <a:rPr lang="vi-VN"/>
              <a:t>PHƯƠNG ÁN DỰ PHÒNG: quay sẵn video toàn bộ 6 cảnh. Demo lỗi thì chuyển sang video ngay, không sửa lỗi trên sân khấu.</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cả nhóm · Thời gian: 3–5' · Cộng dồn: 19–21'</a:t>
            </a:r>
            <a:endParaRPr lang="vi-VN"/>
          </a:p>
          <a:p>
            <a:endParaRPr lang="vi-VN"/>
          </a:p>
          <a:p>
            <a:r>
              <a:rPr lang="vi-VN"/>
              <a:t>Bị hỏi sâu thì mở slide dự phòng D1–D10 (phía sau slide này). Câu trả lời mẫu: NoiDung_ChiTiet.md, phụ lục A. Bảng thuật ngữ Việt – Anh: phụ lục B.</a:t>
            </a:r>
            <a:endParaRPr lang="vi-VN"/>
          </a:p>
          <a:p>
            <a:r>
              <a:rPr lang="vi-VN"/>
              <a:t>15</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Các slide D1–D10 là khung: điền nội dung từ NoiDung_ChiTiet.md theo mục ghi trên từng slide.</a:t>
            </a:r>
            <a:endParaRPr lang="vi-VN"/>
          </a:p>
          <a:p>
            <a:r>
              <a:rPr lang="vi-VN"/>
              <a:t>16</a:t>
            </a:r>
            <a:endParaRPr lang="vi-VN"/>
          </a:p>
          <a:p>
            <a:r>
              <a:rPr lang="vi-VN"/>
              <a:t>Thứ tự phần dự phòng: “Chuỗi 5 vấn đề con”, “Tổng kết”, rồi D1–D10.</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(không trình bày). Ý chính đã gộp vào slide 3. Mở khi cần giải thích lại mạch 5 vấn đề con hoặc tiêu chí chọn giải pháp.</a:t>
            </a:r>
            <a:endParaRPr lang="vi-VN"/>
          </a:p>
          <a:p>
            <a:endParaRPr lang="vi-VN"/>
          </a:p>
          <a:p>
            <a:r>
              <a:rPr lang="vi-VN"/>
              <a:t>Nhóm em chia vấn đề gốc thành 5 vấn đề con, nối thành chuỗi: giải quyết xong vấn đề trước thì lộ ra vấn đề sau. Với mỗi vấn đề, nhóm em xét vài hướng giải pháp, so sánh, rồi chọn. Hai tiêu chí quan trọng nhất là độ phản hồi và tính nhất quán, đúng hai yêu cầu vừa nói. Ngoài ra còn xét khả năng chịu mạng xấu, độ phức tạp và độ phù hợp với loại game.</a:t>
            </a:r>
            <a:endParaRPr lang="vi-VN"/>
          </a:p>
          <a:p>
            <a:r>
              <a:rPr lang="vi-VN"/>
              <a:t>4</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(không trình bày). Câu chốt đã chuyển lên slide 11. Mở khi thầy hỏi tóm tắt các đánh đổi.</a:t>
            </a:r>
            <a:endParaRPr lang="vi-VN"/>
          </a:p>
          <a:p>
            <a:endParaRPr lang="vi-VN"/>
          </a:p>
          <a:p>
            <a:r>
              <a:rPr lang="vi-VN"/>
              <a:t>Tóm lại, không có kỹ thuật nào xoá được độ trễ. Mỗi kỹ thuật chuyển độ trễ sang chỗ người chơi ít để ý hơn: mình đi trước nhờ dự đoán, đối thủ đi sau nhờ nội suy, và server bù lại sự lệch thời gian khi hai bên tương tác.</a:t>
            </a:r>
            <a:endParaRPr lang="vi-VN"/>
          </a:p>
          <a:p>
            <a:endParaRPr lang="vi-VN"/>
          </a:p>
          <a:p>
            <a:r>
              <a:rPr lang="vi-VN"/>
              <a:t>12</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D1: chỉ mở khi bị hỏi “Độ trễ đến từ đâu, giảm được không?”. Nguồn: NoiDung_ChiTiet.md, Mục 2.1; câu trả lời mẫu ở phụ lục A.</a:t>
            </a:r>
            <a:endParaRPr lang="en-US"/>
          </a:p>
          <a:p>
            <a:r>
              <a:rPr lang="en-US"/>
              <a:t>17</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D2: chỉ mở khi bị hỏi “Sao không dùng TCP cho tất cả, tắt Nagle là xong?”. Nguồn: NoiDung_ChiTiet.md, Mục 2.3; câu trả lời mẫu ở phụ lục A.</a:t>
            </a:r>
            <a:endParaRPr lang="en-US"/>
          </a:p>
          <a:p>
            <a:r>
              <a:rPr lang="en-US"/>
              <a:t>18</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D3: chỉ mở khi bị hỏi “Chọn 30 nhịp/giây thế nào? Client 144 Hz thì sao?”. Nguồn: NoiDung_ChiTiet.md, VĐ1; câu trả lời mẫu ở phụ lục A.</a:t>
            </a:r>
            <a:endParaRPr lang="en-US"/>
          </a:p>
          <a:p>
            <a:r>
              <a:rPr lang="en-US"/>
              <a:t>19</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D4: chỉ mở khi bị hỏi “Lệnh đến không đều thì server làm gì?”. Nguồn: NoiDung_ChiTiet.md, VĐ1; câu trả lời mẫu ở phụ lục A.</a:t>
            </a:r>
            <a:endParaRPr lang="en-US"/>
          </a:p>
          <a:p>
            <a:r>
              <a:rPr lang="en-US"/>
              <a:t>20</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D5: chỉ mở khi bị hỏi “Định dạng gói tin thế nào?”. Nguồn: NoiDung_ChiTiet.md, Mục 5; câu trả lời mẫu ở phụ lục A.</a:t>
            </a:r>
            <a:endParaRPr lang="en-US"/>
          </a:p>
          <a:p>
            <a:r>
              <a:rPr lang="en-US"/>
              <a:t>21</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D6: chỉ mở khi bị hỏi “Độ trễ nội suy chọn bao nhiêu? Mất nhiều gói thì sao?”. Nguồn: NoiDung_ChiTiet.md, VĐ3; câu trả lời mẫu ở phụ lục A.</a:t>
            </a:r>
            <a:endParaRPr lang="en-US"/>
          </a:p>
          <a:p>
            <a:r>
              <a:rPr lang="en-US"/>
              <a:t>22</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D7: chỉ mở khi bị hỏi “Hai người cùng nhặt thì xử thế nào? Gửi nhịp giả thì sao?”. Nguồn: NoiDung_ChiTiet.md, VĐ4; câu trả lời mẫu ở phụ lục A.</a:t>
            </a:r>
            <a:endParaRPr lang="en-US"/>
          </a:p>
          <a:p>
            <a:r>
              <a:rPr lang="en-US"/>
              <a:t>23</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D8: chỉ mở khi bị hỏi “Tính tất định ảnh hưởng thế nào?”. Nguồn: NoiDung_ChiTiet.md, VĐ5; câu trả lời mẫu ở phụ lục A.</a:t>
            </a:r>
            <a:endParaRPr lang="en-US"/>
          </a:p>
          <a:p>
            <a:r>
              <a:rPr lang="en-US"/>
              <a:t>24</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D9: chỉ mở khi bị hỏi “Sao không làm ngang hàng?”. Nguồn: NoiDung_ChiTiet.md, VĐ1, VĐ5; câu trả lời mẫu ở phụ lục A.</a:t>
            </a:r>
            <a:endParaRPr lang="en-US"/>
          </a:p>
          <a:p>
            <a:r>
              <a:rPr lang="en-US"/>
              <a:t>25</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D10: chỉ mở khi bị hỏi “Demo có phản ánh mạng thật không?”.</a:t>
            </a:r>
            <a:endParaRPr lang="vi-VN"/>
          </a:p>
          <a:p>
            <a:endParaRPr lang="vi-VN"/>
          </a:p>
          <a:p>
            <a:r>
              <a:rPr lang="vi-VN"/>
              <a:t>Ý chính: demo dùng server Node.js và WebSocket thật. Trình duyệt không mở được socket UDP, nên kênh là TCP; độ trễ, dao động độ trễ và mất gói được giả lập ở server (netsim.js) cho từng chiều của từng kết nối, mỗi gói trễ ngẫu nhiên nên có thể đến sai thứ tự giống UDP.</a:t>
            </a:r>
            <a:endParaRPr lang="vi-VN"/>
          </a:p>
          <a:p>
            <a:endParaRPr lang="vi-VN"/>
          </a:p>
          <a:p>
            <a:r>
              <a:rPr lang="vi-VN"/>
              <a:t>Chạy trên cùng một máy thì RTT ≈ 0, nên dù dùng socket nào cũng phải giả lập thì mới thấy được hiệu ứng. Bản cuối thay bằng UDP thật; code kỹ thuật netcode không đổi.</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Times New Roman" panose="020206030504050203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Times New Roman" panose="020206030504050203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Times New Roman" panose="020206030504050203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7.xml"/><Relationship Id="rId2" Type="http://schemas.openxmlformats.org/officeDocument/2006/relationships/image" Target="../media/image3.png"/><Relationship Id="rId1" Type="http://schemas.openxmlformats.org/officeDocument/2006/relationships/image" Target="../media/image1.jpe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7.xml"/><Relationship Id="rId2" Type="http://schemas.openxmlformats.org/officeDocument/2006/relationships/image" Target="../media/image4.png"/><Relationship Id="rId1" Type="http://schemas.openxmlformats.org/officeDocument/2006/relationships/image" Target="../media/image1.jpe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1.jpe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7.xml"/><Relationship Id="rId2" Type="http://schemas.openxmlformats.org/officeDocument/2006/relationships/image" Target="../media/image6.png"/><Relationship Id="rId1" Type="http://schemas.openxmlformats.org/officeDocument/2006/relationships/image" Target="../media/image1.jpe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7.xml"/><Relationship Id="rId2" Type="http://schemas.openxmlformats.org/officeDocument/2006/relationships/image" Target="../media/image7.png"/><Relationship Id="rId1" Type="http://schemas.openxmlformats.org/officeDocument/2006/relationships/image" Target="../media/image1.jpe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7.xml"/><Relationship Id="rId2" Type="http://schemas.openxmlformats.org/officeDocument/2006/relationships/image" Target="../media/image8.png"/><Relationship Id="rId1" Type="http://schemas.openxmlformats.org/officeDocument/2006/relationships/image" Target="../media/image1.jpe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9.png"/><Relationship Id="rId1" Type="http://schemas.openxmlformats.org/officeDocument/2006/relationships/image" Target="../media/image1.jpe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7.xml"/><Relationship Id="rId2" Type="http://schemas.openxmlformats.org/officeDocument/2006/relationships/image" Target="../media/image10.png"/><Relationship Id="rId1" Type="http://schemas.openxmlformats.org/officeDocument/2006/relationships/image" Target="../media/image1.jpe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7.xml"/><Relationship Id="rId1"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247900"/>
            <a:ext cx="10607040" cy="586740"/>
          </a:xfrm>
          <a:prstGeom prst="rect">
            <a:avLst/>
          </a:prstGeom>
        </p:spPr>
        <p:txBody>
          <a:bodyPr lIns="0" tIns="0" rIns="0" bIns="0" rtlCol="0" anchor="t">
            <a:spAutoFit/>
          </a:bodyPr>
          <a:lstStyle/>
          <a:p>
            <a:pPr algn="l">
              <a:lnSpc>
                <a:spcPts val="2880"/>
              </a:lnSpc>
            </a:pPr>
            <a:r>
              <a:rPr lang="en-US" sz="2400" b="1" spc="400">
                <a:solidFill>
                  <a:srgbClr val="BFE8E3"/>
                </a:solidFill>
                <a:latin typeface="Times New Roman" panose="02020603050405020304"/>
                <a:ea typeface="Times New Roman" panose="02020603050405020304"/>
                <a:cs typeface="Times New Roman" panose="02020603050405020304"/>
                <a:sym typeface="Times New Roman" panose="02020603050405020304"/>
              </a:rPr>
              <a:t>ĐỀ TÀI T47 · MÔN LẬP TRÌNH MẠNG</a:t>
            </a:r>
            <a:endParaRPr lang="en-US" sz="2400" b="1" spc="4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2916555"/>
            <a:ext cx="10607040" cy="2661285"/>
          </a:xfrm>
          <a:prstGeom prst="rect">
            <a:avLst/>
          </a:prstGeom>
        </p:spPr>
        <p:txBody>
          <a:bodyPr lIns="0" tIns="0" rIns="0" bIns="0" rtlCol="0" anchor="t">
            <a:spAutoFit/>
          </a:bodyPr>
          <a:lstStyle/>
          <a:p>
            <a:pPr algn="l">
              <a:lnSpc>
                <a:spcPts val="6720"/>
              </a:lnSpc>
            </a:pPr>
            <a:r>
              <a:rPr lang="en-US" sz="5600" b="1">
                <a:solidFill>
                  <a:srgbClr val="FFFFFF"/>
                </a:solidFill>
                <a:latin typeface="Times New Roman" panose="02020603050405020304"/>
                <a:ea typeface="Times New Roman" panose="02020603050405020304"/>
                <a:cs typeface="Times New Roman" panose="02020603050405020304"/>
                <a:sym typeface="Times New Roman" panose="02020603050405020304"/>
              </a:rPr>
              <a:t>Kỹ thuật mạng cho game nhiều người chơi thời gian thực</a:t>
            </a:r>
            <a:endParaRPr lang="en-US" sz="5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583555"/>
            <a:ext cx="10607040" cy="1000125"/>
          </a:xfrm>
          <a:prstGeom prst="rect">
            <a:avLst/>
          </a:prstGeom>
        </p:spPr>
        <p:txBody>
          <a:bodyPr lIns="0" tIns="0" rIns="0" bIns="0" rtlCol="0" anchor="t">
            <a:spAutoFit/>
          </a:bodyPr>
          <a:lstStyle/>
          <a:p>
            <a:pPr algn="l">
              <a:lnSpc>
                <a:spcPts val="4800"/>
              </a:lnSpc>
            </a:pPr>
            <a:r>
              <a:rPr lang="en-US" sz="4000" b="1">
                <a:solidFill>
                  <a:srgbClr val="BFE8E3"/>
                </a:solidFill>
                <a:latin typeface="Times New Roman" panose="02020603050405020304"/>
                <a:ea typeface="Times New Roman" panose="02020603050405020304"/>
                <a:cs typeface="Times New Roman" panose="02020603050405020304"/>
                <a:sym typeface="Times New Roman" panose="02020603050405020304"/>
              </a:rPr>
              <a:t>Dự đoán phía client</a:t>
            </a:r>
            <a:endParaRPr lang="en-US" sz="40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66515" y="6782429"/>
            <a:ext cx="10607040" cy="2162175"/>
          </a:xfrm>
          <a:prstGeom prst="rect">
            <a:avLst/>
          </a:prstGeom>
        </p:spPr>
        <p:txBody>
          <a:bodyPr lIns="0" tIns="0" rIns="0" bIns="0" rtlCol="0" anchor="t">
            <a:spAutoFit/>
          </a:bodyPr>
          <a:lstStyle/>
          <a:p>
            <a:pPr algn="l">
              <a:lnSpc>
                <a:spcPts val="4200"/>
              </a:lnSpc>
            </a:pPr>
            <a:r>
              <a:rPr lang="en-US" sz="3500" b="1">
                <a:solidFill>
                  <a:srgbClr val="FFFFFF"/>
                </a:solidFill>
                <a:latin typeface="Times New Roman" panose="02020603050405020304"/>
                <a:ea typeface="Times New Roman" panose="02020603050405020304"/>
                <a:cs typeface="Times New Roman" panose="02020603050405020304"/>
                <a:sym typeface="Times New Roman" panose="02020603050405020304"/>
              </a:rPr>
              <a:t>GV: TS. Đặng Ngọc Hùng</a:t>
            </a:r>
            <a:endParaRPr lang="en-US" sz="35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Nguyễn Thế Chiến (B23DCCN095) </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Phạm Quang Anh (B23DCCN044) </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Nguyễn Đức Anh (B23DCCN031)</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7" name="Header band"/>
          <p:cNvSpPr/>
          <p:nvPr/>
        </p:nvSpPr>
        <p:spPr>
          <a:xfrm>
            <a:off x="0" y="0"/>
            <a:ext cx="18288000" cy="2103120"/>
          </a:xfrm>
          <a:prstGeom prst="rect">
            <a:avLst/>
          </a:prstGeom>
          <a:solidFill>
            <a:srgbClr val="14213D"/>
          </a:solidFill>
          <a:ln>
            <a:noFill/>
          </a:ln>
        </p:spPr>
      </p:sp>
      <p:sp>
        <p:nvSpPr>
          <p:cNvPr id="9038"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MỤC LỤC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Nội dung trình bày</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0" name="TOC card 01"/>
          <p:cNvSpPr/>
          <p:nvPr/>
        </p:nvSpPr>
        <p:spPr>
          <a:xfrm>
            <a:off x="91440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01" name="TOC num 01"/>
          <p:cNvSpPr txBox="1"/>
          <p:nvPr/>
        </p:nvSpPr>
        <p:spPr>
          <a:xfrm>
            <a:off x="123444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01</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2" name="TOC part 01"/>
          <p:cNvSpPr txBox="1"/>
          <p:nvPr/>
        </p:nvSpPr>
        <p:spPr>
          <a:xfrm>
            <a:off x="123444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1</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3" name="TOC title 01"/>
          <p:cNvSpPr txBox="1"/>
          <p:nvPr/>
        </p:nvSpPr>
        <p:spPr>
          <a:xfrm>
            <a:off x="123444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Vấn đề gốc: bài toán đường truyền mạng</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4" name="TOC items 01"/>
          <p:cNvSpPr txBox="1"/>
          <p:nvPr/>
        </p:nvSpPr>
        <p:spPr>
          <a:xfrm>
            <a:off x="123444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Bài toán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Hai yêu cầu mâu thuẫn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c.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Mạng không hoàn hảo</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5" name="TOC pill 01 #1"/>
          <p:cNvSpPr/>
          <p:nvPr/>
        </p:nvSpPr>
        <p:spPr>
          <a:xfrm>
            <a:off x="1234440" y="8275320"/>
            <a:ext cx="731520" cy="548640"/>
          </a:xfrm>
          <a:prstGeom prst="roundRect">
            <a:avLst>
              <a:gd name="adj" fmla="val 50000"/>
            </a:avLst>
          </a:prstGeom>
          <a:solidFill>
            <a:srgbClr val="00897B"/>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6" name="TOC card 02"/>
          <p:cNvSpPr/>
          <p:nvPr/>
        </p:nvSpPr>
        <p:spPr>
          <a:xfrm>
            <a:off x="512064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07" name="TOC num 02"/>
          <p:cNvSpPr txBox="1"/>
          <p:nvPr/>
        </p:nvSpPr>
        <p:spPr>
          <a:xfrm>
            <a:off x="544068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02</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8" name="TOC part 02"/>
          <p:cNvSpPr txBox="1"/>
          <p:nvPr/>
        </p:nvSpPr>
        <p:spPr>
          <a:xfrm>
            <a:off x="544068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2</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9" name="TOC title 02"/>
          <p:cNvSpPr txBox="1"/>
          <p:nvPr/>
        </p:nvSpPr>
        <p:spPr>
          <a:xfrm>
            <a:off x="544068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Các vấn đề con và giải pháp</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0" name="TOC items 02"/>
          <p:cNvSpPr txBox="1"/>
          <p:nvPr/>
        </p:nvSpPr>
        <p:spPr>
          <a:xfrm>
            <a:off x="5440680" y="5943600"/>
            <a:ext cx="3514725"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VĐ1 Ai giữ quyền quyết định</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VĐ2 Điều khiển bị ì</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c.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VĐ3 Đối thủ giật</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d.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VĐ4 Không công bằng</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e.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VĐ5 Dự đoán hành động sai</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1" name="TOC pill 02 #1"/>
          <p:cNvSpPr/>
          <p:nvPr/>
        </p:nvSpPr>
        <p:spPr>
          <a:xfrm>
            <a:off x="5440680" y="8275320"/>
            <a:ext cx="731520" cy="548640"/>
          </a:xfrm>
          <a:prstGeom prst="roundRect">
            <a:avLst>
              <a:gd name="adj" fmla="val 50000"/>
            </a:avLst>
          </a:prstGeom>
          <a:solidFill>
            <a:srgbClr val="00897B"/>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2" name="TOC pill 02 #2"/>
          <p:cNvSpPr/>
          <p:nvPr/>
        </p:nvSpPr>
        <p:spPr>
          <a:xfrm>
            <a:off x="6309360" y="8275320"/>
            <a:ext cx="731520" cy="548640"/>
          </a:xfrm>
          <a:prstGeom prst="roundRect">
            <a:avLst>
              <a:gd name="adj" fmla="val 50000"/>
            </a:avLst>
          </a:prstGeom>
          <a:solidFill>
            <a:srgbClr val="6C5CE7"/>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3" name="TOC pill 02 #3"/>
          <p:cNvSpPr/>
          <p:nvPr/>
        </p:nvSpPr>
        <p:spPr>
          <a:xfrm>
            <a:off x="7178040" y="8275320"/>
            <a:ext cx="731520" cy="548640"/>
          </a:xfrm>
          <a:prstGeom prst="roundRect">
            <a:avLst>
              <a:gd name="adj" fmla="val 50000"/>
            </a:avLst>
          </a:prstGeom>
          <a:solidFill>
            <a:srgbClr val="F4A259"/>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4" name="TOC card 03"/>
          <p:cNvSpPr/>
          <p:nvPr/>
        </p:nvSpPr>
        <p:spPr>
          <a:xfrm>
            <a:off x="932688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15" name="TOC num 03"/>
          <p:cNvSpPr txBox="1"/>
          <p:nvPr/>
        </p:nvSpPr>
        <p:spPr>
          <a:xfrm>
            <a:off x="964692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03</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6" name="TOC part 03"/>
          <p:cNvSpPr txBox="1"/>
          <p:nvPr/>
        </p:nvSpPr>
        <p:spPr>
          <a:xfrm>
            <a:off x="964692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3</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7" name="TOC title 03"/>
          <p:cNvSpPr txBox="1"/>
          <p:nvPr/>
        </p:nvSpPr>
        <p:spPr>
          <a:xfrm>
            <a:off x="964692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Áp dụng và demo</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8" name="TOC items 03"/>
          <p:cNvSpPr txBox="1"/>
          <p:nvPr/>
        </p:nvSpPr>
        <p:spPr>
          <a:xfrm>
            <a:off x="964692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Game xếp đơn hàng siêu thị</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Demo 3 khung nhìn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9" name="TOC pill 03 #3"/>
          <p:cNvSpPr/>
          <p:nvPr/>
        </p:nvSpPr>
        <p:spPr>
          <a:xfrm>
            <a:off x="9646920" y="8275320"/>
            <a:ext cx="731520" cy="548640"/>
          </a:xfrm>
          <a:prstGeom prst="roundRect">
            <a:avLst>
              <a:gd name="adj" fmla="val 50000"/>
            </a:avLst>
          </a:prstGeom>
          <a:solidFill>
            <a:srgbClr val="F4A259"/>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0" name="TOC pill 03 #2"/>
          <p:cNvSpPr/>
          <p:nvPr/>
        </p:nvSpPr>
        <p:spPr>
          <a:xfrm>
            <a:off x="10515600" y="8275320"/>
            <a:ext cx="731520" cy="548640"/>
          </a:xfrm>
          <a:prstGeom prst="roundRect">
            <a:avLst>
              <a:gd name="adj" fmla="val 50000"/>
            </a:avLst>
          </a:prstGeom>
          <a:solidFill>
            <a:srgbClr val="6C5CE7"/>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1" name="TOC card 04"/>
          <p:cNvSpPr/>
          <p:nvPr/>
        </p:nvSpPr>
        <p:spPr>
          <a:xfrm>
            <a:off x="1353312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22" name="TOC num 04"/>
          <p:cNvSpPr txBox="1"/>
          <p:nvPr/>
        </p:nvSpPr>
        <p:spPr>
          <a:xfrm>
            <a:off x="1385316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04</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3" name="TOC part 04"/>
          <p:cNvSpPr txBox="1"/>
          <p:nvPr/>
        </p:nvSpPr>
        <p:spPr>
          <a:xfrm>
            <a:off x="1385316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4</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4" name="TOC title 04"/>
          <p:cNvSpPr txBox="1"/>
          <p:nvPr/>
        </p:nvSpPr>
        <p:spPr>
          <a:xfrm>
            <a:off x="1385316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Q&amp;A</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5" name="TOC items 04"/>
          <p:cNvSpPr txBox="1"/>
          <p:nvPr/>
        </p:nvSpPr>
        <p:spPr>
          <a:xfrm>
            <a:off x="1385316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Hỏi &amp; đáp</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Slide dự phòng khi bị hỏi sâu</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6" name="TOC pill 04 Cả nhóm"/>
          <p:cNvSpPr/>
          <p:nvPr/>
        </p:nvSpPr>
        <p:spPr>
          <a:xfrm>
            <a:off x="13853160" y="8275320"/>
            <a:ext cx="1463040" cy="548640"/>
          </a:xfrm>
          <a:prstGeom prst="roundRect">
            <a:avLst>
              <a:gd name="adj" fmla="val 50000"/>
            </a:avLst>
          </a:prstGeom>
          <a:solidFill>
            <a:srgbClr val="14213D"/>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Cả nhóm</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1</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Vấn đề gốc: bài toán đường truyền mạng</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94360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Mạng luôn có độ trễ, dao động độ trễ và mất gói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672084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Bài toán · Hai yêu cầu mâu thuẫn · Mạng không hoàn hảo  ·  Trình bày: #1</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2"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9" name="Header band"/>
          <p:cNvSpPr/>
          <p:nvPr/>
        </p:nvSpPr>
        <p:spPr>
          <a:xfrm>
            <a:off x="0" y="0"/>
            <a:ext cx="18288000" cy="2103120"/>
          </a:xfrm>
          <a:prstGeom prst="rect">
            <a:avLst/>
          </a:prstGeom>
          <a:solidFill>
            <a:srgbClr val="14213D"/>
          </a:solidFill>
          <a:ln>
            <a:noFill/>
          </a:ln>
        </p:spPr>
      </p:sp>
      <p:sp>
        <p:nvSpPr>
          <p:cNvPr id="9040"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BÀI TOÁN</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Chơi game thời gian thực qua mạng</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6517643" cy="3225803"/>
            <a:chOff x="0" y="0"/>
            <a:chExt cx="8690191" cy="4301071"/>
          </a:xfrm>
        </p:grpSpPr>
        <p:sp>
          <p:nvSpPr>
            <p:cNvPr id="15" name="Freeform 15"/>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16" name="Group 16"/>
          <p:cNvGrpSpPr/>
          <p:nvPr/>
        </p:nvGrpSpPr>
        <p:grpSpPr>
          <a:xfrm rot="0">
            <a:off x="1463040" y="2926080"/>
            <a:ext cx="5394960" cy="822960"/>
            <a:chOff x="0" y="0"/>
            <a:chExt cx="7193280" cy="1097280"/>
          </a:xfrm>
        </p:grpSpPr>
        <p:sp>
          <p:nvSpPr>
            <p:cNvPr id="17" name="Freeform 17"/>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18" name="TextBox 18"/>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Trên một máy</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9" name="TextBox 19"/>
          <p:cNvSpPr txBox="1"/>
          <p:nvPr/>
        </p:nvSpPr>
        <p:spPr>
          <a:xfrm>
            <a:off x="146304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Bấm phím là thấy ngay; mọi người nhìn chung một màn hình, chung một trạng thái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10868663" y="2547623"/>
            <a:ext cx="6517643" cy="3225803"/>
            <a:chOff x="0" y="0"/>
            <a:chExt cx="8690191" cy="4301071"/>
          </a:xfrm>
        </p:grpSpPr>
        <p:sp>
          <p:nvSpPr>
            <p:cNvPr id="21" name="Freeform 21"/>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22" name="Group 22"/>
          <p:cNvGrpSpPr/>
          <p:nvPr/>
        </p:nvGrpSpPr>
        <p:grpSpPr>
          <a:xfrm rot="0">
            <a:off x="11430000" y="2926080"/>
            <a:ext cx="5394960" cy="822960"/>
            <a:chOff x="0" y="0"/>
            <a:chExt cx="7193280" cy="1097280"/>
          </a:xfrm>
        </p:grpSpPr>
        <p:sp>
          <p:nvSpPr>
            <p:cNvPr id="23" name="Freeform 23"/>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24" name="TextBox 24"/>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Qua mạng</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5" name="TextBox 25"/>
          <p:cNvSpPr txBox="1"/>
          <p:nvPr/>
        </p:nvSpPr>
        <p:spPr>
          <a:xfrm>
            <a:off x="1143000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Mỗi thao tác mất 100–200 ms mới tới máy khác; gói tin có thể đến trễ, sai thứ tự hoặc mất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668263" y="3553463"/>
            <a:ext cx="2951483" cy="1214123"/>
            <a:chOff x="0" y="0"/>
            <a:chExt cx="3935311" cy="1618831"/>
          </a:xfrm>
        </p:grpSpPr>
        <p:sp>
          <p:nvSpPr>
            <p:cNvPr id="27" name="Freeform 27"/>
            <p:cNvSpPr/>
            <p:nvPr/>
          </p:nvSpPr>
          <p:spPr>
            <a:xfrm>
              <a:off x="0" y="0"/>
              <a:ext cx="3935222" cy="1618742"/>
            </a:xfrm>
            <a:custGeom>
              <a:avLst/>
              <a:gdLst/>
              <a:ahLst/>
              <a:cxnLst/>
              <a:rect l="l" t="t" r="r" b="b"/>
              <a:pathLst>
                <a:path w="3935222" h="161874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id="28" name="Group 28"/>
          <p:cNvGrpSpPr/>
          <p:nvPr/>
        </p:nvGrpSpPr>
        <p:grpSpPr>
          <a:xfrm rot="0">
            <a:off x="7680960" y="3566160"/>
            <a:ext cx="2926080" cy="1188720"/>
            <a:chOff x="0" y="0"/>
            <a:chExt cx="3901440" cy="1584960"/>
          </a:xfrm>
        </p:grpSpPr>
        <p:sp>
          <p:nvSpPr>
            <p:cNvPr id="29" name="Freeform 29"/>
            <p:cNvSpPr/>
            <p:nvPr/>
          </p:nvSpPr>
          <p:spPr>
            <a:xfrm>
              <a:off x="0" y="0"/>
              <a:ext cx="3901440" cy="1584960"/>
            </a:xfrm>
            <a:custGeom>
              <a:avLst/>
              <a:gdLst/>
              <a:ahLst/>
              <a:cxnLst/>
              <a:rect l="l" t="t" r="r" b="b"/>
              <a:pathLst>
                <a:path w="3901440" h="1584960">
                  <a:moveTo>
                    <a:pt x="0" y="0"/>
                  </a:moveTo>
                  <a:lnTo>
                    <a:pt x="3901440" y="0"/>
                  </a:lnTo>
                  <a:lnTo>
                    <a:pt x="3901440" y="1584960"/>
                  </a:lnTo>
                  <a:lnTo>
                    <a:pt x="0" y="1584960"/>
                  </a:lnTo>
                  <a:close/>
                </a:path>
              </a:pathLst>
            </a:custGeom>
            <a:blipFill>
              <a:blip r:embed="rId1">
                <a:alphaModFix amt="0"/>
              </a:blip>
              <a:stretch>
                <a:fillRect l="-2123" r="-2123"/>
              </a:stretch>
            </a:blipFill>
          </p:spPr>
        </p:sp>
        <p:sp>
          <p:nvSpPr>
            <p:cNvPr id="30" name="TextBox 30"/>
            <p:cNvSpPr txBox="1"/>
            <p:nvPr/>
          </p:nvSpPr>
          <p:spPr>
            <a:xfrm>
              <a:off x="0" y="-38100"/>
              <a:ext cx="3901440" cy="16230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100–200 ms</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901703" y="6388103"/>
            <a:ext cx="16484603" cy="1762763"/>
            <a:chOff x="0" y="0"/>
            <a:chExt cx="21979471" cy="2350351"/>
          </a:xfrm>
        </p:grpSpPr>
        <p:sp>
          <p:nvSpPr>
            <p:cNvPr id="32" name="Freeform 32"/>
            <p:cNvSpPr/>
            <p:nvPr/>
          </p:nvSpPr>
          <p:spPr>
            <a:xfrm>
              <a:off x="0" y="0"/>
              <a:ext cx="21979508" cy="2350389"/>
            </a:xfrm>
            <a:custGeom>
              <a:avLst/>
              <a:gdLst/>
              <a:ahLst/>
              <a:cxnLst/>
              <a:rect l="l" t="t" r="r" b="b"/>
              <a:pathLst>
                <a:path w="21979508" h="2350389">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id="33" name="Group 33"/>
          <p:cNvGrpSpPr/>
          <p:nvPr/>
        </p:nvGrpSpPr>
        <p:grpSpPr>
          <a:xfrm rot="0">
            <a:off x="1463040" y="6400800"/>
            <a:ext cx="15361920" cy="1737360"/>
            <a:chOff x="0" y="0"/>
            <a:chExt cx="20482560" cy="2316480"/>
          </a:xfrm>
        </p:grpSpPr>
        <p:sp>
          <p:nvSpPr>
            <p:cNvPr id="34" name="Freeform 34"/>
            <p:cNvSpPr/>
            <p:nvPr/>
          </p:nvSpPr>
          <p:spPr>
            <a:xfrm>
              <a:off x="0" y="0"/>
              <a:ext cx="20482561" cy="2316480"/>
            </a:xfrm>
            <a:custGeom>
              <a:avLst/>
              <a:gdLst/>
              <a:ahLst/>
              <a:cxnLst/>
              <a:rect l="l" t="t" r="r" b="b"/>
              <a:pathLst>
                <a:path w="20482561" h="2316480">
                  <a:moveTo>
                    <a:pt x="0" y="0"/>
                  </a:moveTo>
                  <a:lnTo>
                    <a:pt x="20482561" y="0"/>
                  </a:lnTo>
                  <a:lnTo>
                    <a:pt x="20482561" y="2316480"/>
                  </a:lnTo>
                  <a:lnTo>
                    <a:pt x="0" y="2316480"/>
                  </a:lnTo>
                  <a:close/>
                </a:path>
              </a:pathLst>
            </a:custGeom>
            <a:blipFill>
              <a:blip r:embed="rId1">
                <a:alphaModFix amt="0"/>
              </a:blip>
              <a:stretch>
                <a:fillRect t="-122288" b="-122288"/>
              </a:stretch>
            </a:blipFill>
          </p:spPr>
        </p:sp>
        <p:sp>
          <p:nvSpPr>
            <p:cNvPr id="35" name="TextBox 35"/>
            <p:cNvSpPr txBox="1"/>
            <p:nvPr/>
          </p:nvSpPr>
          <p:spPr>
            <a:xfrm>
              <a:off x="0" y="-57150"/>
              <a:ext cx="20482560" cy="2373630"/>
            </a:xfrm>
            <a:prstGeom prst="rect">
              <a:avLst/>
            </a:prstGeom>
          </p:spPr>
          <p:txBody>
            <a:bodyPr lIns="0" tIns="0" rIns="0" bIns="0" rtlCol="0" anchor="ctr"/>
            <a:lstStyle/>
            <a:p>
              <a:pPr algn="l">
                <a:lnSpc>
                  <a:spcPts val="3840"/>
                </a:lnSpc>
              </a:pP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Bài toán: làm sao chơi qua mạng mà vẫn có cảm giác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như chơi trên cùng một máy</a:t>
              </a: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a:t>
              </a:r>
              <a:endPar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6" name="Header band"/>
          <p:cNvSpPr/>
          <p:nvPr/>
        </p:nvSpPr>
        <p:spPr>
          <a:xfrm>
            <a:off x="0" y="0"/>
            <a:ext cx="18288000" cy="2103120"/>
          </a:xfrm>
          <a:prstGeom prst="rect">
            <a:avLst/>
          </a:prstGeom>
          <a:solidFill>
            <a:srgbClr val="14213D"/>
          </a:solidFill>
          <a:ln>
            <a:noFill/>
          </a:ln>
        </p:spPr>
      </p:sp>
      <p:sp>
        <p:nvSpPr>
          <p:cNvPr id="9017"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YÊU CẦU</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Hai yêu cầu mâu thuẫn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6517643" cy="3225803"/>
            <a:chOff x="0" y="0"/>
            <a:chExt cx="8690191" cy="4301071"/>
          </a:xfrm>
        </p:grpSpPr>
        <p:sp>
          <p:nvSpPr>
            <p:cNvPr id="15" name="Freeform 15"/>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16" name="Group 16"/>
          <p:cNvGrpSpPr/>
          <p:nvPr/>
        </p:nvGrpSpPr>
        <p:grpSpPr>
          <a:xfrm rot="0">
            <a:off x="1463040" y="2926080"/>
            <a:ext cx="5394960" cy="822960"/>
            <a:chOff x="0" y="0"/>
            <a:chExt cx="7193280" cy="1097280"/>
          </a:xfrm>
        </p:grpSpPr>
        <p:sp>
          <p:nvSpPr>
            <p:cNvPr id="17" name="Freeform 17"/>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18" name="TextBox 18"/>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Độ phản hồi</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9" name="TextBox 19"/>
          <p:cNvSpPr txBox="1"/>
          <p:nvPr/>
        </p:nvSpPr>
        <p:spPr>
          <a:xfrm>
            <a:off x="146304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Bấm phím là nhân vật phản ứng ngay (từ ~100 ms đã thấy ì)</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10868663" y="2547623"/>
            <a:ext cx="6517643" cy="3225803"/>
            <a:chOff x="0" y="0"/>
            <a:chExt cx="8690191" cy="4301071"/>
          </a:xfrm>
        </p:grpSpPr>
        <p:sp>
          <p:nvSpPr>
            <p:cNvPr id="21" name="Freeform 21"/>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22" name="Group 22"/>
          <p:cNvGrpSpPr/>
          <p:nvPr/>
        </p:nvGrpSpPr>
        <p:grpSpPr>
          <a:xfrm rot="0">
            <a:off x="11430000" y="2926080"/>
            <a:ext cx="5394960" cy="822960"/>
            <a:chOff x="0" y="0"/>
            <a:chExt cx="7193280" cy="1097280"/>
          </a:xfrm>
        </p:grpSpPr>
        <p:sp>
          <p:nvSpPr>
            <p:cNvPr id="23" name="Freeform 23"/>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24" name="TextBox 24"/>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Tính nhất quán</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5" name="TextBox 25"/>
          <p:cNvSpPr txBox="1"/>
          <p:nvPr/>
        </p:nvSpPr>
        <p:spPr>
          <a:xfrm>
            <a:off x="1143000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Mọi người thấy cùng một thế giới, không ai gian lận được</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668263" y="3553463"/>
            <a:ext cx="2951483" cy="1214123"/>
            <a:chOff x="0" y="0"/>
            <a:chExt cx="3935311" cy="1618831"/>
          </a:xfrm>
        </p:grpSpPr>
        <p:sp>
          <p:nvSpPr>
            <p:cNvPr id="27" name="Freeform 27"/>
            <p:cNvSpPr/>
            <p:nvPr/>
          </p:nvSpPr>
          <p:spPr>
            <a:xfrm>
              <a:off x="0" y="0"/>
              <a:ext cx="3935222" cy="1618742"/>
            </a:xfrm>
            <a:custGeom>
              <a:avLst/>
              <a:gdLst/>
              <a:ahLst/>
              <a:cxnLst/>
              <a:rect l="l" t="t" r="r" b="b"/>
              <a:pathLst>
                <a:path w="3935222" h="161874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id="28" name="Group 28"/>
          <p:cNvGrpSpPr/>
          <p:nvPr/>
        </p:nvGrpSpPr>
        <p:grpSpPr>
          <a:xfrm rot="0">
            <a:off x="7680960" y="3566160"/>
            <a:ext cx="2926080" cy="1188720"/>
            <a:chOff x="0" y="0"/>
            <a:chExt cx="3901440" cy="1584960"/>
          </a:xfrm>
        </p:grpSpPr>
        <p:sp>
          <p:nvSpPr>
            <p:cNvPr id="29" name="Freeform 29"/>
            <p:cNvSpPr/>
            <p:nvPr/>
          </p:nvSpPr>
          <p:spPr>
            <a:xfrm>
              <a:off x="0" y="0"/>
              <a:ext cx="3901440" cy="1584960"/>
            </a:xfrm>
            <a:custGeom>
              <a:avLst/>
              <a:gdLst/>
              <a:ahLst/>
              <a:cxnLst/>
              <a:rect l="l" t="t" r="r" b="b"/>
              <a:pathLst>
                <a:path w="3901440" h="1584960">
                  <a:moveTo>
                    <a:pt x="0" y="0"/>
                  </a:moveTo>
                  <a:lnTo>
                    <a:pt x="3901440" y="0"/>
                  </a:lnTo>
                  <a:lnTo>
                    <a:pt x="3901440" y="1584960"/>
                  </a:lnTo>
                  <a:lnTo>
                    <a:pt x="0" y="1584960"/>
                  </a:lnTo>
                  <a:close/>
                </a:path>
              </a:pathLst>
            </a:custGeom>
            <a:blipFill>
              <a:blip r:embed="rId1">
                <a:alphaModFix amt="0"/>
              </a:blip>
              <a:stretch>
                <a:fillRect l="-2123" r="-2123"/>
              </a:stretch>
            </a:blipFill>
          </p:spPr>
        </p:sp>
        <p:sp>
          <p:nvSpPr>
            <p:cNvPr id="30" name="TextBox 30"/>
            <p:cNvSpPr txBox="1"/>
            <p:nvPr/>
          </p:nvSpPr>
          <p:spPr>
            <a:xfrm>
              <a:off x="0" y="-38100"/>
              <a:ext cx="3901440" cy="16230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100–200 ms</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901703" y="6388103"/>
            <a:ext cx="16484603" cy="1762763"/>
            <a:chOff x="0" y="0"/>
            <a:chExt cx="21979471" cy="2350351"/>
          </a:xfrm>
        </p:grpSpPr>
        <p:sp>
          <p:nvSpPr>
            <p:cNvPr id="32" name="Freeform 32"/>
            <p:cNvSpPr/>
            <p:nvPr/>
          </p:nvSpPr>
          <p:spPr>
            <a:xfrm>
              <a:off x="0" y="0"/>
              <a:ext cx="21979508" cy="2350389"/>
            </a:xfrm>
            <a:custGeom>
              <a:avLst/>
              <a:gdLst/>
              <a:ahLst/>
              <a:cxnLst/>
              <a:rect l="l" t="t" r="r" b="b"/>
              <a:pathLst>
                <a:path w="21979508" h="2350389">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id="33" name="Group 33"/>
          <p:cNvGrpSpPr/>
          <p:nvPr/>
        </p:nvGrpSpPr>
        <p:grpSpPr>
          <a:xfrm rot="0">
            <a:off x="1463040" y="6400800"/>
            <a:ext cx="15361920" cy="1737360"/>
            <a:chOff x="0" y="0"/>
            <a:chExt cx="20482560" cy="2316480"/>
          </a:xfrm>
        </p:grpSpPr>
        <p:sp>
          <p:nvSpPr>
            <p:cNvPr id="34" name="Freeform 34"/>
            <p:cNvSpPr/>
            <p:nvPr/>
          </p:nvSpPr>
          <p:spPr>
            <a:xfrm>
              <a:off x="0" y="0"/>
              <a:ext cx="20482561" cy="2316480"/>
            </a:xfrm>
            <a:custGeom>
              <a:avLst/>
              <a:gdLst/>
              <a:ahLst/>
              <a:cxnLst/>
              <a:rect l="l" t="t" r="r" b="b"/>
              <a:pathLst>
                <a:path w="20482561" h="2316480">
                  <a:moveTo>
                    <a:pt x="0" y="0"/>
                  </a:moveTo>
                  <a:lnTo>
                    <a:pt x="20482561" y="0"/>
                  </a:lnTo>
                  <a:lnTo>
                    <a:pt x="20482561" y="2316480"/>
                  </a:lnTo>
                  <a:lnTo>
                    <a:pt x="0" y="2316480"/>
                  </a:lnTo>
                  <a:close/>
                </a:path>
              </a:pathLst>
            </a:custGeom>
            <a:blipFill>
              <a:blip r:embed="rId1">
                <a:alphaModFix amt="0"/>
              </a:blip>
              <a:stretch>
                <a:fillRect t="-122288" b="-122288"/>
              </a:stretch>
            </a:blipFill>
          </p:spPr>
        </p:sp>
        <p:sp>
          <p:nvSpPr>
            <p:cNvPr id="35" name="TextBox 35"/>
            <p:cNvSpPr txBox="1"/>
            <p:nvPr/>
          </p:nvSpPr>
          <p:spPr>
            <a:xfrm>
              <a:off x="0" y="-57150"/>
              <a:ext cx="20482560" cy="2373630"/>
            </a:xfrm>
            <a:prstGeom prst="rect">
              <a:avLst/>
            </a:prstGeom>
          </p:spPr>
          <p:txBody>
            <a:bodyPr lIns="0" tIns="0" rIns="0" bIns="0" rtlCol="0" anchor="ctr"/>
            <a:lstStyle/>
            <a:p>
              <a:pPr algn="l">
                <a:lnSpc>
                  <a:spcPts val="3840"/>
                </a:lnSpc>
              </a:pP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Có mạng ở giữa thì: muốn nhất quán phải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chờ</a:t>
              </a: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 muốn phản hồi ngay thì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không được chờ</a:t>
              </a:r>
              <a:endPar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5" name="Header band"/>
          <p:cNvSpPr/>
          <p:nvPr/>
        </p:nvSpPr>
        <p:spPr>
          <a:xfrm>
            <a:off x="0" y="0"/>
            <a:ext cx="18288000" cy="2103120"/>
          </a:xfrm>
          <a:prstGeom prst="rect">
            <a:avLst/>
          </a:prstGeom>
          <a:solidFill>
            <a:srgbClr val="14213D"/>
          </a:solidFill>
          <a:ln>
            <a:noFill/>
          </a:ln>
        </p:spPr>
      </p:sp>
      <p:sp>
        <p:nvSpPr>
          <p:cNvPr id="9036"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 không hoàn hảo</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8138160"/>
            <a:ext cx="10424160" cy="822960"/>
            <a:chOff x="0" y="0"/>
            <a:chExt cx="13898880" cy="1097280"/>
          </a:xfrm>
        </p:grpSpPr>
        <p:sp>
          <p:nvSpPr>
            <p:cNvPr id="14" name="Freeform 14"/>
            <p:cNvSpPr/>
            <p:nvPr/>
          </p:nvSpPr>
          <p:spPr>
            <a:xfrm>
              <a:off x="0" y="0"/>
              <a:ext cx="13898880" cy="1097280"/>
            </a:xfrm>
            <a:custGeom>
              <a:avLst/>
              <a:gdLst/>
              <a:ahLst/>
              <a:cxnLst/>
              <a:rect l="l" t="t" r="r" b="b"/>
              <a:pathLst>
                <a:path w="13898880" h="1097280">
                  <a:moveTo>
                    <a:pt x="0" y="0"/>
                  </a:moveTo>
                  <a:lnTo>
                    <a:pt x="13898880" y="0"/>
                  </a:lnTo>
                  <a:lnTo>
                    <a:pt x="13898880" y="1097280"/>
                  </a:lnTo>
                  <a:lnTo>
                    <a:pt x="0" y="1097280"/>
                  </a:lnTo>
                  <a:close/>
                </a:path>
              </a:pathLst>
            </a:custGeom>
            <a:blipFill>
              <a:blip r:embed="rId1">
                <a:alphaModFix amt="0"/>
              </a:blip>
              <a:stretch>
                <a:fillRect t="-196810" b="-196810"/>
              </a:stretch>
            </a:blipFill>
          </p:spPr>
        </p:sp>
        <p:sp>
          <p:nvSpPr>
            <p:cNvPr id="15" name="TextBox 15"/>
            <p:cNvSpPr txBox="1"/>
            <p:nvPr/>
          </p:nvSpPr>
          <p:spPr>
            <a:xfrm>
              <a:off x="0" y="-19050"/>
              <a:ext cx="13898880" cy="1116330"/>
            </a:xfrm>
            <a:prstGeom prst="rect">
              <a:avLst/>
            </a:prstGeom>
          </p:spPr>
          <p:txBody>
            <a:bodyPr lIns="0" tIns="0" rIns="0" bIns="0" rtlCol="0" anchor="ctr"/>
            <a:lstStyle/>
            <a:p>
              <a:pPr algn="l">
                <a:lnSpc>
                  <a:spcPts val="4320"/>
                </a:lnSpc>
              </a:pPr>
              <a:r>
                <a:rPr lang="en-US" sz="3600" b="1" i="1">
                  <a:solidFill>
                    <a:srgbClr val="00897B"/>
                  </a:solidFill>
                  <a:latin typeface="Times New Roman" panose="02020603050405020304"/>
                  <a:ea typeface="Times New Roman" panose="02020603050405020304"/>
                  <a:cs typeface="Times New Roman" panose="02020603050405020304"/>
                  <a:sym typeface="Times New Roman" panose="02020603050405020304"/>
                </a:rPr>
                <a:t>Không thể loại bỏ, chỉ có thể che giấu</a:t>
              </a:r>
              <a:endParaRPr lang="en-US" sz="3600" b="1" i="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1941895" y="2395728"/>
            <a:ext cx="5447574" cy="6764141"/>
            <a:chOff x="0" y="0"/>
            <a:chExt cx="7479449" cy="9287078"/>
          </a:xfrm>
        </p:grpSpPr>
        <p:sp>
          <p:nvSpPr>
            <p:cNvPr id="17" name="Freeform 17"/>
            <p:cNvSpPr/>
            <p:nvPr/>
          </p:nvSpPr>
          <p:spPr>
            <a:xfrm>
              <a:off x="0" y="0"/>
              <a:ext cx="7479538" cy="9287167"/>
            </a:xfrm>
            <a:custGeom>
              <a:avLst/>
              <a:gdLst/>
              <a:ahLst/>
              <a:cxnLst/>
              <a:rect l="l" t="t" r="r" b="b"/>
              <a:pathLst>
                <a:path w="7479538" h="9287167">
                  <a:moveTo>
                    <a:pt x="0" y="203776"/>
                  </a:moveTo>
                  <a:cubicBezTo>
                    <a:pt x="0" y="91271"/>
                    <a:pt x="87884" y="0"/>
                    <a:pt x="196215" y="0"/>
                  </a:cubicBezTo>
                  <a:lnTo>
                    <a:pt x="7283323" y="0"/>
                  </a:lnTo>
                  <a:cubicBezTo>
                    <a:pt x="7391654" y="0"/>
                    <a:pt x="7479538" y="91271"/>
                    <a:pt x="7479538" y="203776"/>
                  </a:cubicBezTo>
                  <a:lnTo>
                    <a:pt x="7479538" y="9083394"/>
                  </a:lnTo>
                  <a:cubicBezTo>
                    <a:pt x="7479538" y="9195901"/>
                    <a:pt x="7391654" y="9287167"/>
                    <a:pt x="7283323" y="9287167"/>
                  </a:cubicBezTo>
                  <a:lnTo>
                    <a:pt x="196215" y="9287167"/>
                  </a:lnTo>
                  <a:cubicBezTo>
                    <a:pt x="87884" y="9287039"/>
                    <a:pt x="0" y="9195900"/>
                    <a:pt x="0" y="9083394"/>
                  </a:cubicBezTo>
                  <a:close/>
                </a:path>
              </a:pathLst>
            </a:custGeom>
            <a:blipFill>
              <a:blip r:embed="rId2"/>
              <a:stretch>
                <a:fillRect l="-1736" r="-1736"/>
              </a:stretch>
            </a:blipFill>
            <a:ln w="31750" cap="sq">
              <a:solidFill>
                <a:srgbClr val="00897B"/>
              </a:solidFill>
              <a:prstDash val="dash"/>
              <a:miter/>
            </a:ln>
          </p:spPr>
        </p:sp>
      </p:grpSp>
      <p:grpSp>
        <p:nvGrpSpPr>
          <p:cNvPr id="18" name="Group 18"/>
          <p:cNvGrpSpPr/>
          <p:nvPr/>
        </p:nvGrpSpPr>
        <p:grpSpPr>
          <a:xfrm rot="0">
            <a:off x="12161520" y="2743200"/>
            <a:ext cx="4846320" cy="512064"/>
            <a:chOff x="0" y="0"/>
            <a:chExt cx="6461760" cy="682752"/>
          </a:xfrm>
        </p:grpSpPr>
        <p:sp>
          <p:nvSpPr>
            <p:cNvPr id="19" name="Freeform 19"/>
            <p:cNvSpPr/>
            <p:nvPr/>
          </p:nvSpPr>
          <p:spPr>
            <a:xfrm>
              <a:off x="0" y="0"/>
              <a:ext cx="6461760" cy="682752"/>
            </a:xfrm>
            <a:custGeom>
              <a:avLst/>
              <a:gdLst/>
              <a:ahLst/>
              <a:cxnLst/>
              <a:rect l="l" t="t" r="r" b="b"/>
              <a:pathLst>
                <a:path w="6461760" h="682752">
                  <a:moveTo>
                    <a:pt x="0" y="0"/>
                  </a:moveTo>
                  <a:lnTo>
                    <a:pt x="6461760" y="0"/>
                  </a:lnTo>
                  <a:lnTo>
                    <a:pt x="6461760" y="682752"/>
                  </a:lnTo>
                  <a:lnTo>
                    <a:pt x="0" y="682752"/>
                  </a:lnTo>
                  <a:close/>
                </a:path>
              </a:pathLst>
            </a:custGeom>
            <a:blipFill>
              <a:blip r:embed="rId1">
                <a:alphaModFix amt="0"/>
              </a:blip>
              <a:stretch>
                <a:fillRect t="-134411" b="-134411"/>
              </a:stretch>
            </a:blipFill>
          </p:spPr>
        </p:sp>
        <p:sp>
          <p:nvSpPr>
            <p:cNvPr id="20" name="TextBox 20"/>
            <p:cNvSpPr txBox="1"/>
            <p:nvPr/>
          </p:nvSpPr>
          <p:spPr>
            <a:xfrm>
              <a:off x="0" y="-38100"/>
              <a:ext cx="6461760" cy="720852"/>
            </a:xfrm>
            <a:prstGeom prst="rect">
              <a:avLst/>
            </a:prstGeom>
          </p:spPr>
          <p:txBody>
            <a:bodyPr lIns="0" tIns="0" rIns="0" bIns="0" rtlCol="0" anchor="ctr"/>
            <a:lstStyle/>
            <a:p>
              <a:pPr algn="l">
                <a:lnSpc>
                  <a:spcPts val="2400"/>
                </a:lnSpc>
              </a:pPr>
            </a:p>
          </p:txBody>
        </p:sp>
      </p:grpSp>
      <p:sp>
        <p:nvSpPr>
          <p:cNvPr id="21" name="TextBox 2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GỐC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 name="TextBox 22"/>
          <p:cNvSpPr txBox="1"/>
          <p:nvPr/>
        </p:nvSpPr>
        <p:spPr>
          <a:xfrm>
            <a:off x="547004" y="2395728"/>
            <a:ext cx="10424160" cy="537019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Độ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không thể về 0 (VN → Singapore: 30–60 ms)</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Dao động độ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gửi đều 50 ms, nhận cách nhau 30, 80, 45 ms…</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Mất gói, sai thứ tự:</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Wi-Fi / 4G mất 0,5–2% </a:t>
            </a:r>
            <a:r>
              <a:rPr lang="en-US" sz="2800" b="1" i="1">
                <a:solidFill>
                  <a:srgbClr val="D93A3F"/>
                </a:solidFill>
                <a:latin typeface="Times New Roman" panose="02020603050405020304"/>
                <a:ea typeface="Times New Roman" panose="02020603050405020304"/>
                <a:cs typeface="Times New Roman" panose="02020603050405020304"/>
                <a:sym typeface="Times New Roman" panose="02020603050405020304"/>
              </a:rPr>
              <a:t>(cần đo lại)</a:t>
            </a:r>
            <a:endParaRPr lang="en-US" sz="2800" b="1" i="1">
              <a:solidFill>
                <a:srgbClr val="D93A3F"/>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TCP: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mất 1 gói thì chặn mọi gói sau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nghẽn đầu hàng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UDP: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không chặn, nhưng không đảm bảo gì</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TextBox 2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 name="Chain 5 VĐ"/>
          <p:cNvSpPr txBox="1"/>
          <p:nvPr/>
        </p:nvSpPr>
        <p:spPr>
          <a:xfrm>
            <a:off x="914400" y="5303520"/>
            <a:ext cx="10424160" cy="2194560"/>
          </a:xfrm>
          <a:prstGeom prst="rect">
            <a:avLst/>
          </a:prstGeom>
        </p:spPr>
        <p:txBody>
          <a:bodyPr lIns="0" tIns="0" rIns="0" bIns="0" rtlCol="0" anchor="t">
            <a:normAutofit/>
          </a:bodyPr>
          <a:lstStyle/>
          <a:p>
            <a:pPr algn="l">
              <a:lnSpc>
                <a:spcPts val="2640"/>
              </a:lnSpc>
            </a:pPr>
            <a:r>
              <a:rPr lang="vi-VN" sz="22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CHIA THÀNH 5 VẤN ĐỀ CON</a:t>
            </a:r>
            <a:endParaRPr lang="vi-VN" sz="22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360"/>
              </a:lnSpc>
              <a:spcBef>
                <a:spcPts val="900"/>
              </a:spcBef>
            </a:pP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Ai quyết định</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ì</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br>
              <a:rPr lang="vi-VN" sz="2400"/>
            </a:b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công bằng</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sai</a:t>
            </a:r>
            <a:endPar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360"/>
              </a:lnSpc>
              <a:spcBef>
                <a:spcPts val="600"/>
              </a:spcBef>
            </a:pPr>
            <a:r>
              <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a:t>
            </a:r>
            <a:r>
              <a:rPr lang="vi-VN" sz="2400" b="1" i="1">
                <a:solidFill>
                  <a:srgbClr val="5B6B82"/>
                </a:solidFill>
                <a:latin typeface="Times New Roman" panose="02020603050405020304"/>
                <a:ea typeface="Times New Roman" panose="02020603050405020304"/>
                <a:cs typeface="Times New Roman" panose="02020603050405020304"/>
                <a:sym typeface="Times New Roman" panose="02020603050405020304"/>
              </a:rPr>
              <a:t>làm lộ ra</a:t>
            </a:r>
            <a:r>
              <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rPr>
              <a:t> vấn đề sau</a:t>
            </a:r>
            <a:endPar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2</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Các vấn đề con và giải pháp</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3639185"/>
          </a:xfrm>
          <a:prstGeom prst="rect">
            <a:avLst/>
          </a:prstGeom>
        </p:spPr>
        <p:txBody>
          <a:bodyPr lIns="0" tIns="0" rIns="0" bIns="0" rtlCol="0" anchor="t">
            <a:spAutoFit/>
          </a:bodyPr>
          <a:lstStyle/>
          <a:p>
            <a:pPr marL="311150" indent="-311150" algn="l">
              <a:lnSpc>
                <a:spcPct val="100000"/>
              </a:lnSpc>
              <a:spcBef>
                <a:spcPts val="300"/>
              </a:spcBef>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làm lộ ra vấn đề sau</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a.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VĐ1 Ai giữ quyền quyết định</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b.</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VĐ2 Điều khiển bị ì</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c.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VĐ3 Đối thủ giật</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d.</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VĐ4 Không công bằng</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e.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VĐ5 Dự đoán hành động sai</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840"/>
              </a:lnSpc>
            </a:pPr>
            <a:endPar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3"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3" name="Header band"/>
          <p:cNvSpPr/>
          <p:nvPr/>
        </p:nvSpPr>
        <p:spPr>
          <a:xfrm>
            <a:off x="0" y="0"/>
            <a:ext cx="18288000" cy="2103120"/>
          </a:xfrm>
          <a:prstGeom prst="rect">
            <a:avLst/>
          </a:prstGeom>
          <a:solidFill>
            <a:srgbClr val="14213D"/>
          </a:solidFill>
          <a:ln>
            <a:noFill/>
          </a:ln>
        </p:spPr>
      </p:sp>
      <p:sp>
        <p:nvSpPr>
          <p:cNvPr id="9044"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Ai giữ quyền quyết định trạng thái?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aphicFrame>
        <p:nvGraphicFramePr>
          <p:cNvPr id="13" name="Table 13"/>
          <p:cNvGraphicFramePr>
            <a:graphicFrameLocks noGrp="1"/>
          </p:cNvGraphicFramePr>
          <p:nvPr/>
        </p:nvGraphicFramePr>
        <p:xfrm>
          <a:off x="914400" y="2468880"/>
          <a:ext cx="16408401" cy="3962400"/>
        </p:xfrm>
        <a:graphic>
          <a:graphicData uri="http://schemas.openxmlformats.org/drawingml/2006/table">
            <a:tbl>
              <a:tblPr/>
              <a:tblGrid>
                <a:gridCol w="5005315"/>
                <a:gridCol w="2656957"/>
                <a:gridCol w="2566635"/>
                <a:gridCol w="6179494"/>
              </a:tblGrid>
              <a:tr h="701736">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Hướng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Phản hồi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Chống gian lận</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Ghi chú</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r>
              <a:tr h="1086888">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tự quyết, server chuyển tiếp</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840"/>
                        </a:lnSpc>
                        <a:defRPr/>
                      </a:pPr>
                      <a:r>
                        <a:rPr lang="en-US" sz="32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840"/>
                        </a:lnSpc>
                        <a:defRPr/>
                      </a:pPr>
                      <a:r>
                        <a:rPr lang="en-US" sz="32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Sửa gói tin là dịch chuyển, hack tốc độ, tự cộng điểm</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1086888">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Đồng bộ theo bước (ngang hàng)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840"/>
                        </a:lnSpc>
                        <a:defRPr/>
                      </a:pPr>
                      <a:r>
                        <a:rPr lang="en-US" sz="32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840"/>
                        </a:lnSpc>
                        <a:defRPr/>
                      </a:pPr>
                      <a:r>
                        <a:rPr lang="en-US" sz="3200">
                          <a:solidFill>
                            <a:srgbClr val="F4A259"/>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Chờ người chậm nhất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1086888">
                <a:tc>
                  <a:txBody>
                    <a:bodyPr rtlCol="0"/>
                    <a:lstStyle/>
                    <a:p>
                      <a:pPr algn="l">
                        <a:lnSpc>
                          <a:spcPts val="3360"/>
                        </a:lnSpc>
                        <a:defRP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2880"/>
                        </a:lnSpc>
                        <a:defRPr/>
                      </a:pPr>
                      <a:r>
                        <a:rPr lang="en-US" sz="2400" b="1">
                          <a:solidFill>
                            <a:srgbClr val="5B6B82"/>
                          </a:solidFill>
                          <a:latin typeface="Times New Roman" panose="02020603050405020304"/>
                          <a:ea typeface="Times New Roman" panose="02020603050405020304"/>
                          <a:cs typeface="Times New Roman" panose="02020603050405020304"/>
                          <a:sym typeface="Times New Roman" panose="02020603050405020304"/>
                        </a:rPr>
                        <a:t>○ (giải ở VĐ2)</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3840"/>
                        </a:lnSpc>
                        <a:defRPr/>
                      </a:pPr>
                      <a:r>
                        <a:rPr lang="en-US" sz="3200" b="1">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3360"/>
                        </a:lnSpc>
                        <a:defRP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chỉ gửi lệnh điều khiển</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r>
            </a:tbl>
          </a:graphicData>
        </a:graphic>
      </p:graphicFrame>
      <p:grpSp>
        <p:nvGrpSpPr>
          <p:cNvPr id="14" name="Group 14"/>
          <p:cNvGrpSpPr/>
          <p:nvPr/>
        </p:nvGrpSpPr>
        <p:grpSpPr>
          <a:xfrm rot="0">
            <a:off x="4135120" y="6583680"/>
            <a:ext cx="9966960" cy="2857500"/>
            <a:chOff x="0" y="0"/>
            <a:chExt cx="21987929" cy="4064838"/>
          </a:xfrm>
        </p:grpSpPr>
        <p:sp>
          <p:nvSpPr>
            <p:cNvPr id="15" name="Freeform 15"/>
            <p:cNvSpPr/>
            <p:nvPr/>
          </p:nvSpPr>
          <p:spPr>
            <a:xfrm>
              <a:off x="0" y="0"/>
              <a:ext cx="21988018" cy="4064927"/>
            </a:xfrm>
            <a:custGeom>
              <a:avLst/>
              <a:gdLst/>
              <a:ahLst/>
              <a:cxnLst/>
              <a:rect l="l" t="t" r="r" b="b"/>
              <a:pathLst>
                <a:path w="21988018" h="4064927">
                  <a:moveTo>
                    <a:pt x="0" y="250223"/>
                  </a:moveTo>
                  <a:cubicBezTo>
                    <a:pt x="0" y="112014"/>
                    <a:pt x="88519" y="0"/>
                    <a:pt x="197739" y="0"/>
                  </a:cubicBezTo>
                  <a:lnTo>
                    <a:pt x="21790279" y="0"/>
                  </a:lnTo>
                  <a:cubicBezTo>
                    <a:pt x="21899499" y="0"/>
                    <a:pt x="21988018" y="112014"/>
                    <a:pt x="21988018" y="250223"/>
                  </a:cubicBezTo>
                  <a:lnTo>
                    <a:pt x="21988018" y="3814728"/>
                  </a:lnTo>
                  <a:cubicBezTo>
                    <a:pt x="21988018" y="3952937"/>
                    <a:pt x="21899499" y="4064927"/>
                    <a:pt x="21790279" y="4064927"/>
                  </a:cubicBezTo>
                  <a:lnTo>
                    <a:pt x="197739" y="4064927"/>
                  </a:lnTo>
                  <a:cubicBezTo>
                    <a:pt x="88519" y="4064790"/>
                    <a:pt x="0" y="3952777"/>
                    <a:pt x="0" y="3814728"/>
                  </a:cubicBezTo>
                  <a:close/>
                </a:path>
              </a:pathLst>
            </a:custGeom>
            <a:blipFill>
              <a:blip r:embed="rId2"/>
              <a:srcRect t="6000" b="8000"/>
              <a:stretch>
                <a:fillRect/>
              </a:stretch>
            </a:blipFill>
            <a:ln w="31750" cap="sq">
              <a:solidFill>
                <a:srgbClr val="00897B"/>
              </a:solidFill>
              <a:prstDash val="dash"/>
              <a:miter/>
            </a:ln>
          </p:spPr>
        </p:sp>
      </p:grpSp>
      <p:sp>
        <p:nvSpPr>
          <p:cNvPr id="16" name="TextBox 16"/>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7" name="TextBox 17"/>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8</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5" name="Header band"/>
          <p:cNvSpPr/>
          <p:nvPr/>
        </p:nvSpPr>
        <p:spPr>
          <a:xfrm>
            <a:off x="0" y="0"/>
            <a:ext cx="18288000" cy="2103120"/>
          </a:xfrm>
          <a:prstGeom prst="rect">
            <a:avLst/>
          </a:prstGeom>
          <a:solidFill>
            <a:srgbClr val="14213D"/>
          </a:solidFill>
          <a:ln>
            <a:noFill/>
          </a:ln>
        </p:spPr>
      </p:sp>
      <p:sp>
        <p:nvSpPr>
          <p:cNvPr id="9046"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5750"/>
                </a:lnSpc>
              </a:pPr>
              <a:r>
                <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 quyết định, nhịp cố định, kênh truyền</a:t>
              </a:r>
              <a:endPar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2456183"/>
            <a:ext cx="4963163" cy="1945643"/>
            <a:chOff x="0" y="0"/>
            <a:chExt cx="6617551" cy="2594191"/>
          </a:xfrm>
        </p:grpSpPr>
        <p:sp>
          <p:nvSpPr>
            <p:cNvPr id="14" name="Freeform 14"/>
            <p:cNvSpPr/>
            <p:nvPr/>
          </p:nvSpPr>
          <p:spPr>
            <a:xfrm>
              <a:off x="0" y="0"/>
              <a:ext cx="6617462" cy="2594102"/>
            </a:xfrm>
            <a:custGeom>
              <a:avLst/>
              <a:gdLst/>
              <a:ahLst/>
              <a:cxnLst/>
              <a:rect l="l" t="t" r="r" b="b"/>
              <a:pathLst>
                <a:path w="6617462" h="259410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sp>
      </p:grpSp>
      <p:grpSp>
        <p:nvGrpSpPr>
          <p:cNvPr id="15" name="Group 15"/>
          <p:cNvGrpSpPr/>
          <p:nvPr/>
        </p:nvGrpSpPr>
        <p:grpSpPr>
          <a:xfrm rot="0">
            <a:off x="1280160" y="2560320"/>
            <a:ext cx="1828800" cy="1737360"/>
            <a:chOff x="0" y="0"/>
            <a:chExt cx="2438400" cy="2316480"/>
          </a:xfrm>
        </p:grpSpPr>
        <p:sp>
          <p:nvSpPr>
            <p:cNvPr id="16" name="Freeform 16"/>
            <p:cNvSpPr/>
            <p:nvPr/>
          </p:nvSpPr>
          <p:spPr>
            <a:xfrm>
              <a:off x="0" y="0"/>
              <a:ext cx="2438400" cy="2316480"/>
            </a:xfrm>
            <a:custGeom>
              <a:avLst/>
              <a:gdLst/>
              <a:ahLst/>
              <a:cxnLst/>
              <a:rect l="l" t="t" r="r" b="b"/>
              <a:pathLst>
                <a:path w="2438400" h="2316480">
                  <a:moveTo>
                    <a:pt x="0" y="0"/>
                  </a:moveTo>
                  <a:lnTo>
                    <a:pt x="2438400" y="0"/>
                  </a:lnTo>
                  <a:lnTo>
                    <a:pt x="2438400" y="2316480"/>
                  </a:lnTo>
                  <a:lnTo>
                    <a:pt x="0" y="2316480"/>
                  </a:lnTo>
                  <a:close/>
                </a:path>
              </a:pathLst>
            </a:custGeom>
            <a:blipFill>
              <a:blip r:embed="rId1">
                <a:alphaModFix amt="0"/>
              </a:blip>
              <a:stretch>
                <a:fillRect l="-71888" r="-71888"/>
              </a:stretch>
            </a:blipFill>
          </p:spPr>
        </p:sp>
        <p:sp>
          <p:nvSpPr>
            <p:cNvPr id="17" name="TextBox 17"/>
            <p:cNvSpPr txBox="1"/>
            <p:nvPr/>
          </p:nvSpPr>
          <p:spPr>
            <a:xfrm>
              <a:off x="0" y="-9525"/>
              <a:ext cx="2438400" cy="2326005"/>
            </a:xfrm>
            <a:prstGeom prst="rect">
              <a:avLst/>
            </a:prstGeom>
          </p:spPr>
          <p:txBody>
            <a:bodyPr lIns="0" tIns="0" rIns="0" bIns="0" rtlCol="0" anchor="ctr"/>
            <a:lstStyle/>
            <a:p>
              <a:pPr algn="l">
                <a:lnSpc>
                  <a:spcPts val="9600"/>
                </a:lnSpc>
              </a:pPr>
              <a:r>
                <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rPr>
                <a:t>30</a:t>
              </a:r>
              <a:endPar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3108960" y="2560320"/>
            <a:ext cx="2560320" cy="1737360"/>
            <a:chOff x="0" y="0"/>
            <a:chExt cx="3413760" cy="2316480"/>
          </a:xfrm>
        </p:grpSpPr>
        <p:sp>
          <p:nvSpPr>
            <p:cNvPr id="19" name="Freeform 19"/>
            <p:cNvSpPr/>
            <p:nvPr/>
          </p:nvSpPr>
          <p:spPr>
            <a:xfrm>
              <a:off x="0" y="0"/>
              <a:ext cx="3413760" cy="2316480"/>
            </a:xfrm>
            <a:custGeom>
              <a:avLst/>
              <a:gdLst/>
              <a:ahLst/>
              <a:cxnLst/>
              <a:rect l="l" t="t" r="r" b="b"/>
              <a:pathLst>
                <a:path w="3413760" h="2316480">
                  <a:moveTo>
                    <a:pt x="0" y="0"/>
                  </a:moveTo>
                  <a:lnTo>
                    <a:pt x="3413760" y="0"/>
                  </a:lnTo>
                  <a:lnTo>
                    <a:pt x="3413760" y="2316480"/>
                  </a:lnTo>
                  <a:lnTo>
                    <a:pt x="0" y="2316480"/>
                  </a:lnTo>
                  <a:close/>
                </a:path>
              </a:pathLst>
            </a:custGeom>
            <a:blipFill>
              <a:blip r:embed="rId1">
                <a:alphaModFix amt="0"/>
              </a:blip>
              <a:stretch>
                <a:fillRect l="-37063" r="-37063"/>
              </a:stretch>
            </a:blipFill>
          </p:spPr>
        </p:sp>
        <p:sp>
          <p:nvSpPr>
            <p:cNvPr id="20" name="TextBox 20"/>
            <p:cNvSpPr txBox="1"/>
            <p:nvPr/>
          </p:nvSpPr>
          <p:spPr>
            <a:xfrm>
              <a:off x="0" y="-57150"/>
              <a:ext cx="3413760" cy="2373630"/>
            </a:xfrm>
            <a:prstGeom prst="rect">
              <a:avLst/>
            </a:prstGeom>
          </p:spPr>
          <p:txBody>
            <a:bodyPr lIns="0" tIns="0" rIns="0" bIns="0" rtlCol="0" anchor="ctr"/>
            <a:lstStyle/>
            <a:p>
              <a:pPr algn="l">
                <a:lnSpc>
                  <a:spcPts val="3120"/>
                </a:lnSpc>
              </a:pPr>
              <a:r>
                <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rPr>
                <a:t>nhịp mô phỏng mỗi giây (cố định)</a:t>
              </a:r>
              <a:endPar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6388103" y="2456183"/>
            <a:ext cx="4963163" cy="1945643"/>
            <a:chOff x="0" y="0"/>
            <a:chExt cx="6617551" cy="2594191"/>
          </a:xfrm>
        </p:grpSpPr>
        <p:sp>
          <p:nvSpPr>
            <p:cNvPr id="22" name="Freeform 22"/>
            <p:cNvSpPr/>
            <p:nvPr/>
          </p:nvSpPr>
          <p:spPr>
            <a:xfrm>
              <a:off x="0" y="0"/>
              <a:ext cx="6617462" cy="2594102"/>
            </a:xfrm>
            <a:custGeom>
              <a:avLst/>
              <a:gdLst/>
              <a:ahLst/>
              <a:cxnLst/>
              <a:rect l="l" t="t" r="r" b="b"/>
              <a:pathLst>
                <a:path w="6617462" h="259410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sp>
      </p:grpSp>
      <p:grpSp>
        <p:nvGrpSpPr>
          <p:cNvPr id="23" name="Group 23"/>
          <p:cNvGrpSpPr/>
          <p:nvPr/>
        </p:nvGrpSpPr>
        <p:grpSpPr>
          <a:xfrm rot="0">
            <a:off x="6766560" y="2560320"/>
            <a:ext cx="1828800" cy="1737360"/>
            <a:chOff x="0" y="0"/>
            <a:chExt cx="2438400" cy="2316480"/>
          </a:xfrm>
        </p:grpSpPr>
        <p:sp>
          <p:nvSpPr>
            <p:cNvPr id="24" name="Freeform 24"/>
            <p:cNvSpPr/>
            <p:nvPr/>
          </p:nvSpPr>
          <p:spPr>
            <a:xfrm>
              <a:off x="0" y="0"/>
              <a:ext cx="2438400" cy="2316480"/>
            </a:xfrm>
            <a:custGeom>
              <a:avLst/>
              <a:gdLst/>
              <a:ahLst/>
              <a:cxnLst/>
              <a:rect l="l" t="t" r="r" b="b"/>
              <a:pathLst>
                <a:path w="2438400" h="2316480">
                  <a:moveTo>
                    <a:pt x="0" y="0"/>
                  </a:moveTo>
                  <a:lnTo>
                    <a:pt x="2438400" y="0"/>
                  </a:lnTo>
                  <a:lnTo>
                    <a:pt x="2438400" y="2316480"/>
                  </a:lnTo>
                  <a:lnTo>
                    <a:pt x="0" y="2316480"/>
                  </a:lnTo>
                  <a:close/>
                </a:path>
              </a:pathLst>
            </a:custGeom>
            <a:blipFill>
              <a:blip r:embed="rId1">
                <a:alphaModFix amt="0"/>
              </a:blip>
              <a:stretch>
                <a:fillRect l="-71888" r="-71888"/>
              </a:stretch>
            </a:blipFill>
          </p:spPr>
        </p:sp>
        <p:sp>
          <p:nvSpPr>
            <p:cNvPr id="25" name="TextBox 25"/>
            <p:cNvSpPr txBox="1"/>
            <p:nvPr/>
          </p:nvSpPr>
          <p:spPr>
            <a:xfrm>
              <a:off x="0" y="-9525"/>
              <a:ext cx="2438400" cy="2326005"/>
            </a:xfrm>
            <a:prstGeom prst="rect">
              <a:avLst/>
            </a:prstGeom>
          </p:spPr>
          <p:txBody>
            <a:bodyPr lIns="0" tIns="0" rIns="0" bIns="0" rtlCol="0" anchor="ctr"/>
            <a:lstStyle/>
            <a:p>
              <a:pPr algn="l">
                <a:lnSpc>
                  <a:spcPts val="9600"/>
                </a:lnSpc>
              </a:pPr>
              <a:r>
                <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rPr>
                <a:t>20</a:t>
              </a:r>
              <a:endPar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8595360" y="2560320"/>
            <a:ext cx="2560320" cy="1737360"/>
            <a:chOff x="0" y="0"/>
            <a:chExt cx="3413760" cy="2316480"/>
          </a:xfrm>
        </p:grpSpPr>
        <p:sp>
          <p:nvSpPr>
            <p:cNvPr id="27" name="Freeform 27"/>
            <p:cNvSpPr/>
            <p:nvPr/>
          </p:nvSpPr>
          <p:spPr>
            <a:xfrm>
              <a:off x="0" y="0"/>
              <a:ext cx="3413760" cy="2316480"/>
            </a:xfrm>
            <a:custGeom>
              <a:avLst/>
              <a:gdLst/>
              <a:ahLst/>
              <a:cxnLst/>
              <a:rect l="l" t="t" r="r" b="b"/>
              <a:pathLst>
                <a:path w="3413760" h="2316480">
                  <a:moveTo>
                    <a:pt x="0" y="0"/>
                  </a:moveTo>
                  <a:lnTo>
                    <a:pt x="3413760" y="0"/>
                  </a:lnTo>
                  <a:lnTo>
                    <a:pt x="3413760" y="2316480"/>
                  </a:lnTo>
                  <a:lnTo>
                    <a:pt x="0" y="2316480"/>
                  </a:lnTo>
                  <a:close/>
                </a:path>
              </a:pathLst>
            </a:custGeom>
            <a:blipFill>
              <a:blip r:embed="rId1">
                <a:alphaModFix amt="0"/>
              </a:blip>
              <a:stretch>
                <a:fillRect l="-37063" r="-37063"/>
              </a:stretch>
            </a:blipFill>
          </p:spPr>
        </p:sp>
        <p:sp>
          <p:nvSpPr>
            <p:cNvPr id="28" name="TextBox 28"/>
            <p:cNvSpPr txBox="1"/>
            <p:nvPr/>
          </p:nvSpPr>
          <p:spPr>
            <a:xfrm>
              <a:off x="0" y="-57150"/>
              <a:ext cx="3413760" cy="2373630"/>
            </a:xfrm>
            <a:prstGeom prst="rect">
              <a:avLst/>
            </a:prstGeom>
          </p:spPr>
          <p:txBody>
            <a:bodyPr lIns="0" tIns="0" rIns="0" bIns="0" rtlCol="0" anchor="ctr"/>
            <a:lstStyle/>
            <a:p>
              <a:pPr algn="l">
                <a:lnSpc>
                  <a:spcPts val="3120"/>
                </a:lnSpc>
              </a:pPr>
              <a:r>
                <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rPr>
                <a:t>ảnh trạng thái gửi mỗi giây</a:t>
              </a:r>
              <a:endPar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9" name="Group 29"/>
          <p:cNvGrpSpPr/>
          <p:nvPr/>
        </p:nvGrpSpPr>
        <p:grpSpPr>
          <a:xfrm rot="0">
            <a:off x="11779882" y="2453002"/>
            <a:ext cx="5609587" cy="6706867"/>
            <a:chOff x="0" y="0"/>
            <a:chExt cx="7479449" cy="8942489"/>
          </a:xfrm>
        </p:grpSpPr>
        <p:sp>
          <p:nvSpPr>
            <p:cNvPr id="30" name="Freeform 3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31" name="TextBox 3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2" name="TextBox 32"/>
          <p:cNvSpPr txBox="1"/>
          <p:nvPr/>
        </p:nvSpPr>
        <p:spPr>
          <a:xfrm>
            <a:off x="914400" y="4779645"/>
            <a:ext cx="10424160" cy="445579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Mỗi nhịp xử lý tối đa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1 lệnh/người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nên gửi nhiều lệnh cũng không chạy nhanh hơn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TCP: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đăng nhập, ghép trận, kết quả quan trọng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UDP: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ảnh trạng thái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3" name="TextBox 3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9</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7" name="Header band"/>
          <p:cNvSpPr/>
          <p:nvPr/>
        </p:nvSpPr>
        <p:spPr>
          <a:xfrm>
            <a:off x="0" y="0"/>
            <a:ext cx="18288000" cy="2103120"/>
          </a:xfrm>
          <a:prstGeom prst="rect">
            <a:avLst/>
          </a:prstGeom>
          <a:solidFill>
            <a:srgbClr val="14213D"/>
          </a:solidFill>
          <a:ln>
            <a:noFill/>
          </a:ln>
        </p:spPr>
      </p:sp>
      <p:sp>
        <p:nvSpPr>
          <p:cNvPr id="9048"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785"/>
                </a:lnSpc>
              </a:pPr>
              <a:r>
                <a:rPr lang="en-US" sz="59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Điều khiển bị ì → dự đoán phía client</a:t>
              </a:r>
              <a:endParaRPr lang="en-US" sz="59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6576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41513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41513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Chờ server</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48097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F4A259"/>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F4A259"/>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48097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Che bằng hoạt ảnh</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54554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54681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4681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4681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phía client</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11639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trễ điều khiển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RTT + tối đa 83 ms</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Với RTT 200 ms là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200–280 ms</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6279261"/>
            <a:ext cx="10424160" cy="29561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client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tự áp lệnh ngay</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vẫn là người quyết định cuối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kiện: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dùng chung code mô phỏng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Simulation.step (một file, chạy ở cả client và server)</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Nhưng chỉ dự đoán thôi thì bị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giật ngược</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10</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9" name="Header band"/>
          <p:cNvSpPr/>
          <p:nvPr/>
        </p:nvSpPr>
        <p:spPr>
          <a:xfrm>
            <a:off x="0" y="0"/>
            <a:ext cx="18288000" cy="2103120"/>
          </a:xfrm>
          <a:prstGeom prst="rect">
            <a:avLst/>
          </a:prstGeom>
          <a:solidFill>
            <a:srgbClr val="14213D"/>
          </a:solidFill>
          <a:ln>
            <a:noFill/>
          </a:ln>
        </p:spPr>
      </p:sp>
      <p:sp>
        <p:nvSpPr>
          <p:cNvPr id="9050"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Đối chiếu với server</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2456183"/>
            <a:ext cx="756923" cy="756923"/>
            <a:chOff x="0" y="0"/>
            <a:chExt cx="1009231" cy="1009231"/>
          </a:xfrm>
        </p:grpSpPr>
        <p:sp>
          <p:nvSpPr>
            <p:cNvPr id="14" name="Freeform 14"/>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sp>
      </p:grpSp>
      <p:grpSp>
        <p:nvGrpSpPr>
          <p:cNvPr id="15" name="Group 15"/>
          <p:cNvGrpSpPr/>
          <p:nvPr/>
        </p:nvGrpSpPr>
        <p:grpSpPr>
          <a:xfrm rot="0">
            <a:off x="914400" y="2468880"/>
            <a:ext cx="731520" cy="731520"/>
            <a:chOff x="0" y="0"/>
            <a:chExt cx="975360" cy="975360"/>
          </a:xfrm>
        </p:grpSpPr>
        <p:sp>
          <p:nvSpPr>
            <p:cNvPr id="16" name="Freeform 16"/>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sp>
        <p:sp>
          <p:nvSpPr>
            <p:cNvPr id="17" name="TextBox 17"/>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901703" y="3462023"/>
            <a:ext cx="756923" cy="756923"/>
            <a:chOff x="0" y="0"/>
            <a:chExt cx="1009231" cy="1009231"/>
          </a:xfrm>
        </p:grpSpPr>
        <p:sp>
          <p:nvSpPr>
            <p:cNvPr id="19" name="Freeform 19"/>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sp>
      </p:grpSp>
      <p:grpSp>
        <p:nvGrpSpPr>
          <p:cNvPr id="20" name="Group 20"/>
          <p:cNvGrpSpPr/>
          <p:nvPr/>
        </p:nvGrpSpPr>
        <p:grpSpPr>
          <a:xfrm rot="0">
            <a:off x="914400" y="3474720"/>
            <a:ext cx="731520" cy="731520"/>
            <a:chOff x="0" y="0"/>
            <a:chExt cx="975360" cy="975360"/>
          </a:xfrm>
        </p:grpSpPr>
        <p:sp>
          <p:nvSpPr>
            <p:cNvPr id="21" name="Freeform 21"/>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sp>
        <p:sp>
          <p:nvSpPr>
            <p:cNvPr id="22" name="TextBox 22"/>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3" name="Group 23"/>
          <p:cNvGrpSpPr/>
          <p:nvPr/>
        </p:nvGrpSpPr>
        <p:grpSpPr>
          <a:xfrm rot="0">
            <a:off x="901703" y="4467863"/>
            <a:ext cx="756923" cy="756923"/>
            <a:chOff x="0" y="0"/>
            <a:chExt cx="1009231" cy="1009231"/>
          </a:xfrm>
        </p:grpSpPr>
        <p:sp>
          <p:nvSpPr>
            <p:cNvPr id="24" name="Freeform 24"/>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sp>
      </p:grpSp>
      <p:grpSp>
        <p:nvGrpSpPr>
          <p:cNvPr id="25" name="Group 25"/>
          <p:cNvGrpSpPr/>
          <p:nvPr/>
        </p:nvGrpSpPr>
        <p:grpSpPr>
          <a:xfrm rot="0">
            <a:off x="914400" y="4480560"/>
            <a:ext cx="731520" cy="731520"/>
            <a:chOff x="0" y="0"/>
            <a:chExt cx="975360" cy="975360"/>
          </a:xfrm>
        </p:grpSpPr>
        <p:sp>
          <p:nvSpPr>
            <p:cNvPr id="26" name="Freeform 26"/>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sp>
        <p:sp>
          <p:nvSpPr>
            <p:cNvPr id="27" name="TextBox 27"/>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6662423"/>
            <a:ext cx="16484603" cy="2494283"/>
            <a:chOff x="0" y="0"/>
            <a:chExt cx="21979471" cy="3325711"/>
          </a:xfrm>
        </p:grpSpPr>
        <p:sp>
          <p:nvSpPr>
            <p:cNvPr id="29" name="Freeform 29"/>
            <p:cNvSpPr/>
            <p:nvPr/>
          </p:nvSpPr>
          <p:spPr>
            <a:xfrm>
              <a:off x="0" y="0"/>
              <a:ext cx="21979510" cy="3325749"/>
            </a:xfrm>
            <a:custGeom>
              <a:avLst/>
              <a:gdLst/>
              <a:ahLst/>
              <a:cxnLst/>
              <a:rect l="l" t="t" r="r" b="b"/>
              <a:pathLst>
                <a:path w="21979510" h="3325749">
                  <a:moveTo>
                    <a:pt x="0" y="197104"/>
                  </a:moveTo>
                  <a:cubicBezTo>
                    <a:pt x="0" y="88265"/>
                    <a:pt x="88265" y="0"/>
                    <a:pt x="197104" y="0"/>
                  </a:cubicBezTo>
                  <a:lnTo>
                    <a:pt x="21782405" y="0"/>
                  </a:lnTo>
                  <a:cubicBezTo>
                    <a:pt x="21891244" y="0"/>
                    <a:pt x="21979510" y="88265"/>
                    <a:pt x="21979510" y="197104"/>
                  </a:cubicBezTo>
                  <a:lnTo>
                    <a:pt x="21979510" y="3128645"/>
                  </a:lnTo>
                  <a:cubicBezTo>
                    <a:pt x="21979510" y="3237484"/>
                    <a:pt x="21891244" y="3325749"/>
                    <a:pt x="21782405" y="3325749"/>
                  </a:cubicBezTo>
                  <a:lnTo>
                    <a:pt x="197104" y="3325749"/>
                  </a:lnTo>
                  <a:cubicBezTo>
                    <a:pt x="88265" y="3325749"/>
                    <a:pt x="0" y="3237484"/>
                    <a:pt x="0" y="3128645"/>
                  </a:cubicBezTo>
                  <a:close/>
                </a:path>
              </a:pathLst>
            </a:custGeom>
            <a:solidFill>
              <a:srgbClr val="0B1626"/>
            </a:solidFill>
            <a:ln w="25400" cap="sq">
              <a:solidFill>
                <a:srgbClr val="0B1626"/>
              </a:solidFill>
              <a:prstDash val="solid"/>
              <a:miter/>
            </a:ln>
          </p:spPr>
        </p:sp>
      </p:grpSp>
      <p:grpSp>
        <p:nvGrpSpPr>
          <p:cNvPr id="30" name="Group 30"/>
          <p:cNvGrpSpPr/>
          <p:nvPr/>
        </p:nvGrpSpPr>
        <p:grpSpPr>
          <a:xfrm rot="0">
            <a:off x="1371600" y="6675120"/>
            <a:ext cx="15544800" cy="2468880"/>
            <a:chOff x="0" y="0"/>
            <a:chExt cx="20726400" cy="3291840"/>
          </a:xfrm>
        </p:grpSpPr>
        <p:sp>
          <p:nvSpPr>
            <p:cNvPr id="31" name="Freeform 31"/>
            <p:cNvSpPr/>
            <p:nvPr/>
          </p:nvSpPr>
          <p:spPr>
            <a:xfrm>
              <a:off x="0" y="0"/>
              <a:ext cx="20726400" cy="3291840"/>
            </a:xfrm>
            <a:custGeom>
              <a:avLst/>
              <a:gdLst/>
              <a:ahLst/>
              <a:cxnLst/>
              <a:rect l="l" t="t" r="r" b="b"/>
              <a:pathLst>
                <a:path w="20726400" h="3291840">
                  <a:moveTo>
                    <a:pt x="0" y="0"/>
                  </a:moveTo>
                  <a:lnTo>
                    <a:pt x="20726400" y="0"/>
                  </a:lnTo>
                  <a:lnTo>
                    <a:pt x="20726400" y="3291840"/>
                  </a:lnTo>
                  <a:lnTo>
                    <a:pt x="0" y="3291840"/>
                  </a:lnTo>
                  <a:close/>
                </a:path>
              </a:pathLst>
            </a:custGeom>
            <a:blipFill>
              <a:blip r:embed="rId1">
                <a:alphaModFix amt="0"/>
              </a:blip>
              <a:stretch>
                <a:fillRect t="-72683" b="-72683"/>
              </a:stretch>
            </a:blipFill>
          </p:spPr>
        </p:sp>
        <p:sp>
          <p:nvSpPr>
            <p:cNvPr id="32" name="TextBox 32"/>
            <p:cNvSpPr txBox="1"/>
            <p:nvPr/>
          </p:nvSpPr>
          <p:spPr>
            <a:xfrm>
              <a:off x="0" y="-19050"/>
              <a:ext cx="20726400" cy="3310890"/>
            </a:xfrm>
            <a:prstGeom prst="rect">
              <a:avLst/>
            </a:prstGeom>
          </p:spPr>
          <p:txBody>
            <a:bodyPr lIns="0" tIns="0" rIns="0" bIns="0" rtlCol="0" anchor="ctr"/>
            <a:lstStyle/>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state = snap.me;</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pending = pending.filter(i =&gt; i.seq &gt; snap.lastProcessedSeq);</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for (const i of pending) state = Simulation.step(state, i.keys, DT);</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p:txBody>
        </p:sp>
      </p:grpSp>
      <p:grpSp>
        <p:nvGrpSpPr>
          <p:cNvPr id="33" name="Group 33"/>
          <p:cNvGrpSpPr/>
          <p:nvPr/>
        </p:nvGrpSpPr>
        <p:grpSpPr>
          <a:xfrm rot="0">
            <a:off x="11531034" y="2395728"/>
            <a:ext cx="6179906" cy="4113199"/>
            <a:chOff x="0" y="0"/>
            <a:chExt cx="8642870" cy="5752489"/>
          </a:xfrm>
        </p:grpSpPr>
        <p:sp>
          <p:nvSpPr>
            <p:cNvPr id="34" name="Freeform 34"/>
            <p:cNvSpPr/>
            <p:nvPr/>
          </p:nvSpPr>
          <p:spPr>
            <a:xfrm>
              <a:off x="0" y="0"/>
              <a:ext cx="8642826" cy="5752447"/>
            </a:xfrm>
            <a:custGeom>
              <a:avLst/>
              <a:gdLst/>
              <a:ahLst/>
              <a:cxnLst/>
              <a:rect l="l" t="t" r="r" b="b"/>
              <a:pathLst>
                <a:path w="8642826" h="5752447">
                  <a:moveTo>
                    <a:pt x="0" y="219185"/>
                  </a:moveTo>
                  <a:cubicBezTo>
                    <a:pt x="0" y="98060"/>
                    <a:pt x="101701" y="0"/>
                    <a:pt x="227323" y="0"/>
                  </a:cubicBezTo>
                  <a:lnTo>
                    <a:pt x="8415503" y="0"/>
                  </a:lnTo>
                  <a:cubicBezTo>
                    <a:pt x="8540978" y="0"/>
                    <a:pt x="8642826" y="98060"/>
                    <a:pt x="8642826" y="219185"/>
                  </a:cubicBezTo>
                  <a:lnTo>
                    <a:pt x="8642826" y="5533261"/>
                  </a:lnTo>
                  <a:cubicBezTo>
                    <a:pt x="8642826" y="5654245"/>
                    <a:pt x="8541125" y="5752447"/>
                    <a:pt x="8415503" y="5752447"/>
                  </a:cubicBezTo>
                  <a:lnTo>
                    <a:pt x="227323" y="5752447"/>
                  </a:lnTo>
                  <a:cubicBezTo>
                    <a:pt x="101701" y="5752447"/>
                    <a:pt x="0" y="5654386"/>
                    <a:pt x="0" y="5533261"/>
                  </a:cubicBezTo>
                  <a:close/>
                </a:path>
              </a:pathLst>
            </a:custGeom>
            <a:blipFill>
              <a:blip r:embed="rId2"/>
              <a:stretch>
                <a:fillRect t="-82" b="-82"/>
              </a:stretch>
            </a:blipFill>
            <a:ln w="31750" cap="sq">
              <a:solidFill>
                <a:srgbClr val="00897B"/>
              </a:solidFill>
              <a:prstDash val="dash"/>
              <a:miter/>
            </a:ln>
          </p:spPr>
        </p:sp>
      </p:grpSp>
      <p:sp>
        <p:nvSpPr>
          <p:cNvPr id="35" name="TextBox 3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6" name="TextBox 36"/>
          <p:cNvSpPr txBox="1"/>
          <p:nvPr/>
        </p:nvSpPr>
        <p:spPr>
          <a:xfrm>
            <a:off x="1996440" y="2402205"/>
            <a:ext cx="9342120" cy="98107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giữ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bộ đệm</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các lệnh chưa được xác nhận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7" name="TextBox 37"/>
          <p:cNvSpPr txBox="1"/>
          <p:nvPr/>
        </p:nvSpPr>
        <p:spPr>
          <a:xfrm>
            <a:off x="1996440" y="3465195"/>
            <a:ext cx="9342120" cy="923925"/>
          </a:xfrm>
          <a:prstGeom prst="rect">
            <a:avLst/>
          </a:prstGeom>
        </p:spPr>
        <p:txBody>
          <a:bodyPr lIns="0" tIns="0" rIns="0" bIns="0" rtlCol="0" anchor="t">
            <a:spAutoFit/>
          </a:bodyPr>
          <a:lstStyle/>
          <a:p>
            <a:pPr algn="l">
              <a:lnSpc>
                <a:spcPts val="3360"/>
              </a:lnSpc>
            </a:pPr>
            <a:r>
              <a:rPr lang="en-US" sz="2800">
                <a:solidFill>
                  <a:srgbClr val="14213D"/>
                </a:solidFill>
                <a:latin typeface="Courier New" panose="02070309020205020404"/>
                <a:ea typeface="Courier New" panose="02070309020205020404"/>
                <a:cs typeface="Courier New" panose="02070309020205020404"/>
                <a:sym typeface="Courier New" panose="02070309020205020404"/>
              </a:rPr>
              <a:t>Ảnh trạng thái kèm lastProcessedSeq = N</a:t>
            </a:r>
            <a:endParaRPr lang="en-US" sz="2800">
              <a:solidFill>
                <a:srgbClr val="14213D"/>
              </a:solidFill>
              <a:latin typeface="Courier New" panose="02070309020205020404"/>
              <a:ea typeface="Courier New" panose="02070309020205020404"/>
              <a:cs typeface="Courier New" panose="02070309020205020404"/>
              <a:sym typeface="Courier New" panose="02070309020205020404"/>
            </a:endParaRPr>
          </a:p>
        </p:txBody>
      </p:sp>
      <p:sp>
        <p:nvSpPr>
          <p:cNvPr id="38" name="TextBox 38"/>
          <p:cNvSpPr txBox="1"/>
          <p:nvPr/>
        </p:nvSpPr>
        <p:spPr>
          <a:xfrm>
            <a:off x="1658626" y="4417695"/>
            <a:ext cx="9043611" cy="90487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Nhận ảnh: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đặt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theo server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bỏ</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 N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chạy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còn lại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9" name="TextBox 39"/>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11</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1" name="Header band"/>
          <p:cNvSpPr/>
          <p:nvPr/>
        </p:nvSpPr>
        <p:spPr>
          <a:xfrm>
            <a:off x="0" y="0"/>
            <a:ext cx="18288000" cy="2103120"/>
          </a:xfrm>
          <a:prstGeom prst="rect">
            <a:avLst/>
          </a:prstGeom>
          <a:solidFill>
            <a:srgbClr val="14213D"/>
          </a:solidFill>
          <a:ln>
            <a:noFill/>
          </a:ln>
        </p:spPr>
      </p:sp>
      <p:sp>
        <p:nvSpPr>
          <p:cNvPr id="9052"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325"/>
                </a:lnSpc>
              </a:pPr>
              <a:r>
                <a:rPr lang="en-US" sz="55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Đối thủ hiển thị giật → nội suy thực thể</a:t>
              </a:r>
              <a:endParaRPr lang="en-US" sz="55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6576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41513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41513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Vẽ ảnh mới nhất: giật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48097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48097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Ngoại suy: sai khi đổi hướng</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54554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54681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4681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4681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Nội suy</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11639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thì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đoán được</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Ảnh trạng thái thưa (10–20 lần/giây), không đều, có thể mất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6279261"/>
            <a:ext cx="10424160" cy="29561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Vẽ đối thủ lùi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một khoảng, nội suy giữa 2 ảnh trạng thái bao quanh</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trễ nội suy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2 × chu kỳ gửi ảnh + dao động độ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(20 lần/giây thì ~100 ms)</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Đánh đổi: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mình ở hiện tại, đối thủ ở quá khứ</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0" name="Header band"/>
          <p:cNvSpPr/>
          <p:nvPr/>
        </p:nvSpPr>
        <p:spPr>
          <a:xfrm>
            <a:off x="0" y="0"/>
            <a:ext cx="18288000" cy="2103120"/>
          </a:xfrm>
          <a:prstGeom prst="rect">
            <a:avLst/>
          </a:prstGeom>
          <a:solidFill>
            <a:srgbClr val="14213D"/>
          </a:solidFill>
          <a:ln>
            <a:noFill/>
          </a:ln>
        </p:spPr>
      </p:sp>
      <p:sp>
        <p:nvSpPr>
          <p:cNvPr id="900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Tương tác không công bằng → bù trễ</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45720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50657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50657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Thứ tự gói đến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57241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57241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tự quyết (gian lận)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63698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63825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63825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63825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642376" y="2395728"/>
            <a:ext cx="5747093" cy="6839712"/>
            <a:chOff x="0" y="0"/>
            <a:chExt cx="8677491" cy="10327228"/>
          </a:xfrm>
        </p:grpSpPr>
        <p:sp>
          <p:nvSpPr>
            <p:cNvPr id="40" name="Freeform 40"/>
            <p:cNvSpPr/>
            <p:nvPr/>
          </p:nvSpPr>
          <p:spPr>
            <a:xfrm>
              <a:off x="0" y="0"/>
              <a:ext cx="8677580" cy="10327318"/>
            </a:xfrm>
            <a:custGeom>
              <a:avLst/>
              <a:gdLst/>
              <a:ahLst/>
              <a:cxnLst/>
              <a:rect l="l" t="t" r="r" b="b"/>
              <a:pathLst>
                <a:path w="8677580" h="10327318">
                  <a:moveTo>
                    <a:pt x="0" y="226599"/>
                  </a:moveTo>
                  <a:cubicBezTo>
                    <a:pt x="0" y="101493"/>
                    <a:pt x="101961" y="0"/>
                    <a:pt x="227644" y="0"/>
                  </a:cubicBezTo>
                  <a:lnTo>
                    <a:pt x="8449949" y="0"/>
                  </a:lnTo>
                  <a:cubicBezTo>
                    <a:pt x="8575633" y="0"/>
                    <a:pt x="8677580" y="101493"/>
                    <a:pt x="8677580" y="226599"/>
                  </a:cubicBezTo>
                  <a:lnTo>
                    <a:pt x="8677580" y="10100732"/>
                  </a:lnTo>
                  <a:cubicBezTo>
                    <a:pt x="8677580" y="10225839"/>
                    <a:pt x="8575633" y="10327318"/>
                    <a:pt x="8449949" y="10327318"/>
                  </a:cubicBezTo>
                  <a:lnTo>
                    <a:pt x="227644" y="10327318"/>
                  </a:lnTo>
                  <a:cubicBezTo>
                    <a:pt x="101961" y="10327184"/>
                    <a:pt x="0" y="10225838"/>
                    <a:pt x="0" y="10100732"/>
                  </a:cubicBezTo>
                  <a:close/>
                </a:path>
              </a:pathLst>
            </a:custGeom>
            <a:blipFill>
              <a:blip r:embed="rId2"/>
              <a:stretch>
                <a:fillRect t="-415" b="-415"/>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20783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A (RTT 40 ms) và B (RTT 200 ms) cùng nhặt một vật; trên màn hình,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 chạm trước</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Phân xử theo thứ tự gói đến thì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A luôn thắng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người trễ thấp luôn được lợi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7193661"/>
            <a:ext cx="10424160" cy="20417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lưu lịch sử 1 giây,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tua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về thời điểm người chơi nhìn thấy rồi mới phân xử</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Tua tối đa ~200–250 ms · Đánh đổi: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“đã chạy đi rồi vẫn bị bắt”</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13</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2" name="Header band"/>
          <p:cNvSpPr/>
          <p:nvPr/>
        </p:nvSpPr>
        <p:spPr>
          <a:xfrm>
            <a:off x="0" y="0"/>
            <a:ext cx="18288000" cy="2103120"/>
          </a:xfrm>
          <a:prstGeom prst="rect">
            <a:avLst/>
          </a:prstGeom>
          <a:solidFill>
            <a:srgbClr val="14213D"/>
          </a:solidFill>
          <a:ln>
            <a:noFill/>
          </a:ln>
        </p:spPr>
      </p:sp>
      <p:sp>
        <p:nvSpPr>
          <p:cNvPr id="900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Dự đoán hành động bị sai → quay lui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2004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36941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36941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dự đoán: chờ 1 RTT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901703" y="4339847"/>
            <a:ext cx="10449563" cy="610619"/>
            <a:chOff x="0" y="0"/>
            <a:chExt cx="13932751" cy="814159"/>
          </a:xfrm>
        </p:grpSpPr>
        <p:sp>
          <p:nvSpPr>
            <p:cNvPr id="23" name="Freeform 23"/>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24" name="Group 24"/>
          <p:cNvGrpSpPr/>
          <p:nvPr/>
        </p:nvGrpSpPr>
        <p:grpSpPr>
          <a:xfrm rot="0">
            <a:off x="9601200" y="4352544"/>
            <a:ext cx="1554480" cy="585216"/>
            <a:chOff x="0" y="0"/>
            <a:chExt cx="2072640" cy="780288"/>
          </a:xfrm>
        </p:grpSpPr>
        <p:sp>
          <p:nvSpPr>
            <p:cNvPr id="25" name="Freeform 25"/>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26" name="TextBox 26"/>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7" name="Group 27"/>
          <p:cNvGrpSpPr/>
          <p:nvPr/>
        </p:nvGrpSpPr>
        <p:grpSpPr>
          <a:xfrm rot="0">
            <a:off x="1097280" y="4352544"/>
            <a:ext cx="548640" cy="585216"/>
            <a:chOff x="0" y="0"/>
            <a:chExt cx="731520" cy="780288"/>
          </a:xfrm>
        </p:grpSpPr>
        <p:sp>
          <p:nvSpPr>
            <p:cNvPr id="28" name="Freeform 28"/>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9" name="TextBox 29"/>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0" name="Group 30"/>
          <p:cNvGrpSpPr/>
          <p:nvPr/>
        </p:nvGrpSpPr>
        <p:grpSpPr>
          <a:xfrm rot="0">
            <a:off x="1737360" y="4352544"/>
            <a:ext cx="7772400" cy="585216"/>
            <a:chOff x="0" y="0"/>
            <a:chExt cx="10363200" cy="780288"/>
          </a:xfrm>
        </p:grpSpPr>
        <p:sp>
          <p:nvSpPr>
            <p:cNvPr id="31" name="Freeform 31"/>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2" name="TextBox 32"/>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 quay lui cục bộ</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0109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0109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 toàn phần kiểu GGPO (ngang hàng)</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7067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đã hiển thị “nhặt được”, server báo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từ chối</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5822061"/>
            <a:ext cx="10424160" cy="34133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về trạng thái đã xác nhận → mô phỏng lại → vật “bật ra khỏi tay”</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chiếu (VĐ2) là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trường hợp riêng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của quay lui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3</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Áp dụng và demo</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Game xếp đơn hàng siêu thị · demo sơ bộ</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Trình bày: #3  ·  #2 điều khiển client B trong demo</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4"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6" name="Header band"/>
          <p:cNvSpPr/>
          <p:nvPr/>
        </p:nvSpPr>
        <p:spPr>
          <a:xfrm>
            <a:off x="0" y="0"/>
            <a:ext cx="18288000" cy="2103120"/>
          </a:xfrm>
          <a:prstGeom prst="rect">
            <a:avLst/>
          </a:prstGeom>
          <a:solidFill>
            <a:srgbClr val="14213D"/>
          </a:solidFill>
          <a:ln>
            <a:noFill/>
          </a:ln>
        </p:spPr>
      </p:sp>
      <p:sp>
        <p:nvSpPr>
          <p:cNvPr id="9007"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Game xếp đơn hàng siêu thị → demo</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7393943"/>
            <a:ext cx="10449563" cy="1762763"/>
            <a:chOff x="0" y="0"/>
            <a:chExt cx="13932751" cy="2350351"/>
          </a:xfrm>
        </p:grpSpPr>
        <p:sp>
          <p:nvSpPr>
            <p:cNvPr id="14" name="Freeform 14"/>
            <p:cNvSpPr/>
            <p:nvPr/>
          </p:nvSpPr>
          <p:spPr>
            <a:xfrm>
              <a:off x="0" y="0"/>
              <a:ext cx="13932788" cy="2350389"/>
            </a:xfrm>
            <a:custGeom>
              <a:avLst/>
              <a:gdLst/>
              <a:ahLst/>
              <a:cxnLst/>
              <a:rect l="l" t="t" r="r" b="b"/>
              <a:pathLst>
                <a:path w="13932788" h="2350389">
                  <a:moveTo>
                    <a:pt x="0" y="247396"/>
                  </a:moveTo>
                  <a:cubicBezTo>
                    <a:pt x="0" y="110744"/>
                    <a:pt x="110744" y="0"/>
                    <a:pt x="247396" y="0"/>
                  </a:cubicBezTo>
                  <a:lnTo>
                    <a:pt x="13685393" y="0"/>
                  </a:lnTo>
                  <a:cubicBezTo>
                    <a:pt x="13822045" y="0"/>
                    <a:pt x="13932788" y="110744"/>
                    <a:pt x="13932788" y="247396"/>
                  </a:cubicBezTo>
                  <a:lnTo>
                    <a:pt x="13932788" y="2102993"/>
                  </a:lnTo>
                  <a:cubicBezTo>
                    <a:pt x="13932788" y="2239645"/>
                    <a:pt x="13822045" y="2350389"/>
                    <a:pt x="13685393" y="2350389"/>
                  </a:cubicBezTo>
                  <a:lnTo>
                    <a:pt x="247396" y="2350389"/>
                  </a:lnTo>
                  <a:cubicBezTo>
                    <a:pt x="110744" y="2350389"/>
                    <a:pt x="0" y="2239645"/>
                    <a:pt x="0" y="2102993"/>
                  </a:cubicBezTo>
                  <a:close/>
                </a:path>
              </a:pathLst>
            </a:custGeom>
            <a:solidFill>
              <a:srgbClr val="BFE8E3"/>
            </a:solidFill>
            <a:ln w="25400" cap="sq">
              <a:solidFill>
                <a:srgbClr val="BFE8E3"/>
              </a:solidFill>
              <a:prstDash val="solid"/>
              <a:miter/>
            </a:ln>
          </p:spPr>
        </p:sp>
      </p:grpSp>
      <p:grpSp>
        <p:nvGrpSpPr>
          <p:cNvPr id="15" name="Group 15"/>
          <p:cNvGrpSpPr/>
          <p:nvPr/>
        </p:nvGrpSpPr>
        <p:grpSpPr>
          <a:xfrm rot="0">
            <a:off x="1371600" y="7406640"/>
            <a:ext cx="9601200" cy="1737360"/>
            <a:chOff x="0" y="0"/>
            <a:chExt cx="12801600" cy="2316480"/>
          </a:xfrm>
        </p:grpSpPr>
        <p:sp>
          <p:nvSpPr>
            <p:cNvPr id="16" name="Freeform 16"/>
            <p:cNvSpPr/>
            <p:nvPr/>
          </p:nvSpPr>
          <p:spPr>
            <a:xfrm>
              <a:off x="0" y="0"/>
              <a:ext cx="12801600" cy="2316480"/>
            </a:xfrm>
            <a:custGeom>
              <a:avLst/>
              <a:gdLst/>
              <a:ahLst/>
              <a:cxnLst/>
              <a:rect l="l" t="t" r="r" b="b"/>
              <a:pathLst>
                <a:path w="12801600" h="2316480">
                  <a:moveTo>
                    <a:pt x="0" y="0"/>
                  </a:moveTo>
                  <a:lnTo>
                    <a:pt x="12801600" y="0"/>
                  </a:lnTo>
                  <a:lnTo>
                    <a:pt x="12801600" y="2316480"/>
                  </a:lnTo>
                  <a:lnTo>
                    <a:pt x="0" y="2316480"/>
                  </a:lnTo>
                  <a:close/>
                </a:path>
              </a:pathLst>
            </a:custGeom>
            <a:blipFill>
              <a:blip r:embed="rId1">
                <a:alphaModFix amt="0"/>
              </a:blip>
              <a:stretch>
                <a:fillRect t="-57680" b="-57680"/>
              </a:stretch>
            </a:blipFill>
          </p:spPr>
        </p:sp>
        <p:sp>
          <p:nvSpPr>
            <p:cNvPr id="17" name="TextBox 17"/>
            <p:cNvSpPr txBox="1"/>
            <p:nvPr/>
          </p:nvSpPr>
          <p:spPr>
            <a:xfrm>
              <a:off x="0" y="-66675"/>
              <a:ext cx="12801600" cy="2383155"/>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Demo hôm nay:</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Node.js thật + trình duyệt qua WebSocket, mạng xấu giả lập, 3 khung nhìn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11846588" y="2395728"/>
            <a:ext cx="5769341" cy="7114032"/>
            <a:chOff x="0" y="0"/>
            <a:chExt cx="8046720" cy="9922212"/>
          </a:xfrm>
        </p:grpSpPr>
        <p:sp>
          <p:nvSpPr>
            <p:cNvPr id="19" name="Freeform 19"/>
            <p:cNvSpPr/>
            <p:nvPr/>
          </p:nvSpPr>
          <p:spPr>
            <a:xfrm>
              <a:off x="0" y="0"/>
              <a:ext cx="8046809" cy="9922301"/>
            </a:xfrm>
            <a:custGeom>
              <a:avLst/>
              <a:gdLst/>
              <a:ahLst/>
              <a:cxnLst/>
              <a:rect l="l" t="t" r="r" b="b"/>
              <a:pathLst>
                <a:path w="8046809" h="9922301">
                  <a:moveTo>
                    <a:pt x="0" y="217712"/>
                  </a:moveTo>
                  <a:cubicBezTo>
                    <a:pt x="0" y="97512"/>
                    <a:pt x="94549" y="0"/>
                    <a:pt x="211097" y="0"/>
                  </a:cubicBezTo>
                  <a:lnTo>
                    <a:pt x="7835719" y="0"/>
                  </a:lnTo>
                  <a:cubicBezTo>
                    <a:pt x="7952267" y="0"/>
                    <a:pt x="8046809" y="97512"/>
                    <a:pt x="8046809" y="217712"/>
                  </a:cubicBezTo>
                  <a:lnTo>
                    <a:pt x="8046809" y="9704598"/>
                  </a:lnTo>
                  <a:cubicBezTo>
                    <a:pt x="8046809" y="9824799"/>
                    <a:pt x="7952267" y="9922301"/>
                    <a:pt x="7835719" y="9922301"/>
                  </a:cubicBezTo>
                  <a:lnTo>
                    <a:pt x="211097" y="9922301"/>
                  </a:lnTo>
                  <a:cubicBezTo>
                    <a:pt x="94549" y="9922170"/>
                    <a:pt x="0" y="9824798"/>
                    <a:pt x="0" y="9704598"/>
                  </a:cubicBezTo>
                  <a:close/>
                </a:path>
              </a:pathLst>
            </a:custGeom>
            <a:blipFill>
              <a:blip r:embed="rId2"/>
              <a:stretch>
                <a:fillRect l="-1378" r="-1378"/>
              </a:stretch>
            </a:blipFill>
            <a:ln w="31750" cap="sq">
              <a:solidFill>
                <a:srgbClr val="00897B"/>
              </a:solidFill>
              <a:prstDash val="dash"/>
              <a:miter/>
            </a:ln>
          </p:spPr>
        </p:sp>
      </p:grpSp>
      <p:sp>
        <p:nvSpPr>
          <p:cNvPr id="20" name="TextBox 20"/>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ÁP DỤNG</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 name="TextBox 21"/>
          <p:cNvSpPr txBox="1"/>
          <p:nvPr/>
        </p:nvSpPr>
        <p:spPr>
          <a:xfrm>
            <a:off x="914400" y="2402205"/>
            <a:ext cx="10424160" cy="473011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Game 2 người, mỗi người là nhân viên siêu thị: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WASD</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di chuyển,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J</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nhặt / giao,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K</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thả</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Món hàng hiếm</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chỉ có 1 cái ở kệ giữa → tranh chấp → bù trễ + quay lui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Bản cuối: Unity (C#) + .NET server · TCP + UDP · SQLite</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337820" indent="0" algn="l">
              <a:lnSpc>
                <a:spcPts val="3360"/>
              </a:lnSpc>
              <a:spcBef>
                <a:spcPts val="1800"/>
              </a:spcBef>
              <a:buNone/>
            </a:pPr>
            <a:r>
              <a:rPr lang="vi-VN" sz="2800" b="1" i="1">
                <a:solidFill>
                  <a:srgbClr val="00897B"/>
                </a:solidFill>
                <a:latin typeface="Times New Roman" panose="02020603050405020304"/>
                <a:ea typeface="Times New Roman" panose="02020603050405020304"/>
                <a:cs typeface="Times New Roman" panose="02020603050405020304"/>
                <a:sym typeface="Times New Roman" panose="02020603050405020304"/>
              </a:rPr>
              <a:t>Không kỹ thuật nào xoá được độ trễ, chỉ chuyển nó sang chỗ ít bị để ý hơn</a:t>
            </a:r>
            <a:endParaRPr lang="vi-VN" sz="2800" b="1" i="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 name="TextBox 22"/>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DEMO</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 name="Group 3"/>
          <p:cNvGrpSpPr/>
          <p:nvPr/>
        </p:nvGrpSpPr>
        <p:grpSpPr>
          <a:xfrm rot="0">
            <a:off x="914400" y="768096"/>
            <a:ext cx="14081760" cy="1097280"/>
            <a:chOff x="0" y="0"/>
            <a:chExt cx="18775680" cy="1463040"/>
          </a:xfrm>
        </p:grpSpPr>
        <p:sp>
          <p:nvSpPr>
            <p:cNvPr id="4" name="Freeform 4"/>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5" name="TextBox 5"/>
            <p:cNvSpPr txBox="1"/>
            <p:nvPr/>
          </p:nvSpPr>
          <p:spPr>
            <a:xfrm>
              <a:off x="0" y="-9525"/>
              <a:ext cx="18775680" cy="1472565"/>
            </a:xfrm>
            <a:prstGeom prst="rect">
              <a:avLst/>
            </a:prstGeom>
          </p:spPr>
          <p:txBody>
            <a:bodyPr lIns="0" tIns="0" rIns="0" bIns="0" rtlCol="0" anchor="ctr"/>
            <a:lstStyle/>
            <a:p>
              <a:pPr algn="l">
                <a:lnSpc>
                  <a:spcPts val="6670"/>
                </a:lnSpc>
              </a:pPr>
              <a:r>
                <a:rPr lang="en-US" sz="58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Bản chứng minh ý tưởng: phần di chuyển</a:t>
              </a:r>
              <a:endParaRPr lang="en-US" sz="5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 name="Group 6"/>
          <p:cNvGrpSpPr/>
          <p:nvPr/>
        </p:nvGrpSpPr>
        <p:grpSpPr>
          <a:xfrm rot="0">
            <a:off x="15257783" y="682247"/>
            <a:ext cx="2128523" cy="647195"/>
            <a:chOff x="0" y="0"/>
            <a:chExt cx="2838031" cy="862927"/>
          </a:xfrm>
        </p:grpSpPr>
        <p:sp>
          <p:nvSpPr>
            <p:cNvPr id="7" name="Freeform 7"/>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8" name="Group 8"/>
          <p:cNvGrpSpPr/>
          <p:nvPr/>
        </p:nvGrpSpPr>
        <p:grpSpPr>
          <a:xfrm rot="0">
            <a:off x="15270480" y="694944"/>
            <a:ext cx="2103120" cy="621792"/>
            <a:chOff x="0" y="0"/>
            <a:chExt cx="2804160" cy="829056"/>
          </a:xfrm>
        </p:grpSpPr>
        <p:sp>
          <p:nvSpPr>
            <p:cNvPr id="9" name="Freeform 9"/>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0" name="TextBox 10"/>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 + #2</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1" name="Group 11"/>
          <p:cNvGrpSpPr/>
          <p:nvPr/>
        </p:nvGrpSpPr>
        <p:grpSpPr>
          <a:xfrm rot="0">
            <a:off x="901703" y="2456183"/>
            <a:ext cx="5146043" cy="3225803"/>
            <a:chOff x="0" y="0"/>
            <a:chExt cx="6861391" cy="4301071"/>
          </a:xfrm>
        </p:grpSpPr>
        <p:sp>
          <p:nvSpPr>
            <p:cNvPr id="12" name="Freeform 12"/>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13" name="Group 13"/>
          <p:cNvGrpSpPr/>
          <p:nvPr/>
        </p:nvGrpSpPr>
        <p:grpSpPr>
          <a:xfrm rot="0">
            <a:off x="1280160" y="2651760"/>
            <a:ext cx="4389120" cy="548640"/>
            <a:chOff x="0" y="0"/>
            <a:chExt cx="5852160" cy="731520"/>
          </a:xfrm>
        </p:grpSpPr>
        <p:sp>
          <p:nvSpPr>
            <p:cNvPr id="14" name="Freeform 14"/>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15" name="TextBox 15"/>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 A</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907543" y="3644903"/>
            <a:ext cx="793499" cy="793499"/>
            <a:chOff x="0" y="0"/>
            <a:chExt cx="1057999" cy="1057999"/>
          </a:xfrm>
        </p:grpSpPr>
        <p:sp>
          <p:nvSpPr>
            <p:cNvPr id="17" name="Freeform 17"/>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18" name="Group 18"/>
          <p:cNvGrpSpPr/>
          <p:nvPr/>
        </p:nvGrpSpPr>
        <p:grpSpPr>
          <a:xfrm rot="0">
            <a:off x="4102103" y="3919223"/>
            <a:ext cx="793499" cy="793499"/>
            <a:chOff x="0" y="0"/>
            <a:chExt cx="1057999" cy="1057999"/>
          </a:xfrm>
        </p:grpSpPr>
        <p:sp>
          <p:nvSpPr>
            <p:cNvPr id="19" name="Freeform 19"/>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20" name="Group 20"/>
          <p:cNvGrpSpPr/>
          <p:nvPr/>
        </p:nvGrpSpPr>
        <p:grpSpPr>
          <a:xfrm rot="0">
            <a:off x="1280160" y="4901184"/>
            <a:ext cx="4389120" cy="548640"/>
            <a:chOff x="0" y="0"/>
            <a:chExt cx="5852160" cy="731520"/>
          </a:xfrm>
        </p:grpSpPr>
        <p:sp>
          <p:nvSpPr>
            <p:cNvPr id="21" name="Freeform 21"/>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22" name="TextBox 22"/>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dự đoán + đối chiếu</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3" name="Group 23"/>
          <p:cNvGrpSpPr/>
          <p:nvPr/>
        </p:nvGrpSpPr>
        <p:grpSpPr>
          <a:xfrm rot="0">
            <a:off x="6570983" y="2456183"/>
            <a:ext cx="5146043" cy="3225803"/>
            <a:chOff x="0" y="0"/>
            <a:chExt cx="6861391" cy="4301071"/>
          </a:xfrm>
        </p:grpSpPr>
        <p:sp>
          <p:nvSpPr>
            <p:cNvPr id="24" name="Freeform 24"/>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25" name="Group 25"/>
          <p:cNvGrpSpPr/>
          <p:nvPr/>
        </p:nvGrpSpPr>
        <p:grpSpPr>
          <a:xfrm rot="0">
            <a:off x="6949440" y="2651760"/>
            <a:ext cx="4389120" cy="548640"/>
            <a:chOff x="0" y="0"/>
            <a:chExt cx="5852160" cy="731520"/>
          </a:xfrm>
        </p:grpSpPr>
        <p:sp>
          <p:nvSpPr>
            <p:cNvPr id="26" name="Freeform 26"/>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27" name="TextBox 27"/>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7851143" y="3644903"/>
            <a:ext cx="793499" cy="793499"/>
            <a:chOff x="0" y="0"/>
            <a:chExt cx="1057999" cy="1057999"/>
          </a:xfrm>
        </p:grpSpPr>
        <p:sp>
          <p:nvSpPr>
            <p:cNvPr id="29" name="Freeform 29"/>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30" name="Group 30"/>
          <p:cNvGrpSpPr/>
          <p:nvPr/>
        </p:nvGrpSpPr>
        <p:grpSpPr>
          <a:xfrm rot="0">
            <a:off x="9771383" y="3827783"/>
            <a:ext cx="793499" cy="793499"/>
            <a:chOff x="0" y="0"/>
            <a:chExt cx="1057999" cy="1057999"/>
          </a:xfrm>
        </p:grpSpPr>
        <p:sp>
          <p:nvSpPr>
            <p:cNvPr id="31" name="Freeform 31"/>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32" name="Group 32"/>
          <p:cNvGrpSpPr/>
          <p:nvPr/>
        </p:nvGrpSpPr>
        <p:grpSpPr>
          <a:xfrm rot="0">
            <a:off x="6949440" y="4901184"/>
            <a:ext cx="4389120" cy="548640"/>
            <a:chOff x="0" y="0"/>
            <a:chExt cx="5852160" cy="731520"/>
          </a:xfrm>
        </p:grpSpPr>
        <p:sp>
          <p:nvSpPr>
            <p:cNvPr id="33" name="Freeform 33"/>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34" name="TextBox 34"/>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người quyết định</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5" name="Group 35"/>
          <p:cNvGrpSpPr/>
          <p:nvPr/>
        </p:nvGrpSpPr>
        <p:grpSpPr>
          <a:xfrm rot="0">
            <a:off x="12240263" y="2456183"/>
            <a:ext cx="5146043" cy="3225803"/>
            <a:chOff x="0" y="0"/>
            <a:chExt cx="6861391" cy="4301071"/>
          </a:xfrm>
        </p:grpSpPr>
        <p:sp>
          <p:nvSpPr>
            <p:cNvPr id="36" name="Freeform 36"/>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37" name="Group 37"/>
          <p:cNvGrpSpPr/>
          <p:nvPr/>
        </p:nvGrpSpPr>
        <p:grpSpPr>
          <a:xfrm rot="0">
            <a:off x="12618720" y="2651760"/>
            <a:ext cx="4389120" cy="548640"/>
            <a:chOff x="0" y="0"/>
            <a:chExt cx="5852160" cy="731520"/>
          </a:xfrm>
        </p:grpSpPr>
        <p:sp>
          <p:nvSpPr>
            <p:cNvPr id="38" name="Freeform 38"/>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39" name="TextBox 39"/>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 B</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0" name="Group 40"/>
          <p:cNvGrpSpPr/>
          <p:nvPr/>
        </p:nvGrpSpPr>
        <p:grpSpPr>
          <a:xfrm rot="0">
            <a:off x="13794743" y="3644903"/>
            <a:ext cx="793499" cy="793499"/>
            <a:chOff x="0" y="0"/>
            <a:chExt cx="1057999" cy="1057999"/>
          </a:xfrm>
        </p:grpSpPr>
        <p:sp>
          <p:nvSpPr>
            <p:cNvPr id="41" name="Freeform 41"/>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42" name="Group 42"/>
          <p:cNvGrpSpPr/>
          <p:nvPr/>
        </p:nvGrpSpPr>
        <p:grpSpPr>
          <a:xfrm rot="0">
            <a:off x="15440663" y="3736343"/>
            <a:ext cx="793499" cy="793499"/>
            <a:chOff x="0" y="0"/>
            <a:chExt cx="1057999" cy="1057999"/>
          </a:xfrm>
        </p:grpSpPr>
        <p:sp>
          <p:nvSpPr>
            <p:cNvPr id="43" name="Freeform 43"/>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44" name="Group 44"/>
          <p:cNvGrpSpPr/>
          <p:nvPr/>
        </p:nvGrpSpPr>
        <p:grpSpPr>
          <a:xfrm rot="0">
            <a:off x="12618720" y="4901184"/>
            <a:ext cx="4389120" cy="548640"/>
            <a:chOff x="0" y="0"/>
            <a:chExt cx="5852160" cy="731520"/>
          </a:xfrm>
        </p:grpSpPr>
        <p:sp>
          <p:nvSpPr>
            <p:cNvPr id="45" name="Freeform 45"/>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46" name="TextBox 46"/>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nội suy ô của A</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7" name="Group 47"/>
          <p:cNvGrpSpPr/>
          <p:nvPr/>
        </p:nvGrpSpPr>
        <p:grpSpPr>
          <a:xfrm rot="0">
            <a:off x="914400" y="6089904"/>
            <a:ext cx="2377440" cy="621792"/>
            <a:chOff x="0" y="0"/>
            <a:chExt cx="3169920" cy="829056"/>
          </a:xfrm>
        </p:grpSpPr>
        <p:sp>
          <p:nvSpPr>
            <p:cNvPr id="48" name="Freeform 48"/>
            <p:cNvSpPr/>
            <p:nvPr/>
          </p:nvSpPr>
          <p:spPr>
            <a:xfrm>
              <a:off x="0" y="0"/>
              <a:ext cx="3169920" cy="829056"/>
            </a:xfrm>
            <a:custGeom>
              <a:avLst/>
              <a:gdLst/>
              <a:ahLst/>
              <a:cxnLst/>
              <a:rect l="l" t="t" r="r" b="b"/>
              <a:pathLst>
                <a:path w="3169920" h="829056">
                  <a:moveTo>
                    <a:pt x="0" y="0"/>
                  </a:moveTo>
                  <a:lnTo>
                    <a:pt x="3169920" y="0"/>
                  </a:lnTo>
                  <a:lnTo>
                    <a:pt x="3169920" y="829056"/>
                  </a:lnTo>
                  <a:lnTo>
                    <a:pt x="0" y="829056"/>
                  </a:lnTo>
                  <a:close/>
                </a:path>
              </a:pathLst>
            </a:custGeom>
            <a:blipFill>
              <a:blip r:embed="rId1">
                <a:alphaModFix amt="0"/>
              </a:blip>
              <a:stretch>
                <a:fillRect t="-24501" b="-24501"/>
              </a:stretch>
            </a:blipFill>
          </p:spPr>
        </p:sp>
        <p:sp>
          <p:nvSpPr>
            <p:cNvPr id="49" name="TextBox 49"/>
            <p:cNvSpPr txBox="1"/>
            <p:nvPr/>
          </p:nvSpPr>
          <p:spPr>
            <a:xfrm>
              <a:off x="0" y="-38100"/>
              <a:ext cx="3169920" cy="867156"/>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THANH TRƯỢT</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0" name="Group 50"/>
          <p:cNvGrpSpPr/>
          <p:nvPr/>
        </p:nvGrpSpPr>
        <p:grpSpPr>
          <a:xfrm rot="0">
            <a:off x="3373755" y="6080379"/>
            <a:ext cx="1847850" cy="640842"/>
            <a:chOff x="0" y="0"/>
            <a:chExt cx="2463800" cy="854456"/>
          </a:xfrm>
        </p:grpSpPr>
        <p:sp>
          <p:nvSpPr>
            <p:cNvPr id="51" name="Freeform 51"/>
            <p:cNvSpPr/>
            <p:nvPr/>
          </p:nvSpPr>
          <p:spPr>
            <a:xfrm>
              <a:off x="0" y="0"/>
              <a:ext cx="2463800" cy="854456"/>
            </a:xfrm>
            <a:custGeom>
              <a:avLst/>
              <a:gdLst/>
              <a:ahLst/>
              <a:cxnLst/>
              <a:rect l="l" t="t" r="r" b="b"/>
              <a:pathLst>
                <a:path w="2463800" h="854456">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52" name="Group 52"/>
          <p:cNvGrpSpPr/>
          <p:nvPr/>
        </p:nvGrpSpPr>
        <p:grpSpPr>
          <a:xfrm rot="0">
            <a:off x="3383280" y="6089904"/>
            <a:ext cx="1828800" cy="621792"/>
            <a:chOff x="0" y="0"/>
            <a:chExt cx="2438400" cy="829056"/>
          </a:xfrm>
        </p:grpSpPr>
        <p:sp>
          <p:nvSpPr>
            <p:cNvPr id="53" name="Freeform 53"/>
            <p:cNvSpPr/>
            <p:nvPr/>
          </p:nvSpPr>
          <p:spPr>
            <a:xfrm>
              <a:off x="0" y="0"/>
              <a:ext cx="2438400" cy="829056"/>
            </a:xfrm>
            <a:custGeom>
              <a:avLst/>
              <a:gdLst/>
              <a:ahLst/>
              <a:cxnLst/>
              <a:rect l="l" t="t" r="r" b="b"/>
              <a:pathLst>
                <a:path w="2438400" h="829056">
                  <a:moveTo>
                    <a:pt x="0" y="0"/>
                  </a:moveTo>
                  <a:lnTo>
                    <a:pt x="2438400" y="0"/>
                  </a:lnTo>
                  <a:lnTo>
                    <a:pt x="2438400" y="829056"/>
                  </a:lnTo>
                  <a:lnTo>
                    <a:pt x="0" y="829056"/>
                  </a:lnTo>
                  <a:close/>
                </a:path>
              </a:pathLst>
            </a:custGeom>
            <a:blipFill>
              <a:blip r:embed="rId1">
                <a:alphaModFix amt="0"/>
              </a:blip>
              <a:stretch>
                <a:fillRect t="-7308" b="-7308"/>
              </a:stretch>
            </a:blipFill>
          </p:spPr>
        </p:sp>
        <p:sp>
          <p:nvSpPr>
            <p:cNvPr id="54" name="TextBox 54"/>
            <p:cNvSpPr txBox="1"/>
            <p:nvPr/>
          </p:nvSpPr>
          <p:spPr>
            <a:xfrm>
              <a:off x="0" y="-47625"/>
              <a:ext cx="24384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5" name="Group 55"/>
          <p:cNvGrpSpPr/>
          <p:nvPr/>
        </p:nvGrpSpPr>
        <p:grpSpPr>
          <a:xfrm rot="0">
            <a:off x="5422011" y="6080379"/>
            <a:ext cx="2853690" cy="640842"/>
            <a:chOff x="0" y="0"/>
            <a:chExt cx="3804920" cy="854456"/>
          </a:xfrm>
        </p:grpSpPr>
        <p:sp>
          <p:nvSpPr>
            <p:cNvPr id="56" name="Freeform 56"/>
            <p:cNvSpPr/>
            <p:nvPr/>
          </p:nvSpPr>
          <p:spPr>
            <a:xfrm>
              <a:off x="0" y="0"/>
              <a:ext cx="3804920" cy="854456"/>
            </a:xfrm>
            <a:custGeom>
              <a:avLst/>
              <a:gdLst/>
              <a:ahLst/>
              <a:cxnLst/>
              <a:rect l="l" t="t" r="r" b="b"/>
              <a:pathLst>
                <a:path w="3804920" h="854456">
                  <a:moveTo>
                    <a:pt x="0" y="427228"/>
                  </a:moveTo>
                  <a:cubicBezTo>
                    <a:pt x="0" y="191262"/>
                    <a:pt x="191262" y="0"/>
                    <a:pt x="427228" y="0"/>
                  </a:cubicBezTo>
                  <a:lnTo>
                    <a:pt x="3377692" y="0"/>
                  </a:lnTo>
                  <a:cubicBezTo>
                    <a:pt x="3613658" y="0"/>
                    <a:pt x="3804920" y="191262"/>
                    <a:pt x="3804920" y="427228"/>
                  </a:cubicBezTo>
                  <a:cubicBezTo>
                    <a:pt x="3804920" y="663194"/>
                    <a:pt x="3613658" y="854456"/>
                    <a:pt x="337769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57" name="Group 57"/>
          <p:cNvGrpSpPr/>
          <p:nvPr/>
        </p:nvGrpSpPr>
        <p:grpSpPr>
          <a:xfrm rot="0">
            <a:off x="5431536" y="6089904"/>
            <a:ext cx="2834640" cy="621792"/>
            <a:chOff x="0" y="0"/>
            <a:chExt cx="3779520" cy="829056"/>
          </a:xfrm>
        </p:grpSpPr>
        <p:sp>
          <p:nvSpPr>
            <p:cNvPr id="58" name="Freeform 58"/>
            <p:cNvSpPr/>
            <p:nvPr/>
          </p:nvSpPr>
          <p:spPr>
            <a:xfrm>
              <a:off x="0" y="0"/>
              <a:ext cx="3779520" cy="829056"/>
            </a:xfrm>
            <a:custGeom>
              <a:avLst/>
              <a:gdLst/>
              <a:ahLst/>
              <a:cxnLst/>
              <a:rect l="l" t="t" r="r" b="b"/>
              <a:pathLst>
                <a:path w="3779520" h="829056">
                  <a:moveTo>
                    <a:pt x="0" y="0"/>
                  </a:moveTo>
                  <a:lnTo>
                    <a:pt x="3779520" y="0"/>
                  </a:lnTo>
                  <a:lnTo>
                    <a:pt x="3779520" y="829056"/>
                  </a:lnTo>
                  <a:lnTo>
                    <a:pt x="0" y="829056"/>
                  </a:lnTo>
                  <a:close/>
                </a:path>
              </a:pathLst>
            </a:custGeom>
            <a:blipFill>
              <a:blip r:embed="rId1">
                <a:alphaModFix amt="0"/>
              </a:blip>
              <a:stretch>
                <a:fillRect t="-38828" b="-38828"/>
              </a:stretch>
            </a:blipFill>
          </p:spPr>
        </p:sp>
        <p:sp>
          <p:nvSpPr>
            <p:cNvPr id="59" name="TextBox 59"/>
            <p:cNvSpPr txBox="1"/>
            <p:nvPr/>
          </p:nvSpPr>
          <p:spPr>
            <a:xfrm>
              <a:off x="0" y="-47625"/>
              <a:ext cx="377952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Dao động độ trễ</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0" name="Group 60"/>
          <p:cNvGrpSpPr/>
          <p:nvPr/>
        </p:nvGrpSpPr>
        <p:grpSpPr>
          <a:xfrm rot="0">
            <a:off x="8476107" y="6080379"/>
            <a:ext cx="1847850" cy="640842"/>
            <a:chOff x="0" y="0"/>
            <a:chExt cx="2463800" cy="854456"/>
          </a:xfrm>
        </p:grpSpPr>
        <p:sp>
          <p:nvSpPr>
            <p:cNvPr id="61" name="Freeform 61"/>
            <p:cNvSpPr/>
            <p:nvPr/>
          </p:nvSpPr>
          <p:spPr>
            <a:xfrm>
              <a:off x="0" y="0"/>
              <a:ext cx="2463800" cy="854456"/>
            </a:xfrm>
            <a:custGeom>
              <a:avLst/>
              <a:gdLst/>
              <a:ahLst/>
              <a:cxnLst/>
              <a:rect l="l" t="t" r="r" b="b"/>
              <a:pathLst>
                <a:path w="2463800" h="854456">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62" name="Group 62"/>
          <p:cNvGrpSpPr/>
          <p:nvPr/>
        </p:nvGrpSpPr>
        <p:grpSpPr>
          <a:xfrm rot="0">
            <a:off x="8485632" y="6089904"/>
            <a:ext cx="1828800" cy="621792"/>
            <a:chOff x="0" y="0"/>
            <a:chExt cx="2438400" cy="829056"/>
          </a:xfrm>
        </p:grpSpPr>
        <p:sp>
          <p:nvSpPr>
            <p:cNvPr id="63" name="Freeform 63"/>
            <p:cNvSpPr/>
            <p:nvPr/>
          </p:nvSpPr>
          <p:spPr>
            <a:xfrm>
              <a:off x="0" y="0"/>
              <a:ext cx="2438400" cy="829056"/>
            </a:xfrm>
            <a:custGeom>
              <a:avLst/>
              <a:gdLst/>
              <a:ahLst/>
              <a:cxnLst/>
              <a:rect l="l" t="t" r="r" b="b"/>
              <a:pathLst>
                <a:path w="2438400" h="829056">
                  <a:moveTo>
                    <a:pt x="0" y="0"/>
                  </a:moveTo>
                  <a:lnTo>
                    <a:pt x="2438400" y="0"/>
                  </a:lnTo>
                  <a:lnTo>
                    <a:pt x="2438400" y="829056"/>
                  </a:lnTo>
                  <a:lnTo>
                    <a:pt x="0" y="829056"/>
                  </a:lnTo>
                  <a:close/>
                </a:path>
              </a:pathLst>
            </a:custGeom>
            <a:blipFill>
              <a:blip r:embed="rId1">
                <a:alphaModFix amt="0"/>
              </a:blip>
              <a:stretch>
                <a:fillRect t="-7308" b="-7308"/>
              </a:stretch>
            </a:blipFill>
          </p:spPr>
        </p:sp>
        <p:sp>
          <p:nvSpPr>
            <p:cNvPr id="64" name="TextBox 64"/>
            <p:cNvSpPr txBox="1"/>
            <p:nvPr/>
          </p:nvSpPr>
          <p:spPr>
            <a:xfrm>
              <a:off x="0" y="-47625"/>
              <a:ext cx="24384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Mất gói</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5" name="Group 65"/>
          <p:cNvGrpSpPr/>
          <p:nvPr/>
        </p:nvGrpSpPr>
        <p:grpSpPr>
          <a:xfrm rot="0">
            <a:off x="10524363" y="6080379"/>
            <a:ext cx="2762250" cy="640842"/>
            <a:chOff x="0" y="0"/>
            <a:chExt cx="3683000" cy="854456"/>
          </a:xfrm>
        </p:grpSpPr>
        <p:sp>
          <p:nvSpPr>
            <p:cNvPr id="66" name="Freeform 66"/>
            <p:cNvSpPr/>
            <p:nvPr/>
          </p:nvSpPr>
          <p:spPr>
            <a:xfrm>
              <a:off x="0" y="0"/>
              <a:ext cx="3683000" cy="854456"/>
            </a:xfrm>
            <a:custGeom>
              <a:avLst/>
              <a:gdLst/>
              <a:ahLst/>
              <a:cxnLst/>
              <a:rect l="l" t="t" r="r" b="b"/>
              <a:pathLst>
                <a:path w="3683000" h="854456">
                  <a:moveTo>
                    <a:pt x="0" y="427228"/>
                  </a:moveTo>
                  <a:cubicBezTo>
                    <a:pt x="0" y="191262"/>
                    <a:pt x="191262" y="0"/>
                    <a:pt x="427228" y="0"/>
                  </a:cubicBezTo>
                  <a:lnTo>
                    <a:pt x="3255772" y="0"/>
                  </a:lnTo>
                  <a:cubicBezTo>
                    <a:pt x="3491738" y="0"/>
                    <a:pt x="3683000" y="191262"/>
                    <a:pt x="3683000" y="427228"/>
                  </a:cubicBezTo>
                  <a:cubicBezTo>
                    <a:pt x="3683000" y="663194"/>
                    <a:pt x="3491738" y="854456"/>
                    <a:pt x="32557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67" name="Group 67"/>
          <p:cNvGrpSpPr/>
          <p:nvPr/>
        </p:nvGrpSpPr>
        <p:grpSpPr>
          <a:xfrm rot="0">
            <a:off x="10533888" y="6089904"/>
            <a:ext cx="2743200" cy="621792"/>
            <a:chOff x="0" y="0"/>
            <a:chExt cx="3657600" cy="829056"/>
          </a:xfrm>
        </p:grpSpPr>
        <p:sp>
          <p:nvSpPr>
            <p:cNvPr id="68" name="Freeform 68"/>
            <p:cNvSpPr/>
            <p:nvPr/>
          </p:nvSpPr>
          <p:spPr>
            <a:xfrm>
              <a:off x="0" y="0"/>
              <a:ext cx="3657600" cy="829056"/>
            </a:xfrm>
            <a:custGeom>
              <a:avLst/>
              <a:gdLst/>
              <a:ahLst/>
              <a:cxnLst/>
              <a:rect l="l" t="t" r="r" b="b"/>
              <a:pathLst>
                <a:path w="3657600" h="829056">
                  <a:moveTo>
                    <a:pt x="0" y="0"/>
                  </a:moveTo>
                  <a:lnTo>
                    <a:pt x="3657600" y="0"/>
                  </a:lnTo>
                  <a:lnTo>
                    <a:pt x="3657600" y="829056"/>
                  </a:lnTo>
                  <a:lnTo>
                    <a:pt x="0" y="829056"/>
                  </a:lnTo>
                  <a:close/>
                </a:path>
              </a:pathLst>
            </a:custGeom>
            <a:blipFill>
              <a:blip r:embed="rId1">
                <a:alphaModFix amt="0"/>
              </a:blip>
              <a:stretch>
                <a:fillRect t="-35963" b="-35963"/>
              </a:stretch>
            </a:blipFill>
          </p:spPr>
        </p:sp>
        <p:sp>
          <p:nvSpPr>
            <p:cNvPr id="69" name="TextBox 69"/>
            <p:cNvSpPr txBox="1"/>
            <p:nvPr/>
          </p:nvSpPr>
          <p:spPr>
            <a:xfrm>
              <a:off x="0" y="-47625"/>
              <a:ext cx="36576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Tần số gửi ảnh</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70" name="Group 70"/>
          <p:cNvGrpSpPr/>
          <p:nvPr/>
        </p:nvGrpSpPr>
        <p:grpSpPr>
          <a:xfrm rot="0">
            <a:off x="901703" y="7211063"/>
            <a:ext cx="683771" cy="683771"/>
            <a:chOff x="0" y="0"/>
            <a:chExt cx="911695" cy="911695"/>
          </a:xfrm>
        </p:grpSpPr>
        <p:sp>
          <p:nvSpPr>
            <p:cNvPr id="71" name="Freeform 71"/>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72" name="Group 72"/>
          <p:cNvGrpSpPr/>
          <p:nvPr/>
        </p:nvGrpSpPr>
        <p:grpSpPr>
          <a:xfrm rot="0">
            <a:off x="914400" y="7223760"/>
            <a:ext cx="658368" cy="658368"/>
            <a:chOff x="0" y="0"/>
            <a:chExt cx="877824" cy="877824"/>
          </a:xfrm>
        </p:grpSpPr>
        <p:sp>
          <p:nvSpPr>
            <p:cNvPr id="73" name="Freeform 73"/>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74" name="TextBox 74"/>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0</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75" name="TextBox 75"/>
          <p:cNvSpPr txBox="1"/>
          <p:nvPr/>
        </p:nvSpPr>
        <p:spPr>
          <a:xfrm>
            <a:off x="914400"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Client tự quyết</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76" name="Group 76"/>
          <p:cNvGrpSpPr/>
          <p:nvPr/>
        </p:nvGrpSpPr>
        <p:grpSpPr>
          <a:xfrm rot="0">
            <a:off x="3681479" y="7211063"/>
            <a:ext cx="683771" cy="683771"/>
            <a:chOff x="0" y="0"/>
            <a:chExt cx="911695" cy="911695"/>
          </a:xfrm>
        </p:grpSpPr>
        <p:sp>
          <p:nvSpPr>
            <p:cNvPr id="77" name="Freeform 77"/>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78" name="Group 78"/>
          <p:cNvGrpSpPr/>
          <p:nvPr/>
        </p:nvGrpSpPr>
        <p:grpSpPr>
          <a:xfrm rot="0">
            <a:off x="3694176" y="7223760"/>
            <a:ext cx="658368" cy="658368"/>
            <a:chOff x="0" y="0"/>
            <a:chExt cx="877824" cy="877824"/>
          </a:xfrm>
        </p:grpSpPr>
        <p:sp>
          <p:nvSpPr>
            <p:cNvPr id="79" name="Freeform 79"/>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80" name="TextBox 80"/>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81" name="TextBox 81"/>
          <p:cNvSpPr txBox="1"/>
          <p:nvPr/>
        </p:nvSpPr>
        <p:spPr>
          <a:xfrm>
            <a:off x="3694176"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82" name="Group 82"/>
          <p:cNvGrpSpPr/>
          <p:nvPr/>
        </p:nvGrpSpPr>
        <p:grpSpPr>
          <a:xfrm rot="0">
            <a:off x="6461255" y="7211063"/>
            <a:ext cx="683771" cy="683771"/>
            <a:chOff x="0" y="0"/>
            <a:chExt cx="911695" cy="911695"/>
          </a:xfrm>
        </p:grpSpPr>
        <p:sp>
          <p:nvSpPr>
            <p:cNvPr id="83" name="Freeform 83"/>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84" name="Group 84"/>
          <p:cNvGrpSpPr/>
          <p:nvPr/>
        </p:nvGrpSpPr>
        <p:grpSpPr>
          <a:xfrm rot="0">
            <a:off x="6473952" y="7223760"/>
            <a:ext cx="658368" cy="658368"/>
            <a:chOff x="0" y="0"/>
            <a:chExt cx="877824" cy="877824"/>
          </a:xfrm>
        </p:grpSpPr>
        <p:sp>
          <p:nvSpPr>
            <p:cNvPr id="85" name="Freeform 85"/>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86" name="TextBox 86"/>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87" name="TextBox 87"/>
          <p:cNvSpPr txBox="1"/>
          <p:nvPr/>
        </p:nvSpPr>
        <p:spPr>
          <a:xfrm>
            <a:off x="6473952"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dự đoán</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88" name="Group 88"/>
          <p:cNvGrpSpPr/>
          <p:nvPr/>
        </p:nvGrpSpPr>
        <p:grpSpPr>
          <a:xfrm rot="0">
            <a:off x="9241031" y="7211063"/>
            <a:ext cx="683771" cy="683771"/>
            <a:chOff x="0" y="0"/>
            <a:chExt cx="911695" cy="911695"/>
          </a:xfrm>
        </p:grpSpPr>
        <p:sp>
          <p:nvSpPr>
            <p:cNvPr id="89" name="Freeform 89"/>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90" name="Group 90"/>
          <p:cNvGrpSpPr/>
          <p:nvPr/>
        </p:nvGrpSpPr>
        <p:grpSpPr>
          <a:xfrm rot="0">
            <a:off x="9253728" y="7223760"/>
            <a:ext cx="658368" cy="658368"/>
            <a:chOff x="0" y="0"/>
            <a:chExt cx="877824" cy="877824"/>
          </a:xfrm>
        </p:grpSpPr>
        <p:sp>
          <p:nvSpPr>
            <p:cNvPr id="91" name="Freeform 91"/>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92" name="TextBox 92"/>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3" name="TextBox 93"/>
          <p:cNvSpPr txBox="1"/>
          <p:nvPr/>
        </p:nvSpPr>
        <p:spPr>
          <a:xfrm>
            <a:off x="9253728"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đối chiếu</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94" name="Group 94"/>
          <p:cNvGrpSpPr/>
          <p:nvPr/>
        </p:nvGrpSpPr>
        <p:grpSpPr>
          <a:xfrm rot="0">
            <a:off x="12020807" y="7211063"/>
            <a:ext cx="683771" cy="683771"/>
            <a:chOff x="0" y="0"/>
            <a:chExt cx="911695" cy="911695"/>
          </a:xfrm>
        </p:grpSpPr>
        <p:sp>
          <p:nvSpPr>
            <p:cNvPr id="95" name="Freeform 95"/>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96" name="Group 96"/>
          <p:cNvGrpSpPr/>
          <p:nvPr/>
        </p:nvGrpSpPr>
        <p:grpSpPr>
          <a:xfrm rot="0">
            <a:off x="12033504" y="7223760"/>
            <a:ext cx="658368" cy="658368"/>
            <a:chOff x="0" y="0"/>
            <a:chExt cx="877824" cy="877824"/>
          </a:xfrm>
        </p:grpSpPr>
        <p:sp>
          <p:nvSpPr>
            <p:cNvPr id="97" name="Freeform 97"/>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98" name="TextBox 98"/>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4</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9" name="TextBox 99"/>
          <p:cNvSpPr txBox="1"/>
          <p:nvPr/>
        </p:nvSpPr>
        <p:spPr>
          <a:xfrm>
            <a:off x="12033504"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Ảnh thưa, chưa nội suy</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100" name="Group 100"/>
          <p:cNvGrpSpPr/>
          <p:nvPr/>
        </p:nvGrpSpPr>
        <p:grpSpPr>
          <a:xfrm rot="0">
            <a:off x="14800583" y="7211063"/>
            <a:ext cx="683771" cy="683771"/>
            <a:chOff x="0" y="0"/>
            <a:chExt cx="911695" cy="911695"/>
          </a:xfrm>
        </p:grpSpPr>
        <p:sp>
          <p:nvSpPr>
            <p:cNvPr id="101" name="Freeform 101"/>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102" name="Group 102"/>
          <p:cNvGrpSpPr/>
          <p:nvPr/>
        </p:nvGrpSpPr>
        <p:grpSpPr>
          <a:xfrm rot="0">
            <a:off x="14813280" y="7223760"/>
            <a:ext cx="658368" cy="658368"/>
            <a:chOff x="0" y="0"/>
            <a:chExt cx="877824" cy="877824"/>
          </a:xfrm>
        </p:grpSpPr>
        <p:sp>
          <p:nvSpPr>
            <p:cNvPr id="103" name="Freeform 103"/>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104" name="TextBox 104"/>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5</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05" name="TextBox 105"/>
          <p:cNvSpPr txBox="1"/>
          <p:nvPr/>
        </p:nvSpPr>
        <p:spPr>
          <a:xfrm>
            <a:off x="14813280"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nội suy</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06" name="TextBox 10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BFE8E3"/>
                </a:solidFill>
                <a:latin typeface="Times New Roman" panose="02020603050405020304"/>
                <a:ea typeface="Times New Roman" panose="02020603050405020304"/>
                <a:cs typeface="Times New Roman" panose="02020603050405020304"/>
                <a:sym typeface="Times New Roman" panose="02020603050405020304"/>
              </a:rPr>
              <a:t>17</a:t>
            </a:r>
            <a:endParaRPr lang="en-US" sz="20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4</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Cảm ơn thầy và các bạn</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Nhóm T47 sẵn sàng trả lời câu hỏi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Mỗi người trả lời các câu thuộc vấn đề con của mình</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08"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PHỤ LỤC</a:t>
            </a:r>
            <a:endPar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Slide dự phòng cho Q&amp;A</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Chỉ mở khi bị hỏi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Nội dung lấy từ NoiDung_ChiTiet.md. Câu trả lời mẫu ở phụ lục A, thuật ngữ Việt – Anh ở phụ lục B.</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09"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1" name="Header band"/>
          <p:cNvSpPr/>
          <p:nvPr/>
        </p:nvSpPr>
        <p:spPr>
          <a:xfrm>
            <a:off x="0" y="0"/>
            <a:ext cx="18288000" cy="2103120"/>
          </a:xfrm>
          <a:prstGeom prst="rect">
            <a:avLst/>
          </a:prstGeom>
          <a:solidFill>
            <a:srgbClr val="14213D"/>
          </a:solidFill>
          <a:ln>
            <a:noFill/>
          </a:ln>
        </p:spPr>
      </p:sp>
      <p:sp>
        <p:nvSpPr>
          <p:cNvPr id="9042"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CÁCH TIẾP CẬN</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Chuỗi 5 vấn đề con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DỰ PHÒNG</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2878331" cy="2037083"/>
            <a:chOff x="0" y="0"/>
            <a:chExt cx="3837775" cy="2716111"/>
          </a:xfrm>
        </p:grpSpPr>
        <p:sp>
          <p:nvSpPr>
            <p:cNvPr id="15" name="Freeform 15"/>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16" name="TextBox 16"/>
          <p:cNvSpPr txBox="1"/>
          <p:nvPr/>
        </p:nvSpPr>
        <p:spPr>
          <a:xfrm>
            <a:off x="1097280"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Ai giữ quyền quyết định?</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7" name="AutoShape 17"/>
          <p:cNvSpPr/>
          <p:nvPr/>
        </p:nvSpPr>
        <p:spPr>
          <a:xfrm rot="315240">
            <a:off x="3798951" y="3556635"/>
            <a:ext cx="485404" cy="0"/>
          </a:xfrm>
          <a:prstGeom prst="line">
            <a:avLst/>
          </a:prstGeom>
          <a:ln w="19050" cap="rnd">
            <a:solidFill>
              <a:srgbClr val="00897B"/>
            </a:solidFill>
            <a:prstDash val="solid"/>
            <a:headEnd type="none" w="sm" len="sm"/>
            <a:tailEnd type="triangle" w="lg" len="med"/>
          </a:ln>
        </p:spPr>
      </p:sp>
      <p:sp>
        <p:nvSpPr>
          <p:cNvPr id="18" name="AutoShape 18"/>
          <p:cNvSpPr/>
          <p:nvPr/>
        </p:nvSpPr>
        <p:spPr>
          <a:xfrm rot="5341320">
            <a:off x="3483397" y="4329494"/>
            <a:ext cx="1116492" cy="0"/>
          </a:xfrm>
          <a:prstGeom prst="line">
            <a:avLst/>
          </a:prstGeom>
          <a:ln w="9525" cap="rnd">
            <a:solidFill>
              <a:srgbClr val="5B6B82"/>
            </a:solidFill>
            <a:prstDash val="solid"/>
            <a:headEnd type="none" w="sm" len="sm"/>
            <a:tailEnd type="none" w="sm" len="sm"/>
          </a:ln>
        </p:spPr>
      </p:sp>
      <p:sp>
        <p:nvSpPr>
          <p:cNvPr id="19" name="TextBox 19"/>
          <p:cNvSpPr txBox="1"/>
          <p:nvPr/>
        </p:nvSpPr>
        <p:spPr>
          <a:xfrm>
            <a:off x="2578608"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phải chờ server</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4303271" y="2547623"/>
            <a:ext cx="2878331" cy="2037083"/>
            <a:chOff x="0" y="0"/>
            <a:chExt cx="3837775" cy="2716111"/>
          </a:xfrm>
        </p:grpSpPr>
        <p:sp>
          <p:nvSpPr>
            <p:cNvPr id="21" name="Freeform 21"/>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22" name="TextBox 22"/>
          <p:cNvSpPr txBox="1"/>
          <p:nvPr/>
        </p:nvSpPr>
        <p:spPr>
          <a:xfrm>
            <a:off x="4498848"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bị ì</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AutoShape 23"/>
          <p:cNvSpPr/>
          <p:nvPr/>
        </p:nvSpPr>
        <p:spPr>
          <a:xfrm rot="315240">
            <a:off x="7200519" y="3556635"/>
            <a:ext cx="485404" cy="0"/>
          </a:xfrm>
          <a:prstGeom prst="line">
            <a:avLst/>
          </a:prstGeom>
          <a:ln w="19050" cap="rnd">
            <a:solidFill>
              <a:srgbClr val="00897B"/>
            </a:solidFill>
            <a:prstDash val="solid"/>
            <a:headEnd type="none" w="sm" len="sm"/>
            <a:tailEnd type="triangle" w="lg" len="med"/>
          </a:ln>
        </p:spPr>
      </p:sp>
      <p:sp>
        <p:nvSpPr>
          <p:cNvPr id="24" name="AutoShape 24"/>
          <p:cNvSpPr/>
          <p:nvPr/>
        </p:nvSpPr>
        <p:spPr>
          <a:xfrm rot="5341320">
            <a:off x="6884965" y="4329494"/>
            <a:ext cx="1116492" cy="0"/>
          </a:xfrm>
          <a:prstGeom prst="line">
            <a:avLst/>
          </a:prstGeom>
          <a:ln w="9525" cap="rnd">
            <a:solidFill>
              <a:srgbClr val="5B6B82"/>
            </a:solidFill>
            <a:prstDash val="solid"/>
            <a:headEnd type="none" w="sm" len="sm"/>
            <a:tailEnd type="none" w="sm" len="sm"/>
          </a:ln>
        </p:spPr>
      </p:sp>
      <p:sp>
        <p:nvSpPr>
          <p:cNvPr id="25" name="TextBox 25"/>
          <p:cNvSpPr txBox="1"/>
          <p:nvPr/>
        </p:nvSpPr>
        <p:spPr>
          <a:xfrm>
            <a:off x="5980176"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chỉ đoán được mình</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704839" y="2547623"/>
            <a:ext cx="2878331" cy="2037083"/>
            <a:chOff x="0" y="0"/>
            <a:chExt cx="3837775" cy="2716111"/>
          </a:xfrm>
        </p:grpSpPr>
        <p:sp>
          <p:nvSpPr>
            <p:cNvPr id="27" name="Freeform 27"/>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28" name="TextBox 28"/>
          <p:cNvSpPr txBox="1"/>
          <p:nvPr/>
        </p:nvSpPr>
        <p:spPr>
          <a:xfrm>
            <a:off x="7900416"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9" name="AutoShape 29"/>
          <p:cNvSpPr/>
          <p:nvPr/>
        </p:nvSpPr>
        <p:spPr>
          <a:xfrm rot="315240">
            <a:off x="10602087" y="3556635"/>
            <a:ext cx="485404" cy="0"/>
          </a:xfrm>
          <a:prstGeom prst="line">
            <a:avLst/>
          </a:prstGeom>
          <a:ln w="19050" cap="rnd">
            <a:solidFill>
              <a:srgbClr val="00897B"/>
            </a:solidFill>
            <a:prstDash val="solid"/>
            <a:headEnd type="none" w="sm" len="sm"/>
            <a:tailEnd type="triangle" w="lg" len="med"/>
          </a:ln>
        </p:spPr>
      </p:sp>
      <p:sp>
        <p:nvSpPr>
          <p:cNvPr id="30" name="AutoShape 30"/>
          <p:cNvSpPr/>
          <p:nvPr/>
        </p:nvSpPr>
        <p:spPr>
          <a:xfrm rot="5341320">
            <a:off x="10286533" y="4329494"/>
            <a:ext cx="1116492" cy="0"/>
          </a:xfrm>
          <a:prstGeom prst="line">
            <a:avLst/>
          </a:prstGeom>
          <a:ln w="9525" cap="rnd">
            <a:solidFill>
              <a:srgbClr val="5B6B82"/>
            </a:solidFill>
            <a:prstDash val="solid"/>
            <a:headEnd type="none" w="sm" len="sm"/>
            <a:tailEnd type="none" w="sm" len="sm"/>
          </a:ln>
        </p:spPr>
      </p:sp>
      <p:sp>
        <p:nvSpPr>
          <p:cNvPr id="31" name="TextBox 31"/>
          <p:cNvSpPr txBox="1"/>
          <p:nvPr/>
        </p:nvSpPr>
        <p:spPr>
          <a:xfrm>
            <a:off x="9381744"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đối thủ ở quá khứ</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2" name="Group 32"/>
          <p:cNvGrpSpPr/>
          <p:nvPr/>
        </p:nvGrpSpPr>
        <p:grpSpPr>
          <a:xfrm rot="0">
            <a:off x="11106407" y="2547623"/>
            <a:ext cx="2878331" cy="2037083"/>
            <a:chOff x="0" y="0"/>
            <a:chExt cx="3837775" cy="2716111"/>
          </a:xfrm>
        </p:grpSpPr>
        <p:sp>
          <p:nvSpPr>
            <p:cNvPr id="33" name="Freeform 33"/>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34" name="TextBox 34"/>
          <p:cNvSpPr txBox="1"/>
          <p:nvPr/>
        </p:nvSpPr>
        <p:spPr>
          <a:xfrm>
            <a:off x="11301984"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Tương tác không công bằng</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5" name="AutoShape 35"/>
          <p:cNvSpPr/>
          <p:nvPr/>
        </p:nvSpPr>
        <p:spPr>
          <a:xfrm rot="315240">
            <a:off x="14003655" y="3556635"/>
            <a:ext cx="485404" cy="0"/>
          </a:xfrm>
          <a:prstGeom prst="line">
            <a:avLst/>
          </a:prstGeom>
          <a:ln w="19050" cap="rnd">
            <a:solidFill>
              <a:srgbClr val="00897B"/>
            </a:solidFill>
            <a:prstDash val="solid"/>
            <a:headEnd type="none" w="sm" len="sm"/>
            <a:tailEnd type="triangle" w="lg" len="med"/>
          </a:ln>
        </p:spPr>
      </p:sp>
      <p:sp>
        <p:nvSpPr>
          <p:cNvPr id="36" name="AutoShape 36"/>
          <p:cNvSpPr/>
          <p:nvPr/>
        </p:nvSpPr>
        <p:spPr>
          <a:xfrm rot="5341320">
            <a:off x="13688101" y="4329494"/>
            <a:ext cx="1116492" cy="0"/>
          </a:xfrm>
          <a:prstGeom prst="line">
            <a:avLst/>
          </a:prstGeom>
          <a:ln w="9525" cap="rnd">
            <a:solidFill>
              <a:srgbClr val="5B6B82"/>
            </a:solidFill>
            <a:prstDash val="solid"/>
            <a:headEnd type="none" w="sm" len="sm"/>
            <a:tailEnd type="none" w="sm" len="sm"/>
          </a:ln>
        </p:spPr>
      </p:sp>
      <p:sp>
        <p:nvSpPr>
          <p:cNvPr id="37" name="TextBox 37"/>
          <p:cNvSpPr txBox="1"/>
          <p:nvPr/>
        </p:nvSpPr>
        <p:spPr>
          <a:xfrm>
            <a:off x="12783312"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server có thể quyết khác</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8" name="Group 38"/>
          <p:cNvGrpSpPr/>
          <p:nvPr/>
        </p:nvGrpSpPr>
        <p:grpSpPr>
          <a:xfrm rot="0">
            <a:off x="14507975" y="2547623"/>
            <a:ext cx="2878331" cy="2037083"/>
            <a:chOff x="0" y="0"/>
            <a:chExt cx="3837775" cy="2716111"/>
          </a:xfrm>
        </p:grpSpPr>
        <p:sp>
          <p:nvSpPr>
            <p:cNvPr id="39" name="Freeform 39"/>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40" name="TextBox 40"/>
          <p:cNvSpPr txBox="1"/>
          <p:nvPr/>
        </p:nvSpPr>
        <p:spPr>
          <a:xfrm>
            <a:off x="14703552"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hành động bị sai</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1" name="TextBox 41"/>
          <p:cNvSpPr txBox="1"/>
          <p:nvPr/>
        </p:nvSpPr>
        <p:spPr>
          <a:xfrm>
            <a:off x="914400" y="6151245"/>
            <a:ext cx="16459200" cy="48583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làm lộ ra</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vấn đề sau</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42" name="Group 42"/>
          <p:cNvGrpSpPr/>
          <p:nvPr/>
        </p:nvGrpSpPr>
        <p:grpSpPr>
          <a:xfrm rot="0">
            <a:off x="914400" y="7223760"/>
            <a:ext cx="7315200" cy="457200"/>
            <a:chOff x="0" y="0"/>
            <a:chExt cx="9753600" cy="609600"/>
          </a:xfrm>
        </p:grpSpPr>
        <p:sp>
          <p:nvSpPr>
            <p:cNvPr id="43" name="Freeform 43"/>
            <p:cNvSpPr/>
            <p:nvPr/>
          </p:nvSpPr>
          <p:spPr>
            <a:xfrm>
              <a:off x="0" y="0"/>
              <a:ext cx="9753600" cy="609600"/>
            </a:xfrm>
            <a:custGeom>
              <a:avLst/>
              <a:gdLst/>
              <a:ahLst/>
              <a:cxnLst/>
              <a:rect l="l" t="t" r="r" b="b"/>
              <a:pathLst>
                <a:path w="9753600" h="609600">
                  <a:moveTo>
                    <a:pt x="0" y="0"/>
                  </a:moveTo>
                  <a:lnTo>
                    <a:pt x="9753600" y="0"/>
                  </a:lnTo>
                  <a:lnTo>
                    <a:pt x="9753600" y="609600"/>
                  </a:lnTo>
                  <a:lnTo>
                    <a:pt x="0" y="609600"/>
                  </a:lnTo>
                  <a:close/>
                </a:path>
              </a:pathLst>
            </a:custGeom>
            <a:blipFill>
              <a:blip r:embed="rId1">
                <a:alphaModFix amt="0"/>
              </a:blip>
              <a:stretch>
                <a:fillRect t="-261760" b="-261760"/>
              </a:stretch>
            </a:blipFill>
          </p:spPr>
        </p:sp>
        <p:sp>
          <p:nvSpPr>
            <p:cNvPr id="44" name="TextBox 44"/>
            <p:cNvSpPr txBox="1"/>
            <p:nvPr/>
          </p:nvSpPr>
          <p:spPr>
            <a:xfrm>
              <a:off x="0" y="-38100"/>
              <a:ext cx="9753600" cy="647700"/>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TIÊU CHÍ CHỌN GIẢI PHÁP</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5" name="Group 45"/>
          <p:cNvGrpSpPr/>
          <p:nvPr/>
        </p:nvGrpSpPr>
        <p:grpSpPr>
          <a:xfrm rot="0">
            <a:off x="904875" y="7817739"/>
            <a:ext cx="3219450" cy="750570"/>
            <a:chOff x="0" y="0"/>
            <a:chExt cx="4292600" cy="1000760"/>
          </a:xfrm>
        </p:grpSpPr>
        <p:sp>
          <p:nvSpPr>
            <p:cNvPr id="46" name="Freeform 46"/>
            <p:cNvSpPr/>
            <p:nvPr/>
          </p:nvSpPr>
          <p:spPr>
            <a:xfrm>
              <a:off x="0" y="0"/>
              <a:ext cx="4292600" cy="1000760"/>
            </a:xfrm>
            <a:custGeom>
              <a:avLst/>
              <a:gdLst/>
              <a:ahLst/>
              <a:cxnLst/>
              <a:rect l="l" t="t" r="r" b="b"/>
              <a:pathLst>
                <a:path w="4292600" h="1000760">
                  <a:moveTo>
                    <a:pt x="0" y="500380"/>
                  </a:moveTo>
                  <a:cubicBezTo>
                    <a:pt x="0" y="224028"/>
                    <a:pt x="224028" y="0"/>
                    <a:pt x="500380" y="0"/>
                  </a:cubicBezTo>
                  <a:lnTo>
                    <a:pt x="3792220" y="0"/>
                  </a:lnTo>
                  <a:cubicBezTo>
                    <a:pt x="4068572" y="0"/>
                    <a:pt x="4292600" y="224028"/>
                    <a:pt x="4292600" y="500380"/>
                  </a:cubicBezTo>
                  <a:cubicBezTo>
                    <a:pt x="4292600" y="776732"/>
                    <a:pt x="4068572" y="1000760"/>
                    <a:pt x="379222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id="47" name="Group 47"/>
          <p:cNvGrpSpPr/>
          <p:nvPr/>
        </p:nvGrpSpPr>
        <p:grpSpPr>
          <a:xfrm rot="0">
            <a:off x="914400" y="7827264"/>
            <a:ext cx="3200400" cy="731520"/>
            <a:chOff x="0" y="0"/>
            <a:chExt cx="4267200" cy="975360"/>
          </a:xfrm>
        </p:grpSpPr>
        <p:sp>
          <p:nvSpPr>
            <p:cNvPr id="48" name="Freeform 48"/>
            <p:cNvSpPr/>
            <p:nvPr/>
          </p:nvSpPr>
          <p:spPr>
            <a:xfrm>
              <a:off x="0" y="0"/>
              <a:ext cx="4267200" cy="975360"/>
            </a:xfrm>
            <a:custGeom>
              <a:avLst/>
              <a:gdLst/>
              <a:ahLst/>
              <a:cxnLst/>
              <a:rect l="l" t="t" r="r" b="b"/>
              <a:pathLst>
                <a:path w="4267200" h="975360">
                  <a:moveTo>
                    <a:pt x="0" y="0"/>
                  </a:moveTo>
                  <a:lnTo>
                    <a:pt x="4267200" y="0"/>
                  </a:lnTo>
                  <a:lnTo>
                    <a:pt x="4267200" y="975360"/>
                  </a:lnTo>
                  <a:lnTo>
                    <a:pt x="0" y="975360"/>
                  </a:lnTo>
                  <a:close/>
                </a:path>
              </a:pathLst>
            </a:custGeom>
            <a:blipFill>
              <a:blip r:embed="rId1">
                <a:alphaModFix amt="0"/>
              </a:blip>
              <a:stretch>
                <a:fillRect t="-35247" b="-35247"/>
              </a:stretch>
            </a:blipFill>
          </p:spPr>
        </p:sp>
        <p:sp>
          <p:nvSpPr>
            <p:cNvPr id="49" name="TextBox 49"/>
            <p:cNvSpPr txBox="1"/>
            <p:nvPr/>
          </p:nvSpPr>
          <p:spPr>
            <a:xfrm>
              <a:off x="0" y="-38100"/>
              <a:ext cx="4267200" cy="10134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Phản hồi · ưu tiên</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0" name="Group 50"/>
          <p:cNvGrpSpPr/>
          <p:nvPr/>
        </p:nvGrpSpPr>
        <p:grpSpPr>
          <a:xfrm rot="0">
            <a:off x="4379595" y="7817739"/>
            <a:ext cx="3310890" cy="750570"/>
            <a:chOff x="0" y="0"/>
            <a:chExt cx="4414520" cy="1000760"/>
          </a:xfrm>
        </p:grpSpPr>
        <p:sp>
          <p:nvSpPr>
            <p:cNvPr id="51" name="Freeform 51"/>
            <p:cNvSpPr/>
            <p:nvPr/>
          </p:nvSpPr>
          <p:spPr>
            <a:xfrm>
              <a:off x="0" y="0"/>
              <a:ext cx="4414520" cy="1000760"/>
            </a:xfrm>
            <a:custGeom>
              <a:avLst/>
              <a:gdLst/>
              <a:ahLst/>
              <a:cxnLst/>
              <a:rect l="l" t="t" r="r" b="b"/>
              <a:pathLst>
                <a:path w="4414520" h="1000760">
                  <a:moveTo>
                    <a:pt x="0" y="500380"/>
                  </a:moveTo>
                  <a:cubicBezTo>
                    <a:pt x="0" y="224028"/>
                    <a:pt x="224028" y="0"/>
                    <a:pt x="500380" y="0"/>
                  </a:cubicBezTo>
                  <a:lnTo>
                    <a:pt x="3914140" y="0"/>
                  </a:lnTo>
                  <a:cubicBezTo>
                    <a:pt x="4190492" y="0"/>
                    <a:pt x="4414520" y="224028"/>
                    <a:pt x="4414520" y="500380"/>
                  </a:cubicBezTo>
                  <a:cubicBezTo>
                    <a:pt x="4414520" y="776732"/>
                    <a:pt x="4190492" y="1000760"/>
                    <a:pt x="391414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id="52" name="Group 52"/>
          <p:cNvGrpSpPr/>
          <p:nvPr/>
        </p:nvGrpSpPr>
        <p:grpSpPr>
          <a:xfrm rot="0">
            <a:off x="4389120" y="7827264"/>
            <a:ext cx="3291840" cy="731520"/>
            <a:chOff x="0" y="0"/>
            <a:chExt cx="4389120" cy="975360"/>
          </a:xfrm>
        </p:grpSpPr>
        <p:sp>
          <p:nvSpPr>
            <p:cNvPr id="53" name="Freeform 53"/>
            <p:cNvSpPr/>
            <p:nvPr/>
          </p:nvSpPr>
          <p:spPr>
            <a:xfrm>
              <a:off x="0" y="0"/>
              <a:ext cx="4389120" cy="975360"/>
            </a:xfrm>
            <a:custGeom>
              <a:avLst/>
              <a:gdLst/>
              <a:ahLst/>
              <a:cxnLst/>
              <a:rect l="l" t="t" r="r" b="b"/>
              <a:pathLst>
                <a:path w="4389120" h="975360">
                  <a:moveTo>
                    <a:pt x="0" y="0"/>
                  </a:moveTo>
                  <a:lnTo>
                    <a:pt x="4389120" y="0"/>
                  </a:lnTo>
                  <a:lnTo>
                    <a:pt x="4389120" y="975360"/>
                  </a:lnTo>
                  <a:lnTo>
                    <a:pt x="0" y="975360"/>
                  </a:lnTo>
                  <a:close/>
                </a:path>
              </a:pathLst>
            </a:custGeom>
            <a:blipFill>
              <a:blip r:embed="rId1">
                <a:alphaModFix amt="0"/>
              </a:blip>
              <a:stretch>
                <a:fillRect t="-37682" b="-37682"/>
              </a:stretch>
            </a:blipFill>
          </p:spPr>
        </p:sp>
        <p:sp>
          <p:nvSpPr>
            <p:cNvPr id="54" name="TextBox 54"/>
            <p:cNvSpPr txBox="1"/>
            <p:nvPr/>
          </p:nvSpPr>
          <p:spPr>
            <a:xfrm>
              <a:off x="0" y="-38100"/>
              <a:ext cx="4389120" cy="10134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Nhất quán · ưu tiên</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5" name="Group 55"/>
          <p:cNvGrpSpPr/>
          <p:nvPr/>
        </p:nvGrpSpPr>
        <p:grpSpPr>
          <a:xfrm rot="0">
            <a:off x="7945755" y="7817739"/>
            <a:ext cx="2670810" cy="750570"/>
            <a:chOff x="0" y="0"/>
            <a:chExt cx="3561080" cy="1000760"/>
          </a:xfrm>
        </p:grpSpPr>
        <p:sp>
          <p:nvSpPr>
            <p:cNvPr id="56" name="Freeform 56"/>
            <p:cNvSpPr/>
            <p:nvPr/>
          </p:nvSpPr>
          <p:spPr>
            <a:xfrm>
              <a:off x="0" y="0"/>
              <a:ext cx="3561080" cy="1000760"/>
            </a:xfrm>
            <a:custGeom>
              <a:avLst/>
              <a:gdLst/>
              <a:ahLst/>
              <a:cxnLst/>
              <a:rect l="l" t="t" r="r" b="b"/>
              <a:pathLst>
                <a:path w="3561080" h="1000760">
                  <a:moveTo>
                    <a:pt x="0" y="500380"/>
                  </a:moveTo>
                  <a:cubicBezTo>
                    <a:pt x="0" y="224028"/>
                    <a:pt x="224028" y="0"/>
                    <a:pt x="500380" y="0"/>
                  </a:cubicBezTo>
                  <a:lnTo>
                    <a:pt x="3060700" y="0"/>
                  </a:lnTo>
                  <a:cubicBezTo>
                    <a:pt x="3337052" y="0"/>
                    <a:pt x="3561080" y="224028"/>
                    <a:pt x="3561080" y="500380"/>
                  </a:cubicBezTo>
                  <a:cubicBezTo>
                    <a:pt x="3561080" y="776732"/>
                    <a:pt x="3337052" y="1000760"/>
                    <a:pt x="30607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57" name="Group 57"/>
          <p:cNvGrpSpPr/>
          <p:nvPr/>
        </p:nvGrpSpPr>
        <p:grpSpPr>
          <a:xfrm rot="0">
            <a:off x="7955280" y="7827264"/>
            <a:ext cx="2651760" cy="731520"/>
            <a:chOff x="0" y="0"/>
            <a:chExt cx="3535680" cy="975360"/>
          </a:xfrm>
        </p:grpSpPr>
        <p:sp>
          <p:nvSpPr>
            <p:cNvPr id="58" name="Freeform 58"/>
            <p:cNvSpPr/>
            <p:nvPr/>
          </p:nvSpPr>
          <p:spPr>
            <a:xfrm>
              <a:off x="0" y="0"/>
              <a:ext cx="3535680" cy="975360"/>
            </a:xfrm>
            <a:custGeom>
              <a:avLst/>
              <a:gdLst/>
              <a:ahLst/>
              <a:cxnLst/>
              <a:rect l="l" t="t" r="r" b="b"/>
              <a:pathLst>
                <a:path w="3535680" h="975360">
                  <a:moveTo>
                    <a:pt x="0" y="0"/>
                  </a:moveTo>
                  <a:lnTo>
                    <a:pt x="3535680" y="0"/>
                  </a:lnTo>
                  <a:lnTo>
                    <a:pt x="3535680" y="975360"/>
                  </a:lnTo>
                  <a:lnTo>
                    <a:pt x="0" y="975360"/>
                  </a:lnTo>
                  <a:close/>
                </a:path>
              </a:pathLst>
            </a:custGeom>
            <a:blipFill>
              <a:blip r:embed="rId1">
                <a:alphaModFix amt="0"/>
              </a:blip>
              <a:stretch>
                <a:fillRect t="-20633" b="-20633"/>
              </a:stretch>
            </a:blipFill>
          </p:spPr>
        </p:sp>
        <p:sp>
          <p:nvSpPr>
            <p:cNvPr id="59" name="TextBox 59"/>
            <p:cNvSpPr txBox="1"/>
            <p:nvPr/>
          </p:nvSpPr>
          <p:spPr>
            <a:xfrm>
              <a:off x="0" y="-38100"/>
              <a:ext cx="353568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Chịu mạng xấu</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0" name="Group 60"/>
          <p:cNvGrpSpPr/>
          <p:nvPr/>
        </p:nvGrpSpPr>
        <p:grpSpPr>
          <a:xfrm rot="0">
            <a:off x="10871835" y="7817739"/>
            <a:ext cx="2396490" cy="750570"/>
            <a:chOff x="0" y="0"/>
            <a:chExt cx="3195320" cy="1000760"/>
          </a:xfrm>
        </p:grpSpPr>
        <p:sp>
          <p:nvSpPr>
            <p:cNvPr id="61" name="Freeform 61"/>
            <p:cNvSpPr/>
            <p:nvPr/>
          </p:nvSpPr>
          <p:spPr>
            <a:xfrm>
              <a:off x="0" y="0"/>
              <a:ext cx="3195320" cy="1000760"/>
            </a:xfrm>
            <a:custGeom>
              <a:avLst/>
              <a:gdLst/>
              <a:ahLst/>
              <a:cxnLst/>
              <a:rect l="l" t="t" r="r" b="b"/>
              <a:pathLst>
                <a:path w="3195320" h="1000760">
                  <a:moveTo>
                    <a:pt x="0" y="500380"/>
                  </a:moveTo>
                  <a:cubicBezTo>
                    <a:pt x="0" y="224028"/>
                    <a:pt x="224028" y="0"/>
                    <a:pt x="500380" y="0"/>
                  </a:cubicBezTo>
                  <a:lnTo>
                    <a:pt x="2694940" y="0"/>
                  </a:lnTo>
                  <a:cubicBezTo>
                    <a:pt x="2971292" y="0"/>
                    <a:pt x="3195320" y="224028"/>
                    <a:pt x="3195320" y="500380"/>
                  </a:cubicBezTo>
                  <a:cubicBezTo>
                    <a:pt x="3195320" y="776732"/>
                    <a:pt x="2971292" y="1000760"/>
                    <a:pt x="269494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62" name="Group 62"/>
          <p:cNvGrpSpPr/>
          <p:nvPr/>
        </p:nvGrpSpPr>
        <p:grpSpPr>
          <a:xfrm rot="0">
            <a:off x="10881360" y="7827264"/>
            <a:ext cx="2377440" cy="731520"/>
            <a:chOff x="0" y="0"/>
            <a:chExt cx="3169920" cy="975360"/>
          </a:xfrm>
        </p:grpSpPr>
        <p:sp>
          <p:nvSpPr>
            <p:cNvPr id="63" name="Freeform 63"/>
            <p:cNvSpPr/>
            <p:nvPr/>
          </p:nvSpPr>
          <p:spPr>
            <a:xfrm>
              <a:off x="0" y="0"/>
              <a:ext cx="3169920" cy="975360"/>
            </a:xfrm>
            <a:custGeom>
              <a:avLst/>
              <a:gdLst/>
              <a:ahLst/>
              <a:cxnLst/>
              <a:rect l="l" t="t" r="r" b="b"/>
              <a:pathLst>
                <a:path w="3169920" h="975360">
                  <a:moveTo>
                    <a:pt x="0" y="0"/>
                  </a:moveTo>
                  <a:lnTo>
                    <a:pt x="3169920" y="0"/>
                  </a:lnTo>
                  <a:lnTo>
                    <a:pt x="3169920" y="975360"/>
                  </a:lnTo>
                  <a:lnTo>
                    <a:pt x="0" y="975360"/>
                  </a:lnTo>
                  <a:close/>
                </a:path>
              </a:pathLst>
            </a:custGeom>
            <a:blipFill>
              <a:blip r:embed="rId1">
                <a:alphaModFix amt="0"/>
              </a:blip>
              <a:stretch>
                <a:fillRect t="-13326" b="-13326"/>
              </a:stretch>
            </a:blipFill>
          </p:spPr>
        </p:sp>
        <p:sp>
          <p:nvSpPr>
            <p:cNvPr id="64" name="TextBox 64"/>
            <p:cNvSpPr txBox="1"/>
            <p:nvPr/>
          </p:nvSpPr>
          <p:spPr>
            <a:xfrm>
              <a:off x="0" y="-38100"/>
              <a:ext cx="316992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phức tạp</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5" name="Group 65"/>
          <p:cNvGrpSpPr/>
          <p:nvPr/>
        </p:nvGrpSpPr>
        <p:grpSpPr>
          <a:xfrm rot="0">
            <a:off x="13523595" y="7817739"/>
            <a:ext cx="3128010" cy="750570"/>
            <a:chOff x="0" y="0"/>
            <a:chExt cx="4170680" cy="1000760"/>
          </a:xfrm>
        </p:grpSpPr>
        <p:sp>
          <p:nvSpPr>
            <p:cNvPr id="66" name="Freeform 66"/>
            <p:cNvSpPr/>
            <p:nvPr/>
          </p:nvSpPr>
          <p:spPr>
            <a:xfrm>
              <a:off x="0" y="0"/>
              <a:ext cx="4170680" cy="1000760"/>
            </a:xfrm>
            <a:custGeom>
              <a:avLst/>
              <a:gdLst/>
              <a:ahLst/>
              <a:cxnLst/>
              <a:rect l="l" t="t" r="r" b="b"/>
              <a:pathLst>
                <a:path w="4170680" h="1000760">
                  <a:moveTo>
                    <a:pt x="0" y="500380"/>
                  </a:moveTo>
                  <a:cubicBezTo>
                    <a:pt x="0" y="224028"/>
                    <a:pt x="224028" y="0"/>
                    <a:pt x="500380" y="0"/>
                  </a:cubicBezTo>
                  <a:lnTo>
                    <a:pt x="3670300" y="0"/>
                  </a:lnTo>
                  <a:cubicBezTo>
                    <a:pt x="3946652" y="0"/>
                    <a:pt x="4170680" y="224028"/>
                    <a:pt x="4170680" y="500380"/>
                  </a:cubicBezTo>
                  <a:cubicBezTo>
                    <a:pt x="4170680" y="776732"/>
                    <a:pt x="3946652" y="1000760"/>
                    <a:pt x="36703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67" name="Group 67"/>
          <p:cNvGrpSpPr/>
          <p:nvPr/>
        </p:nvGrpSpPr>
        <p:grpSpPr>
          <a:xfrm rot="0">
            <a:off x="13533120" y="7827264"/>
            <a:ext cx="3108960" cy="731520"/>
            <a:chOff x="0" y="0"/>
            <a:chExt cx="4145280" cy="975360"/>
          </a:xfrm>
        </p:grpSpPr>
        <p:sp>
          <p:nvSpPr>
            <p:cNvPr id="68" name="Freeform 68"/>
            <p:cNvSpPr/>
            <p:nvPr/>
          </p:nvSpPr>
          <p:spPr>
            <a:xfrm>
              <a:off x="0" y="0"/>
              <a:ext cx="4145280" cy="975360"/>
            </a:xfrm>
            <a:custGeom>
              <a:avLst/>
              <a:gdLst/>
              <a:ahLst/>
              <a:cxnLst/>
              <a:rect l="l" t="t" r="r" b="b"/>
              <a:pathLst>
                <a:path w="4145280" h="975360">
                  <a:moveTo>
                    <a:pt x="0" y="0"/>
                  </a:moveTo>
                  <a:lnTo>
                    <a:pt x="4145280" y="0"/>
                  </a:lnTo>
                  <a:lnTo>
                    <a:pt x="4145280" y="975360"/>
                  </a:lnTo>
                  <a:lnTo>
                    <a:pt x="0" y="975360"/>
                  </a:lnTo>
                  <a:close/>
                </a:path>
              </a:pathLst>
            </a:custGeom>
            <a:blipFill>
              <a:blip r:embed="rId1">
                <a:alphaModFix amt="0"/>
              </a:blip>
              <a:stretch>
                <a:fillRect t="-32811" b="-32811"/>
              </a:stretch>
            </a:blipFill>
          </p:spPr>
        </p:sp>
        <p:sp>
          <p:nvSpPr>
            <p:cNvPr id="69" name="TextBox 69"/>
            <p:cNvSpPr txBox="1"/>
            <p:nvPr/>
          </p:nvSpPr>
          <p:spPr>
            <a:xfrm>
              <a:off x="0" y="-38100"/>
              <a:ext cx="414528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Phù hợp loại game</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70" name="TextBox 70"/>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20</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4" name="Header band"/>
          <p:cNvSpPr/>
          <p:nvPr/>
        </p:nvSpPr>
        <p:spPr>
          <a:xfrm>
            <a:off x="0" y="0"/>
            <a:ext cx="18288000" cy="2103120"/>
          </a:xfrm>
          <a:prstGeom prst="rect">
            <a:avLst/>
          </a:prstGeom>
          <a:solidFill>
            <a:srgbClr val="14213D"/>
          </a:solidFill>
          <a:ln>
            <a:noFill/>
          </a:ln>
        </p:spPr>
      </p:sp>
      <p:sp>
        <p:nvSpPr>
          <p:cNvPr id="9005"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TỔNG KẾT</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Năm vấn đề, năm đánh đổi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PHÒNG</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aphicFrame>
        <p:nvGraphicFramePr>
          <p:cNvPr id="14" name="Table 14"/>
          <p:cNvGraphicFramePr>
            <a:graphicFrameLocks noGrp="1"/>
          </p:cNvGraphicFramePr>
          <p:nvPr/>
        </p:nvGraphicFramePr>
        <p:xfrm>
          <a:off x="914400" y="2468880"/>
          <a:ext cx="16433800" cy="4572000"/>
        </p:xfrm>
        <a:graphic>
          <a:graphicData uri="http://schemas.openxmlformats.org/drawingml/2006/table">
            <a:tbl>
              <a:tblPr/>
              <a:tblGrid>
                <a:gridCol w="5296595"/>
                <a:gridCol w="4752579"/>
                <a:gridCol w="6384626"/>
              </a:tblGrid>
              <a:tr h="762000">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Vấn đề</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Giải pháp</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Đánh đổi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r>
              <a:tr h="762000">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Ai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Trễ 1 RTT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762000">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ì</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 đối chiếu</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Cần mô phỏng chung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762000">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Nội suy</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Thấy đối thủ ở quá khứ</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762000">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Tranh chấp không công bằng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“Chạy rồi vẫn bị bắt”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762000">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sai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Thỉnh thoảng thấy hành động bị huỷ</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bl>
          </a:graphicData>
        </a:graphic>
      </p:graphicFrame>
      <p:grpSp>
        <p:nvGrpSpPr>
          <p:cNvPr id="15" name="Group 15"/>
          <p:cNvGrpSpPr/>
          <p:nvPr/>
        </p:nvGrpSpPr>
        <p:grpSpPr>
          <a:xfrm rot="0">
            <a:off x="901703" y="7485383"/>
            <a:ext cx="16484603" cy="1579883"/>
            <a:chOff x="0" y="0"/>
            <a:chExt cx="21979471" cy="2106511"/>
          </a:xfrm>
        </p:grpSpPr>
        <p:sp>
          <p:nvSpPr>
            <p:cNvPr id="16" name="Freeform 16"/>
            <p:cNvSpPr/>
            <p:nvPr/>
          </p:nvSpPr>
          <p:spPr>
            <a:xfrm>
              <a:off x="0" y="0"/>
              <a:ext cx="21979382" cy="2106422"/>
            </a:xfrm>
            <a:custGeom>
              <a:avLst/>
              <a:gdLst/>
              <a:ahLst/>
              <a:cxnLst/>
              <a:rect l="l" t="t" r="r" b="b"/>
              <a:pathLst>
                <a:path w="21979382" h="2106422">
                  <a:moveTo>
                    <a:pt x="0" y="247777"/>
                  </a:moveTo>
                  <a:cubicBezTo>
                    <a:pt x="0" y="110998"/>
                    <a:pt x="110998" y="0"/>
                    <a:pt x="247777" y="0"/>
                  </a:cubicBezTo>
                  <a:lnTo>
                    <a:pt x="21731605" y="0"/>
                  </a:lnTo>
                  <a:cubicBezTo>
                    <a:pt x="21868512" y="0"/>
                    <a:pt x="21979382" y="110998"/>
                    <a:pt x="21979382" y="247777"/>
                  </a:cubicBezTo>
                  <a:lnTo>
                    <a:pt x="21979382" y="1858645"/>
                  </a:lnTo>
                  <a:cubicBezTo>
                    <a:pt x="21979382" y="1995551"/>
                    <a:pt x="21868385" y="2106422"/>
                    <a:pt x="21731605" y="2106422"/>
                  </a:cubicBezTo>
                  <a:lnTo>
                    <a:pt x="247777" y="2106422"/>
                  </a:lnTo>
                  <a:cubicBezTo>
                    <a:pt x="110998" y="2106549"/>
                    <a:pt x="0" y="1995551"/>
                    <a:pt x="0" y="1858645"/>
                  </a:cubicBezTo>
                  <a:close/>
                </a:path>
              </a:pathLst>
            </a:custGeom>
            <a:solidFill>
              <a:srgbClr val="14213D"/>
            </a:solidFill>
            <a:ln w="25400" cap="sq">
              <a:solidFill>
                <a:srgbClr val="14213D"/>
              </a:solidFill>
              <a:prstDash val="solid"/>
              <a:miter/>
            </a:ln>
          </p:spPr>
        </p:sp>
      </p:grpSp>
      <p:grpSp>
        <p:nvGrpSpPr>
          <p:cNvPr id="17" name="Group 17"/>
          <p:cNvGrpSpPr/>
          <p:nvPr/>
        </p:nvGrpSpPr>
        <p:grpSpPr>
          <a:xfrm rot="0">
            <a:off x="1463040" y="7498080"/>
            <a:ext cx="15361920" cy="1554480"/>
            <a:chOff x="0" y="0"/>
            <a:chExt cx="20482560" cy="2072640"/>
          </a:xfrm>
        </p:grpSpPr>
        <p:sp>
          <p:nvSpPr>
            <p:cNvPr id="18" name="Freeform 18"/>
            <p:cNvSpPr/>
            <p:nvPr/>
          </p:nvSpPr>
          <p:spPr>
            <a:xfrm>
              <a:off x="0" y="0"/>
              <a:ext cx="20482561" cy="2072640"/>
            </a:xfrm>
            <a:custGeom>
              <a:avLst/>
              <a:gdLst/>
              <a:ahLst/>
              <a:cxnLst/>
              <a:rect l="l" t="t" r="r" b="b"/>
              <a:pathLst>
                <a:path w="20482561" h="2072640">
                  <a:moveTo>
                    <a:pt x="0" y="0"/>
                  </a:moveTo>
                  <a:lnTo>
                    <a:pt x="20482561" y="0"/>
                  </a:lnTo>
                  <a:lnTo>
                    <a:pt x="20482561" y="2072640"/>
                  </a:lnTo>
                  <a:lnTo>
                    <a:pt x="0" y="2072640"/>
                  </a:lnTo>
                  <a:close/>
                </a:path>
              </a:pathLst>
            </a:custGeom>
            <a:blipFill>
              <a:blip r:embed="rId1">
                <a:alphaModFix amt="0"/>
              </a:blip>
              <a:stretch>
                <a:fillRect t="-142558" b="-142558"/>
              </a:stretch>
            </a:blipFill>
          </p:spPr>
        </p:sp>
        <p:sp>
          <p:nvSpPr>
            <p:cNvPr id="19" name="TextBox 19"/>
            <p:cNvSpPr txBox="1"/>
            <p:nvPr/>
          </p:nvSpPr>
          <p:spPr>
            <a:xfrm>
              <a:off x="0" y="-19050"/>
              <a:ext cx="20482560" cy="2091690"/>
            </a:xfrm>
            <a:prstGeom prst="rect">
              <a:avLst/>
            </a:prstGeom>
          </p:spPr>
          <p:txBody>
            <a:bodyPr lIns="0" tIns="0" rIns="0" bIns="0" rtlCol="0" anchor="ctr"/>
            <a:lstStyle/>
            <a:p>
              <a:pPr algn="l">
                <a:lnSpc>
                  <a:spcPts val="4320"/>
                </a:lnSpc>
              </a:pPr>
              <a:r>
                <a:rPr lang="en-US" sz="3600" b="1" i="1">
                  <a:solidFill>
                    <a:srgbClr val="FFFFFF"/>
                  </a:solidFill>
                  <a:latin typeface="Times New Roman" panose="02020603050405020304"/>
                  <a:ea typeface="Times New Roman" panose="02020603050405020304"/>
                  <a:cs typeface="Times New Roman" panose="02020603050405020304"/>
                  <a:sym typeface="Times New Roman" panose="02020603050405020304"/>
                </a:rPr>
                <a:t>Không kỹ thuật nào xoá được độ trễ, chỉ chuyển nó sang chỗ ít bị để ý hơn</a:t>
              </a:r>
              <a:endParaRPr lang="en-US" sz="3600" b="1"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0" name="TextBox 20"/>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21</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0" name="Header band"/>
          <p:cNvSpPr/>
          <p:nvPr/>
        </p:nvSpPr>
        <p:spPr>
          <a:xfrm>
            <a:off x="0" y="0"/>
            <a:ext cx="18288000" cy="2103120"/>
          </a:xfrm>
          <a:prstGeom prst="rect">
            <a:avLst/>
          </a:prstGeom>
          <a:solidFill>
            <a:srgbClr val="14213D"/>
          </a:solidFill>
          <a:ln>
            <a:noFill/>
          </a:ln>
        </p:spPr>
      </p:sp>
      <p:sp>
        <p:nvSpPr>
          <p:cNvPr id="901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D1 · NGUỒN: MỤC 2.1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Thành phần của độ trễ</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 đến từ đâu, giảm được không?”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lan truyền, truyền, xếp hàng, xử lý</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2.1.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2" name="Header band"/>
          <p:cNvSpPr/>
          <p:nvPr/>
        </p:nvSpPr>
        <p:spPr>
          <a:xfrm>
            <a:off x="0" y="0"/>
            <a:ext cx="18288000" cy="2103120"/>
          </a:xfrm>
          <a:prstGeom prst="rect">
            <a:avLst/>
          </a:prstGeom>
          <a:solidFill>
            <a:srgbClr val="14213D"/>
          </a:solidFill>
          <a:ln>
            <a:noFill/>
          </a:ln>
        </p:spPr>
      </p:sp>
      <p:sp>
        <p:nvSpPr>
          <p:cNvPr id="901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D2 · NGUỒN: MỤC 2.3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TCP chi tiết</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“Sao không dùng TCP cho tất cả, tắt Nagle là xong?”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thời gian chờ gửi lại, thuật toán Nagle</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2.3.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23</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4" name="Header band"/>
          <p:cNvSpPr/>
          <p:nvPr/>
        </p:nvSpPr>
        <p:spPr>
          <a:xfrm>
            <a:off x="0" y="0"/>
            <a:ext cx="18288000" cy="2103120"/>
          </a:xfrm>
          <a:prstGeom prst="rect">
            <a:avLst/>
          </a:prstGeom>
          <a:solidFill>
            <a:srgbClr val="14213D"/>
          </a:solidFill>
          <a:ln>
            <a:noFill/>
          </a:ln>
        </p:spPr>
      </p:sp>
      <p:sp>
        <p:nvSpPr>
          <p:cNvPr id="9015"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D3 · NGUỒN: VĐ1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Bộ tích luỹ thời gian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“Chọn 30 nhịp/giây thế nào? Client 144 Hz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tần số mô phỏng và tần số gửi ảnh</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8" name="Header band"/>
          <p:cNvSpPr/>
          <p:nvPr/>
        </p:nvSpPr>
        <p:spPr>
          <a:xfrm>
            <a:off x="0" y="0"/>
            <a:ext cx="18288000" cy="2103120"/>
          </a:xfrm>
          <a:prstGeom prst="rect">
            <a:avLst/>
          </a:prstGeom>
          <a:solidFill>
            <a:srgbClr val="14213D"/>
          </a:solidFill>
          <a:ln>
            <a:noFill/>
          </a:ln>
        </p:spPr>
      </p:sp>
      <p:sp>
        <p:nvSpPr>
          <p:cNvPr id="9019"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D4 · NGUỒN: VĐ1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Hàng đợi lệnh ở server</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“Lệnh đến không đều thì server làm gì?”</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thiếu lệnh, dồn lệnh, chống hack tốc độ</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0" name="Header band"/>
          <p:cNvSpPr/>
          <p:nvPr/>
        </p:nvSpPr>
        <p:spPr>
          <a:xfrm>
            <a:off x="0" y="0"/>
            <a:ext cx="18288000" cy="2103120"/>
          </a:xfrm>
          <a:prstGeom prst="rect">
            <a:avLst/>
          </a:prstGeom>
          <a:solidFill>
            <a:srgbClr val="14213D"/>
          </a:solidFill>
          <a:ln>
            <a:noFill/>
          </a:ln>
        </p:spPr>
      </p:sp>
      <p:sp>
        <p:nvSpPr>
          <p:cNvPr id="902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D5 · NGUỒN: MỤC 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Bảng giao thức</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“Định dạng gói tin thế nào?”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93995"/>
            <a:ext cx="15727680" cy="3575685"/>
          </a:xfrm>
          <a:prstGeom prst="rect">
            <a:avLst/>
          </a:prstGeom>
        </p:spPr>
        <p:txBody>
          <a:bodyPr lIns="0" tIns="0" rIns="0" bIns="0" rtlCol="0" anchor="t">
            <a:spAutoFit/>
          </a:bodyPr>
          <a:lstStyle/>
          <a:p>
            <a:pPr algn="l">
              <a:lnSpc>
                <a:spcPts val="2880"/>
              </a:lnSpc>
            </a:pPr>
            <a:r>
              <a:rPr lang="en-US" sz="2400">
                <a:solidFill>
                  <a:srgbClr val="5B6B82"/>
                </a:solidFill>
                <a:latin typeface="Courier New" panose="02070309020205020404"/>
                <a:ea typeface="Courier New" panose="02070309020205020404"/>
                <a:cs typeface="Courier New" panose="02070309020205020404"/>
                <a:sym typeface="Courier New" panose="02070309020205020404"/>
              </a:rPr>
              <a:t>Phạm vi: INPUT, SNAPSHOT, ITEM_*</a:t>
            </a:r>
            <a:endParaRPr lang="en-US" sz="2400">
              <a:solidFill>
                <a:srgbClr val="5B6B82"/>
              </a:solidFill>
              <a:latin typeface="Courier New" panose="02070309020205020404"/>
              <a:ea typeface="Courier New" panose="02070309020205020404"/>
              <a:cs typeface="Courier New" panose="02070309020205020404"/>
              <a:sym typeface="Courier New" panose="020703090202050204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2" name="Header band"/>
          <p:cNvSpPr/>
          <p:nvPr/>
        </p:nvSpPr>
        <p:spPr>
          <a:xfrm>
            <a:off x="0" y="0"/>
            <a:ext cx="18288000" cy="2103120"/>
          </a:xfrm>
          <a:prstGeom prst="rect">
            <a:avLst/>
          </a:prstGeom>
          <a:solidFill>
            <a:srgbClr val="14213D"/>
          </a:solidFill>
          <a:ln>
            <a:noFill/>
          </a:ln>
        </p:spPr>
      </p:sp>
      <p:sp>
        <p:nvSpPr>
          <p:cNvPr id="902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D6 · NGUỒN: VĐ3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Chọn độ trễ nội suy</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 nội suy chọn bao nhiêu? Mất nhiều gói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bảng theo tần số gửi ảnh, ngoại suy dự phòng</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VĐ3.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27</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4" name="Header band"/>
          <p:cNvSpPr/>
          <p:nvPr/>
        </p:nvSpPr>
        <p:spPr>
          <a:xfrm>
            <a:off x="0" y="0"/>
            <a:ext cx="18288000" cy="2103120"/>
          </a:xfrm>
          <a:prstGeom prst="rect">
            <a:avLst/>
          </a:prstGeom>
          <a:solidFill>
            <a:srgbClr val="14213D"/>
          </a:solidFill>
          <a:ln>
            <a:noFill/>
          </a:ln>
        </p:spPr>
      </p:sp>
      <p:sp>
        <p:nvSpPr>
          <p:cNvPr id="9025"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D7 · NGUỒN: VĐ4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Phân xử món hàng hiếm</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“Hai người cùng nhặt thì xử thế nào? Gửi nhịp giả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cửa sổ phân xử, kiểm tra số nhịp giả</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VĐ4.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28</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6" name="Header band"/>
          <p:cNvSpPr/>
          <p:nvPr/>
        </p:nvSpPr>
        <p:spPr>
          <a:xfrm>
            <a:off x="0" y="0"/>
            <a:ext cx="18288000" cy="2103120"/>
          </a:xfrm>
          <a:prstGeom prst="rect">
            <a:avLst/>
          </a:prstGeom>
          <a:solidFill>
            <a:srgbClr val="14213D"/>
          </a:solidFill>
          <a:ln>
            <a:noFill/>
          </a:ln>
        </p:spPr>
      </p:sp>
      <p:sp>
        <p:nvSpPr>
          <p:cNvPr id="9027"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D8 · NGUỒN: VĐ5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Các nguồn phá tính tất định</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“Tính tất định ảnh hưởng thế nào?”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số thực, thứ tự duyệt, số ngẫu nhiên</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29</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8" name="Header band"/>
          <p:cNvSpPr/>
          <p:nvPr/>
        </p:nvSpPr>
        <p:spPr>
          <a:xfrm>
            <a:off x="0" y="0"/>
            <a:ext cx="18288000" cy="2103120"/>
          </a:xfrm>
          <a:prstGeom prst="rect">
            <a:avLst/>
          </a:prstGeom>
          <a:solidFill>
            <a:srgbClr val="14213D"/>
          </a:solidFill>
          <a:ln>
            <a:noFill/>
          </a:ln>
        </p:spPr>
      </p:sp>
      <p:sp>
        <p:nvSpPr>
          <p:cNvPr id="9029"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D9 · NGUỒN: VĐ1, VĐ5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5750"/>
                </a:lnSpc>
              </a:pPr>
              <a:r>
                <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Đồng bộ theo bước / GGPO vs mô hình của nhóm</a:t>
              </a:r>
              <a:endPar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“Sao không làm ngang hàng?”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so sánh hai mô hình</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VĐ5.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30</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0" name="Header band"/>
          <p:cNvSpPr/>
          <p:nvPr/>
        </p:nvSpPr>
        <p:spPr>
          <a:xfrm>
            <a:off x="0" y="0"/>
            <a:ext cx="18288000" cy="2103120"/>
          </a:xfrm>
          <a:prstGeom prst="rect">
            <a:avLst/>
          </a:prstGeom>
          <a:solidFill>
            <a:srgbClr val="14213D"/>
          </a:solidFill>
          <a:ln>
            <a:noFill/>
          </a:ln>
        </p:spPr>
      </p:sp>
      <p:sp>
        <p:nvSpPr>
          <p:cNvPr id="903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D10 · NGUỒN: MỤC 7.2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 giả lập</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“Demo có phản ánh mạng thật không?”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netsim.js (độ trễ, jitter, mất gói); WebSocket vì trình duyệt không mở được UDP</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7.2.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31</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10253</Words>
  <Application>WPS Presentation</Application>
  <PresentationFormat>On-screen Show (4:3)</PresentationFormat>
  <Paragraphs>819</Paragraphs>
  <Slides>31</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31</vt:i4>
      </vt:variant>
    </vt:vector>
  </HeadingPairs>
  <TitlesOfParts>
    <vt:vector size="40" baseType="lpstr">
      <vt:lpstr>Arial</vt:lpstr>
      <vt:lpstr>SimSun</vt:lpstr>
      <vt:lpstr>Wingdings</vt:lpstr>
      <vt:lpstr>Times New Roman</vt:lpstr>
      <vt:lpstr>Times New Roman</vt:lpstr>
      <vt:lpstr>Microsoft YaHei</vt:lpstr>
      <vt:lpstr>Arial Unicode MS</vt:lpstr>
      <vt:lpstr>Courier New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T47_ThuyetTrinh_Khung.pptx</dc:title>
  <dc:creator/>
  <cp:lastModifiedBy>Ordaz Victor</cp:lastModifiedBy>
  <cp:revision>2</cp:revision>
  <dcterms:created xsi:type="dcterms:W3CDTF">2006-08-16T00:00:00Z</dcterms:created>
  <dcterms:modified xsi:type="dcterms:W3CDTF">2026-10-25T07:26:24Z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BCEE7EE40A0C4EFF8E0543346828E222_13</vt:lpwstr>
  </property>
  <property fmtid="{D5CDD505-2E9C-101B-9397-08002B2CF9AE}" pid="3" name="KSOProductBuildVer">
    <vt:lpwstr>1033-12.1.0.29162</vt:lpwstr>
  </property>
</Properties>
</file>