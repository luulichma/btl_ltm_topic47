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85" r:id="rId5"/>
    <p:sldId id="282" r:id="rId6"/>
    <p:sldId id="286" r:id="rId7"/>
    <p:sldId id="257" r:id="rId8"/>
    <p:sldId id="258" r:id="rId9"/>
    <p:sldId id="287" r:id="rId38"/>
    <p:sldId id="283" r:id="rId10"/>
    <p:sldId id="260" r:id="rId11"/>
    <p:sldId id="261" r:id="rId12"/>
    <p:sldId id="262" r:id="rId13"/>
    <p:sldId id="263" r:id="rId14"/>
    <p:sldId id="264" r:id="rId15"/>
    <p:sldId id="265" r:id="rId16"/>
    <p:sldId id="266" r:id="rId17"/>
    <p:sldId id="267" r:id="rId24"/>
    <p:sldId id="284" r:id="rId18"/>
    <p:sldId id="268" r:id="rId19"/>
    <p:sldId id="269" r:id="rId20"/>
    <p:sldId id="270" r:id="rId21"/>
    <p:sldId id="271" r:id="rId22"/>
    <p:sldId id="259" r:id="rId23"/>
    <p:sldId id="272" r:id="rId25"/>
    <p:sldId id="273" r:id="rId26"/>
    <p:sldId id="274" r:id="rId27"/>
    <p:sldId id="275" r:id="rId28"/>
    <p:sldId id="276" r:id="rId29"/>
    <p:sldId id="277" r:id="rId30"/>
    <p:sldId id="278" r:id="rId31"/>
    <p:sldId id="279" r:id="rId32"/>
    <p:sldId id="280" r:id="rId33"/>
    <p:sldId id="281" r:id="rId34"/>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5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51"/>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16.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ableStyles" Target="tableStyles.xml"/><Relationship Id="rId3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vi-VN"/>
              <a:t>Người trình bày: #1 · Thời gian: 0,25' · Cộng dồn: 0,25'</a:t>
            </a:r>
            <a:endParaRPr lang="vi-VN"/>
          </a:p>
          <a:p>
            <a:endParaRPr lang="vi-VN"/>
          </a:p>
          <a:p>
            <a:r>
              <a:rPr lang="vi-VN"/>
              <a:t>Chào thầy và các bạn. Nhóm em trình bày đề tài T47 về kỹ thuật mạng cho game nhiều người chơi thời gian thực. Câu hỏi nhóm em muốn trả lời là: làm sao để chơi game qua mạng mà vẫn có cảm giác như chơi trên máy mình, khi mỗi gói tin mất cả trăm mili giây mới tới server.</a:t>
            </a:r>
            <a:endParaRPr lang="vi-VN"/>
          </a:p>
          <a:p>
            <a:endParaRPr lang="vi-VN"/>
          </a:p>
          <a:p>
            <a:r>
              <a:rPr lang="vi-VN"/>
              <a:t>— Ghi chú tập luyện:</a:t>
            </a:r>
            <a:endParaRPr lang="vi-VN"/>
          </a:p>
          <a:p>
            <a:r>
              <a:rPr lang="vi-VN"/>
              <a:t>• Vai: #1 mục lục, phần 1 và VĐ1 (slide 1–10) · #2 VĐ2, VĐ3 (slide 11–13) · #3 VĐ4, VĐ5, phần 3 và demo (slide 14–19).</a:t>
            </a:r>
            <a:endParaRPr lang="vi-VN"/>
          </a:p>
          <a:p>
            <a:r>
              <a:rPr lang="vi-VN"/>
              <a:t>• Chuyển người nói ở cuối slide 10 (#1 → #2) và cuối slide 13 (#2 → #3).</a:t>
            </a:r>
            <a:endParaRPr lang="vi-VN"/>
          </a:p>
          <a:p>
            <a:r>
              <a:rPr lang="vi-VN"/>
              <a:t>• Mục tiêu: kỹ thuật ~12,5' (kể cả 3 slide chuyển phần, mỗi slide ~5 giây), demo 5', Q&amp;A 3–5'. Bấm giờ theo cột cộng dồn; đến slide 13 mà quá 8,75' thì nói nhanh slide 14–15.</a:t>
            </a:r>
            <a:endParaRPr lang="vi-VN"/>
          </a:p>
          <a:p>
            <a:r>
              <a:rPr lang="vi-VN"/>
              <a:t>• Nhãn trên slide chỉ ghi người nói (#1/#2/#3); thời gian từng slide xem ở dòng đầu ghi chú.</a:t>
            </a:r>
            <a:endParaRPr lang="vi-VN"/>
          </a:p>
          <a:p>
            <a:r>
              <a:rPr lang="vi-VN"/>
              <a:t>1</a:t>
            </a:r>
            <a:endParaRPr lang="vi-VN"/>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vi-VN"/>
              <a:t>Người trình bày: #1 · Thời gian: 0,25' · Cộng dồn: 0,5'</a:t>
            </a:r>
            <a:endParaRPr lang="vi-VN"/>
          </a:p>
          <a:p>
            <a:endParaRPr lang="vi-VN"/>
          </a:p>
          <a:p>
            <a:r>
              <a:rPr lang="vi-VN"/>
              <a:t>Bài trình bày của nhóm em gồm 4 phần: vấn đề gốc là bài toán đường truyền mạng; các vấn đề con và giải pháp; áp dụng và demo; cuối cùng là phần hỏi đáp.</a:t>
            </a:r>
            <a:endParaRPr lang="vi-VN"/>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vi-VN"/>
              <a:t>Người trình bày: #1 · Slide chuyển phần (~5 giây)</a:t>
            </a:r>
            <a:endParaRPr lang="vi-VN"/>
          </a:p>
          <a:p>
            <a:endParaRPr lang="vi-VN"/>
          </a:p>
          <a:p>
            <a:r>
              <a:rPr lang="vi-VN"/>
              <a:t>Đầu tiên là vấn đề gốc: bài toán đường truyền mạng.</a:t>
            </a:r>
            <a:endParaRPr lang="vi-VN"/>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vi-VN"/>
              <a:t>Người trình bày: #1 · Thời gian: 0,5' · Cộng dồn: 1'</a:t>
            </a:r>
            <a:endParaRPr lang="vi-VN"/>
          </a:p>
          <a:p>
            <a:endParaRPr lang="vi-VN"/>
          </a:p>
          <a:p>
            <a:r>
              <a:rPr lang="vi-VN"/>
              <a:t>Game nhiều người chơi thời gian thực là game có nhiều người cùng chơi trong một thế giới chung, và trạng thái thay đổi liên tục theo thao tác của họ: bắn súng, đối kháng, đua xe. Khác với cờ vua trực tuyến, ở đây từng phần trăm giây đều có ý nghĩa.</a:t>
            </a:r>
            <a:endParaRPr lang="vi-VN"/>
          </a:p>
          <a:p>
            <a:endParaRPr lang="vi-VN"/>
          </a:p>
          <a:p>
            <a:r>
              <a:rPr lang="vi-VN"/>
              <a:t>Nếu mọi người chơi trên cùng một máy thì bấm phím là thấy ngay. Nhưng qua mạng, mỗi thao tác mất 100 đến 200 mili giây mới tới máy khác, có lúc đến trễ, sai thứ tự hoặc mất hẳn. Bài toán của nhóm em là: làm sao chơi qua mạng mà vẫn có cảm giác như chơi trên cùng một máy.</a:t>
            </a:r>
            <a:endParaRPr lang="vi-VN"/>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vi-VN"/>
              <a:t>Người trình bày: #1 · Thời gian: 0,5' · Cộng dồn: 1,5'</a:t>
            </a:r>
            <a:endParaRPr lang="vi-VN"/>
          </a:p>
          <a:p>
            <a:endParaRPr lang="vi-VN"/>
          </a:p>
          <a:p>
            <a:r>
              <a:rPr lang="vi-VN"/>
              <a:t>Muốn vậy, game phải thoả hai yêu cầu cùng lúc. Một là độ phản hồi: bấm phím là nhân vật chạy ngay; trễ khoảng 100 mili giây là người chơi đã thấy ì. Hai là tính nhất quán: mọi người phải thấy cùng một thế giới, và không ai được tự ý sửa nó.</a:t>
            </a:r>
            <a:endParaRPr lang="vi-VN"/>
          </a:p>
          <a:p>
            <a:endParaRPr lang="vi-VN"/>
          </a:p>
          <a:p>
            <a:r>
              <a:rPr lang="vi-VN"/>
              <a:t>Trên một máy thì hai yêu cầu này không mâu thuẫn. Nhưng khi có mạng ở giữa, muốn nhất quán thì phải chờ thông tin đi hết đường, còn muốn phản hồi ngay thì không được chờ. Toàn bộ đề tài là cách dung hoà hai yêu cầu đó.</a:t>
            </a:r>
            <a:endParaRPr lang="vi-VN"/>
          </a:p>
          <a:p>
            <a:endParaRPr lang="vi-VN"/>
          </a:p>
          <a:p>
            <a:r>
              <a:rPr lang="vi-VN"/>
              <a:t>2</a:t>
            </a:r>
            <a:endParaRPr lang="vi-VN"/>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Người trình bày: #1 · Thời gian: 1' · Cộng dồn: 2,5'</a:t>
            </a:r>
          </a:p>
          <a:p/>
          <a:p>
            <a:r>
              <a:t>Vấn đề gốc nằm ở mạng, cụ thể là ba hiện tượng.</a:t>
            </a:r>
          </a:p>
          <a:p/>
          <a:p>
            <a:r>
              <a:t>Thứ nhất là độ trễ: thời gian một gói tin đi từ máy này tới máy kia. Con số hay gặp là ping, tức thời gian đi và về. Ví dụ ở Hà Nội chơi trên server Singapore thì ping khoảng 30 đến 60 mili giây. Con số đó có ý nghĩa gì? Màn hình 60 khung hình một giây thì cứ 16,7 mili giây vẽ một khung, nên ping 50 mili giây nghĩa là nhân vật phản ứng chậm khoảng 3 khung hình. Độ trễ không bao giờ về 0 vì tín hiệu đi trong cáp quang cũng cần thời gian.</a:t>
            </a:r>
          </a:p>
          <a:p/>
          <a:p>
            <a:r>
              <a:t>Thứ hai là dao động độ trễ: mỗi gói đi mất một khoảng thời gian khác nhau. Server gửi vị trí đối thủ đều đặn 50 mili giây một lần, nhưng máy mình nhận cách nhau 30, rồi 80, rồi 45. Nếu cứ nhận gói nào vẽ gói đó thì đối thủ lúc lao nhanh, lúc khựng lại. Giống xe buýt xuất bến đều 10 phút một chuyến nhưng tới trạm thì lúc 5 phút, lúc 15 phút.</a:t>
            </a:r>
          </a:p>
          <a:p/>
          <a:p>
            <a:r>
              <a:t>Thứ ba là mất gói và sai thứ tự. Qua Wi-Fi hay 4G thường mất khoảng 0,5 đến 2 phần trăm. Nghe thì ít, nhưng game gửi 30 gói một giây, mất 1 phần trăm là cứ khoảng 3 giây mất một gói vị trí. Còn nếu gói gửi sau lại tới trước, ví dụ gói "x bằng 6" tới trước gói "x bằng 5", thì nhân vật bị kéo lùi.</a:t>
            </a:r>
          </a:p>
          <a:p/>
          <a:p>
            <a:r>
              <a:t>Những hiện tượng này không thể loại bỏ, chỉ có thể che giấu.</a:t>
            </a:r>
          </a:p>
          <a:p/>
          <a:p>
            <a:r>
              <a:t>— VIỆC CẦN LÀM: thay số liệu mất gói "(cần đo lại)" bằng số đo thật trước buổi trình bày.</a:t>
            </a:r>
          </a:p>
          <a:p>
            <a:r>
              <a:t>— Bị hỏi phép tính giới hạn vật lý: Hà Nội – Singapore ≈ 2.200 km, cáp quang ≈ 200.000 km/s → RTT tối thiểu ≈ 22 ms (slide dự phòng D1).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vi-VN"/>
              <a:t>Người trình bày: #1 · Slide chuyển phần (~5 giây)</a:t>
            </a:r>
            <a:endParaRPr lang="vi-VN"/>
          </a:p>
          <a:p>
            <a:endParaRPr lang="vi-VN"/>
          </a:p>
          <a:p>
            <a:r>
              <a:rPr lang="vi-VN"/>
              <a:t>Phần hai: các vấn đề con và giải pháp. Với mỗi vấn đề, nhóm em đi theo thứ tự: vấn đề, các hướng giải pháp, so sánh, rồi chọn.</a:t>
            </a:r>
            <a:endParaRPr lang="vi-VN"/>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vi-VN"/>
              <a:t>Người trình bày: #1 · Thời gian: 0,75' · Cộng dồn: 4'</a:t>
            </a:r>
            <a:endParaRPr lang="vi-VN"/>
          </a:p>
          <a:p>
            <a:endParaRPr lang="vi-VN"/>
          </a:p>
          <a:p>
            <a:r>
              <a:rPr lang="vi-VN"/>
              <a:t>Vấn đề đầu tiên: khi mỗi máy giữ một bản sao thế giới, ai được quyền quyết định bản nào đúng?</a:t>
            </a:r>
            <a:endParaRPr lang="vi-VN"/>
          </a:p>
          <a:p>
            <a:endParaRPr lang="vi-VN"/>
          </a:p>
          <a:p>
            <a:r>
              <a:rPr lang="vi-VN"/>
              <a:t>Cho client tự quyết thì phản hồi rất tốt, nhưng client chạy trên máy người chơi: sửa gói tin là dịch chuyển được, chạy nhanh gấp đôi được, tự cộng điểm được. Đồng bộ theo bước kiểu game chiến thuật thì phải chờ người chậm nhất.</a:t>
            </a:r>
            <a:endParaRPr lang="vi-VN"/>
          </a:p>
          <a:p>
            <a:endParaRPr lang="vi-VN"/>
          </a:p>
          <a:p>
            <a:endParaRPr lang="vi-VN"/>
          </a:p>
          <a:p>
            <a:r>
              <a:rPr lang="vi-VN"/>
              <a:t>Nhóm em chọn server quyết định: client chỉ được nói "tôi bấm phím gì", còn kết quả do server tính.</a:t>
            </a:r>
            <a:endParaRPr lang="vi-VN"/>
          </a:p>
          <a:p>
            <a:r>
              <a:rPr lang="vi-VN"/>
              <a:t>5</a:t>
            </a:r>
            <a:endParaRPr lang="vi-VN"/>
          </a:p>
          <a:p>
            <a:endParaRPr lang="vi-VN"/>
          </a:p>
          <a:p>
            <a:r>
              <a:rPr lang="vi-VN"/>
              <a:t>— Bị hỏi sâu về đồng bộ theo bước / ngang hàng, tính tất định: mở slide dự phòng D9.</a:t>
            </a:r>
            <a:endParaRPr lang="vi-VN"/>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vi-VN"/>
              <a:t>Người trình bày: #1 · Thời gian: 0,75' · Cộng dồn: 4,75'</a:t>
            </a:r>
            <a:endParaRPr lang="vi-VN"/>
          </a:p>
          <a:p>
            <a:endParaRPr lang="vi-VN"/>
          </a:p>
          <a:p>
            <a:r>
              <a:rPr lang="vi-VN"/>
              <a:t>Server chạy mô phỏng theo nhịp cố định, 30 nhịp mỗi giây, nên mô phỏng lặp lại được và hai bên có chung một đồng hồ là số nhịp. Mỗi nhịp server chỉ cộng cho mỗi người một lượt xử lý, để dành tối đa ba lượt. Lệnh đến dồn vì mạng không đều thì vẫn bắt kịp, nhưng trung bình không quá một lệnh mỗi nhịp, nên gửi dồn dập cũng không chạy nhanh hơn. Trong demo, client bị sửa gửi 60 lệnh một giây vẫn chỉ chạy đúng tốc độ tối đa.</a:t>
            </a:r>
            <a:endParaRPr lang="vi-VN"/>
          </a:p>
          <a:p>
            <a:endParaRPr lang="vi-VN"/>
          </a:p>
          <a:p>
            <a:r>
              <a:rPr lang="vi-VN"/>
              <a:t>Dữ liệu chuyển động đi bằng UDP, vì vị trí cũ 200 mili giây thì gửi lại cũng vô ích. Đăng nhập và kết quả quan trọng đi bằng TCP, vì bắt buộc phải tới nơi.</a:t>
            </a:r>
            <a:endParaRPr lang="vi-VN"/>
          </a:p>
          <a:p>
            <a:endParaRPr lang="vi-VN"/>
          </a:p>
          <a:p>
            <a:r>
              <a:rPr lang="vi-VN"/>
              <a:t>Nhưng có một cái giá: nhìn dòng thời gian thì thấy, bấm phím xong phải chờ khoảng một RTT mới thấy nhân vật chạy. Phần này bạn [#2] trình bày tiếp.</a:t>
            </a:r>
            <a:endParaRPr lang="vi-VN"/>
          </a:p>
          <a:p>
            <a:endParaRPr lang="vi-VN"/>
          </a:p>
          <a:p>
            <a:r>
              <a:rPr lang="vi-VN"/>
              <a:t>— Bị hỏi cơ chế bổ sung trên UDP (số thứ tự, xác nhận lastProcessedSeq, gửi dư 3 lệnh trước): mở D4, D5. Bị hỏi "hàng đợi trống sao không dùng lại lệnh trước?": dùng lại thì server đi thừa bước so với số lệnh client gửi, client bị kéo lệch liên tục; quỹ lượt giữ trạng thái server đúng bằng kết quả các lệnh đã nhận (D4).</a:t>
            </a:r>
            <a:endParaRPr lang="vi-VN"/>
          </a:p>
          <a:p>
            <a:r>
              <a:rPr lang="vi-VN"/>
              <a:t>6</a:t>
            </a:r>
            <a:endParaRPr lang="vi-VN"/>
          </a:p>
          <a:p>
            <a:r>
              <a:rPr lang="vi-VN"/>
              <a:t>— CHUYỂN NGƯỜI NÓI: #1 → #2.</a:t>
            </a:r>
            <a:endParaRPr lang="vi-VN"/>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vi-VN"/>
              <a:t>Người trình bày: #2 · Thời gian: 1,25' · Cộng dồn: 6'</a:t>
            </a:r>
            <a:endParaRPr lang="vi-VN"/>
          </a:p>
          <a:p>
            <a:endParaRPr lang="vi-VN"/>
          </a:p>
          <a:p>
            <a:r>
              <a:rPr lang="vi-VN"/>
              <a:t>Với RTT 200 mili giây, mỗi lần bấm phím phải chờ 200 đến gần 300 mili giây. Gian lận đã bị chặn, nhưng game không chơi được.</a:t>
            </a:r>
            <a:endParaRPr lang="vi-VN"/>
          </a:p>
          <a:p>
            <a:endParaRPr lang="vi-VN"/>
          </a:p>
          <a:p>
            <a:r>
              <a:rPr lang="vi-VN"/>
              <a:t>Có thể chấp nhận chờ, hoặc che bằng hoạt ảnh lấy đà, nhưng di chuyển bằng WASD cần phản hồi ngay. Nhóm em chọn dự đoán phía client. Hầu như lúc nào server cũng đồng ý với lệnh của mình, nên client cứ tự áp lệnh luôn, không chờ. Điều kiện là client phải tính ra đúng kết quả như server, nên hai bên dùng chung một hàm mô phỏng. Trong demo, đó là file Simulation.cs, viết bằng C# thuần, không dùng thư viện Unity, nên client Unity và server .NET ở bản cuối dùng chung đúng một file.</a:t>
            </a:r>
            <a:endParaRPr lang="vi-VN"/>
          </a:p>
          <a:p>
            <a:endParaRPr lang="vi-VN"/>
          </a:p>
          <a:p>
            <a:r>
              <a:rPr lang="vi-VN"/>
              <a:t>Nhưng nếu chỉ dự đoán thì có vấn đề. Ảnh trạng thái từ server phản ánh quá khứ. Client đang ở x bằng 2, server báo 0,8; ghi đè vào thì nhân vật bị kéo giật lùi. Hiện tượng này gọi là giật ngược.</a:t>
            </a:r>
            <a:endParaRPr lang="vi-VN"/>
          </a:p>
          <a:p>
            <a:r>
              <a:rPr lang="vi-VN"/>
              <a:t>7</a:t>
            </a:r>
            <a:endParaRPr lang="vi-VN"/>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vi-VN"/>
              <a:t>Người trình bày: #2 · Thời gian: 1,25' · Cộng dồn: 7,25'</a:t>
            </a:r>
            <a:endParaRPr lang="vi-VN"/>
          </a:p>
          <a:p>
            <a:endParaRPr lang="vi-VN"/>
          </a:p>
          <a:p>
            <a:r>
              <a:rPr lang="vi-VN"/>
              <a:t>Cách sửa là đối chiếu với server. Client giữ lại mọi lệnh đã gửi mà server chưa xác nhận. Server gửi ảnh trạng thái kèm số thứ tự lệnh cuối cùng nó đã xử lý.</a:t>
            </a:r>
            <a:endParaRPr lang="vi-VN"/>
          </a:p>
          <a:p>
            <a:endParaRPr lang="vi-VN"/>
          </a:p>
          <a:p>
            <a:r>
              <a:rPr lang="vi-VN"/>
              <a:t>Ví dụ: client đã gửi 10 lệnh, mỗi lệnh đi 0,2 đơn vị, đang dự đoán ở x bằng 2. Server báo "x bằng 0,8, đã xử lý tới lệnh 4". Client đặt lại x bằng 0,8, bỏ lệnh 1 đến 4, chạy lại 6 lệnh còn lại, và được đúng 2,0. Người chơi không thấy gì.</a:t>
            </a:r>
            <a:endParaRPr lang="vi-VN"/>
          </a:p>
          <a:p>
            <a:endParaRPr lang="vi-VN"/>
          </a:p>
          <a:p>
            <a:r>
              <a:rPr lang="vi-VN"/>
              <a:t>Chỉ khi dự đoán thật sự sai, ví dụ server thấy có va chạm mà client không biết, thì vị trí mới thay đổi; lệch nhỏ thì làm mượt trong vài khung hình. Trong demo, các bạn sẽ thấy bộ đệm luôn có khoảng 8 đến 9 lệnh. Đó chính là số lệnh mà client đang đi trước server: một RTT cộng thời gian chờ nhịp và chờ ảnh trạng thái.</a:t>
            </a:r>
            <a:endParaRPr lang="vi-VN"/>
          </a:p>
          <a:p>
            <a:r>
              <a:rPr lang="vi-VN"/>
              <a:t>8</a:t>
            </a:r>
            <a:endParaRPr lang="vi-VN"/>
          </a:p>
          <a:p>
            <a:endParaRPr lang="vi-VN"/>
          </a:p>
          <a:p>
            <a:r>
              <a:rPr lang="vi-VN"/>
              <a:t>— Đoạn code trên slide là code thật của demo (hàm OnSnapshot trong GameClient.cs). Ví dụ 10 lệnh / bỏ 4 / chạy lại 6 là số làm tròn. Bị hỏi vì sao demo hiện 8–9 chứ không phải 6: ngoài RTT 200 ms còn chờ tới nhịp kế tiếp (0–33 ms) và tới lần gửi ảnh kế tiếp (0–50 ms).</a:t>
            </a:r>
            <a:endParaRPr lang="vi-VN"/>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vi-VN"/>
              <a:t>Người trình bày: #2 · Thời gian: 1,5' · Cộng dồn: 8,75'</a:t>
            </a:r>
            <a:endParaRPr lang="vi-VN"/>
          </a:p>
          <a:p>
            <a:endParaRPr lang="vi-VN"/>
          </a:p>
          <a:p>
            <a:r>
              <a:rPr lang="vi-VN"/>
              <a:t>Dự đoán chỉ dùng được cho chính mình, vì mình không biết đối thủ sắp bấm gì. Thông tin về đối thủ chỉ đến qua ảnh trạng thái, mà ảnh thì thưa, không đều và có thể mất. Vẽ theo ảnh mới nhất thì đối thủ đứng yên rồi nhảy cóc. Ngoại suy theo vận tốc thì sai mỗi khi đối thủ đổi hướng.</a:t>
            </a:r>
            <a:endParaRPr lang="vi-VN"/>
          </a:p>
          <a:p>
            <a:endParaRPr lang="vi-VN"/>
          </a:p>
          <a:p>
            <a:r>
              <a:rPr lang="vi-VN"/>
              <a:t>Nhóm em chọn nội suy: cố ý vẽ đối thủ lùi lại một khoảng, ví dụ 100 mili giây. Nhờ lùi lại, ta luôn có hai ảnh trạng thái kẹp hai bên thời điểm vẽ, và chỉ cần nội suy đường thẳng giữa chúng. Khoảng lùi phải ít nhất bằng hai chu kỳ gửi ảnh cộng dao động độ trễ, để mất một gói vẫn còn dữ liệu.</a:t>
            </a:r>
            <a:endParaRPr lang="vi-VN"/>
          </a:p>
          <a:p>
            <a:endParaRPr lang="vi-VN"/>
          </a:p>
          <a:p>
            <a:r>
              <a:rPr lang="vi-VN"/>
              <a:t>Cái giá là ta luôn thấy đối thủ ở quá khứ. Như vậy trên màn hình mỗi người có hai mốc thời gian: mình ở hiện tại, đối thủ ở quá khứ. Khi hai người tranh cùng một thứ thì sao? Bạn [#3] trình bày tiếp.</a:t>
            </a:r>
            <a:endParaRPr lang="vi-VN"/>
          </a:p>
          <a:p>
            <a:endParaRPr lang="vi-VN"/>
          </a:p>
          <a:p>
            <a:r>
              <a:rPr lang="vi-VN"/>
              <a:t>— CHUYỂN NGƯỜI NÓI: #2 → #3.</a:t>
            </a:r>
            <a:endParaRPr lang="vi-VN"/>
          </a:p>
          <a:p>
            <a:r>
              <a:rPr lang="vi-VN"/>
              <a:t>9</a:t>
            </a:r>
            <a:endParaRPr lang="vi-VN"/>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vi-VN"/>
              <a:t>Người trình bày: #3 · Thời gian: 1,5' · Cộng dồn: 10,25'</a:t>
            </a:r>
            <a:endParaRPr lang="vi-VN"/>
          </a:p>
          <a:p>
            <a:endParaRPr lang="vi-VN"/>
          </a:p>
          <a:p>
            <a:r>
              <a:rPr lang="vi-VN"/>
              <a:t>Ví dụ kinh điển là game bắn súng: trên màn hình tôi ngắm trúng đầu, nhưng thứ tôi thấy là đối thủ của 200 mili giây trước. Lệnh bắn tới server thì đối thủ đã đi chỗ khác.</a:t>
            </a:r>
            <a:endParaRPr lang="vi-VN"/>
          </a:p>
          <a:p>
            <a:endParaRPr lang="vi-VN"/>
          </a:p>
          <a:p>
            <a:r>
              <a:rPr lang="vi-VN"/>
              <a:t>Với vật dùng chung cũng vậy. A ping 40, B ping 200, trên màn hình B chạm vật trước. Nhưng gói của A tới server nhanh hơn, nên nếu xử theo thứ tự gói đến thì A luôn thắng. Để client tự quyết thì quay lại chuyện gian lận.</a:t>
            </a:r>
            <a:endParaRPr lang="vi-VN"/>
          </a:p>
          <a:p>
            <a:endParaRPr lang="vi-VN"/>
          </a:p>
          <a:p>
            <a:r>
              <a:rPr lang="vi-VN"/>
              <a:t>Giải pháp là bù trễ. Server lưu lịch sử trạng thái khoảng một giây. Mỗi hành động gửi kèm thời điểm người chơi đang nhìn thấy. Server tua lại về đúng lúc đó, kiểm tra, rồi mới phân xử. Để chống gửi thời điểm giả, server giới hạn chỉ tua tối đa khoảng 200 mili giây.</a:t>
            </a:r>
            <a:endParaRPr lang="vi-VN"/>
          </a:p>
          <a:p>
            <a:endParaRPr lang="vi-VN"/>
          </a:p>
          <a:p>
            <a:r>
              <a:rPr lang="vi-VN"/>
              <a:t>Đánh đổi là công bằng cho người hành động thì người kia chịu thiệt: trên màn hình mình đã chạy đi rồi, vẫn bị tính là bị bắt. Không cách nào làm cả hai cùng thấy công bằng.</a:t>
            </a:r>
            <a:endParaRPr lang="vi-VN"/>
          </a:p>
          <a:p>
            <a:r>
              <a:rPr lang="vi-VN"/>
              <a:t>10</a:t>
            </a:r>
            <a:endParaRPr lang="vi-VN"/>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vi-VN"/>
              <a:t>Người trình bày: #3 · Thời gian: 0,75' · Cộng dồn: 11'</a:t>
            </a:r>
            <a:endParaRPr lang="vi-VN"/>
          </a:p>
          <a:p>
            <a:endParaRPr lang="vi-VN"/>
          </a:p>
          <a:p>
            <a:r>
              <a:rPr lang="vi-VN"/>
              <a:t>Kết quả phân xử về muộn, mà client đã cho người chơi cầm vật từ trước, vì không muốn bắt họ chờ. Nếu thua thì sao? Client quay về trạng thái đã được xác nhận, mô phỏng lại với thông tin đúng, và người chơi thấy vật bật ra khỏi tay. Đó là quay lui.</a:t>
            </a:r>
            <a:endParaRPr lang="vi-VN"/>
          </a:p>
          <a:p>
            <a:endParaRPr lang="vi-VN"/>
          </a:p>
          <a:p>
            <a:r>
              <a:rPr lang="vi-VN"/>
              <a:t>Đối chiếu ở VĐ2 thực chất là trường hợp riêng của quay lui, chỉ áp cho di chuyển của chính mình.</a:t>
            </a:r>
            <a:endParaRPr lang="vi-VN"/>
          </a:p>
          <a:p>
            <a:r>
              <a:rPr lang="vi-VN"/>
              <a:t>11</a:t>
            </a:r>
            <a:endParaRPr lang="vi-VN"/>
          </a:p>
          <a:p>
            <a:endParaRPr lang="vi-VN"/>
          </a:p>
          <a:p>
            <a:r>
              <a:rPr lang="vi-VN"/>
              <a:t>— Bị hỏi GGPO / tính tất định: mở D8, D9. Ý chính: quay lui ngang hàng cần mô phỏng giống nhau đến từng bit giữa các máy; nhóm em có server sửa định kỳ nên chỉ cần gần giống.</a:t>
            </a:r>
            <a:endParaRPr lang="vi-VN"/>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vi-VN"/>
              <a:t>Người trình bày: #3 · Slide chuyển phần (~5 giây)</a:t>
            </a:r>
            <a:endParaRPr lang="vi-VN"/>
          </a:p>
          <a:p>
            <a:endParaRPr lang="vi-VN"/>
          </a:p>
          <a:p>
            <a:r>
              <a:rPr lang="vi-VN"/>
              <a:t>Phần ba: nhóm em áp dụng các kỹ thuật này vào một game cụ thể, rồi demo.</a:t>
            </a:r>
            <a:endParaRPr lang="vi-VN"/>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vi-VN"/>
              <a:t>Người trình bày: #3 · Thời gian: 0,5' · Cộng dồn: 12'</a:t>
            </a:r>
            <a:endParaRPr lang="vi-VN"/>
          </a:p>
          <a:p>
            <a:endParaRPr lang="vi-VN"/>
          </a:p>
          <a:p>
            <a:r>
              <a:rPr lang="vi-VN"/>
              <a:t>Nhóm em sẽ áp dụng các kỹ thuật này vào game xếp đơn hàng siêu thị cho 2 người. Game có di chuyển liên tục, nên cần dự đoán và nội suy. Món hàng hiếm chỉ có một cái, hai người phải tranh nhau, nên cần bù trễ và quay lui.</a:t>
            </a:r>
            <a:endParaRPr lang="vi-VN"/>
          </a:p>
          <a:p>
            <a:endParaRPr lang="vi-VN"/>
          </a:p>
          <a:p>
            <a:r>
              <a:rPr lang="vi-VN"/>
              <a:t>Hôm nay nhóm em demo bản chứng minh ý tưởng cho phần di chuyển, viết bằng Unity đúng như bản cuối. Một server và hai client chạy trên cùng máy, nối với nhau qua mạng giả lập để chỉnh được độ trễ, dao động độ trễ và mất gói ngay trên sân khấu.</a:t>
            </a:r>
            <a:endParaRPr lang="vi-VN"/>
          </a:p>
          <a:p>
            <a:endParaRPr lang="vi-VN"/>
          </a:p>
          <a:p>
            <a:r>
              <a:rPr lang="vi-VN"/>
              <a:t>— Bị hỏi vì sao chưa dùng socket thật: chạy trên cùng một máy thì RTT gần bằng 0, dù dùng socket nào cũng phải giả lập mới thấy được hiệu ứng. Lớp truyền tin là interface ITransport, bản cuối chỉ thay bằng UDP thật, code dự đoán / đối chiếu / nội suy giữ nguyên (D10). Bị hỏi demo có chạy đúng không: lõi netcode có bộ kiểm tra tự động, số đo khớp lý thuyết (mục 7.4 của NoiDung_ChiTiet.md).</a:t>
            </a:r>
            <a:endParaRPr lang="vi-VN"/>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vi-VN"/>
              <a:t>Người trình bày: #3 dẫn, #2 điều khiển client B · Thời gian: 5' · Cộng dồn: ~17'</a:t>
            </a:r>
            <a:endParaRPr lang="vi-VN"/>
          </a:p>
          <a:p>
            <a:endParaRPr lang="vi-VN"/>
          </a:p>
          <a:p>
            <a:r>
              <a:rPr lang="vi-VN"/>
              <a:t>Cách chạy: mở sẵn demo/T47Demo/Build/T47Demo.exe trước khi lên trình bày, chiếu toàn màn hình. Phím 0–5 chuyển ngay sang cấu hình của từng cảnh. Mỗi cảnh khoảng 45 giây. #3 điều khiển A bằng WASD, #2 điều khiển B bằng phím mũi tên.</a:t>
            </a:r>
            <a:endParaRPr lang="vi-VN"/>
          </a:p>
          <a:p>
            <a:endParaRPr lang="vi-VN"/>
          </a:p>
          <a:p>
            <a:r>
              <a:rPr lang="vi-VN"/>
              <a:t>Đọc màn hình (nói trước cảnh 0): ô đặc là thứ người chơi nhìn thấy; viền trắng là "bóng", vị trí của mình theo server; chuỗi chấm là vết đối thủ; dưới mỗi khung là RTT đo được, số lệnh chờ xác nhận, khoảng bị kéo lệch.</a:t>
            </a:r>
            <a:endParaRPr lang="vi-VN"/>
          </a:p>
          <a:p>
            <a:endParaRPr lang="vi-VN"/>
          </a:p>
          <a:p>
            <a:r>
              <a:rPr lang="vi-VN"/>
              <a:t>Cảnh 0 — Client tự quyết, RTT 100 ms. Thao tác: bấm T.</a:t>
            </a:r>
            <a:endParaRPr lang="vi-VN"/>
          </a:p>
          <a:p>
            <a:r>
              <a:rPr lang="vi-VN"/>
              <a:t>"Đây là cách client tự quyết. Em giả lập sửa gói tin, ô của A nhảy sang đây, và server lẫn B đều chấp nhận."</a:t>
            </a:r>
            <a:endParaRPr lang="vi-VN"/>
          </a:p>
          <a:p>
            <a:endParaRPr lang="vi-VN"/>
          </a:p>
          <a:p>
            <a:r>
              <a:rPr lang="vi-VN"/>
              <a:t>Cảnh 1 — Server quyết định, RTT 200 ms, tắt hết. Thao tác: A chạy qua lại; bấm lại T.</a:t>
            </a:r>
            <a:endParaRPr lang="vi-VN"/>
          </a:p>
          <a:p>
            <a:r>
              <a:rPr lang="vi-VN"/>
              <a:t>"Chuyển sang server quyết định: ô A nhảy đi rồi bị kéo về ngay, khung server đếm thêm một gói giả mạo bị bỏ. Nhưng thầy để ý, em bấm phím khoảng 0,2 giây sau ô mới chạy."</a:t>
            </a:r>
            <a:endParaRPr lang="vi-VN"/>
          </a:p>
          <a:p>
            <a:endParaRPr lang="vi-VN"/>
          </a:p>
          <a:p>
            <a:r>
              <a:rPr lang="vi-VN"/>
              <a:t>Cảnh 2 — Bật dự đoán; kéo RTT lên 300–400 ms cho rõ. Thao tác: nhấp nhanh D, rồi giữ D chạy và thả.</a:t>
            </a:r>
            <a:endParaRPr lang="vi-VN"/>
          </a:p>
          <a:p>
            <a:r>
              <a:rPr lang="vi-VN"/>
              <a:t>"Bật dự đoán: phản hồi ngay. Em nhấp nhanh phím D, thầy thấy ô nhảy lên rồi bị kéo về chỗ cũ, một lúc sau mới tự đi tới. Đó là giật ngược: ảnh trạng thái từ quá khứ vẫn báo vị trí cũ, client ghi đè theo. Chạy liên tục thì ô rung theo từng ảnh, con số kéo lệch ở dưới khác 0. Còn khi thả phím, ô trôi thêm một đoạn, vì các lệnh đang trên đường vẫn tới server."</a:t>
            </a:r>
            <a:endParaRPr lang="vi-VN"/>
          </a:p>
          <a:p>
            <a:endParaRPr lang="vi-VN"/>
          </a:p>
          <a:p>
            <a:r>
              <a:rPr lang="vi-VN"/>
              <a:t>Cảnh 3 — Bật đối chiếu. Thao tác: lặp lại.</a:t>
            </a:r>
            <a:endParaRPr lang="vi-VN"/>
          </a:p>
          <a:p>
            <a:r>
              <a:rPr lang="vi-VN"/>
              <a:t>"Bật đối chiếu: mượt, kéo lệch bằng 0, và khi dừng thì ô khớp đúng viền trắng là vị trí theo server. Bộ đệm đang có khoảng 8–9 lệnh, đó là số lệnh client đang đi trước server."</a:t>
            </a:r>
            <a:endParaRPr lang="vi-VN"/>
          </a:p>
          <a:p>
            <a:endParaRPr lang="vi-VN"/>
          </a:p>
          <a:p>
            <a:r>
              <a:rPr lang="vi-VN"/>
              <a:t>Cảnh 4 — Nhìn khung B; gửi ảnh 10 lần/giây, dao động ±50 ms. Thao tác: A chạy vòng tròn.</a:t>
            </a:r>
            <a:endParaRPr lang="vi-VN"/>
          </a:p>
          <a:p>
            <a:r>
              <a:rPr lang="vi-VN"/>
              <a:t>"Giờ nhìn sang màn hình của B: ô của A giật từng nấc, vết chấm thưa và không đều, vì ảnh trạng thái đến thưa và không đều."</a:t>
            </a:r>
            <a:endParaRPr lang="vi-VN"/>
          </a:p>
          <a:p>
            <a:endParaRPr lang="vi-VN"/>
          </a:p>
          <a:p>
            <a:r>
              <a:rPr lang="vi-VN"/>
              <a:t>Cảnh 5 — Bật nội suy (độ trễ tự tính 250 ms); sau đó kéo tần số gửi ảnh lên 20. Thao tác: lặp lại.</a:t>
            </a:r>
            <a:endParaRPr lang="vi-VN"/>
          </a:p>
          <a:p>
            <a:r>
              <a:rPr lang="vi-VN"/>
              <a:t>"Bật nội suy: vết chấm liền, chuyển động mượt, nhưng so với khung server thì ô của A trễ hơn, đó là đánh đổi. Tăng tần số gửi ảnh lên 20 thì độ trễ nội suy giảm còn 150 mili giây."</a:t>
            </a:r>
            <a:endParaRPr lang="vi-VN"/>
          </a:p>
          <a:p>
            <a:endParaRPr lang="vi-VN"/>
          </a:p>
          <a:p>
            <a:r>
              <a:rPr lang="vi-VN"/>
              <a:t>NẾU CÒN THỜI GIAN: ở cảnh 3, kéo mất gói lên 10–20 %: nhân vật vẫn mượt, vì mỗi gói lệnh mang thêm 3 lệnh trước đó.</a:t>
            </a:r>
            <a:endParaRPr lang="vi-VN"/>
          </a:p>
          <a:p>
            <a:endParaRPr lang="vi-VN"/>
          </a:p>
          <a:p>
            <a:r>
              <a:rPr lang="vi-VN"/>
              <a:t>PHƯƠNG ÁN DỰ PHÒNG: quay sẵn video toàn bộ 6 cảnh. Demo lỗi thì chuyển sang video ngay, không sửa lỗi trên sân khấu. Tập một mình: T47Demo.exe -scene 4 -autoplay.</a:t>
            </a:r>
            <a:endParaRPr lang="vi-VN"/>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vi-VN"/>
              <a:t>Người trình bày: cả nhóm · Thời gian: 3–5' · Cộng dồn: 20–22'</a:t>
            </a:r>
            <a:endParaRPr lang="vi-VN"/>
          </a:p>
          <a:p>
            <a:endParaRPr lang="vi-VN"/>
          </a:p>
          <a:p>
            <a:r>
              <a:rPr lang="vi-VN"/>
              <a:t>Bị hỏi sâu thì mở slide dự phòng D1–D10 (phía sau slide này). Câu trả lời mẫu: NoiDung_ChiTiet.md, phụ lục A. Bảng thuật ngữ Việt – Anh: phụ lục B.</a:t>
            </a:r>
            <a:endParaRPr lang="vi-VN"/>
          </a:p>
          <a:p>
            <a:r>
              <a:rPr lang="vi-VN"/>
              <a:t>15</a:t>
            </a:r>
            <a:endParaRPr lang="vi-VN"/>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vi-VN"/>
              <a:t>Các slide D1–D10 là khung: điền nội dung từ NoiDung_ChiTiet.md theo mục ghi trên từng slide.</a:t>
            </a:r>
            <a:endParaRPr lang="vi-VN"/>
          </a:p>
          <a:p>
            <a:r>
              <a:rPr lang="vi-VN"/>
              <a:t>16</a:t>
            </a:r>
            <a:endParaRPr lang="vi-VN"/>
          </a:p>
          <a:p>
            <a:r>
              <a:rPr lang="vi-VN"/>
              <a:t>Thứ tự phần dự phòng: “Chuỗi 5 vấn đề con”, rồi D1–D10.</a:t>
            </a:r>
            <a:endParaRPr lang="vi-VN"/>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vi-VN"/>
              <a:t>SLIDE DỰ PHÒNG (không trình bày). Ý chính đã gộp vào slide 7. Mở khi cần giải thích lại mạch 5 vấn đề con hoặc tiêu chí chọn giải pháp.</a:t>
            </a:r>
            <a:endParaRPr lang="vi-VN"/>
          </a:p>
          <a:p>
            <a:endParaRPr lang="vi-VN"/>
          </a:p>
          <a:p>
            <a:r>
              <a:rPr lang="vi-VN"/>
              <a:t>Nhóm em chia vấn đề gốc thành 5 vấn đề con, nối thành chuỗi: giải quyết xong vấn đề trước thì lộ ra vấn đề sau. Với mỗi vấn đề, nhóm em xét vài hướng giải pháp, so sánh, rồi chọn. Hai tiêu chí quan trọng nhất là độ phản hồi và tính nhất quán, đúng hai yêu cầu vừa nói. Ngoài ra còn xét khả năng chịu mạng xấu, độ phức tạp và độ phù hợp với loại game.</a:t>
            </a:r>
            <a:endParaRPr lang="vi-VN"/>
          </a:p>
          <a:p>
            <a:r>
              <a:rPr lang="vi-VN"/>
              <a:t>4</a:t>
            </a:r>
            <a:endParaRPr lang="vi-VN"/>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Người trình bày: #3 · Thời gian: 0,5' · Cộng dồn: 11,5'</a:t>
            </a:r>
          </a:p>
          <a:p/>
          <a:p>
            <a:r>
              <a:t>Tổng kết phần hai: năm vấn đề con, năm giải pháp, và giải pháp nào cũng có cái giá. Server quyết định thì chống được gian lận nhưng phải chờ một vòng mạng. Dự đoán và đối chiếu làm điều khiển mượt, nhưng client và server phải dùng chung code mô phỏng. Nội suy làm đối thủ mượt, đổi lại mình thấy đối thủ ở quá khứ. Bù trễ phân xử theo góc nhìn của người bấm, đổi lại có lúc đã chạy đi rồi vẫn bị bắt. Quay lui sửa được dự đoán sai, đổi lại thỉnh thoảng thấy hành động bị huỷ.</a:t>
            </a:r>
          </a:p>
          <a:p/>
          <a:p>
            <a:r>
              <a:t>Kết luận: không kỹ thuật nào xoá được độ trễ, chỉ chuyển nó sang chỗ người chơi ít để ý hơn. Mình đi trước nhờ dự đoán, đối thủ đi sau nhờ nội suy, và server bù lại sự lệch thời gian khi hai bên tương tác.</a:t>
            </a:r>
          </a:p>
          <a:p/>
          <a:p>
            <a:r>
              <a:t>Các kỹ thuật này phải thấy chạy thì mới thuyết phục. Muốn kiểm chứng cả năm, cần một game có đủ hai tình huống: di chuyển liên tục, ứng với VĐ1 đến VĐ3, và tranh chấp một món hàng, ứng với VĐ4 và VĐ5. Đó là phần ba: game xếp đơn hàng siêu thị và demo.</a:t>
            </a:r>
          </a:p>
          <a:p/>
          <a:p>
            <a:r>
              <a:t>— Bị hỏi chi tiết từng đánh đổi: quay lại slide của vấn đề đó (VĐ1: 9–10, VĐ2: 11–12, VĐ3: 13, VĐ4: 14, VĐ5: 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dự phòng D1: chỉ mở khi bị hỏi “Độ trễ đến từ đâu, giảm được không?”. Nguồn: NoiDung_ChiTiet.md, Mục 2.1; câu trả lời mẫu ở phụ lục A.</a:t>
            </a:r>
            <a:endParaRPr lang="en-US"/>
          </a:p>
          <a:p>
            <a:r>
              <a:rPr lang="en-US"/>
              <a:t>17</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dự phòng D2: chỉ mở khi bị hỏi “Sao không dùng TCP cho tất cả, tắt Nagle là xong?”. Nguồn: NoiDung_ChiTiet.md, Mục 2.3; câu trả lời mẫu ở phụ lục A.</a:t>
            </a:r>
            <a:endParaRPr lang="en-US"/>
          </a:p>
          <a:p>
            <a:r>
              <a:rPr lang="en-US"/>
              <a:t>18</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dự phòng D3: chỉ mở khi bị hỏi “Chọn 30 nhịp/giây thế nào? Client 144 Hz thì sao?”. Nguồn: NoiDung_ChiTiet.md, VĐ1; câu trả lời mẫu ở phụ lục A.</a:t>
            </a:r>
            <a:endParaRPr lang="en-US"/>
          </a:p>
          <a:p>
            <a:r>
              <a:rPr lang="en-US"/>
              <a:t>19</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dự phòng D4: chỉ mở khi bị hỏi “Lệnh đến không đều thì server làm gì?”. Nguồn: NoiDung_ChiTiet.md, VĐ1; câu trả lời mẫu ở phụ lục A.</a:t>
            </a:r>
            <a:endParaRPr lang="en-US"/>
          </a:p>
          <a:p>
            <a:r>
              <a:rPr lang="en-US"/>
              <a:t>20</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dự phòng D5: chỉ mở khi bị hỏi “Định dạng gói tin thế nào?”. Nguồn: NoiDung_ChiTiet.md, Mục 5; câu trả lời mẫu ở phụ lục A.</a:t>
            </a:r>
            <a:endParaRPr lang="en-US"/>
          </a:p>
          <a:p>
            <a:r>
              <a:rPr lang="en-US"/>
              <a:t>21</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dự phòng D6: chỉ mở khi bị hỏi “Độ trễ nội suy chọn bao nhiêu? Mất nhiều gói thì sao?”. Nguồn: NoiDung_ChiTiet.md, VĐ3; câu trả lời mẫu ở phụ lục A.</a:t>
            </a:r>
            <a:endParaRPr lang="en-US"/>
          </a:p>
          <a:p>
            <a:r>
              <a:rPr lang="en-US"/>
              <a:t>22</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dự phòng D7: chỉ mở khi bị hỏi “Hai người cùng nhặt thì xử thế nào? Gửi nhịp giả thì sao?”. Nguồn: NoiDung_ChiTiet.md, VĐ4; câu trả lời mẫu ở phụ lục A.</a:t>
            </a:r>
            <a:endParaRPr lang="en-US"/>
          </a:p>
          <a:p>
            <a:r>
              <a:rPr lang="en-US"/>
              <a:t>23</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dự phòng D8: chỉ mở khi bị hỏi “Tính tất định ảnh hưởng thế nào?”. Nguồn: NoiDung_ChiTiet.md, VĐ5; câu trả lời mẫu ở phụ lục A.</a:t>
            </a:r>
            <a:endParaRPr lang="en-US"/>
          </a:p>
          <a:p>
            <a:r>
              <a:rPr lang="en-US"/>
              <a:t>24</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dự phòng D9: chỉ mở khi bị hỏi “Sao không làm ngang hàng?”. Nguồn: NoiDung_ChiTiet.md, VĐ1, VĐ5; câu trả lời mẫu ở phụ lục A.</a:t>
            </a:r>
            <a:endParaRPr lang="en-US"/>
          </a:p>
          <a:p>
            <a:r>
              <a:rPr lang="en-US"/>
              <a:t>25</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vi-VN"/>
              <a:t>Slide dự phòng D10: chỉ mở khi bị hỏi “Demo có phản ánh mạng thật không?”.</a:t>
            </a:r>
            <a:endParaRPr lang="vi-VN"/>
          </a:p>
          <a:p>
            <a:endParaRPr lang="vi-VN"/>
          </a:p>
          <a:p>
            <a:r>
              <a:rPr lang="vi-VN"/>
              <a:t>Ý chính: demo chạy 1 server và 2 client trong cùng một tiến trình Unity, nối với nhau qua interface ITransport. SimulatedTransport có hàng đợi riêng cho từng chiều của từng kết nối; khi gửi thì bỏ gói theo tỉ lệ mất gói, nếu không thì hẹn giờ giao now + RTT/2 ± dao động. Mỗi gói trễ ngẫu nhiên nên có thể đến sai thứ tự giống UDP.</a:t>
            </a:r>
            <a:endParaRPr lang="vi-VN"/>
          </a:p>
          <a:p>
            <a:endParaRPr lang="vi-VN"/>
          </a:p>
          <a:p>
            <a:r>
              <a:rPr lang="vi-VN"/>
              <a:t>Chạy trên cùng một máy thì RTT ≈ 0, nên dù dùng socket nào cũng phải giả lập thì mới thấy được hiệu ứng. Bản cuối thay bằng UdpTransport; code dự đoán, đối chiếu, nội suy không đổi. Bằng chứng chạy đúng (bộ kiểm tra tự động): không dự đoán trễ 233 ms ở RTT 200 ms; có đối chiếu sai lệch 0; nội suy giảm bước nhảy mỗi khung từ 1,00 xuống 0,17 đơn vị, độ trễ hình đối thủ 350 ms = RTT/2 + độ trễ nội suy; gửi 60 lệnh/giây vẫn chỉ chạy đúng tốc độ tối đa.</a:t>
            </a:r>
            <a:endParaRPr lang="vi-VN"/>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trình bày: #1 · Thời gian: 0,75' · Cộng dồn: 3,25'</a:t>
            </a:r>
          </a:p>
          <a:p/>
          <a:p>
            <a:r>
              <a:t>Với ba hiện tượng đó, chọn giao thức nào? Hai giao thức xử lý chuyện mất gói rất khác nhau.</a:t>
            </a:r>
          </a:p>
          <a:p/>
          <a:p>
            <a:r>
              <a:t>TCP đảm bảo mọi gói tới đủ và đúng thứ tự. Nhìn hình bên phải: gói 2 bị mất, gói 3 và 4 đã tới nơi nhưng TCP vẫn giữ lại, chưa giao cho game, chờ gói 2 được gửi lại, mất thêm ít nhất một lần ping. Hiện tượng này gọi là nghẽn đầu hàng. Trong game, người chơi thấy đối thủ đứng hình một lúc rồi nhảy vọt.</a:t>
            </a:r>
          </a:p>
          <a:p/>
          <a:p>
            <a:r>
              <a:t>UDP thì gửi rồi thôi: không gửi lại, không sắp thứ tự. Gói 3 và 4 tới là dùng ngay, gói 2 mất thì bỏ qua. Với vị trí nhân vật thì điều này lại hợp lý, vì gói sau đã mang vị trí mới hơn, gói cũ có tới cũng không cần nữa. Nhóm em dùng UDP cho lệnh điều khiển và ảnh trạng thái, còn TCP cho những việc không được mất như đăng nhập và ghép trận.</a:t>
            </a:r>
          </a:p>
          <a:p/>
          <a:p>
            <a:r>
              <a:t>Mạng không hoàn hảo thì chỉ có thể che giấu. Nhóm em chia bài toán thành 5 vấn đề con nối thành chuỗi: giải quyết vấn đề trước thì lộ ra vấn đề sau. Với mỗi vấn đề, nhóm em so sánh vài hướng theo hai tiêu chí chính là độ phản hồi và tính nhất quán, rồi chọn.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Times New Roman" panose="020206030504050203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Times New Roman" panose="020206030504050203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Times New Roman" panose="020206030504050203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Times New Roman" panose="020206030504050203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Times New Roman" panose="020206030504050203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Times New Roman" panose="020206030504050203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Times New Roman" panose="020206030504050203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Times New Roman" panose="020206030504050203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Times New Roman" panose="020206030504050203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7.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7.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7.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7.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7.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slideLayout" Target="../slideLayouts/slideLayout7.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slideLayout" Target="../slideLayouts/slideLayout7.xml"/><Relationship Id="rId4" Type="http://schemas.openxmlformats.org/officeDocument/2006/relationships/notesSlide" Target="../notesSlides/notesSlide32.xml"/></Relationships>
</file>

<file path=ppt/slides/_rels/slide8.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7.xml"/><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3.png"/><Relationship Id="rId3" Type="http://schemas.openxmlformats.org/officeDocument/2006/relationships/slideLayout" Target="../slideLayouts/slideLayout7.xml"/><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4.png"/><Relationship Id="rId3" Type="http://schemas.openxmlformats.org/officeDocument/2006/relationships/slideLayout" Target="../slideLayouts/slideLayout7.xml"/><Relationship Id="rId4"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5.png"/><Relationship Id="rId3" Type="http://schemas.openxmlformats.org/officeDocument/2006/relationships/slideLayout" Target="../slideLayouts/slideLayout7.xml"/><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6.png"/><Relationship Id="rId3" Type="http://schemas.openxmlformats.org/officeDocument/2006/relationships/slideLayout" Target="../slideLayouts/slideLayout7.xml"/><Relationship Id="rId4"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7.png"/><Relationship Id="rId3" Type="http://schemas.openxmlformats.org/officeDocument/2006/relationships/slideLayout" Target="../slideLayouts/slideLayout7.xml"/><Relationship Id="rId4"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8.png"/><Relationship Id="rId3" Type="http://schemas.openxmlformats.org/officeDocument/2006/relationships/slideLayout" Target="../slideLayouts/slideLayout7.xml"/><Relationship Id="rId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9.png"/><Relationship Id="rId3" Type="http://schemas.openxmlformats.org/officeDocument/2006/relationships/slideLayout" Target="../slideLayouts/slideLayout7.xml"/><Relationship Id="rId4"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7.xml"/><Relationship Id="rId3" Type="http://schemas.openxmlformats.org/officeDocument/2006/relationships/notesSlide" Target="../notesSlides/notesSlide21.xml"/></Relationships>
</file>

<file path=ppt/slides/_rels/slide17.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7.xml"/><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10.png"/><Relationship Id="rId3" Type="http://schemas.openxmlformats.org/officeDocument/2006/relationships/slideLayout" Target="../slideLayouts/slideLayout7.xml"/><Relationship Id="rId4"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7.xml"/><Relationship Id="rId3"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7.xml"/><Relationship Id="rId3"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7.xml"/><Relationship Id="rId3"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7.xml"/><Relationship Id="rId3"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7.xml"/><Relationship Id="rId3"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7.xml"/><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7.xml"/><Relationship Id="rId3"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7.xml"/><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7.xml"/><Relationship Id="rId3"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7.xml"/><Relationship Id="rId3"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7.xml"/><Relationship Id="rId3"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7.xml"/><Relationship Id="rId3"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7.xml"/><Relationship Id="rId3"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7.xml"/><Relationship Id="rId3"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626"/>
        </a:solidFill>
        <a:effectLst/>
      </p:bgPr>
    </p:bg>
    <p:spTree>
      <p:nvGrpSpPr>
        <p:cNvPr id="1" name=""/>
        <p:cNvGrpSpPr/>
        <p:nvPr/>
      </p:nvGrpSpPr>
      <p:grpSpPr>
        <a:xfrm>
          <a:off x="0" y="0"/>
          <a:ext cx="0" cy="0"/>
          <a:chOff x="0" y="0"/>
          <a:chExt cx="0" cy="0"/>
        </a:xfrm>
      </p:grpSpPr>
      <p:sp>
        <p:nvSpPr>
          <p:cNvPr id="2" name="TextBox 2"/>
          <p:cNvSpPr txBox="1"/>
          <p:nvPr/>
        </p:nvSpPr>
        <p:spPr>
          <a:xfrm>
            <a:off x="1097280" y="2247900"/>
            <a:ext cx="10607040" cy="586740"/>
          </a:xfrm>
          <a:prstGeom prst="rect">
            <a:avLst/>
          </a:prstGeom>
        </p:spPr>
        <p:txBody>
          <a:bodyPr lIns="0" tIns="0" rIns="0" bIns="0" rtlCol="0" anchor="t">
            <a:spAutoFit/>
          </a:bodyPr>
          <a:lstStyle/>
          <a:p>
            <a:pPr algn="l">
              <a:lnSpc>
                <a:spcPts val="2880"/>
              </a:lnSpc>
            </a:pPr>
            <a:r>
              <a:rPr lang="en-US" sz="2400" b="1" spc="400">
                <a:solidFill>
                  <a:srgbClr val="BFE8E3"/>
                </a:solidFill>
                <a:latin typeface="Times New Roman" panose="02020603050405020304"/>
                <a:ea typeface="Times New Roman" panose="02020603050405020304"/>
                <a:cs typeface="Times New Roman" panose="02020603050405020304"/>
                <a:sym typeface="Times New Roman" panose="02020603050405020304"/>
              </a:rPr>
              <a:t>ĐỀ TÀI T47 · MÔN LẬP TRÌNH MẠNG</a:t>
            </a:r>
            <a:endParaRPr lang="en-US" sz="2400" b="1" spc="4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TextBox 3"/>
          <p:cNvSpPr txBox="1"/>
          <p:nvPr/>
        </p:nvSpPr>
        <p:spPr>
          <a:xfrm>
            <a:off x="1097280" y="2916555"/>
            <a:ext cx="10607040" cy="2661285"/>
          </a:xfrm>
          <a:prstGeom prst="rect">
            <a:avLst/>
          </a:prstGeom>
        </p:spPr>
        <p:txBody>
          <a:bodyPr lIns="0" tIns="0" rIns="0" bIns="0" rtlCol="0" anchor="t">
            <a:spAutoFit/>
          </a:bodyPr>
          <a:lstStyle/>
          <a:p>
            <a:pPr algn="l">
              <a:lnSpc>
                <a:spcPts val="6720"/>
              </a:lnSpc>
            </a:pPr>
            <a:r>
              <a:rPr lang="en-US" sz="5600" b="1">
                <a:solidFill>
                  <a:srgbClr val="FFFFFF"/>
                </a:solidFill>
                <a:latin typeface="Times New Roman" panose="02020603050405020304"/>
                <a:ea typeface="Times New Roman" panose="02020603050405020304"/>
                <a:cs typeface="Times New Roman" panose="02020603050405020304"/>
                <a:sym typeface="Times New Roman" panose="02020603050405020304"/>
              </a:rPr>
              <a:t>Kỹ thuật mạng cho game nhiều người chơi thời gian thực</a:t>
            </a:r>
            <a:endParaRPr lang="en-US" sz="56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 name="TextBox 4"/>
          <p:cNvSpPr txBox="1"/>
          <p:nvPr/>
        </p:nvSpPr>
        <p:spPr>
          <a:xfrm>
            <a:off x="1097280" y="5583555"/>
            <a:ext cx="10607040" cy="1000125"/>
          </a:xfrm>
          <a:prstGeom prst="rect">
            <a:avLst/>
          </a:prstGeom>
        </p:spPr>
        <p:txBody>
          <a:bodyPr lIns="0" tIns="0" rIns="0" bIns="0" rtlCol="0" anchor="t">
            <a:spAutoFit/>
          </a:bodyPr>
          <a:lstStyle/>
          <a:p>
            <a:pPr algn="l">
              <a:lnSpc>
                <a:spcPts val="4800"/>
              </a:lnSpc>
            </a:pPr>
            <a:r>
              <a:rPr lang="en-US" sz="4000" b="1">
                <a:solidFill>
                  <a:srgbClr val="BFE8E3"/>
                </a:solidFill>
                <a:latin typeface="Times New Roman" panose="02020603050405020304"/>
                <a:ea typeface="Times New Roman" panose="02020603050405020304"/>
                <a:cs typeface="Times New Roman" panose="02020603050405020304"/>
                <a:sym typeface="Times New Roman" panose="02020603050405020304"/>
              </a:rPr>
              <a:t>Dự đoán phía client</a:t>
            </a:r>
            <a:endParaRPr lang="en-US" sz="4000" b="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 name="TextBox 5"/>
          <p:cNvSpPr txBox="1"/>
          <p:nvPr/>
        </p:nvSpPr>
        <p:spPr>
          <a:xfrm>
            <a:off x="1066515" y="6782429"/>
            <a:ext cx="10607040" cy="2162175"/>
          </a:xfrm>
          <a:prstGeom prst="rect">
            <a:avLst/>
          </a:prstGeom>
        </p:spPr>
        <p:txBody>
          <a:bodyPr lIns="0" tIns="0" rIns="0" bIns="0" rtlCol="0" anchor="t">
            <a:spAutoFit/>
          </a:bodyPr>
          <a:lstStyle/>
          <a:p>
            <a:pPr algn="l">
              <a:lnSpc>
                <a:spcPts val="4200"/>
              </a:lnSpc>
            </a:pPr>
            <a:r>
              <a:rPr lang="en-US" sz="3500" b="1">
                <a:solidFill>
                  <a:srgbClr val="FFFFFF"/>
                </a:solidFill>
                <a:latin typeface="Times New Roman" panose="02020603050405020304"/>
                <a:ea typeface="Times New Roman" panose="02020603050405020304"/>
                <a:cs typeface="Times New Roman" panose="02020603050405020304"/>
                <a:sym typeface="Times New Roman" panose="02020603050405020304"/>
              </a:rPr>
              <a:t>GV: TS. Đặng Ngọc Hùng</a:t>
            </a:r>
            <a:endParaRPr lang="en-US" sz="35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200"/>
              </a:lnSpc>
            </a:pPr>
            <a:r>
              <a:rPr lang="en-US" sz="3500">
                <a:solidFill>
                  <a:srgbClr val="FFFFFF"/>
                </a:solidFill>
                <a:latin typeface="Times New Roman" panose="02020603050405020304"/>
                <a:ea typeface="Times New Roman" panose="02020603050405020304"/>
                <a:cs typeface="Times New Roman" panose="02020603050405020304"/>
                <a:sym typeface="Times New Roman" panose="02020603050405020304"/>
              </a:rPr>
              <a:t>Nguyễn Thế Chiến (B23DCCN095) </a:t>
            </a:r>
            <a:endParaRPr lang="en-US" sz="3500">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200"/>
              </a:lnSpc>
            </a:pPr>
            <a:r>
              <a:rPr lang="en-US" sz="3500">
                <a:solidFill>
                  <a:srgbClr val="FFFFFF"/>
                </a:solidFill>
                <a:latin typeface="Times New Roman" panose="02020603050405020304"/>
                <a:ea typeface="Times New Roman" panose="02020603050405020304"/>
                <a:cs typeface="Times New Roman" panose="02020603050405020304"/>
                <a:sym typeface="Times New Roman" panose="02020603050405020304"/>
              </a:rPr>
              <a:t>Phạm Quang Anh (B23DCCN044) </a:t>
            </a:r>
            <a:endParaRPr lang="en-US" sz="3500">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200"/>
              </a:lnSpc>
            </a:pPr>
            <a:r>
              <a:rPr lang="en-US" sz="3500">
                <a:solidFill>
                  <a:srgbClr val="FFFFFF"/>
                </a:solidFill>
                <a:latin typeface="Times New Roman" panose="02020603050405020304"/>
                <a:ea typeface="Times New Roman" panose="02020603050405020304"/>
                <a:cs typeface="Times New Roman" panose="02020603050405020304"/>
                <a:sym typeface="Times New Roman" panose="02020603050405020304"/>
              </a:rPr>
              <a:t>Nguyễn Đức Anh (B23DCCN031)</a:t>
            </a:r>
            <a:endParaRPr lang="en-US" sz="3500">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 name="AutoShape 6"/>
          <p:cNvSpPr/>
          <p:nvPr/>
        </p:nvSpPr>
        <p:spPr>
          <a:xfrm rot="-3820860">
            <a:off x="11596345" y="4882515"/>
            <a:ext cx="4239301" cy="0"/>
          </a:xfrm>
          <a:prstGeom prst="line">
            <a:avLst/>
          </a:prstGeom>
          <a:ln w="19050" cap="rnd">
            <a:solidFill>
              <a:srgbClr val="BFE8E3"/>
            </a:solidFill>
            <a:prstDash val="solid"/>
            <a:headEnd type="none" w="sm" len="sm"/>
            <a:tailEnd type="none" w="sm" len="sm"/>
          </a:ln>
        </p:spPr>
      </p:sp>
      <p:sp>
        <p:nvSpPr>
          <p:cNvPr id="7" name="AutoShape 7"/>
          <p:cNvSpPr/>
          <p:nvPr/>
        </p:nvSpPr>
        <p:spPr>
          <a:xfrm rot="3820860">
            <a:off x="13425145" y="4882515"/>
            <a:ext cx="4239301" cy="0"/>
          </a:xfrm>
          <a:prstGeom prst="line">
            <a:avLst/>
          </a:prstGeom>
          <a:ln w="19050" cap="rnd">
            <a:solidFill>
              <a:srgbClr val="BFE8E3"/>
            </a:solidFill>
            <a:prstDash val="solid"/>
            <a:headEnd type="none" w="sm" len="sm"/>
            <a:tailEnd type="none" w="sm" len="sm"/>
          </a:ln>
        </p:spPr>
      </p:sp>
      <p:grpSp>
        <p:nvGrpSpPr>
          <p:cNvPr id="8" name="Group 8"/>
          <p:cNvGrpSpPr/>
          <p:nvPr/>
        </p:nvGrpSpPr>
        <p:grpSpPr>
          <a:xfrm rot="0">
            <a:off x="13282679" y="5295395"/>
            <a:ext cx="318011" cy="318011"/>
            <a:chOff x="0" y="0"/>
            <a:chExt cx="424015" cy="424015"/>
          </a:xfrm>
        </p:grpSpPr>
        <p:sp>
          <p:nvSpPr>
            <p:cNvPr id="9" name="Freeform 9"/>
            <p:cNvSpPr/>
            <p:nvPr/>
          </p:nvSpPr>
          <p:spPr>
            <a:xfrm>
              <a:off x="0" y="0"/>
              <a:ext cx="424053" cy="424053"/>
            </a:xfrm>
            <a:custGeom>
              <a:avLst/>
              <a:gdLst/>
              <a:ahLst/>
              <a:cxnLst/>
              <a:rect l="l" t="t" r="r" b="b"/>
              <a:pathLst>
                <a:path w="424053" h="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00897B"/>
            </a:solidFill>
            <a:ln w="25400" cap="sq">
              <a:solidFill>
                <a:srgbClr val="00897B"/>
              </a:solidFill>
              <a:prstDash val="solid"/>
              <a:miter/>
            </a:ln>
          </p:spPr>
        </p:sp>
      </p:grpSp>
      <p:grpSp>
        <p:nvGrpSpPr>
          <p:cNvPr id="10" name="Group 10"/>
          <p:cNvGrpSpPr/>
          <p:nvPr/>
        </p:nvGrpSpPr>
        <p:grpSpPr>
          <a:xfrm rot="0">
            <a:off x="13831319" y="4170683"/>
            <a:ext cx="318011" cy="318011"/>
            <a:chOff x="0" y="0"/>
            <a:chExt cx="424015" cy="424015"/>
          </a:xfrm>
        </p:grpSpPr>
        <p:sp>
          <p:nvSpPr>
            <p:cNvPr id="11" name="Freeform 11"/>
            <p:cNvSpPr/>
            <p:nvPr/>
          </p:nvSpPr>
          <p:spPr>
            <a:xfrm>
              <a:off x="0" y="0"/>
              <a:ext cx="424053" cy="424053"/>
            </a:xfrm>
            <a:custGeom>
              <a:avLst/>
              <a:gdLst/>
              <a:ahLst/>
              <a:cxnLst/>
              <a:rect l="l" t="t" r="r" b="b"/>
              <a:pathLst>
                <a:path w="424053" h="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F4A259"/>
            </a:solidFill>
            <a:ln w="25400" cap="sq">
              <a:solidFill>
                <a:srgbClr val="F4A259"/>
              </a:solidFill>
              <a:prstDash val="solid"/>
              <a:miter/>
            </a:ln>
          </p:spPr>
        </p:sp>
      </p:grpSp>
      <p:grpSp>
        <p:nvGrpSpPr>
          <p:cNvPr id="12" name="Group 12"/>
          <p:cNvGrpSpPr/>
          <p:nvPr/>
        </p:nvGrpSpPr>
        <p:grpSpPr>
          <a:xfrm rot="0">
            <a:off x="15568679" y="5107943"/>
            <a:ext cx="318011" cy="318011"/>
            <a:chOff x="0" y="0"/>
            <a:chExt cx="424015" cy="424015"/>
          </a:xfrm>
        </p:grpSpPr>
        <p:sp>
          <p:nvSpPr>
            <p:cNvPr id="13" name="Freeform 13"/>
            <p:cNvSpPr/>
            <p:nvPr/>
          </p:nvSpPr>
          <p:spPr>
            <a:xfrm>
              <a:off x="0" y="0"/>
              <a:ext cx="424053" cy="424053"/>
            </a:xfrm>
            <a:custGeom>
              <a:avLst/>
              <a:gdLst/>
              <a:ahLst/>
              <a:cxnLst/>
              <a:rect l="l" t="t" r="r" b="b"/>
              <a:pathLst>
                <a:path w="424053" h="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F4A259"/>
            </a:solidFill>
            <a:ln w="25400" cap="sq">
              <a:solidFill>
                <a:srgbClr val="F4A259"/>
              </a:solidFill>
              <a:prstDash val="solid"/>
              <a:miter/>
            </a:ln>
          </p:spPr>
        </p:sp>
      </p:grpSp>
      <p:grpSp>
        <p:nvGrpSpPr>
          <p:cNvPr id="14" name="Group 14"/>
          <p:cNvGrpSpPr/>
          <p:nvPr/>
        </p:nvGrpSpPr>
        <p:grpSpPr>
          <a:xfrm rot="0">
            <a:off x="15020039" y="3983231"/>
            <a:ext cx="318011" cy="318011"/>
            <a:chOff x="0" y="0"/>
            <a:chExt cx="424015" cy="424015"/>
          </a:xfrm>
        </p:grpSpPr>
        <p:sp>
          <p:nvSpPr>
            <p:cNvPr id="15" name="Freeform 15"/>
            <p:cNvSpPr/>
            <p:nvPr/>
          </p:nvSpPr>
          <p:spPr>
            <a:xfrm>
              <a:off x="0" y="0"/>
              <a:ext cx="424053" cy="424053"/>
            </a:xfrm>
            <a:custGeom>
              <a:avLst/>
              <a:gdLst/>
              <a:ahLst/>
              <a:cxnLst/>
              <a:rect l="l" t="t" r="r" b="b"/>
              <a:pathLst>
                <a:path w="424053" h="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00897B"/>
            </a:solidFill>
            <a:ln w="25400" cap="sq">
              <a:solidFill>
                <a:srgbClr val="00897B"/>
              </a:solidFill>
              <a:prstDash val="solid"/>
              <a:miter/>
            </a:ln>
          </p:spPr>
        </p:sp>
      </p:grpSp>
      <p:grpSp>
        <p:nvGrpSpPr>
          <p:cNvPr id="16" name="Group 16"/>
          <p:cNvGrpSpPr/>
          <p:nvPr/>
        </p:nvGrpSpPr>
        <p:grpSpPr>
          <a:xfrm rot="0">
            <a:off x="13690597" y="2077717"/>
            <a:ext cx="1879597" cy="1879597"/>
            <a:chOff x="0" y="0"/>
            <a:chExt cx="2506129" cy="2506129"/>
          </a:xfrm>
        </p:grpSpPr>
        <p:sp>
          <p:nvSpPr>
            <p:cNvPr id="17" name="Freeform 17"/>
            <p:cNvSpPr/>
            <p:nvPr/>
          </p:nvSpPr>
          <p:spPr>
            <a:xfrm>
              <a:off x="0" y="0"/>
              <a:ext cx="2506218" cy="2506218"/>
            </a:xfrm>
            <a:custGeom>
              <a:avLst/>
              <a:gdLst/>
              <a:ahLst/>
              <a:cxnLst/>
              <a:rect l="l" t="t" r="r" b="b"/>
              <a:pathLst>
                <a:path w="2506218" h="2506218">
                  <a:moveTo>
                    <a:pt x="0" y="1253109"/>
                  </a:moveTo>
                  <a:cubicBezTo>
                    <a:pt x="0" y="560959"/>
                    <a:pt x="560959" y="0"/>
                    <a:pt x="1253109" y="0"/>
                  </a:cubicBezTo>
                  <a:cubicBezTo>
                    <a:pt x="1945259" y="0"/>
                    <a:pt x="2506218" y="560959"/>
                    <a:pt x="2506218" y="1253109"/>
                  </a:cubicBezTo>
                  <a:cubicBezTo>
                    <a:pt x="2506218" y="1945259"/>
                    <a:pt x="1945259" y="2506218"/>
                    <a:pt x="1253109" y="2506218"/>
                  </a:cubicBezTo>
                  <a:cubicBezTo>
                    <a:pt x="560959" y="2506218"/>
                    <a:pt x="0" y="1945132"/>
                    <a:pt x="0" y="1253109"/>
                  </a:cubicBezTo>
                  <a:close/>
                </a:path>
              </a:pathLst>
            </a:custGeom>
            <a:solidFill>
              <a:srgbClr val="00897B"/>
            </a:solidFill>
            <a:ln w="50800" cap="sq">
              <a:solidFill>
                <a:srgbClr val="BFE8E3"/>
              </a:solidFill>
              <a:prstDash val="solid"/>
              <a:miter/>
            </a:ln>
          </p:spPr>
        </p:sp>
      </p:grpSp>
      <p:grpSp>
        <p:nvGrpSpPr>
          <p:cNvPr id="18" name="Group 18"/>
          <p:cNvGrpSpPr/>
          <p:nvPr/>
        </p:nvGrpSpPr>
        <p:grpSpPr>
          <a:xfrm rot="0">
            <a:off x="13716000" y="2103120"/>
            <a:ext cx="1828800" cy="1828800"/>
            <a:chOff x="0" y="0"/>
            <a:chExt cx="2438400" cy="2438400"/>
          </a:xfrm>
        </p:grpSpPr>
        <p:sp>
          <p:nvSpPr>
            <p:cNvPr id="19" name="Freeform 19"/>
            <p:cNvSpPr/>
            <p:nvPr/>
          </p:nvSpPr>
          <p:spPr>
            <a:xfrm>
              <a:off x="0" y="0"/>
              <a:ext cx="2438400" cy="2438400"/>
            </a:xfrm>
            <a:custGeom>
              <a:avLst/>
              <a:gdLst/>
              <a:ahLst/>
              <a:cxnLst/>
              <a:rect l="l" t="t" r="r" b="b"/>
              <a:pathLst>
                <a:path w="2438400" h="2438400">
                  <a:moveTo>
                    <a:pt x="0" y="0"/>
                  </a:moveTo>
                  <a:lnTo>
                    <a:pt x="2438400" y="0"/>
                  </a:lnTo>
                  <a:lnTo>
                    <a:pt x="2438400" y="2438400"/>
                  </a:lnTo>
                  <a:lnTo>
                    <a:pt x="0" y="2438400"/>
                  </a:lnTo>
                  <a:close/>
                </a:path>
              </a:pathLst>
            </a:custGeom>
            <a:blipFill>
              <a:blip r:embed="rId1">
                <a:alphaModFix amt="0"/>
              </a:blip>
              <a:stretch>
                <a:fillRect l="-78303" r="-78303"/>
              </a:stretch>
            </a:blipFill>
          </p:spPr>
        </p:sp>
        <p:sp>
          <p:nvSpPr>
            <p:cNvPr id="20" name="TextBox 20"/>
            <p:cNvSpPr txBox="1"/>
            <p:nvPr/>
          </p:nvSpPr>
          <p:spPr>
            <a:xfrm>
              <a:off x="0" y="-57150"/>
              <a:ext cx="2438400" cy="2495550"/>
            </a:xfrm>
            <a:prstGeom prst="rect">
              <a:avLst/>
            </a:prstGeom>
          </p:spPr>
          <p:txBody>
            <a:bodyPr lIns="0" tIns="0" rIns="0" bIns="0" rtlCol="0" anchor="ctr"/>
            <a:lstStyle/>
            <a:p>
              <a:pPr algn="ctr">
                <a:lnSpc>
                  <a:spcPts val="3120"/>
                </a:lnSpc>
              </a:pPr>
              <a:r>
                <a:rPr lang="en-US" sz="2600" b="1">
                  <a:solidFill>
                    <a:srgbClr val="FFFFFF"/>
                  </a:solidFill>
                  <a:latin typeface="Times New Roman" panose="02020603050405020304"/>
                  <a:ea typeface="Times New Roman" panose="02020603050405020304"/>
                  <a:cs typeface="Times New Roman" panose="02020603050405020304"/>
                  <a:sym typeface="Times New Roman" panose="02020603050405020304"/>
                </a:rPr>
                <a:t>Server</a:t>
              </a:r>
              <a:endParaRPr lang="en-US" sz="26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1" name="Group 21"/>
          <p:cNvGrpSpPr/>
          <p:nvPr/>
        </p:nvGrpSpPr>
        <p:grpSpPr>
          <a:xfrm rot="0">
            <a:off x="11953237" y="5918197"/>
            <a:ext cx="1696717" cy="1696717"/>
            <a:chOff x="0" y="0"/>
            <a:chExt cx="2262289" cy="2262289"/>
          </a:xfrm>
        </p:grpSpPr>
        <p:sp>
          <p:nvSpPr>
            <p:cNvPr id="22" name="Freeform 22"/>
            <p:cNvSpPr/>
            <p:nvPr/>
          </p:nvSpPr>
          <p:spPr>
            <a:xfrm>
              <a:off x="0" y="0"/>
              <a:ext cx="2262378" cy="2262378"/>
            </a:xfrm>
            <a:custGeom>
              <a:avLst/>
              <a:gdLst/>
              <a:ahLst/>
              <a:cxnLst/>
              <a:rect l="l" t="t" r="r" b="b"/>
              <a:pathLst>
                <a:path w="2262378" h="2262378">
                  <a:moveTo>
                    <a:pt x="0" y="1131189"/>
                  </a:moveTo>
                  <a:cubicBezTo>
                    <a:pt x="0" y="506476"/>
                    <a:pt x="506476" y="0"/>
                    <a:pt x="1131189" y="0"/>
                  </a:cubicBezTo>
                  <a:cubicBezTo>
                    <a:pt x="1755902" y="0"/>
                    <a:pt x="2262378" y="506476"/>
                    <a:pt x="2262378" y="1131189"/>
                  </a:cubicBezTo>
                  <a:cubicBezTo>
                    <a:pt x="2262378" y="1755902"/>
                    <a:pt x="1755902" y="2262378"/>
                    <a:pt x="1131189" y="2262378"/>
                  </a:cubicBezTo>
                  <a:cubicBezTo>
                    <a:pt x="506476" y="2262378"/>
                    <a:pt x="0" y="1755902"/>
                    <a:pt x="0" y="1131189"/>
                  </a:cubicBezTo>
                  <a:close/>
                </a:path>
              </a:pathLst>
            </a:custGeom>
            <a:solidFill>
              <a:srgbClr val="0B1626"/>
            </a:solidFill>
            <a:ln w="50800" cap="sq">
              <a:solidFill>
                <a:srgbClr val="BFE8E3"/>
              </a:solidFill>
              <a:prstDash val="solid"/>
              <a:miter/>
            </a:ln>
          </p:spPr>
        </p:sp>
      </p:grpSp>
      <p:grpSp>
        <p:nvGrpSpPr>
          <p:cNvPr id="23" name="Group 23"/>
          <p:cNvGrpSpPr/>
          <p:nvPr/>
        </p:nvGrpSpPr>
        <p:grpSpPr>
          <a:xfrm rot="0">
            <a:off x="11978640" y="5943600"/>
            <a:ext cx="1645920" cy="1645920"/>
            <a:chOff x="0" y="0"/>
            <a:chExt cx="2194560" cy="2194560"/>
          </a:xfrm>
        </p:grpSpPr>
        <p:sp>
          <p:nvSpPr>
            <p:cNvPr id="24" name="Freeform 24"/>
            <p:cNvSpPr/>
            <p:nvPr/>
          </p:nvSpPr>
          <p:spPr>
            <a:xfrm>
              <a:off x="0" y="0"/>
              <a:ext cx="2194560" cy="2194560"/>
            </a:xfrm>
            <a:custGeom>
              <a:avLst/>
              <a:gdLst/>
              <a:ahLst/>
              <a:cxnLst/>
              <a:rect l="l" t="t" r="r" b="b"/>
              <a:pathLst>
                <a:path w="2194560" h="2194560">
                  <a:moveTo>
                    <a:pt x="0" y="0"/>
                  </a:moveTo>
                  <a:lnTo>
                    <a:pt x="2194560" y="0"/>
                  </a:lnTo>
                  <a:lnTo>
                    <a:pt x="2194560" y="2194560"/>
                  </a:lnTo>
                  <a:lnTo>
                    <a:pt x="0" y="2194560"/>
                  </a:lnTo>
                  <a:close/>
                </a:path>
              </a:pathLst>
            </a:custGeom>
            <a:blipFill>
              <a:blip r:embed="rId1">
                <a:alphaModFix amt="0"/>
              </a:blip>
              <a:stretch>
                <a:fillRect l="-78303" r="-78303"/>
              </a:stretch>
            </a:blipFill>
          </p:spPr>
        </p:sp>
        <p:sp>
          <p:nvSpPr>
            <p:cNvPr id="25" name="TextBox 25"/>
            <p:cNvSpPr txBox="1"/>
            <p:nvPr/>
          </p:nvSpPr>
          <p:spPr>
            <a:xfrm>
              <a:off x="0" y="-47625"/>
              <a:ext cx="2194560" cy="2242185"/>
            </a:xfrm>
            <a:prstGeom prst="rect">
              <a:avLst/>
            </a:prstGeom>
          </p:spPr>
          <p:txBody>
            <a:bodyPr lIns="0" tIns="0" rIns="0" bIns="0" rtlCol="0" anchor="ctr"/>
            <a:lstStyle/>
            <a:p>
              <a:pPr algn="ctr">
                <a:lnSpc>
                  <a:spcPts val="2640"/>
                </a:lnSpc>
              </a:pPr>
              <a:r>
                <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rPr>
                <a:t>Client</a:t>
              </a:r>
              <a:endPar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a:p>
              <a:pPr algn="ctr">
                <a:lnSpc>
                  <a:spcPts val="2640"/>
                </a:lnSpc>
              </a:pPr>
              <a:r>
                <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rPr>
                <a:t>A</a:t>
              </a:r>
              <a:endPar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6" name="Group 26"/>
          <p:cNvGrpSpPr/>
          <p:nvPr/>
        </p:nvGrpSpPr>
        <p:grpSpPr>
          <a:xfrm rot="0">
            <a:off x="15610837" y="5918197"/>
            <a:ext cx="1696717" cy="1696717"/>
            <a:chOff x="0" y="0"/>
            <a:chExt cx="2262289" cy="2262289"/>
          </a:xfrm>
        </p:grpSpPr>
        <p:sp>
          <p:nvSpPr>
            <p:cNvPr id="27" name="Freeform 27"/>
            <p:cNvSpPr/>
            <p:nvPr/>
          </p:nvSpPr>
          <p:spPr>
            <a:xfrm>
              <a:off x="0" y="0"/>
              <a:ext cx="2262378" cy="2262378"/>
            </a:xfrm>
            <a:custGeom>
              <a:avLst/>
              <a:gdLst/>
              <a:ahLst/>
              <a:cxnLst/>
              <a:rect l="l" t="t" r="r" b="b"/>
              <a:pathLst>
                <a:path w="2262378" h="2262378">
                  <a:moveTo>
                    <a:pt x="0" y="1131189"/>
                  </a:moveTo>
                  <a:cubicBezTo>
                    <a:pt x="0" y="506476"/>
                    <a:pt x="506476" y="0"/>
                    <a:pt x="1131189" y="0"/>
                  </a:cubicBezTo>
                  <a:cubicBezTo>
                    <a:pt x="1755902" y="0"/>
                    <a:pt x="2262378" y="506476"/>
                    <a:pt x="2262378" y="1131189"/>
                  </a:cubicBezTo>
                  <a:cubicBezTo>
                    <a:pt x="2262378" y="1755902"/>
                    <a:pt x="1755902" y="2262378"/>
                    <a:pt x="1131189" y="2262378"/>
                  </a:cubicBezTo>
                  <a:cubicBezTo>
                    <a:pt x="506476" y="2262378"/>
                    <a:pt x="0" y="1755902"/>
                    <a:pt x="0" y="1131189"/>
                  </a:cubicBezTo>
                  <a:close/>
                </a:path>
              </a:pathLst>
            </a:custGeom>
            <a:solidFill>
              <a:srgbClr val="0B1626"/>
            </a:solidFill>
            <a:ln w="50800" cap="sq">
              <a:solidFill>
                <a:srgbClr val="BFE8E3"/>
              </a:solidFill>
              <a:prstDash val="solid"/>
              <a:miter/>
            </a:ln>
          </p:spPr>
        </p:sp>
      </p:grpSp>
      <p:grpSp>
        <p:nvGrpSpPr>
          <p:cNvPr id="28" name="Group 28"/>
          <p:cNvGrpSpPr/>
          <p:nvPr/>
        </p:nvGrpSpPr>
        <p:grpSpPr>
          <a:xfrm rot="0">
            <a:off x="15636240" y="5943600"/>
            <a:ext cx="1645920" cy="1645920"/>
            <a:chOff x="0" y="0"/>
            <a:chExt cx="2194560" cy="2194560"/>
          </a:xfrm>
        </p:grpSpPr>
        <p:sp>
          <p:nvSpPr>
            <p:cNvPr id="29" name="Freeform 29"/>
            <p:cNvSpPr/>
            <p:nvPr/>
          </p:nvSpPr>
          <p:spPr>
            <a:xfrm>
              <a:off x="0" y="0"/>
              <a:ext cx="2194560" cy="2194560"/>
            </a:xfrm>
            <a:custGeom>
              <a:avLst/>
              <a:gdLst/>
              <a:ahLst/>
              <a:cxnLst/>
              <a:rect l="l" t="t" r="r" b="b"/>
              <a:pathLst>
                <a:path w="2194560" h="2194560">
                  <a:moveTo>
                    <a:pt x="0" y="0"/>
                  </a:moveTo>
                  <a:lnTo>
                    <a:pt x="2194560" y="0"/>
                  </a:lnTo>
                  <a:lnTo>
                    <a:pt x="2194560" y="2194560"/>
                  </a:lnTo>
                  <a:lnTo>
                    <a:pt x="0" y="2194560"/>
                  </a:lnTo>
                  <a:close/>
                </a:path>
              </a:pathLst>
            </a:custGeom>
            <a:blipFill>
              <a:blip r:embed="rId1">
                <a:alphaModFix amt="0"/>
              </a:blip>
              <a:stretch>
                <a:fillRect l="-78303" r="-78303"/>
              </a:stretch>
            </a:blipFill>
          </p:spPr>
        </p:sp>
        <p:sp>
          <p:nvSpPr>
            <p:cNvPr id="30" name="TextBox 30"/>
            <p:cNvSpPr txBox="1"/>
            <p:nvPr/>
          </p:nvSpPr>
          <p:spPr>
            <a:xfrm>
              <a:off x="0" y="-47625"/>
              <a:ext cx="2194560" cy="2242185"/>
            </a:xfrm>
            <a:prstGeom prst="rect">
              <a:avLst/>
            </a:prstGeom>
          </p:spPr>
          <p:txBody>
            <a:bodyPr lIns="0" tIns="0" rIns="0" bIns="0" rtlCol="0" anchor="ctr"/>
            <a:lstStyle/>
            <a:p>
              <a:pPr algn="ctr">
                <a:lnSpc>
                  <a:spcPts val="2640"/>
                </a:lnSpc>
              </a:pPr>
              <a:r>
                <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rPr>
                <a:t>Client</a:t>
              </a:r>
              <a:endPar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a:p>
              <a:pPr algn="ctr">
                <a:lnSpc>
                  <a:spcPts val="2640"/>
                </a:lnSpc>
              </a:pPr>
              <a:r>
                <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rPr>
                <a:t>B</a:t>
              </a:r>
              <a:endPar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31" name="Group 31"/>
          <p:cNvGrpSpPr/>
          <p:nvPr/>
        </p:nvGrpSpPr>
        <p:grpSpPr>
          <a:xfrm rot="0">
            <a:off x="12801600" y="7808976"/>
            <a:ext cx="3657600" cy="548640"/>
            <a:chOff x="0" y="0"/>
            <a:chExt cx="4876800" cy="731520"/>
          </a:xfrm>
        </p:grpSpPr>
        <p:sp>
          <p:nvSpPr>
            <p:cNvPr id="32" name="Freeform 32"/>
            <p:cNvSpPr/>
            <p:nvPr/>
          </p:nvSpPr>
          <p:spPr>
            <a:xfrm>
              <a:off x="0" y="0"/>
              <a:ext cx="4876800" cy="731520"/>
            </a:xfrm>
            <a:custGeom>
              <a:avLst/>
              <a:gdLst/>
              <a:ahLst/>
              <a:cxnLst/>
              <a:rect l="l" t="t" r="r" b="b"/>
              <a:pathLst>
                <a:path w="4876800" h="731520">
                  <a:moveTo>
                    <a:pt x="0" y="0"/>
                  </a:moveTo>
                  <a:lnTo>
                    <a:pt x="4876800" y="0"/>
                  </a:lnTo>
                  <a:lnTo>
                    <a:pt x="4876800" y="731520"/>
                  </a:lnTo>
                  <a:lnTo>
                    <a:pt x="0" y="731520"/>
                  </a:lnTo>
                  <a:close/>
                </a:path>
              </a:pathLst>
            </a:custGeom>
            <a:blipFill>
              <a:blip r:embed="rId1">
                <a:alphaModFix amt="0"/>
              </a:blip>
              <a:stretch>
                <a:fillRect t="-79900" b="-79900"/>
              </a:stretch>
            </a:blipFill>
          </p:spPr>
        </p:sp>
        <p:sp>
          <p:nvSpPr>
            <p:cNvPr id="33" name="TextBox 33"/>
            <p:cNvSpPr txBox="1"/>
            <p:nvPr/>
          </p:nvSpPr>
          <p:spPr>
            <a:xfrm>
              <a:off x="0" y="-47625"/>
              <a:ext cx="4876800" cy="779145"/>
            </a:xfrm>
            <a:prstGeom prst="rect">
              <a:avLst/>
            </a:prstGeom>
          </p:spPr>
          <p:txBody>
            <a:bodyPr lIns="0" tIns="0" rIns="0" bIns="0" rtlCol="0" anchor="ctr"/>
            <a:lstStyle/>
            <a:p>
              <a:pPr algn="ctr">
                <a:lnSpc>
                  <a:spcPts val="2640"/>
                </a:lnSpc>
              </a:pPr>
              <a:r>
                <a:rPr lang="en-US" sz="2200" i="1">
                  <a:solidFill>
                    <a:srgbClr val="BFE8E3"/>
                  </a:solidFill>
                  <a:latin typeface="Times New Roman" panose="02020603050405020304"/>
                  <a:ea typeface="Times New Roman" panose="02020603050405020304"/>
                  <a:cs typeface="Times New Roman" panose="02020603050405020304"/>
                  <a:sym typeface="Times New Roman" panose="02020603050405020304"/>
                </a:rPr>
                <a:t>RTT 100–200 ms</a:t>
              </a:r>
              <a:endParaRPr lang="en-US" sz="2200" i="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37" name="Header band"/>
          <p:cNvSpPr/>
          <p:nvPr/>
        </p:nvSpPr>
        <p:spPr>
          <a:xfrm>
            <a:off x="0" y="0"/>
            <a:ext cx="18288000" cy="2103120"/>
          </a:xfrm>
          <a:prstGeom prst="rect">
            <a:avLst/>
          </a:prstGeom>
          <a:solidFill>
            <a:srgbClr val="14213D"/>
          </a:solidFill>
          <a:ln>
            <a:noFill/>
          </a:ln>
        </p:spPr>
        <p:txBody>
          <a:bodyPr/>
          <a:p/>
        </p:txBody>
      </p:sp>
      <p:sp>
        <p:nvSpPr>
          <p:cNvPr id="9038" name="Header rule"/>
          <p:cNvSpPr/>
          <p:nvPr/>
        </p:nvSpPr>
        <p:spPr>
          <a:xfrm>
            <a:off x="0" y="2103120"/>
            <a:ext cx="18288000" cy="64008"/>
          </a:xfrm>
          <a:prstGeom prst="rect">
            <a:avLst/>
          </a:prstGeom>
          <a:solidFill>
            <a:srgbClr val="00897B"/>
          </a:solidFill>
          <a:ln>
            <a:noFill/>
          </a:ln>
        </p:spPr>
        <p:txBody>
          <a:bodyPr/>
          <a:p/>
        </p:txBody>
      </p:sp>
      <p:grpSp>
        <p:nvGrpSpPr>
          <p:cNvPr id="2" name="Group 2"/>
          <p:cNvGrpSpPr/>
          <p:nvPr/>
        </p:nvGrpSpPr>
        <p:grpSpPr>
          <a:xfrm rot="0">
            <a:off x="914400" y="9509760"/>
            <a:ext cx="12801600" cy="548640"/>
            <a:chOff x="0" y="0"/>
            <a:chExt cx="17068800" cy="731520"/>
          </a:xfrm>
        </p:grpSpPr>
        <p:sp>
          <p:nvSpPr>
            <p:cNvPr id="3" name="Freeform 3"/>
            <p:cNvSpPr/>
            <p:nvPr/>
          </p:nvSpPr>
          <p:spPr>
            <a:xfrm>
              <a:off x="0" y="0"/>
              <a:ext cx="17068800" cy="731520"/>
            </a:xfrm>
            <a:custGeom>
              <a:avLst/>
              <a:gdLst/>
              <a:ahLst/>
              <a:cxnLst/>
              <a:rect l="l" t="t" r="r" b="b"/>
              <a:pathLst>
                <a:path w="17068800" h="731520">
                  <a:moveTo>
                    <a:pt x="0" y="0"/>
                  </a:moveTo>
                  <a:lnTo>
                    <a:pt x="17068800" y="0"/>
                  </a:lnTo>
                  <a:lnTo>
                    <a:pt x="17068800" y="731520"/>
                  </a:lnTo>
                  <a:lnTo>
                    <a:pt x="0" y="731520"/>
                  </a:lnTo>
                  <a:close/>
                </a:path>
              </a:pathLst>
            </a:custGeom>
            <a:blipFill>
              <a:blip r:embed="rId1">
                <a:alphaModFix amt="0"/>
              </a:blip>
              <a:stretch>
                <a:fillRect t="-404650" b="-404650"/>
              </a:stretch>
            </a:blipFill>
          </p:spPr>
          <p:txBody>
            <a:bodyPr/>
            <a:p/>
          </p:txBody>
        </p:sp>
        <p:sp>
          <p:nvSpPr>
            <p:cNvPr id="4" name="TextBox 4"/>
            <p:cNvSpPr txBox="1"/>
            <p:nvPr/>
          </p:nvSpPr>
          <p:spPr>
            <a:xfrm>
              <a:off x="0" y="-38100"/>
              <a:ext cx="17068800" cy="769620"/>
            </a:xfrm>
            <a:prstGeom prst="rect">
              <a:avLst/>
            </a:prstGeom>
          </p:spPr>
          <p:txBody>
            <a:bodyPr lIns="0" tIns="0" rIns="0" bIns="0" rtlCol="0" anchor="ctr"/>
            <a:lstStyle/>
            <a:p>
              <a:pPr algn="l">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T47 · Kỹ thuật mạng cho game thời gian thực · Lập trình mạng</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5" name="TextBox 5"/>
          <p:cNvSpPr txBox="1"/>
          <p:nvPr/>
        </p:nvSpPr>
        <p:spPr>
          <a:xfrm>
            <a:off x="914400" y="384048"/>
            <a:ext cx="13898880" cy="559689"/>
          </a:xfrm>
          <a:prstGeom prst="rect">
            <a:avLst/>
          </a:prstGeom>
        </p:spPr>
        <p:txBody>
          <a:bodyPr lIns="0" tIns="0" rIns="0" bIns="0" rtlCol="0" anchor="t">
            <a:spAutoFit/>
          </a:bodyPr>
          <a:lstStyle/>
          <a:p>
            <a:pPr algn="l">
              <a:lnSpc>
                <a:spcPts val="2640"/>
              </a:lnSpc>
            </a:pPr>
            <a:r>
              <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MỤC LỤC</a:t>
            </a:r>
            <a:endPar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6" name="Group 6"/>
          <p:cNvGrpSpPr/>
          <p:nvPr/>
        </p:nvGrpSpPr>
        <p:grpSpPr>
          <a:xfrm rot="0">
            <a:off x="914400" y="768096"/>
            <a:ext cx="14081760" cy="1097280"/>
            <a:chOff x="0" y="0"/>
            <a:chExt cx="18775680" cy="1463040"/>
          </a:xfrm>
        </p:grpSpPr>
        <p:sp>
          <p:nvSpPr>
            <p:cNvPr id="7" name="Freeform 7"/>
            <p:cNvSpPr/>
            <p:nvPr/>
          </p:nvSpPr>
          <p:spPr>
            <a:xfrm>
              <a:off x="0" y="0"/>
              <a:ext cx="18775680" cy="1463040"/>
            </a:xfrm>
            <a:custGeom>
              <a:avLst/>
              <a:gdLst/>
              <a:ahLst/>
              <a:cxnLst/>
              <a:rect l="l" t="t" r="r" b="b"/>
              <a:pathLst>
                <a:path w="18775680" h="1463040">
                  <a:moveTo>
                    <a:pt x="0" y="0"/>
                  </a:moveTo>
                  <a:lnTo>
                    <a:pt x="18775680" y="0"/>
                  </a:lnTo>
                  <a:lnTo>
                    <a:pt x="18775680" y="1463040"/>
                  </a:lnTo>
                  <a:lnTo>
                    <a:pt x="0" y="1463040"/>
                  </a:lnTo>
                  <a:close/>
                </a:path>
              </a:pathLst>
            </a:custGeom>
            <a:blipFill>
              <a:blip r:embed="rId1">
                <a:alphaModFix amt="0"/>
              </a:blip>
              <a:stretch>
                <a:fillRect t="-200057" b="-200057"/>
              </a:stretch>
            </a:blipFill>
          </p:spPr>
          <p:txBody>
            <a:bodyPr/>
            <a:p/>
          </p:txBody>
        </p:sp>
        <p:sp>
          <p:nvSpPr>
            <p:cNvPr id="8" name="TextBox 8"/>
            <p:cNvSpPr txBox="1"/>
            <p:nvPr/>
          </p:nvSpPr>
          <p:spPr>
            <a:xfrm>
              <a:off x="0" y="-9525"/>
              <a:ext cx="18775680" cy="1472565"/>
            </a:xfrm>
            <a:prstGeom prst="rect">
              <a:avLst/>
            </a:prstGeom>
          </p:spPr>
          <p:txBody>
            <a:bodyPr lIns="0" tIns="0" rIns="0" bIns="0" rtlCol="0" anchor="ctr"/>
            <a:lstStyle/>
            <a:p>
              <a:pPr algn="l">
                <a:lnSpc>
                  <a:spcPts val="6900"/>
                </a:lnSpc>
              </a:pPr>
              <a:r>
                <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rPr>
                <a:t>Nội dung trình bày</a:t>
              </a:r>
              <a:endPar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9" name="Group 9"/>
          <p:cNvGrpSpPr/>
          <p:nvPr/>
        </p:nvGrpSpPr>
        <p:grpSpPr>
          <a:xfrm rot="0">
            <a:off x="15257783" y="682247"/>
            <a:ext cx="2128523" cy="647195"/>
            <a:chOff x="0" y="0"/>
            <a:chExt cx="2838031" cy="862927"/>
          </a:xfrm>
        </p:grpSpPr>
        <p:sp>
          <p:nvSpPr>
            <p:cNvPr id="10" name="Freeform 10"/>
            <p:cNvSpPr/>
            <p:nvPr/>
          </p:nvSpPr>
          <p:spPr>
            <a:xfrm>
              <a:off x="0" y="0"/>
              <a:ext cx="2837942" cy="862838"/>
            </a:xfrm>
            <a:custGeom>
              <a:avLst/>
              <a:gdLst/>
              <a:ahLst/>
              <a:cxnLst/>
              <a:rect l="l" t="t" r="r" b="b"/>
              <a:pathLst>
                <a:path w="2837942" h="862838">
                  <a:moveTo>
                    <a:pt x="0" y="431419"/>
                  </a:moveTo>
                  <a:cubicBezTo>
                    <a:pt x="0" y="193167"/>
                    <a:pt x="193167" y="0"/>
                    <a:pt x="431419" y="0"/>
                  </a:cubicBezTo>
                  <a:lnTo>
                    <a:pt x="2406523" y="0"/>
                  </a:lnTo>
                  <a:cubicBezTo>
                    <a:pt x="2644775" y="0"/>
                    <a:pt x="2837942" y="193167"/>
                    <a:pt x="2837942" y="431419"/>
                  </a:cubicBezTo>
                  <a:cubicBezTo>
                    <a:pt x="2837942" y="669671"/>
                    <a:pt x="2644775" y="862838"/>
                    <a:pt x="2406523" y="862838"/>
                  </a:cubicBezTo>
                  <a:lnTo>
                    <a:pt x="431419" y="862838"/>
                  </a:lnTo>
                  <a:cubicBezTo>
                    <a:pt x="193167" y="862965"/>
                    <a:pt x="0" y="669798"/>
                    <a:pt x="0" y="431419"/>
                  </a:cubicBezTo>
                  <a:close/>
                </a:path>
              </a:pathLst>
            </a:custGeom>
            <a:solidFill>
              <a:srgbClr val="00897B"/>
            </a:solidFill>
            <a:ln w="25400" cap="sq">
              <a:solidFill>
                <a:srgbClr val="00897B"/>
              </a:solidFill>
              <a:prstDash val="solid"/>
              <a:miter/>
            </a:ln>
          </p:spPr>
          <p:txBody>
            <a:bodyPr/>
            <a:p/>
          </p:txBody>
        </p:sp>
      </p:grpSp>
      <p:grpSp>
        <p:nvGrpSpPr>
          <p:cNvPr id="11" name="Group 11"/>
          <p:cNvGrpSpPr/>
          <p:nvPr/>
        </p:nvGrpSpPr>
        <p:grpSpPr>
          <a:xfrm rot="0">
            <a:off x="15270480" y="694944"/>
            <a:ext cx="2103120" cy="621792"/>
            <a:chOff x="0" y="0"/>
            <a:chExt cx="2804160" cy="829056"/>
          </a:xfrm>
        </p:grpSpPr>
        <p:sp>
          <p:nvSpPr>
            <p:cNvPr id="12" name="Freeform 12"/>
            <p:cNvSpPr/>
            <p:nvPr/>
          </p:nvSpPr>
          <p:spPr>
            <a:xfrm>
              <a:off x="0" y="0"/>
              <a:ext cx="2804160" cy="829056"/>
            </a:xfrm>
            <a:custGeom>
              <a:avLst/>
              <a:gdLst/>
              <a:ahLst/>
              <a:cxnLst/>
              <a:rect l="l" t="t" r="r" b="b"/>
              <a:pathLst>
                <a:path w="2804160" h="829056">
                  <a:moveTo>
                    <a:pt x="0" y="0"/>
                  </a:moveTo>
                  <a:lnTo>
                    <a:pt x="2804160" y="0"/>
                  </a:lnTo>
                  <a:lnTo>
                    <a:pt x="2804160" y="829056"/>
                  </a:lnTo>
                  <a:lnTo>
                    <a:pt x="0" y="829056"/>
                  </a:lnTo>
                  <a:close/>
                </a:path>
              </a:pathLst>
            </a:custGeom>
            <a:blipFill>
              <a:blip r:embed="rId1">
                <a:alphaModFix amt="0"/>
              </a:blip>
              <a:stretch>
                <a:fillRect t="-15905" b="-15905"/>
              </a:stretch>
            </a:blipFill>
          </p:spPr>
          <p:txBody>
            <a:bodyPr/>
            <a:p/>
          </p:txBody>
        </p:sp>
        <p:sp>
          <p:nvSpPr>
            <p:cNvPr id="13" name="TextBox 13"/>
            <p:cNvSpPr txBox="1"/>
            <p:nvPr/>
          </p:nvSpPr>
          <p:spPr>
            <a:xfrm>
              <a:off x="0" y="-47625"/>
              <a:ext cx="2804160" cy="876681"/>
            </a:xfrm>
            <a:prstGeom prst="rect">
              <a:avLst/>
            </a:prstGeom>
          </p:spPr>
          <p:txBody>
            <a:bodyPr lIns="0" tIns="0" rIns="0" bIns="0" rtlCol="0" anchor="ctr"/>
            <a:lstStyle/>
            <a:p>
              <a:pPr algn="ctr">
                <a:lnSpc>
                  <a:spcPts val="2640"/>
                </a:lnSpc>
              </a:pPr>
              <a:r>
                <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rPr>
                <a:t>#1</a:t>
              </a:r>
              <a:endPar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36" name="TextBox 36"/>
          <p:cNvSpPr txBox="1"/>
          <p:nvPr/>
        </p:nvSpPr>
        <p:spPr>
          <a:xfrm>
            <a:off x="16550640" y="9517380"/>
            <a:ext cx="731520" cy="495300"/>
          </a:xfrm>
          <a:prstGeom prst="rect">
            <a:avLst/>
          </a:prstGeom>
        </p:spPr>
        <p:txBody>
          <a:bodyPr lIns="0" tIns="0" rIns="0" bIns="0" rtlCol="0" anchor="t">
            <a:spAutoFit/>
          </a:bodyPr>
          <a:lstStyle/>
          <a:p>
            <a:pPr algn="r">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2</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0" name="TOC card 01"/>
          <p:cNvSpPr/>
          <p:nvPr/>
        </p:nvSpPr>
        <p:spPr>
          <a:xfrm>
            <a:off x="914400" y="2468880"/>
            <a:ext cx="3840480" cy="6675120"/>
          </a:xfrm>
          <a:prstGeom prst="roundRect">
            <a:avLst>
              <a:gd name="adj" fmla="val 6000"/>
            </a:avLst>
          </a:prstGeom>
          <a:solidFill>
            <a:srgbClr val="EEF3F8"/>
          </a:solidFill>
          <a:ln>
            <a:noFill/>
          </a:ln>
        </p:spPr>
        <p:txBody>
          <a:bodyPr lIns="0" tIns="0" rIns="0" bIns="0" rtlCol="0" anchor="ctr"/>
          <a:lstStyle/>
          <a:p>
            <a:endParaRPr lang="vi-VN"/>
          </a:p>
        </p:txBody>
      </p:sp>
      <p:sp>
        <p:nvSpPr>
          <p:cNvPr id="201" name="TOC num 01"/>
          <p:cNvSpPr txBox="1"/>
          <p:nvPr/>
        </p:nvSpPr>
        <p:spPr>
          <a:xfrm>
            <a:off x="1234440" y="2743200"/>
            <a:ext cx="3200400" cy="960120"/>
          </a:xfrm>
          <a:prstGeom prst="rect">
            <a:avLst/>
          </a:prstGeom>
        </p:spPr>
        <p:txBody>
          <a:bodyPr wrap="square" lIns="0" tIns="0" rIns="0" bIns="0" rtlCol="0" anchor="t"/>
          <a:lstStyle/>
          <a:p>
            <a:pPr algn="l">
              <a:lnSpc>
                <a:spcPts val="6600"/>
              </a:lnSpc>
            </a:pPr>
            <a:r>
              <a:rPr lang="vi-VN" sz="6000" b="1">
                <a:solidFill>
                  <a:srgbClr val="00897B"/>
                </a:solidFill>
                <a:latin typeface="Times New Roman" panose="02020603050405020304"/>
                <a:ea typeface="Times New Roman" panose="02020603050405020304"/>
                <a:cs typeface="Times New Roman" panose="02020603050405020304"/>
                <a:sym typeface="Times New Roman" panose="02020603050405020304"/>
              </a:rPr>
              <a:t>01</a:t>
            </a:r>
            <a:endParaRPr lang="vi-VN" sz="6000" b="1">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2" name="TOC part 01"/>
          <p:cNvSpPr txBox="1"/>
          <p:nvPr/>
        </p:nvSpPr>
        <p:spPr>
          <a:xfrm>
            <a:off x="1234440" y="3794760"/>
            <a:ext cx="3200400" cy="365760"/>
          </a:xfrm>
          <a:prstGeom prst="rect">
            <a:avLst/>
          </a:prstGeom>
        </p:spPr>
        <p:txBody>
          <a:bodyPr wrap="square" lIns="0" tIns="0" rIns="0" bIns="0" rtlCol="0" anchor="t"/>
          <a:lstStyle/>
          <a:p>
            <a:pPr algn="l">
              <a:lnSpc>
                <a:spcPts val="2200"/>
              </a:lnSpc>
            </a:pPr>
            <a:r>
              <a:rPr lang="vi-VN" sz="1800" b="1" spc="300">
                <a:solidFill>
                  <a:srgbClr val="5B6B82"/>
                </a:solidFill>
                <a:latin typeface="Times New Roman" panose="02020603050405020304"/>
                <a:ea typeface="Times New Roman" panose="02020603050405020304"/>
                <a:cs typeface="Times New Roman" panose="02020603050405020304"/>
                <a:sym typeface="Times New Roman" panose="02020603050405020304"/>
              </a:rPr>
              <a:t>PHẦN 1</a:t>
            </a:r>
            <a:endParaRPr lang="vi-VN" sz="1800" b="1" spc="3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3" name="TOC title 01"/>
          <p:cNvSpPr txBox="1"/>
          <p:nvPr/>
        </p:nvSpPr>
        <p:spPr>
          <a:xfrm>
            <a:off x="1234440" y="4251960"/>
            <a:ext cx="3200400" cy="1554480"/>
          </a:xfrm>
          <a:prstGeom prst="rect">
            <a:avLst/>
          </a:prstGeom>
        </p:spPr>
        <p:txBody>
          <a:bodyPr wrap="square" lIns="0" tIns="0" rIns="0" bIns="0" rtlCol="0" anchor="t"/>
          <a:lstStyle/>
          <a:p>
            <a:pPr algn="l">
              <a:lnSpc>
                <a:spcPts val="3500"/>
              </a:lnSpc>
            </a:pPr>
            <a:r>
              <a:rPr lang="vi-VN" sz="3000" b="1">
                <a:solidFill>
                  <a:srgbClr val="14213D"/>
                </a:solidFill>
                <a:latin typeface="Times New Roman" panose="02020603050405020304"/>
                <a:ea typeface="Times New Roman" panose="02020603050405020304"/>
                <a:cs typeface="Times New Roman" panose="02020603050405020304"/>
                <a:sym typeface="Times New Roman" panose="02020603050405020304"/>
              </a:rPr>
              <a:t>Vấn đề gốc: bài toán đường truyền mạng</a:t>
            </a:r>
            <a:endParaRPr lang="vi-VN" sz="3000" b="1">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4" name="TOC items 01"/>
          <p:cNvSpPr txBox="1"/>
          <p:nvPr/>
        </p:nvSpPr>
        <p:spPr>
          <a:xfrm>
            <a:off x="1234440" y="5943600"/>
            <a:ext cx="3291840" cy="2286000"/>
          </a:xfrm>
          <a:prstGeom prst="rect">
            <a:avLst/>
          </a:prstGeom>
        </p:spPr>
        <p:txBody>
          <a:bodyPr wrap="square" lIns="0" tIns="0" rIns="0" bIns="0" rtlCol="0" anchor="t"/>
          <a:lstStyle/>
          <a:p>
            <a:pPr marL="311150" indent="-311150" algn="l">
              <a:lnSpc>
                <a:spcPts val="2500"/>
              </a:lnSpc>
              <a:spcBef>
                <a:spcPts val="300"/>
              </a:spcBef>
            </a:pPr>
            <a:r>
              <a:rPr lang="vi-VN" sz="2000" b="1">
                <a:solidFill>
                  <a:srgbClr val="00897B"/>
                </a:solidFill>
                <a:latin typeface="Times New Roman" panose="02020603050405020304"/>
                <a:ea typeface="Times New Roman" panose="02020603050405020304"/>
                <a:cs typeface="Times New Roman" panose="02020603050405020304"/>
                <a:sym typeface="Times New Roman" panose="02020603050405020304"/>
              </a:rPr>
              <a:t>a.	</a:t>
            </a:r>
            <a:r>
              <a:rPr lang="vi-VN"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Bài toán</a:t>
            </a:r>
            <a:endParaRPr lang="vi-VN"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a:p>
            <a:pPr marL="311150" indent="-311150" algn="l">
              <a:lnSpc>
                <a:spcPts val="2500"/>
              </a:lnSpc>
              <a:spcBef>
                <a:spcPts val="300"/>
              </a:spcBef>
            </a:pPr>
            <a:r>
              <a:rPr lang="vi-VN" sz="2000" b="1">
                <a:solidFill>
                  <a:srgbClr val="00897B"/>
                </a:solidFill>
                <a:latin typeface="Times New Roman" panose="02020603050405020304"/>
                <a:ea typeface="Times New Roman" panose="02020603050405020304"/>
                <a:cs typeface="Times New Roman" panose="02020603050405020304"/>
                <a:sym typeface="Times New Roman" panose="02020603050405020304"/>
              </a:rPr>
              <a:t>b.	</a:t>
            </a:r>
            <a:r>
              <a:rPr lang="vi-VN"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Hai yêu cầu mâu thuẫn</a:t>
            </a:r>
            <a:endParaRPr lang="vi-VN"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a:p>
            <a:pPr marL="311150" indent="-311150" algn="l">
              <a:lnSpc>
                <a:spcPts val="2500"/>
              </a:lnSpc>
              <a:spcBef>
                <a:spcPts val="300"/>
              </a:spcBef>
            </a:pPr>
            <a:r>
              <a:rPr lang="vi-VN" sz="2000" b="1">
                <a:solidFill>
                  <a:srgbClr val="00897B"/>
                </a:solidFill>
                <a:latin typeface="Times New Roman" panose="02020603050405020304"/>
                <a:ea typeface="Times New Roman" panose="02020603050405020304"/>
                <a:cs typeface="Times New Roman" panose="02020603050405020304"/>
                <a:sym typeface="Times New Roman" panose="02020603050405020304"/>
              </a:rPr>
              <a:t>c.	</a:t>
            </a:r>
            <a:r>
              <a:rPr lang="vi-VN"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Mạng không hoàn hảo</a:t>
            </a:r>
            <a:endParaRPr lang="vi-VN"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a:p>
            <a:pPr marL="311150" indent="-311150" algn="l">
              <a:lnSpc>
                <a:spcPts val="2500"/>
              </a:lnSpc>
              <a:spcBef>
                <a:spcPts val="300"/>
              </a:spcBef>
            </a:pPr>
            <a:r>
              <a:rPr lang="vi-VN" sz="2000" b="1">
                <a:solidFill>
                  <a:srgbClr val="00897B"/>
                </a:solidFill>
                <a:latin typeface="Times New Roman" panose="02020603050405020304"/>
                <a:ea typeface="Times New Roman" panose="02020603050405020304"/>
                <a:cs typeface="Times New Roman" panose="02020603050405020304"/>
                <a:sym typeface="Times New Roman" panose="02020603050405020304"/>
              </a:rPr>
              <a:t>d.	</a:t>
            </a:r>
            <a:r>
              <a:rPr lang="vi-VN"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TCP hay UDP?</a:t>
            </a:r>
            <a:endParaRPr lang="vi-VN"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5" name="TOC pill 01 #1"/>
          <p:cNvSpPr/>
          <p:nvPr/>
        </p:nvSpPr>
        <p:spPr>
          <a:xfrm>
            <a:off x="1234440" y="8275320"/>
            <a:ext cx="731520" cy="548640"/>
          </a:xfrm>
          <a:prstGeom prst="roundRect">
            <a:avLst>
              <a:gd name="adj" fmla="val 50000"/>
            </a:avLst>
          </a:prstGeom>
          <a:solidFill>
            <a:srgbClr val="00897B"/>
          </a:solidFill>
          <a:ln>
            <a:noFill/>
          </a:ln>
        </p:spPr>
        <p:txBody>
          <a:bodyPr lIns="0" tIns="0" rIns="0" bIns="0" rtlCol="0" anchor="ctr"/>
          <a:lstStyle/>
          <a:p>
            <a:pPr algn="ctr"/>
            <a:r>
              <a:rPr lang="vi-VN" sz="1800" b="1">
                <a:solidFill>
                  <a:srgbClr val="FFFFFF"/>
                </a:solidFill>
                <a:latin typeface="Times New Roman" panose="02020603050405020304"/>
                <a:ea typeface="Times New Roman" panose="02020603050405020304"/>
                <a:cs typeface="Times New Roman" panose="02020603050405020304"/>
                <a:sym typeface="Times New Roman" panose="02020603050405020304"/>
              </a:rPr>
              <a:t>#1</a:t>
            </a:r>
            <a:endParaRPr lang="vi-VN" sz="18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6" name="TOC card 02"/>
          <p:cNvSpPr/>
          <p:nvPr/>
        </p:nvSpPr>
        <p:spPr>
          <a:xfrm>
            <a:off x="5120640" y="2468880"/>
            <a:ext cx="3840480" cy="6675120"/>
          </a:xfrm>
          <a:prstGeom prst="roundRect">
            <a:avLst>
              <a:gd name="adj" fmla="val 6000"/>
            </a:avLst>
          </a:prstGeom>
          <a:solidFill>
            <a:srgbClr val="EEF3F8"/>
          </a:solidFill>
          <a:ln>
            <a:noFill/>
          </a:ln>
        </p:spPr>
        <p:txBody>
          <a:bodyPr lIns="0" tIns="0" rIns="0" bIns="0" rtlCol="0" anchor="ctr"/>
          <a:lstStyle/>
          <a:p>
            <a:endParaRPr lang="vi-VN"/>
          </a:p>
        </p:txBody>
      </p:sp>
      <p:sp>
        <p:nvSpPr>
          <p:cNvPr id="207" name="TOC num 02"/>
          <p:cNvSpPr txBox="1"/>
          <p:nvPr/>
        </p:nvSpPr>
        <p:spPr>
          <a:xfrm>
            <a:off x="5440680" y="2743200"/>
            <a:ext cx="3200400" cy="960120"/>
          </a:xfrm>
          <a:prstGeom prst="rect">
            <a:avLst/>
          </a:prstGeom>
        </p:spPr>
        <p:txBody>
          <a:bodyPr wrap="square" lIns="0" tIns="0" rIns="0" bIns="0" rtlCol="0" anchor="t"/>
          <a:lstStyle/>
          <a:p>
            <a:pPr algn="l">
              <a:lnSpc>
                <a:spcPts val="6600"/>
              </a:lnSpc>
            </a:pPr>
            <a:r>
              <a:rPr lang="vi-VN" sz="6000" b="1">
                <a:solidFill>
                  <a:srgbClr val="00897B"/>
                </a:solidFill>
                <a:latin typeface="Times New Roman" panose="02020603050405020304"/>
                <a:ea typeface="Times New Roman" panose="02020603050405020304"/>
                <a:cs typeface="Times New Roman" panose="02020603050405020304"/>
                <a:sym typeface="Times New Roman" panose="02020603050405020304"/>
              </a:rPr>
              <a:t>02</a:t>
            </a:r>
            <a:endParaRPr lang="vi-VN" sz="6000" b="1">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8" name="TOC part 02"/>
          <p:cNvSpPr txBox="1"/>
          <p:nvPr/>
        </p:nvSpPr>
        <p:spPr>
          <a:xfrm>
            <a:off x="5440680" y="3794760"/>
            <a:ext cx="3200400" cy="365760"/>
          </a:xfrm>
          <a:prstGeom prst="rect">
            <a:avLst/>
          </a:prstGeom>
        </p:spPr>
        <p:txBody>
          <a:bodyPr wrap="square" lIns="0" tIns="0" rIns="0" bIns="0" rtlCol="0" anchor="t"/>
          <a:lstStyle/>
          <a:p>
            <a:pPr algn="l">
              <a:lnSpc>
                <a:spcPts val="2200"/>
              </a:lnSpc>
            </a:pPr>
            <a:r>
              <a:rPr lang="vi-VN" sz="1800" b="1" spc="300">
                <a:solidFill>
                  <a:srgbClr val="5B6B82"/>
                </a:solidFill>
                <a:latin typeface="Times New Roman" panose="02020603050405020304"/>
                <a:ea typeface="Times New Roman" panose="02020603050405020304"/>
                <a:cs typeface="Times New Roman" panose="02020603050405020304"/>
                <a:sym typeface="Times New Roman" panose="02020603050405020304"/>
              </a:rPr>
              <a:t>PHẦN 2</a:t>
            </a:r>
            <a:endParaRPr lang="vi-VN" sz="1800" b="1" spc="3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9" name="TOC title 02"/>
          <p:cNvSpPr txBox="1"/>
          <p:nvPr/>
        </p:nvSpPr>
        <p:spPr>
          <a:xfrm>
            <a:off x="5440680" y="4251960"/>
            <a:ext cx="3200400" cy="1554480"/>
          </a:xfrm>
          <a:prstGeom prst="rect">
            <a:avLst/>
          </a:prstGeom>
        </p:spPr>
        <p:txBody>
          <a:bodyPr wrap="square" lIns="0" tIns="0" rIns="0" bIns="0" rtlCol="0" anchor="t"/>
          <a:lstStyle/>
          <a:p>
            <a:pPr algn="l">
              <a:lnSpc>
                <a:spcPts val="3500"/>
              </a:lnSpc>
            </a:pPr>
            <a:r>
              <a:rPr lang="vi-VN" sz="3000" b="1">
                <a:solidFill>
                  <a:srgbClr val="14213D"/>
                </a:solidFill>
                <a:latin typeface="Times New Roman" panose="02020603050405020304"/>
                <a:ea typeface="Times New Roman" panose="02020603050405020304"/>
                <a:cs typeface="Times New Roman" panose="02020603050405020304"/>
                <a:sym typeface="Times New Roman" panose="02020603050405020304"/>
              </a:rPr>
              <a:t>Các vấn đề con và giải pháp</a:t>
            </a:r>
            <a:endParaRPr lang="vi-VN" sz="3000" b="1">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0" name="TOC items 02"/>
          <p:cNvSpPr txBox="1"/>
          <p:nvPr/>
        </p:nvSpPr>
        <p:spPr>
          <a:xfrm>
            <a:off x="5440680" y="5943600"/>
            <a:ext cx="3514725" cy="2286000"/>
          </a:xfrm>
          <a:prstGeom prst="rect">
            <a:avLst/>
          </a:prstGeom>
        </p:spPr>
        <p:txBody>
          <a:bodyPr wrap="square" lIns="0" tIns="0" rIns="0" bIns="0" rtlCol="0" anchor="t"/>
          <a:lstStyle/>
          <a:p>
            <a:pPr marL="311150" indent="-311150" algn="l">
              <a:lnSpc>
                <a:spcPts val="2500"/>
              </a:lnSpc>
              <a:spcBef>
                <a:spcPts val="300"/>
              </a:spcBef>
            </a:pPr>
            <a:r>
              <a:rPr lang="vi-VN" sz="2000" b="1">
                <a:solidFill>
                  <a:srgbClr val="00897B"/>
                </a:solidFill>
                <a:latin typeface="Times New Roman" panose="02020603050405020304"/>
                <a:ea typeface="Times New Roman" panose="02020603050405020304"/>
                <a:cs typeface="Times New Roman" panose="02020603050405020304"/>
                <a:sym typeface="Times New Roman" panose="02020603050405020304"/>
              </a:rPr>
              <a:t>a.	</a:t>
            </a:r>
            <a:r>
              <a:rPr lang="vi-VN"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VĐ1 Ai giữ quyền quyết định</a:t>
            </a:r>
            <a:endParaRPr lang="vi-VN"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a:p>
            <a:pPr marL="311150" indent="-311150" algn="l">
              <a:lnSpc>
                <a:spcPts val="2500"/>
              </a:lnSpc>
              <a:spcBef>
                <a:spcPts val="300"/>
              </a:spcBef>
            </a:pPr>
            <a:r>
              <a:rPr lang="vi-VN" sz="2000" b="1">
                <a:solidFill>
                  <a:srgbClr val="00897B"/>
                </a:solidFill>
                <a:latin typeface="Times New Roman" panose="02020603050405020304"/>
                <a:ea typeface="Times New Roman" panose="02020603050405020304"/>
                <a:cs typeface="Times New Roman" panose="02020603050405020304"/>
                <a:sym typeface="Times New Roman" panose="02020603050405020304"/>
              </a:rPr>
              <a:t>b.	</a:t>
            </a:r>
            <a:r>
              <a:rPr lang="vi-VN"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VĐ2 Điều khiển bị ì</a:t>
            </a:r>
            <a:endParaRPr lang="vi-VN"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a:p>
            <a:pPr marL="311150" indent="-311150" algn="l">
              <a:lnSpc>
                <a:spcPts val="2500"/>
              </a:lnSpc>
              <a:spcBef>
                <a:spcPts val="300"/>
              </a:spcBef>
            </a:pPr>
            <a:r>
              <a:rPr lang="vi-VN" sz="2000" b="1">
                <a:solidFill>
                  <a:srgbClr val="00897B"/>
                </a:solidFill>
                <a:latin typeface="Times New Roman" panose="02020603050405020304"/>
                <a:ea typeface="Times New Roman" panose="02020603050405020304"/>
                <a:cs typeface="Times New Roman" panose="02020603050405020304"/>
                <a:sym typeface="Times New Roman" panose="02020603050405020304"/>
              </a:rPr>
              <a:t>c.	</a:t>
            </a:r>
            <a:r>
              <a:rPr lang="vi-VN"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VĐ3 Đối thủ giật</a:t>
            </a:r>
            <a:endParaRPr lang="vi-VN"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a:p>
            <a:pPr marL="311150" indent="-311150" algn="l">
              <a:lnSpc>
                <a:spcPts val="2500"/>
              </a:lnSpc>
              <a:spcBef>
                <a:spcPts val="300"/>
              </a:spcBef>
            </a:pPr>
            <a:r>
              <a:rPr lang="vi-VN" sz="2000" b="1">
                <a:solidFill>
                  <a:srgbClr val="00897B"/>
                </a:solidFill>
                <a:latin typeface="Times New Roman" panose="02020603050405020304"/>
                <a:ea typeface="Times New Roman" panose="02020603050405020304"/>
                <a:cs typeface="Times New Roman" panose="02020603050405020304"/>
                <a:sym typeface="Times New Roman" panose="02020603050405020304"/>
              </a:rPr>
              <a:t>d.	</a:t>
            </a:r>
            <a:r>
              <a:rPr lang="vi-VN"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VĐ4 Không công bằng</a:t>
            </a:r>
            <a:endParaRPr lang="vi-VN"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a:p>
            <a:pPr marL="311150" indent="-311150" algn="l">
              <a:lnSpc>
                <a:spcPts val="2500"/>
              </a:lnSpc>
              <a:spcBef>
                <a:spcPts val="300"/>
              </a:spcBef>
            </a:pPr>
            <a:r>
              <a:rPr lang="vi-VN" sz="2000" b="1">
                <a:solidFill>
                  <a:srgbClr val="00897B"/>
                </a:solidFill>
                <a:latin typeface="Times New Roman" panose="02020603050405020304"/>
                <a:ea typeface="Times New Roman" panose="02020603050405020304"/>
                <a:cs typeface="Times New Roman" panose="02020603050405020304"/>
                <a:sym typeface="Times New Roman" panose="02020603050405020304"/>
              </a:rPr>
              <a:t>e.	</a:t>
            </a:r>
            <a:r>
              <a:rPr lang="vi-VN"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VĐ5 Dự đoán hành động sai</a:t>
            </a:r>
            <a:endParaRPr lang="vi-VN"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a:p>
            <a:pPr marL="311150" indent="-311150" algn="l">
              <a:lnSpc>
                <a:spcPts val="2500"/>
              </a:lnSpc>
              <a:spcBef>
                <a:spcPts val="300"/>
              </a:spcBef>
            </a:pPr>
            <a:r>
              <a:rPr lang="vi-VN" sz="2000" b="1">
                <a:solidFill>
                  <a:srgbClr val="00897B"/>
                </a:solidFill>
                <a:latin typeface="Times New Roman" panose="02020603050405020304"/>
                <a:ea typeface="Times New Roman" panose="02020603050405020304"/>
                <a:cs typeface="Times New Roman" panose="02020603050405020304"/>
                <a:sym typeface="Times New Roman" panose="02020603050405020304"/>
              </a:rPr>
              <a:t>f.	</a:t>
            </a:r>
            <a:r>
              <a:rPr lang="vi-VN"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Tổng kết phần 2</a:t>
            </a:r>
            <a:endParaRPr lang="vi-VN"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1" name="TOC pill 02 #1"/>
          <p:cNvSpPr/>
          <p:nvPr/>
        </p:nvSpPr>
        <p:spPr>
          <a:xfrm>
            <a:off x="5440680" y="8275320"/>
            <a:ext cx="731520" cy="548640"/>
          </a:xfrm>
          <a:prstGeom prst="roundRect">
            <a:avLst>
              <a:gd name="adj" fmla="val 50000"/>
            </a:avLst>
          </a:prstGeom>
          <a:solidFill>
            <a:srgbClr val="00897B"/>
          </a:solidFill>
          <a:ln>
            <a:noFill/>
          </a:ln>
        </p:spPr>
        <p:txBody>
          <a:bodyPr lIns="0" tIns="0" rIns="0" bIns="0" rtlCol="0" anchor="ctr"/>
          <a:lstStyle/>
          <a:p>
            <a:pPr algn="ctr"/>
            <a:r>
              <a:rPr lang="vi-VN" sz="1800" b="1">
                <a:solidFill>
                  <a:srgbClr val="FFFFFF"/>
                </a:solidFill>
                <a:latin typeface="Times New Roman" panose="02020603050405020304"/>
                <a:ea typeface="Times New Roman" panose="02020603050405020304"/>
                <a:cs typeface="Times New Roman" panose="02020603050405020304"/>
                <a:sym typeface="Times New Roman" panose="02020603050405020304"/>
              </a:rPr>
              <a:t>#1</a:t>
            </a:r>
            <a:endParaRPr lang="vi-VN" sz="18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2" name="TOC pill 02 #2"/>
          <p:cNvSpPr/>
          <p:nvPr/>
        </p:nvSpPr>
        <p:spPr>
          <a:xfrm>
            <a:off x="6309360" y="8275320"/>
            <a:ext cx="731520" cy="548640"/>
          </a:xfrm>
          <a:prstGeom prst="roundRect">
            <a:avLst>
              <a:gd name="adj" fmla="val 50000"/>
            </a:avLst>
          </a:prstGeom>
          <a:solidFill>
            <a:srgbClr val="6C5CE7"/>
          </a:solidFill>
          <a:ln>
            <a:noFill/>
          </a:ln>
        </p:spPr>
        <p:txBody>
          <a:bodyPr lIns="0" tIns="0" rIns="0" bIns="0" rtlCol="0" anchor="ctr"/>
          <a:lstStyle/>
          <a:p>
            <a:pPr algn="ctr"/>
            <a:r>
              <a:rPr lang="vi-VN" sz="1800" b="1">
                <a:solidFill>
                  <a:srgbClr val="FFFFFF"/>
                </a:solidFill>
                <a:latin typeface="Times New Roman" panose="02020603050405020304"/>
                <a:ea typeface="Times New Roman" panose="02020603050405020304"/>
                <a:cs typeface="Times New Roman" panose="02020603050405020304"/>
                <a:sym typeface="Times New Roman" panose="02020603050405020304"/>
              </a:rPr>
              <a:t>#2</a:t>
            </a:r>
            <a:endParaRPr lang="vi-VN" sz="18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3" name="TOC pill 02 #3"/>
          <p:cNvSpPr/>
          <p:nvPr/>
        </p:nvSpPr>
        <p:spPr>
          <a:xfrm>
            <a:off x="7178040" y="8275320"/>
            <a:ext cx="731520" cy="548640"/>
          </a:xfrm>
          <a:prstGeom prst="roundRect">
            <a:avLst>
              <a:gd name="adj" fmla="val 50000"/>
            </a:avLst>
          </a:prstGeom>
          <a:solidFill>
            <a:srgbClr val="F4A259"/>
          </a:solidFill>
          <a:ln>
            <a:noFill/>
          </a:ln>
        </p:spPr>
        <p:txBody>
          <a:bodyPr lIns="0" tIns="0" rIns="0" bIns="0" rtlCol="0" anchor="ctr"/>
          <a:lstStyle/>
          <a:p>
            <a:pPr algn="ctr"/>
            <a:r>
              <a:rPr lang="vi-VN" sz="1800" b="1">
                <a:solidFill>
                  <a:srgbClr val="FFFFFF"/>
                </a:solidFill>
                <a:latin typeface="Times New Roman" panose="02020603050405020304"/>
                <a:ea typeface="Times New Roman" panose="02020603050405020304"/>
                <a:cs typeface="Times New Roman" panose="02020603050405020304"/>
                <a:sym typeface="Times New Roman" panose="02020603050405020304"/>
              </a:rPr>
              <a:t>#3</a:t>
            </a:r>
            <a:endParaRPr lang="vi-VN" sz="18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4" name="TOC card 03"/>
          <p:cNvSpPr/>
          <p:nvPr/>
        </p:nvSpPr>
        <p:spPr>
          <a:xfrm>
            <a:off x="9326880" y="2468880"/>
            <a:ext cx="3840480" cy="6675120"/>
          </a:xfrm>
          <a:prstGeom prst="roundRect">
            <a:avLst>
              <a:gd name="adj" fmla="val 6000"/>
            </a:avLst>
          </a:prstGeom>
          <a:solidFill>
            <a:srgbClr val="EEF3F8"/>
          </a:solidFill>
          <a:ln>
            <a:noFill/>
          </a:ln>
        </p:spPr>
        <p:txBody>
          <a:bodyPr lIns="0" tIns="0" rIns="0" bIns="0" rtlCol="0" anchor="ctr"/>
          <a:lstStyle/>
          <a:p>
            <a:endParaRPr lang="vi-VN"/>
          </a:p>
        </p:txBody>
      </p:sp>
      <p:sp>
        <p:nvSpPr>
          <p:cNvPr id="215" name="TOC num 03"/>
          <p:cNvSpPr txBox="1"/>
          <p:nvPr/>
        </p:nvSpPr>
        <p:spPr>
          <a:xfrm>
            <a:off x="9646920" y="2743200"/>
            <a:ext cx="3200400" cy="960120"/>
          </a:xfrm>
          <a:prstGeom prst="rect">
            <a:avLst/>
          </a:prstGeom>
        </p:spPr>
        <p:txBody>
          <a:bodyPr wrap="square" lIns="0" tIns="0" rIns="0" bIns="0" rtlCol="0" anchor="t"/>
          <a:lstStyle/>
          <a:p>
            <a:pPr algn="l">
              <a:lnSpc>
                <a:spcPts val="6600"/>
              </a:lnSpc>
            </a:pPr>
            <a:r>
              <a:rPr lang="vi-VN" sz="6000" b="1">
                <a:solidFill>
                  <a:srgbClr val="00897B"/>
                </a:solidFill>
                <a:latin typeface="Times New Roman" panose="02020603050405020304"/>
                <a:ea typeface="Times New Roman" panose="02020603050405020304"/>
                <a:cs typeface="Times New Roman" panose="02020603050405020304"/>
                <a:sym typeface="Times New Roman" panose="02020603050405020304"/>
              </a:rPr>
              <a:t>03</a:t>
            </a:r>
            <a:endParaRPr lang="vi-VN" sz="6000" b="1">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6" name="TOC part 03"/>
          <p:cNvSpPr txBox="1"/>
          <p:nvPr/>
        </p:nvSpPr>
        <p:spPr>
          <a:xfrm>
            <a:off x="9646920" y="3794760"/>
            <a:ext cx="3200400" cy="365760"/>
          </a:xfrm>
          <a:prstGeom prst="rect">
            <a:avLst/>
          </a:prstGeom>
        </p:spPr>
        <p:txBody>
          <a:bodyPr wrap="square" lIns="0" tIns="0" rIns="0" bIns="0" rtlCol="0" anchor="t"/>
          <a:lstStyle/>
          <a:p>
            <a:pPr algn="l">
              <a:lnSpc>
                <a:spcPts val="2200"/>
              </a:lnSpc>
            </a:pPr>
            <a:r>
              <a:rPr lang="vi-VN" sz="1800" b="1" spc="300">
                <a:solidFill>
                  <a:srgbClr val="5B6B82"/>
                </a:solidFill>
                <a:latin typeface="Times New Roman" panose="02020603050405020304"/>
                <a:ea typeface="Times New Roman" panose="02020603050405020304"/>
                <a:cs typeface="Times New Roman" panose="02020603050405020304"/>
                <a:sym typeface="Times New Roman" panose="02020603050405020304"/>
              </a:rPr>
              <a:t>PHẦN 3</a:t>
            </a:r>
            <a:endParaRPr lang="vi-VN" sz="1800" b="1" spc="3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7" name="TOC title 03"/>
          <p:cNvSpPr txBox="1"/>
          <p:nvPr/>
        </p:nvSpPr>
        <p:spPr>
          <a:xfrm>
            <a:off x="9646920" y="4251960"/>
            <a:ext cx="3200400" cy="1554480"/>
          </a:xfrm>
          <a:prstGeom prst="rect">
            <a:avLst/>
          </a:prstGeom>
        </p:spPr>
        <p:txBody>
          <a:bodyPr wrap="square" lIns="0" tIns="0" rIns="0" bIns="0" rtlCol="0" anchor="t"/>
          <a:lstStyle/>
          <a:p>
            <a:pPr algn="l">
              <a:lnSpc>
                <a:spcPts val="3500"/>
              </a:lnSpc>
            </a:pPr>
            <a:r>
              <a:rPr lang="vi-VN" sz="3000" b="1">
                <a:solidFill>
                  <a:srgbClr val="14213D"/>
                </a:solidFill>
                <a:latin typeface="Times New Roman" panose="02020603050405020304"/>
                <a:ea typeface="Times New Roman" panose="02020603050405020304"/>
                <a:cs typeface="Times New Roman" panose="02020603050405020304"/>
                <a:sym typeface="Times New Roman" panose="02020603050405020304"/>
              </a:rPr>
              <a:t>Áp dụng và demo</a:t>
            </a:r>
            <a:endParaRPr lang="vi-VN" sz="3000" b="1">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8" name="TOC items 03"/>
          <p:cNvSpPr txBox="1"/>
          <p:nvPr/>
        </p:nvSpPr>
        <p:spPr>
          <a:xfrm>
            <a:off x="9646920" y="5943600"/>
            <a:ext cx="3291840" cy="2286000"/>
          </a:xfrm>
          <a:prstGeom prst="rect">
            <a:avLst/>
          </a:prstGeom>
        </p:spPr>
        <p:txBody>
          <a:bodyPr wrap="square" lIns="0" tIns="0" rIns="0" bIns="0" rtlCol="0" anchor="t"/>
          <a:lstStyle/>
          <a:p>
            <a:pPr marL="311150" indent="-311150" algn="l">
              <a:lnSpc>
                <a:spcPts val="2500"/>
              </a:lnSpc>
              <a:spcBef>
                <a:spcPts val="300"/>
              </a:spcBef>
            </a:pPr>
            <a:r>
              <a:rPr lang="vi-VN" sz="2000" b="1">
                <a:solidFill>
                  <a:srgbClr val="00897B"/>
                </a:solidFill>
                <a:latin typeface="Times New Roman" panose="02020603050405020304"/>
                <a:ea typeface="Times New Roman" panose="02020603050405020304"/>
                <a:cs typeface="Times New Roman" panose="02020603050405020304"/>
                <a:sym typeface="Times New Roman" panose="02020603050405020304"/>
              </a:rPr>
              <a:t>a.	</a:t>
            </a:r>
            <a:r>
              <a:rPr lang="vi-VN"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Game xếp đơn hàng siêu thị</a:t>
            </a:r>
            <a:endParaRPr lang="vi-VN"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a:p>
            <a:pPr marL="311150" indent="-311150" algn="l">
              <a:lnSpc>
                <a:spcPts val="2500"/>
              </a:lnSpc>
              <a:spcBef>
                <a:spcPts val="300"/>
              </a:spcBef>
            </a:pPr>
            <a:r>
              <a:rPr lang="vi-VN" sz="2000" b="1">
                <a:solidFill>
                  <a:srgbClr val="00897B"/>
                </a:solidFill>
                <a:latin typeface="Times New Roman" panose="02020603050405020304"/>
                <a:ea typeface="Times New Roman" panose="02020603050405020304"/>
                <a:cs typeface="Times New Roman" panose="02020603050405020304"/>
                <a:sym typeface="Times New Roman" panose="02020603050405020304"/>
              </a:rPr>
              <a:t>b.	</a:t>
            </a:r>
            <a:r>
              <a:rPr lang="vi-VN"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Demo 3 khung nhìn</a:t>
            </a:r>
            <a:endParaRPr lang="vi-VN"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9" name="TOC pill 03 #3"/>
          <p:cNvSpPr/>
          <p:nvPr/>
        </p:nvSpPr>
        <p:spPr>
          <a:xfrm>
            <a:off x="9646920" y="8275320"/>
            <a:ext cx="731520" cy="548640"/>
          </a:xfrm>
          <a:prstGeom prst="roundRect">
            <a:avLst>
              <a:gd name="adj" fmla="val 50000"/>
            </a:avLst>
          </a:prstGeom>
          <a:solidFill>
            <a:srgbClr val="F4A259"/>
          </a:solidFill>
          <a:ln>
            <a:noFill/>
          </a:ln>
        </p:spPr>
        <p:txBody>
          <a:bodyPr lIns="0" tIns="0" rIns="0" bIns="0" rtlCol="0" anchor="ctr"/>
          <a:lstStyle/>
          <a:p>
            <a:pPr algn="ctr"/>
            <a:r>
              <a:rPr lang="vi-VN" sz="1800" b="1">
                <a:solidFill>
                  <a:srgbClr val="FFFFFF"/>
                </a:solidFill>
                <a:latin typeface="Times New Roman" panose="02020603050405020304"/>
                <a:ea typeface="Times New Roman" panose="02020603050405020304"/>
                <a:cs typeface="Times New Roman" panose="02020603050405020304"/>
                <a:sym typeface="Times New Roman" panose="02020603050405020304"/>
              </a:rPr>
              <a:t>#3</a:t>
            </a:r>
            <a:endParaRPr lang="vi-VN" sz="18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0" name="TOC pill 03 #2"/>
          <p:cNvSpPr/>
          <p:nvPr/>
        </p:nvSpPr>
        <p:spPr>
          <a:xfrm>
            <a:off x="10515600" y="8275320"/>
            <a:ext cx="731520" cy="548640"/>
          </a:xfrm>
          <a:prstGeom prst="roundRect">
            <a:avLst>
              <a:gd name="adj" fmla="val 50000"/>
            </a:avLst>
          </a:prstGeom>
          <a:solidFill>
            <a:srgbClr val="6C5CE7"/>
          </a:solidFill>
          <a:ln>
            <a:noFill/>
          </a:ln>
        </p:spPr>
        <p:txBody>
          <a:bodyPr lIns="0" tIns="0" rIns="0" bIns="0" rtlCol="0" anchor="ctr"/>
          <a:lstStyle/>
          <a:p>
            <a:pPr algn="ctr"/>
            <a:r>
              <a:rPr lang="vi-VN" sz="1800" b="1">
                <a:solidFill>
                  <a:srgbClr val="FFFFFF"/>
                </a:solidFill>
                <a:latin typeface="Times New Roman" panose="02020603050405020304"/>
                <a:ea typeface="Times New Roman" panose="02020603050405020304"/>
                <a:cs typeface="Times New Roman" panose="02020603050405020304"/>
                <a:sym typeface="Times New Roman" panose="02020603050405020304"/>
              </a:rPr>
              <a:t>#2</a:t>
            </a:r>
            <a:endParaRPr lang="vi-VN" sz="18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1" name="TOC card 04"/>
          <p:cNvSpPr/>
          <p:nvPr/>
        </p:nvSpPr>
        <p:spPr>
          <a:xfrm>
            <a:off x="13533120" y="2468880"/>
            <a:ext cx="3840480" cy="6675120"/>
          </a:xfrm>
          <a:prstGeom prst="roundRect">
            <a:avLst>
              <a:gd name="adj" fmla="val 6000"/>
            </a:avLst>
          </a:prstGeom>
          <a:solidFill>
            <a:srgbClr val="EEF3F8"/>
          </a:solidFill>
          <a:ln>
            <a:noFill/>
          </a:ln>
        </p:spPr>
        <p:txBody>
          <a:bodyPr lIns="0" tIns="0" rIns="0" bIns="0" rtlCol="0" anchor="ctr"/>
          <a:lstStyle/>
          <a:p>
            <a:endParaRPr lang="vi-VN"/>
          </a:p>
        </p:txBody>
      </p:sp>
      <p:sp>
        <p:nvSpPr>
          <p:cNvPr id="222" name="TOC num 04"/>
          <p:cNvSpPr txBox="1"/>
          <p:nvPr/>
        </p:nvSpPr>
        <p:spPr>
          <a:xfrm>
            <a:off x="13853160" y="2743200"/>
            <a:ext cx="3200400" cy="960120"/>
          </a:xfrm>
          <a:prstGeom prst="rect">
            <a:avLst/>
          </a:prstGeom>
        </p:spPr>
        <p:txBody>
          <a:bodyPr wrap="square" lIns="0" tIns="0" rIns="0" bIns="0" rtlCol="0" anchor="t"/>
          <a:lstStyle/>
          <a:p>
            <a:pPr algn="l">
              <a:lnSpc>
                <a:spcPts val="6600"/>
              </a:lnSpc>
            </a:pPr>
            <a:r>
              <a:rPr lang="vi-VN" sz="6000" b="1">
                <a:solidFill>
                  <a:srgbClr val="00897B"/>
                </a:solidFill>
                <a:latin typeface="Times New Roman" panose="02020603050405020304"/>
                <a:ea typeface="Times New Roman" panose="02020603050405020304"/>
                <a:cs typeface="Times New Roman" panose="02020603050405020304"/>
                <a:sym typeface="Times New Roman" panose="02020603050405020304"/>
              </a:rPr>
              <a:t>04</a:t>
            </a:r>
            <a:endParaRPr lang="vi-VN" sz="6000" b="1">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3" name="TOC part 04"/>
          <p:cNvSpPr txBox="1"/>
          <p:nvPr/>
        </p:nvSpPr>
        <p:spPr>
          <a:xfrm>
            <a:off x="13853160" y="3794760"/>
            <a:ext cx="3200400" cy="365760"/>
          </a:xfrm>
          <a:prstGeom prst="rect">
            <a:avLst/>
          </a:prstGeom>
        </p:spPr>
        <p:txBody>
          <a:bodyPr wrap="square" lIns="0" tIns="0" rIns="0" bIns="0" rtlCol="0" anchor="t"/>
          <a:lstStyle/>
          <a:p>
            <a:pPr algn="l">
              <a:lnSpc>
                <a:spcPts val="2200"/>
              </a:lnSpc>
            </a:pPr>
            <a:r>
              <a:rPr lang="vi-VN" sz="1800" b="1" spc="300">
                <a:solidFill>
                  <a:srgbClr val="5B6B82"/>
                </a:solidFill>
                <a:latin typeface="Times New Roman" panose="02020603050405020304"/>
                <a:ea typeface="Times New Roman" panose="02020603050405020304"/>
                <a:cs typeface="Times New Roman" panose="02020603050405020304"/>
                <a:sym typeface="Times New Roman" panose="02020603050405020304"/>
              </a:rPr>
              <a:t>PHẦN 4</a:t>
            </a:r>
            <a:endParaRPr lang="vi-VN" sz="1800" b="1" spc="3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TOC title 04"/>
          <p:cNvSpPr txBox="1"/>
          <p:nvPr/>
        </p:nvSpPr>
        <p:spPr>
          <a:xfrm>
            <a:off x="13853160" y="4251960"/>
            <a:ext cx="3200400" cy="1554480"/>
          </a:xfrm>
          <a:prstGeom prst="rect">
            <a:avLst/>
          </a:prstGeom>
        </p:spPr>
        <p:txBody>
          <a:bodyPr wrap="square" lIns="0" tIns="0" rIns="0" bIns="0" rtlCol="0" anchor="t"/>
          <a:lstStyle/>
          <a:p>
            <a:pPr algn="l">
              <a:lnSpc>
                <a:spcPts val="3500"/>
              </a:lnSpc>
            </a:pPr>
            <a:r>
              <a:rPr lang="vi-VN" sz="3000" b="1">
                <a:solidFill>
                  <a:srgbClr val="14213D"/>
                </a:solidFill>
                <a:latin typeface="Times New Roman" panose="02020603050405020304"/>
                <a:ea typeface="Times New Roman" panose="02020603050405020304"/>
                <a:cs typeface="Times New Roman" panose="02020603050405020304"/>
                <a:sym typeface="Times New Roman" panose="02020603050405020304"/>
              </a:rPr>
              <a:t>Q&amp;A</a:t>
            </a:r>
            <a:endParaRPr lang="vi-VN" sz="3000" b="1">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5" name="TOC items 04"/>
          <p:cNvSpPr txBox="1"/>
          <p:nvPr/>
        </p:nvSpPr>
        <p:spPr>
          <a:xfrm>
            <a:off x="13853160" y="5943600"/>
            <a:ext cx="3291840" cy="2286000"/>
          </a:xfrm>
          <a:prstGeom prst="rect">
            <a:avLst/>
          </a:prstGeom>
        </p:spPr>
        <p:txBody>
          <a:bodyPr wrap="square" lIns="0" tIns="0" rIns="0" bIns="0" rtlCol="0" anchor="t"/>
          <a:lstStyle/>
          <a:p>
            <a:pPr marL="311150" indent="-311150" algn="l">
              <a:lnSpc>
                <a:spcPts val="2500"/>
              </a:lnSpc>
              <a:spcBef>
                <a:spcPts val="300"/>
              </a:spcBef>
            </a:pPr>
            <a:r>
              <a:rPr lang="vi-VN" sz="2000" b="1">
                <a:solidFill>
                  <a:srgbClr val="00897B"/>
                </a:solidFill>
                <a:latin typeface="Times New Roman" panose="02020603050405020304"/>
                <a:ea typeface="Times New Roman" panose="02020603050405020304"/>
                <a:cs typeface="Times New Roman" panose="02020603050405020304"/>
                <a:sym typeface="Times New Roman" panose="02020603050405020304"/>
              </a:rPr>
              <a:t>a.	</a:t>
            </a:r>
            <a:r>
              <a:rPr lang="vi-VN"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Hỏi &amp; đáp</a:t>
            </a:r>
            <a:endParaRPr lang="vi-VN"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a:p>
            <a:pPr marL="311150" indent="-311150" algn="l">
              <a:lnSpc>
                <a:spcPts val="2500"/>
              </a:lnSpc>
              <a:spcBef>
                <a:spcPts val="300"/>
              </a:spcBef>
            </a:pPr>
            <a:r>
              <a:rPr lang="vi-VN" sz="2000" b="1">
                <a:solidFill>
                  <a:srgbClr val="00897B"/>
                </a:solidFill>
                <a:latin typeface="Times New Roman" panose="02020603050405020304"/>
                <a:ea typeface="Times New Roman" panose="02020603050405020304"/>
                <a:cs typeface="Times New Roman" panose="02020603050405020304"/>
                <a:sym typeface="Times New Roman" panose="02020603050405020304"/>
              </a:rPr>
              <a:t>b.	</a:t>
            </a:r>
            <a:r>
              <a:rPr lang="vi-VN"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Slide dự phòng khi bị hỏi sâu</a:t>
            </a:r>
            <a:endParaRPr lang="vi-VN"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6" name="TOC pill 04 Cả nhóm"/>
          <p:cNvSpPr/>
          <p:nvPr/>
        </p:nvSpPr>
        <p:spPr>
          <a:xfrm>
            <a:off x="13853160" y="8275320"/>
            <a:ext cx="1463040" cy="548640"/>
          </a:xfrm>
          <a:prstGeom prst="roundRect">
            <a:avLst>
              <a:gd name="adj" fmla="val 50000"/>
            </a:avLst>
          </a:prstGeom>
          <a:solidFill>
            <a:srgbClr val="14213D"/>
          </a:solidFill>
          <a:ln>
            <a:noFill/>
          </a:ln>
        </p:spPr>
        <p:txBody>
          <a:bodyPr lIns="0" tIns="0" rIns="0" bIns="0" rtlCol="0" anchor="ctr"/>
          <a:lstStyle/>
          <a:p>
            <a:pPr algn="ctr"/>
            <a:r>
              <a:rPr lang="vi-VN" sz="1800" b="1">
                <a:solidFill>
                  <a:srgbClr val="FFFFFF"/>
                </a:solidFill>
                <a:latin typeface="Times New Roman" panose="02020603050405020304"/>
                <a:ea typeface="Times New Roman" panose="02020603050405020304"/>
                <a:cs typeface="Times New Roman" panose="02020603050405020304"/>
                <a:sym typeface="Times New Roman" panose="02020603050405020304"/>
              </a:rPr>
              <a:t>Cả nhóm</a:t>
            </a:r>
            <a:endParaRPr lang="vi-VN" sz="18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626"/>
        </a:solidFill>
        <a:effectLst/>
      </p:bgPr>
    </p:bg>
    <p:spTree>
      <p:nvGrpSpPr>
        <p:cNvPr id="1" name=""/>
        <p:cNvGrpSpPr/>
        <p:nvPr/>
      </p:nvGrpSpPr>
      <p:grpSpPr>
        <a:xfrm>
          <a:off x="0" y="0"/>
          <a:ext cx="0" cy="0"/>
          <a:chOff x="0" y="0"/>
          <a:chExt cx="0" cy="0"/>
        </a:xfrm>
      </p:grpSpPr>
      <p:sp>
        <p:nvSpPr>
          <p:cNvPr id="2" name="TextBox 2"/>
          <p:cNvSpPr txBox="1"/>
          <p:nvPr/>
        </p:nvSpPr>
        <p:spPr>
          <a:xfrm>
            <a:off x="1097280" y="2377440"/>
            <a:ext cx="10607040" cy="1234440"/>
          </a:xfrm>
          <a:prstGeom prst="rect">
            <a:avLst/>
          </a:prstGeom>
        </p:spPr>
        <p:txBody>
          <a:bodyPr lIns="0" tIns="0" rIns="0" bIns="0" rtlCol="0" anchor="t">
            <a:spAutoFit/>
          </a:bodyPr>
          <a:lstStyle/>
          <a:p>
            <a:pPr algn="l">
              <a:lnSpc>
                <a:spcPct val="90000"/>
              </a:lnSpc>
            </a:pPr>
            <a:r>
              <a:rPr lang="vi-VN" sz="9600" b="1" spc="200">
                <a:solidFill>
                  <a:srgbClr val="BFE8E3"/>
                </a:solidFill>
                <a:latin typeface="Times New Roman" panose="02020603050405020304"/>
                <a:ea typeface="Times New Roman" panose="02020603050405020304"/>
                <a:cs typeface="Times New Roman" panose="02020603050405020304"/>
                <a:sym typeface="Times New Roman" panose="02020603050405020304"/>
              </a:rPr>
              <a:t>PHẦN </a:t>
            </a:r>
            <a:r>
              <a:rPr lang="vi-VN" sz="9600" b="1" spc="200">
                <a:solidFill>
                  <a:srgbClr val="00897B"/>
                </a:solidFill>
                <a:latin typeface="Times New Roman" panose="02020603050405020304"/>
                <a:ea typeface="Times New Roman" panose="02020603050405020304"/>
                <a:cs typeface="Times New Roman" panose="02020603050405020304"/>
                <a:sym typeface="Times New Roman" panose="02020603050405020304"/>
              </a:rPr>
              <a:t>1</a:t>
            </a:r>
            <a:endParaRPr lang="vi-VN" sz="9600" b="1" spc="200">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TextBox 3"/>
          <p:cNvSpPr txBox="1"/>
          <p:nvPr/>
        </p:nvSpPr>
        <p:spPr>
          <a:xfrm>
            <a:off x="1097280" y="4160520"/>
            <a:ext cx="10607040" cy="2661285"/>
          </a:xfrm>
          <a:prstGeom prst="rect">
            <a:avLst/>
          </a:prstGeom>
        </p:spPr>
        <p:txBody>
          <a:bodyPr lIns="0" tIns="0" rIns="0" bIns="0" rtlCol="0" anchor="t">
            <a:spAutoFit/>
          </a:bodyPr>
          <a:lstStyle/>
          <a:p>
            <a:pPr algn="l">
              <a:lnSpc>
                <a:spcPts val="5760"/>
              </a:lnSpc>
            </a:pPr>
            <a:r>
              <a:rPr lang="en-US" sz="4800" b="1">
                <a:solidFill>
                  <a:srgbClr val="FFFFFF"/>
                </a:solidFill>
                <a:latin typeface="Times New Roman" panose="02020603050405020304"/>
                <a:ea typeface="Times New Roman" panose="02020603050405020304"/>
                <a:cs typeface="Times New Roman" panose="02020603050405020304"/>
                <a:sym typeface="Times New Roman" panose="02020603050405020304"/>
              </a:rPr>
              <a:t>Vấn đề gốc: bài toán đường truyền mạng</a:t>
            </a:r>
            <a:endParaRPr lang="en-US" sz="48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 name="TextBox 4"/>
          <p:cNvSpPr txBox="1"/>
          <p:nvPr/>
        </p:nvSpPr>
        <p:spPr>
          <a:xfrm>
            <a:off x="1097280" y="5943600"/>
            <a:ext cx="10607040" cy="1000125"/>
          </a:xfrm>
          <a:prstGeom prst="rect">
            <a:avLst/>
          </a:prstGeom>
        </p:spPr>
        <p:txBody>
          <a:bodyPr lIns="0" tIns="0" rIns="0" bIns="0" rtlCol="0" anchor="t">
            <a:spAutoFit/>
          </a:bodyPr>
          <a:lstStyle/>
          <a:p>
            <a:pPr algn="l">
              <a:lnSpc>
                <a:spcPts val="3840"/>
              </a:lnSpc>
            </a:pPr>
            <a:r>
              <a:rPr lang="en-US" sz="3200" b="1">
                <a:solidFill>
                  <a:srgbClr val="BFE8E3"/>
                </a:solidFill>
                <a:latin typeface="Times New Roman" panose="02020603050405020304"/>
                <a:ea typeface="Times New Roman" panose="02020603050405020304"/>
                <a:cs typeface="Times New Roman" panose="02020603050405020304"/>
                <a:sym typeface="Times New Roman" panose="02020603050405020304"/>
              </a:rPr>
              <a:t>Mạng luôn có độ trễ, dao động độ trễ và mất gói</a:t>
            </a:r>
            <a:endParaRPr lang="en-US" sz="3200" b="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 name="TextBox 5"/>
          <p:cNvSpPr txBox="1"/>
          <p:nvPr/>
        </p:nvSpPr>
        <p:spPr>
          <a:xfrm>
            <a:off x="1097280" y="6720840"/>
            <a:ext cx="10607040" cy="2251710"/>
          </a:xfrm>
          <a:prstGeom prst="rect">
            <a:avLst/>
          </a:prstGeom>
        </p:spPr>
        <p:txBody>
          <a:bodyPr lIns="0" tIns="0" rIns="0" bIns="0" rtlCol="0" anchor="t">
            <a:spAutoFit/>
          </a:bodyPr>
          <a:lstStyle/>
          <a:p>
            <a:pPr algn="l">
              <a:lnSpc>
                <a:spcPts val="2880"/>
              </a:lnSpc>
            </a:pPr>
            <a:r>
              <a:rPr lang="en-US" sz="2400">
                <a:solidFill>
                  <a:srgbClr val="FFFFFF"/>
                </a:solidFill>
                <a:latin typeface="Times New Roman" panose="02020603050405020304"/>
                <a:ea typeface="Times New Roman" panose="02020603050405020304"/>
                <a:cs typeface="Times New Roman" panose="02020603050405020304"/>
                <a:sym typeface="Times New Roman" panose="02020603050405020304"/>
              </a:rPr>
              <a:t>Bài toán · Hai yêu cầu mâu thuẫn · Mạng không hoàn hảo · TCP hay UDP?</a:t>
            </a:r>
            <a:br>
              <a:rPr lang="en-US" sz="2400">
                <a:solidFill>
                  <a:srgbClr val="FFFFFF"/>
                </a:solidFill>
                <a:latin typeface="Times New Roman" panose="02020603050405020304"/>
                <a:ea typeface="Times New Roman" panose="02020603050405020304"/>
                <a:cs typeface="Times New Roman" panose="02020603050405020304"/>
                <a:sym typeface="Times New Roman" panose="02020603050405020304"/>
              </a:rPr>
            </a:br>
            <a:r>
              <a:rPr lang="en-US" sz="2400">
                <a:solidFill>
                  <a:srgbClr val="FFFFFF"/>
                </a:solidFill>
                <a:latin typeface="Times New Roman" panose="02020603050405020304"/>
                <a:ea typeface="Times New Roman" panose="02020603050405020304"/>
                <a:cs typeface="Times New Roman" panose="02020603050405020304"/>
                <a:sym typeface="Times New Roman" panose="02020603050405020304"/>
              </a:rPr>
              <a:t>Trình bày: #1</a:t>
            </a:r>
            <a:endParaRPr lang="en-US" sz="2400">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 name="AutoShape 6"/>
          <p:cNvSpPr/>
          <p:nvPr/>
        </p:nvSpPr>
        <p:spPr>
          <a:xfrm rot="-3820860">
            <a:off x="11596345" y="4882515"/>
            <a:ext cx="4239301" cy="0"/>
          </a:xfrm>
          <a:prstGeom prst="line">
            <a:avLst/>
          </a:prstGeom>
          <a:ln w="19050" cap="rnd">
            <a:solidFill>
              <a:srgbClr val="BFE8E3"/>
            </a:solidFill>
            <a:prstDash val="solid"/>
            <a:headEnd type="none" w="sm" len="sm"/>
            <a:tailEnd type="none" w="sm" len="sm"/>
          </a:ln>
        </p:spPr>
      </p:sp>
      <p:sp>
        <p:nvSpPr>
          <p:cNvPr id="7" name="AutoShape 7"/>
          <p:cNvSpPr/>
          <p:nvPr/>
        </p:nvSpPr>
        <p:spPr>
          <a:xfrm rot="3820860">
            <a:off x="13425145" y="4882515"/>
            <a:ext cx="4239301" cy="0"/>
          </a:xfrm>
          <a:prstGeom prst="line">
            <a:avLst/>
          </a:prstGeom>
          <a:ln w="19050" cap="rnd">
            <a:solidFill>
              <a:srgbClr val="BFE8E3"/>
            </a:solidFill>
            <a:prstDash val="solid"/>
            <a:headEnd type="none" w="sm" len="sm"/>
            <a:tailEnd type="none" w="sm" len="sm"/>
          </a:ln>
        </p:spPr>
      </p:sp>
      <p:grpSp>
        <p:nvGrpSpPr>
          <p:cNvPr id="8" name="Group 8"/>
          <p:cNvGrpSpPr/>
          <p:nvPr/>
        </p:nvGrpSpPr>
        <p:grpSpPr>
          <a:xfrm rot="0">
            <a:off x="13282679" y="5295395"/>
            <a:ext cx="318011" cy="318011"/>
            <a:chOff x="0" y="0"/>
            <a:chExt cx="424015" cy="424015"/>
          </a:xfrm>
        </p:grpSpPr>
        <p:sp>
          <p:nvSpPr>
            <p:cNvPr id="9" name="Freeform 9"/>
            <p:cNvSpPr/>
            <p:nvPr/>
          </p:nvSpPr>
          <p:spPr>
            <a:xfrm>
              <a:off x="0" y="0"/>
              <a:ext cx="424053" cy="424053"/>
            </a:xfrm>
            <a:custGeom>
              <a:avLst/>
              <a:gdLst/>
              <a:ahLst/>
              <a:cxnLst/>
              <a:rect l="l" t="t" r="r" b="b"/>
              <a:pathLst>
                <a:path w="424053" h="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00897B"/>
            </a:solidFill>
            <a:ln w="25400" cap="sq">
              <a:solidFill>
                <a:srgbClr val="00897B"/>
              </a:solidFill>
              <a:prstDash val="solid"/>
              <a:miter/>
            </a:ln>
          </p:spPr>
        </p:sp>
      </p:grpSp>
      <p:grpSp>
        <p:nvGrpSpPr>
          <p:cNvPr id="10" name="Group 10"/>
          <p:cNvGrpSpPr/>
          <p:nvPr/>
        </p:nvGrpSpPr>
        <p:grpSpPr>
          <a:xfrm rot="0">
            <a:off x="13831319" y="4170683"/>
            <a:ext cx="318011" cy="318011"/>
            <a:chOff x="0" y="0"/>
            <a:chExt cx="424015" cy="424015"/>
          </a:xfrm>
        </p:grpSpPr>
        <p:sp>
          <p:nvSpPr>
            <p:cNvPr id="11" name="Freeform 11"/>
            <p:cNvSpPr/>
            <p:nvPr/>
          </p:nvSpPr>
          <p:spPr>
            <a:xfrm>
              <a:off x="0" y="0"/>
              <a:ext cx="424053" cy="424053"/>
            </a:xfrm>
            <a:custGeom>
              <a:avLst/>
              <a:gdLst/>
              <a:ahLst/>
              <a:cxnLst/>
              <a:rect l="l" t="t" r="r" b="b"/>
              <a:pathLst>
                <a:path w="424053" h="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F4A259"/>
            </a:solidFill>
            <a:ln w="25400" cap="sq">
              <a:solidFill>
                <a:srgbClr val="F4A259"/>
              </a:solidFill>
              <a:prstDash val="solid"/>
              <a:miter/>
            </a:ln>
          </p:spPr>
        </p:sp>
      </p:grpSp>
      <p:grpSp>
        <p:nvGrpSpPr>
          <p:cNvPr id="12" name="Group 12"/>
          <p:cNvGrpSpPr/>
          <p:nvPr/>
        </p:nvGrpSpPr>
        <p:grpSpPr>
          <a:xfrm rot="0">
            <a:off x="15568679" y="5107943"/>
            <a:ext cx="318011" cy="318011"/>
            <a:chOff x="0" y="0"/>
            <a:chExt cx="424015" cy="424015"/>
          </a:xfrm>
        </p:grpSpPr>
        <p:sp>
          <p:nvSpPr>
            <p:cNvPr id="13" name="Freeform 13"/>
            <p:cNvSpPr/>
            <p:nvPr/>
          </p:nvSpPr>
          <p:spPr>
            <a:xfrm>
              <a:off x="0" y="0"/>
              <a:ext cx="424053" cy="424053"/>
            </a:xfrm>
            <a:custGeom>
              <a:avLst/>
              <a:gdLst/>
              <a:ahLst/>
              <a:cxnLst/>
              <a:rect l="l" t="t" r="r" b="b"/>
              <a:pathLst>
                <a:path w="424053" h="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F4A259"/>
            </a:solidFill>
            <a:ln w="25400" cap="sq">
              <a:solidFill>
                <a:srgbClr val="F4A259"/>
              </a:solidFill>
              <a:prstDash val="solid"/>
              <a:miter/>
            </a:ln>
          </p:spPr>
        </p:sp>
      </p:grpSp>
      <p:grpSp>
        <p:nvGrpSpPr>
          <p:cNvPr id="14" name="Group 14"/>
          <p:cNvGrpSpPr/>
          <p:nvPr/>
        </p:nvGrpSpPr>
        <p:grpSpPr>
          <a:xfrm rot="0">
            <a:off x="15020039" y="3983231"/>
            <a:ext cx="318011" cy="318011"/>
            <a:chOff x="0" y="0"/>
            <a:chExt cx="424015" cy="424015"/>
          </a:xfrm>
        </p:grpSpPr>
        <p:sp>
          <p:nvSpPr>
            <p:cNvPr id="15" name="Freeform 15"/>
            <p:cNvSpPr/>
            <p:nvPr/>
          </p:nvSpPr>
          <p:spPr>
            <a:xfrm>
              <a:off x="0" y="0"/>
              <a:ext cx="424053" cy="424053"/>
            </a:xfrm>
            <a:custGeom>
              <a:avLst/>
              <a:gdLst/>
              <a:ahLst/>
              <a:cxnLst/>
              <a:rect l="l" t="t" r="r" b="b"/>
              <a:pathLst>
                <a:path w="424053" h="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00897B"/>
            </a:solidFill>
            <a:ln w="25400" cap="sq">
              <a:solidFill>
                <a:srgbClr val="00897B"/>
              </a:solidFill>
              <a:prstDash val="solid"/>
              <a:miter/>
            </a:ln>
          </p:spPr>
        </p:sp>
      </p:grpSp>
      <p:grpSp>
        <p:nvGrpSpPr>
          <p:cNvPr id="16" name="Group 16"/>
          <p:cNvGrpSpPr/>
          <p:nvPr/>
        </p:nvGrpSpPr>
        <p:grpSpPr>
          <a:xfrm rot="0">
            <a:off x="13690597" y="2077717"/>
            <a:ext cx="1879597" cy="1879597"/>
            <a:chOff x="0" y="0"/>
            <a:chExt cx="2506129" cy="2506129"/>
          </a:xfrm>
        </p:grpSpPr>
        <p:sp>
          <p:nvSpPr>
            <p:cNvPr id="17" name="Freeform 17"/>
            <p:cNvSpPr/>
            <p:nvPr/>
          </p:nvSpPr>
          <p:spPr>
            <a:xfrm>
              <a:off x="0" y="0"/>
              <a:ext cx="2506218" cy="2506218"/>
            </a:xfrm>
            <a:custGeom>
              <a:avLst/>
              <a:gdLst/>
              <a:ahLst/>
              <a:cxnLst/>
              <a:rect l="l" t="t" r="r" b="b"/>
              <a:pathLst>
                <a:path w="2506218" h="2506218">
                  <a:moveTo>
                    <a:pt x="0" y="1253109"/>
                  </a:moveTo>
                  <a:cubicBezTo>
                    <a:pt x="0" y="560959"/>
                    <a:pt x="560959" y="0"/>
                    <a:pt x="1253109" y="0"/>
                  </a:cubicBezTo>
                  <a:cubicBezTo>
                    <a:pt x="1945259" y="0"/>
                    <a:pt x="2506218" y="560959"/>
                    <a:pt x="2506218" y="1253109"/>
                  </a:cubicBezTo>
                  <a:cubicBezTo>
                    <a:pt x="2506218" y="1945259"/>
                    <a:pt x="1945259" y="2506218"/>
                    <a:pt x="1253109" y="2506218"/>
                  </a:cubicBezTo>
                  <a:cubicBezTo>
                    <a:pt x="560959" y="2506218"/>
                    <a:pt x="0" y="1945132"/>
                    <a:pt x="0" y="1253109"/>
                  </a:cubicBezTo>
                  <a:close/>
                </a:path>
              </a:pathLst>
            </a:custGeom>
            <a:solidFill>
              <a:srgbClr val="00897B"/>
            </a:solidFill>
            <a:ln w="50800" cap="sq">
              <a:solidFill>
                <a:srgbClr val="BFE8E3"/>
              </a:solidFill>
              <a:prstDash val="solid"/>
              <a:miter/>
            </a:ln>
          </p:spPr>
        </p:sp>
      </p:grpSp>
      <p:grpSp>
        <p:nvGrpSpPr>
          <p:cNvPr id="18" name="Group 18"/>
          <p:cNvGrpSpPr/>
          <p:nvPr/>
        </p:nvGrpSpPr>
        <p:grpSpPr>
          <a:xfrm rot="0">
            <a:off x="13716000" y="2103120"/>
            <a:ext cx="1828800" cy="1828800"/>
            <a:chOff x="0" y="0"/>
            <a:chExt cx="2438400" cy="2438400"/>
          </a:xfrm>
        </p:grpSpPr>
        <p:sp>
          <p:nvSpPr>
            <p:cNvPr id="19" name="Freeform 19"/>
            <p:cNvSpPr/>
            <p:nvPr/>
          </p:nvSpPr>
          <p:spPr>
            <a:xfrm>
              <a:off x="0" y="0"/>
              <a:ext cx="2438400" cy="2438400"/>
            </a:xfrm>
            <a:custGeom>
              <a:avLst/>
              <a:gdLst/>
              <a:ahLst/>
              <a:cxnLst/>
              <a:rect l="l" t="t" r="r" b="b"/>
              <a:pathLst>
                <a:path w="2438400" h="2438400">
                  <a:moveTo>
                    <a:pt x="0" y="0"/>
                  </a:moveTo>
                  <a:lnTo>
                    <a:pt x="2438400" y="0"/>
                  </a:lnTo>
                  <a:lnTo>
                    <a:pt x="2438400" y="2438400"/>
                  </a:lnTo>
                  <a:lnTo>
                    <a:pt x="0" y="2438400"/>
                  </a:lnTo>
                  <a:close/>
                </a:path>
              </a:pathLst>
            </a:custGeom>
            <a:blipFill>
              <a:blip r:embed="rId1">
                <a:alphaModFix amt="0"/>
              </a:blip>
              <a:stretch>
                <a:fillRect l="-78303" r="-78303"/>
              </a:stretch>
            </a:blipFill>
          </p:spPr>
        </p:sp>
        <p:sp>
          <p:nvSpPr>
            <p:cNvPr id="20" name="TextBox 20"/>
            <p:cNvSpPr txBox="1"/>
            <p:nvPr/>
          </p:nvSpPr>
          <p:spPr>
            <a:xfrm>
              <a:off x="0" y="-57150"/>
              <a:ext cx="2438400" cy="2495550"/>
            </a:xfrm>
            <a:prstGeom prst="rect">
              <a:avLst/>
            </a:prstGeom>
          </p:spPr>
          <p:txBody>
            <a:bodyPr lIns="0" tIns="0" rIns="0" bIns="0" rtlCol="0" anchor="ctr"/>
            <a:lstStyle/>
            <a:p>
              <a:pPr algn="ctr">
                <a:lnSpc>
                  <a:spcPts val="3120"/>
                </a:lnSpc>
              </a:pPr>
              <a:r>
                <a:rPr lang="en-US" sz="2600" b="1">
                  <a:solidFill>
                    <a:srgbClr val="FFFFFF"/>
                  </a:solidFill>
                  <a:latin typeface="Times New Roman" panose="02020603050405020304"/>
                  <a:ea typeface="Times New Roman" panose="02020603050405020304"/>
                  <a:cs typeface="Times New Roman" panose="02020603050405020304"/>
                  <a:sym typeface="Times New Roman" panose="02020603050405020304"/>
                </a:rPr>
                <a:t>Server</a:t>
              </a:r>
              <a:endParaRPr lang="en-US" sz="26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1" name="Group 21"/>
          <p:cNvGrpSpPr/>
          <p:nvPr/>
        </p:nvGrpSpPr>
        <p:grpSpPr>
          <a:xfrm rot="0">
            <a:off x="11953237" y="5918197"/>
            <a:ext cx="1696717" cy="1696717"/>
            <a:chOff x="0" y="0"/>
            <a:chExt cx="2262289" cy="2262289"/>
          </a:xfrm>
        </p:grpSpPr>
        <p:sp>
          <p:nvSpPr>
            <p:cNvPr id="22" name="Freeform 22"/>
            <p:cNvSpPr/>
            <p:nvPr/>
          </p:nvSpPr>
          <p:spPr>
            <a:xfrm>
              <a:off x="0" y="0"/>
              <a:ext cx="2262378" cy="2262378"/>
            </a:xfrm>
            <a:custGeom>
              <a:avLst/>
              <a:gdLst/>
              <a:ahLst/>
              <a:cxnLst/>
              <a:rect l="l" t="t" r="r" b="b"/>
              <a:pathLst>
                <a:path w="2262378" h="2262378">
                  <a:moveTo>
                    <a:pt x="0" y="1131189"/>
                  </a:moveTo>
                  <a:cubicBezTo>
                    <a:pt x="0" y="506476"/>
                    <a:pt x="506476" y="0"/>
                    <a:pt x="1131189" y="0"/>
                  </a:cubicBezTo>
                  <a:cubicBezTo>
                    <a:pt x="1755902" y="0"/>
                    <a:pt x="2262378" y="506476"/>
                    <a:pt x="2262378" y="1131189"/>
                  </a:cubicBezTo>
                  <a:cubicBezTo>
                    <a:pt x="2262378" y="1755902"/>
                    <a:pt x="1755902" y="2262378"/>
                    <a:pt x="1131189" y="2262378"/>
                  </a:cubicBezTo>
                  <a:cubicBezTo>
                    <a:pt x="506476" y="2262378"/>
                    <a:pt x="0" y="1755902"/>
                    <a:pt x="0" y="1131189"/>
                  </a:cubicBezTo>
                  <a:close/>
                </a:path>
              </a:pathLst>
            </a:custGeom>
            <a:solidFill>
              <a:srgbClr val="0B1626"/>
            </a:solidFill>
            <a:ln w="50800" cap="sq">
              <a:solidFill>
                <a:srgbClr val="BFE8E3"/>
              </a:solidFill>
              <a:prstDash val="solid"/>
              <a:miter/>
            </a:ln>
          </p:spPr>
        </p:sp>
      </p:grpSp>
      <p:grpSp>
        <p:nvGrpSpPr>
          <p:cNvPr id="23" name="Group 23"/>
          <p:cNvGrpSpPr/>
          <p:nvPr/>
        </p:nvGrpSpPr>
        <p:grpSpPr>
          <a:xfrm rot="0">
            <a:off x="11978640" y="5943600"/>
            <a:ext cx="1645920" cy="1645920"/>
            <a:chOff x="0" y="0"/>
            <a:chExt cx="2194560" cy="2194560"/>
          </a:xfrm>
        </p:grpSpPr>
        <p:sp>
          <p:nvSpPr>
            <p:cNvPr id="24" name="Freeform 24"/>
            <p:cNvSpPr/>
            <p:nvPr/>
          </p:nvSpPr>
          <p:spPr>
            <a:xfrm>
              <a:off x="0" y="0"/>
              <a:ext cx="2194560" cy="2194560"/>
            </a:xfrm>
            <a:custGeom>
              <a:avLst/>
              <a:gdLst/>
              <a:ahLst/>
              <a:cxnLst/>
              <a:rect l="l" t="t" r="r" b="b"/>
              <a:pathLst>
                <a:path w="2194560" h="2194560">
                  <a:moveTo>
                    <a:pt x="0" y="0"/>
                  </a:moveTo>
                  <a:lnTo>
                    <a:pt x="2194560" y="0"/>
                  </a:lnTo>
                  <a:lnTo>
                    <a:pt x="2194560" y="2194560"/>
                  </a:lnTo>
                  <a:lnTo>
                    <a:pt x="0" y="2194560"/>
                  </a:lnTo>
                  <a:close/>
                </a:path>
              </a:pathLst>
            </a:custGeom>
            <a:blipFill>
              <a:blip r:embed="rId1">
                <a:alphaModFix amt="0"/>
              </a:blip>
              <a:stretch>
                <a:fillRect l="-78303" r="-78303"/>
              </a:stretch>
            </a:blipFill>
          </p:spPr>
        </p:sp>
        <p:sp>
          <p:nvSpPr>
            <p:cNvPr id="25" name="TextBox 25"/>
            <p:cNvSpPr txBox="1"/>
            <p:nvPr/>
          </p:nvSpPr>
          <p:spPr>
            <a:xfrm>
              <a:off x="0" y="-47625"/>
              <a:ext cx="2194560" cy="2242185"/>
            </a:xfrm>
            <a:prstGeom prst="rect">
              <a:avLst/>
            </a:prstGeom>
          </p:spPr>
          <p:txBody>
            <a:bodyPr lIns="0" tIns="0" rIns="0" bIns="0" rtlCol="0" anchor="ctr"/>
            <a:lstStyle/>
            <a:p>
              <a:pPr algn="ctr">
                <a:lnSpc>
                  <a:spcPts val="2640"/>
                </a:lnSpc>
              </a:pPr>
              <a:r>
                <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rPr>
                <a:t>Client</a:t>
              </a:r>
              <a:endPar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a:p>
              <a:pPr algn="ctr">
                <a:lnSpc>
                  <a:spcPts val="2640"/>
                </a:lnSpc>
              </a:pPr>
              <a:r>
                <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rPr>
                <a:t>A</a:t>
              </a:r>
              <a:endPar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6" name="Group 26"/>
          <p:cNvGrpSpPr/>
          <p:nvPr/>
        </p:nvGrpSpPr>
        <p:grpSpPr>
          <a:xfrm rot="0">
            <a:off x="15610837" y="5918197"/>
            <a:ext cx="1696717" cy="1696717"/>
            <a:chOff x="0" y="0"/>
            <a:chExt cx="2262289" cy="2262289"/>
          </a:xfrm>
        </p:grpSpPr>
        <p:sp>
          <p:nvSpPr>
            <p:cNvPr id="27" name="Freeform 27"/>
            <p:cNvSpPr/>
            <p:nvPr/>
          </p:nvSpPr>
          <p:spPr>
            <a:xfrm>
              <a:off x="0" y="0"/>
              <a:ext cx="2262378" cy="2262378"/>
            </a:xfrm>
            <a:custGeom>
              <a:avLst/>
              <a:gdLst/>
              <a:ahLst/>
              <a:cxnLst/>
              <a:rect l="l" t="t" r="r" b="b"/>
              <a:pathLst>
                <a:path w="2262378" h="2262378">
                  <a:moveTo>
                    <a:pt x="0" y="1131189"/>
                  </a:moveTo>
                  <a:cubicBezTo>
                    <a:pt x="0" y="506476"/>
                    <a:pt x="506476" y="0"/>
                    <a:pt x="1131189" y="0"/>
                  </a:cubicBezTo>
                  <a:cubicBezTo>
                    <a:pt x="1755902" y="0"/>
                    <a:pt x="2262378" y="506476"/>
                    <a:pt x="2262378" y="1131189"/>
                  </a:cubicBezTo>
                  <a:cubicBezTo>
                    <a:pt x="2262378" y="1755902"/>
                    <a:pt x="1755902" y="2262378"/>
                    <a:pt x="1131189" y="2262378"/>
                  </a:cubicBezTo>
                  <a:cubicBezTo>
                    <a:pt x="506476" y="2262378"/>
                    <a:pt x="0" y="1755902"/>
                    <a:pt x="0" y="1131189"/>
                  </a:cubicBezTo>
                  <a:close/>
                </a:path>
              </a:pathLst>
            </a:custGeom>
            <a:solidFill>
              <a:srgbClr val="0B1626"/>
            </a:solidFill>
            <a:ln w="50800" cap="sq">
              <a:solidFill>
                <a:srgbClr val="BFE8E3"/>
              </a:solidFill>
              <a:prstDash val="solid"/>
              <a:miter/>
            </a:ln>
          </p:spPr>
        </p:sp>
      </p:grpSp>
      <p:grpSp>
        <p:nvGrpSpPr>
          <p:cNvPr id="28" name="Group 28"/>
          <p:cNvGrpSpPr/>
          <p:nvPr/>
        </p:nvGrpSpPr>
        <p:grpSpPr>
          <a:xfrm rot="0">
            <a:off x="15636240" y="5943600"/>
            <a:ext cx="1645920" cy="1645920"/>
            <a:chOff x="0" y="0"/>
            <a:chExt cx="2194560" cy="2194560"/>
          </a:xfrm>
        </p:grpSpPr>
        <p:sp>
          <p:nvSpPr>
            <p:cNvPr id="29" name="Freeform 29"/>
            <p:cNvSpPr/>
            <p:nvPr/>
          </p:nvSpPr>
          <p:spPr>
            <a:xfrm>
              <a:off x="0" y="0"/>
              <a:ext cx="2194560" cy="2194560"/>
            </a:xfrm>
            <a:custGeom>
              <a:avLst/>
              <a:gdLst/>
              <a:ahLst/>
              <a:cxnLst/>
              <a:rect l="l" t="t" r="r" b="b"/>
              <a:pathLst>
                <a:path w="2194560" h="2194560">
                  <a:moveTo>
                    <a:pt x="0" y="0"/>
                  </a:moveTo>
                  <a:lnTo>
                    <a:pt x="2194560" y="0"/>
                  </a:lnTo>
                  <a:lnTo>
                    <a:pt x="2194560" y="2194560"/>
                  </a:lnTo>
                  <a:lnTo>
                    <a:pt x="0" y="2194560"/>
                  </a:lnTo>
                  <a:close/>
                </a:path>
              </a:pathLst>
            </a:custGeom>
            <a:blipFill>
              <a:blip r:embed="rId1">
                <a:alphaModFix amt="0"/>
              </a:blip>
              <a:stretch>
                <a:fillRect l="-78303" r="-78303"/>
              </a:stretch>
            </a:blipFill>
          </p:spPr>
        </p:sp>
        <p:sp>
          <p:nvSpPr>
            <p:cNvPr id="30" name="TextBox 30"/>
            <p:cNvSpPr txBox="1"/>
            <p:nvPr/>
          </p:nvSpPr>
          <p:spPr>
            <a:xfrm>
              <a:off x="0" y="-47625"/>
              <a:ext cx="2194560" cy="2242185"/>
            </a:xfrm>
            <a:prstGeom prst="rect">
              <a:avLst/>
            </a:prstGeom>
          </p:spPr>
          <p:txBody>
            <a:bodyPr lIns="0" tIns="0" rIns="0" bIns="0" rtlCol="0" anchor="ctr"/>
            <a:lstStyle/>
            <a:p>
              <a:pPr algn="ctr">
                <a:lnSpc>
                  <a:spcPts val="2640"/>
                </a:lnSpc>
              </a:pPr>
              <a:r>
                <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rPr>
                <a:t>Client</a:t>
              </a:r>
              <a:endPar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a:p>
              <a:pPr algn="ctr">
                <a:lnSpc>
                  <a:spcPts val="2640"/>
                </a:lnSpc>
              </a:pPr>
              <a:r>
                <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rPr>
                <a:t>B</a:t>
              </a:r>
              <a:endPar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31" name="Group 31"/>
          <p:cNvGrpSpPr/>
          <p:nvPr/>
        </p:nvGrpSpPr>
        <p:grpSpPr>
          <a:xfrm rot="0">
            <a:off x="12801600" y="7808976"/>
            <a:ext cx="3657600" cy="548640"/>
            <a:chOff x="0" y="0"/>
            <a:chExt cx="4876800" cy="731520"/>
          </a:xfrm>
        </p:grpSpPr>
        <p:sp>
          <p:nvSpPr>
            <p:cNvPr id="32" name="Freeform 32"/>
            <p:cNvSpPr/>
            <p:nvPr/>
          </p:nvSpPr>
          <p:spPr>
            <a:xfrm>
              <a:off x="0" y="0"/>
              <a:ext cx="4876800" cy="731520"/>
            </a:xfrm>
            <a:custGeom>
              <a:avLst/>
              <a:gdLst/>
              <a:ahLst/>
              <a:cxnLst/>
              <a:rect l="l" t="t" r="r" b="b"/>
              <a:pathLst>
                <a:path w="4876800" h="731520">
                  <a:moveTo>
                    <a:pt x="0" y="0"/>
                  </a:moveTo>
                  <a:lnTo>
                    <a:pt x="4876800" y="0"/>
                  </a:lnTo>
                  <a:lnTo>
                    <a:pt x="4876800" y="731520"/>
                  </a:lnTo>
                  <a:lnTo>
                    <a:pt x="0" y="731520"/>
                  </a:lnTo>
                  <a:close/>
                </a:path>
              </a:pathLst>
            </a:custGeom>
            <a:blipFill>
              <a:blip r:embed="rId1">
                <a:alphaModFix amt="0"/>
              </a:blip>
              <a:stretch>
                <a:fillRect t="-79900" b="-79900"/>
              </a:stretch>
            </a:blipFill>
          </p:spPr>
        </p:sp>
        <p:sp>
          <p:nvSpPr>
            <p:cNvPr id="33" name="TextBox 33"/>
            <p:cNvSpPr txBox="1"/>
            <p:nvPr/>
          </p:nvSpPr>
          <p:spPr>
            <a:xfrm>
              <a:off x="0" y="-47625"/>
              <a:ext cx="4876800" cy="779145"/>
            </a:xfrm>
            <a:prstGeom prst="rect">
              <a:avLst/>
            </a:prstGeom>
          </p:spPr>
          <p:txBody>
            <a:bodyPr lIns="0" tIns="0" rIns="0" bIns="0" rtlCol="0" anchor="ctr"/>
            <a:lstStyle/>
            <a:p>
              <a:pPr algn="ctr">
                <a:lnSpc>
                  <a:spcPts val="2640"/>
                </a:lnSpc>
              </a:pPr>
              <a:r>
                <a:rPr lang="en-US" sz="2200" i="1">
                  <a:solidFill>
                    <a:srgbClr val="BFE8E3"/>
                  </a:solidFill>
                  <a:latin typeface="Times New Roman" panose="02020603050405020304"/>
                  <a:ea typeface="Times New Roman" panose="02020603050405020304"/>
                  <a:cs typeface="Times New Roman" panose="02020603050405020304"/>
                  <a:sym typeface="Times New Roman" panose="02020603050405020304"/>
                </a:rPr>
                <a:t>RTT 100–200 ms</a:t>
              </a:r>
              <a:endParaRPr lang="en-US" sz="2200" i="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9032" name="Section rule"/>
          <p:cNvSpPr/>
          <p:nvPr/>
        </p:nvSpPr>
        <p:spPr>
          <a:xfrm>
            <a:off x="1097280" y="3749040"/>
            <a:ext cx="1645920" cy="91440"/>
          </a:xfrm>
          <a:prstGeom prst="rect">
            <a:avLst/>
          </a:prstGeom>
          <a:solidFill>
            <a:srgbClr val="00897B"/>
          </a:solidFill>
          <a:ln>
            <a:no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39" name="Header band"/>
          <p:cNvSpPr/>
          <p:nvPr/>
        </p:nvSpPr>
        <p:spPr>
          <a:xfrm>
            <a:off x="0" y="0"/>
            <a:ext cx="18288000" cy="2103120"/>
          </a:xfrm>
          <a:prstGeom prst="rect">
            <a:avLst/>
          </a:prstGeom>
          <a:solidFill>
            <a:srgbClr val="14213D"/>
          </a:solidFill>
          <a:ln>
            <a:noFill/>
          </a:ln>
        </p:spPr>
      </p:sp>
      <p:sp>
        <p:nvSpPr>
          <p:cNvPr id="9040" name="Header rule"/>
          <p:cNvSpPr/>
          <p:nvPr/>
        </p:nvSpPr>
        <p:spPr>
          <a:xfrm>
            <a:off x="0" y="2103120"/>
            <a:ext cx="18288000" cy="64008"/>
          </a:xfrm>
          <a:prstGeom prst="rect">
            <a:avLst/>
          </a:prstGeom>
          <a:solidFill>
            <a:srgbClr val="00897B"/>
          </a:solidFill>
          <a:ln>
            <a:noFill/>
          </a:ln>
        </p:spPr>
      </p:sp>
      <p:grpSp>
        <p:nvGrpSpPr>
          <p:cNvPr id="2" name="Group 2"/>
          <p:cNvGrpSpPr/>
          <p:nvPr/>
        </p:nvGrpSpPr>
        <p:grpSpPr>
          <a:xfrm rot="0">
            <a:off x="914400" y="9509760"/>
            <a:ext cx="12801600" cy="548640"/>
            <a:chOff x="0" y="0"/>
            <a:chExt cx="17068800" cy="731520"/>
          </a:xfrm>
        </p:grpSpPr>
        <p:sp>
          <p:nvSpPr>
            <p:cNvPr id="3" name="Freeform 3"/>
            <p:cNvSpPr/>
            <p:nvPr/>
          </p:nvSpPr>
          <p:spPr>
            <a:xfrm>
              <a:off x="0" y="0"/>
              <a:ext cx="17068800" cy="731520"/>
            </a:xfrm>
            <a:custGeom>
              <a:avLst/>
              <a:gdLst/>
              <a:ahLst/>
              <a:cxnLst/>
              <a:rect l="l" t="t" r="r" b="b"/>
              <a:pathLst>
                <a:path w="17068800" h="731520">
                  <a:moveTo>
                    <a:pt x="0" y="0"/>
                  </a:moveTo>
                  <a:lnTo>
                    <a:pt x="17068800" y="0"/>
                  </a:lnTo>
                  <a:lnTo>
                    <a:pt x="17068800" y="731520"/>
                  </a:lnTo>
                  <a:lnTo>
                    <a:pt x="0" y="731520"/>
                  </a:lnTo>
                  <a:close/>
                </a:path>
              </a:pathLst>
            </a:custGeom>
            <a:blipFill>
              <a:blip r:embed="rId1">
                <a:alphaModFix amt="0"/>
              </a:blip>
              <a:stretch>
                <a:fillRect t="-404650" b="-404650"/>
              </a:stretch>
            </a:blipFill>
          </p:spPr>
        </p:sp>
        <p:sp>
          <p:nvSpPr>
            <p:cNvPr id="4" name="TextBox 4"/>
            <p:cNvSpPr txBox="1"/>
            <p:nvPr/>
          </p:nvSpPr>
          <p:spPr>
            <a:xfrm>
              <a:off x="0" y="-38100"/>
              <a:ext cx="17068800" cy="769620"/>
            </a:xfrm>
            <a:prstGeom prst="rect">
              <a:avLst/>
            </a:prstGeom>
          </p:spPr>
          <p:txBody>
            <a:bodyPr lIns="0" tIns="0" rIns="0" bIns="0" rtlCol="0" anchor="ctr"/>
            <a:lstStyle/>
            <a:p>
              <a:pPr algn="l">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T47 · Kỹ thuật mạng cho game thời gian thực · Lập trình mạng</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5" name="TextBox 5"/>
          <p:cNvSpPr txBox="1"/>
          <p:nvPr/>
        </p:nvSpPr>
        <p:spPr>
          <a:xfrm>
            <a:off x="914400" y="384048"/>
            <a:ext cx="13898880" cy="559689"/>
          </a:xfrm>
          <a:prstGeom prst="rect">
            <a:avLst/>
          </a:prstGeom>
        </p:spPr>
        <p:txBody>
          <a:bodyPr lIns="0" tIns="0" rIns="0" bIns="0" rtlCol="0" anchor="t">
            <a:spAutoFit/>
          </a:bodyPr>
          <a:lstStyle/>
          <a:p>
            <a:pPr algn="l">
              <a:lnSpc>
                <a:spcPts val="2640"/>
              </a:lnSpc>
            </a:pPr>
            <a:r>
              <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BÀI TOÁN</a:t>
            </a:r>
            <a:endPar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6" name="Group 6"/>
          <p:cNvGrpSpPr/>
          <p:nvPr/>
        </p:nvGrpSpPr>
        <p:grpSpPr>
          <a:xfrm rot="0">
            <a:off x="914400" y="768096"/>
            <a:ext cx="14081760" cy="1097280"/>
            <a:chOff x="0" y="0"/>
            <a:chExt cx="18775680" cy="1463040"/>
          </a:xfrm>
        </p:grpSpPr>
        <p:sp>
          <p:nvSpPr>
            <p:cNvPr id="7" name="Freeform 7"/>
            <p:cNvSpPr/>
            <p:nvPr/>
          </p:nvSpPr>
          <p:spPr>
            <a:xfrm>
              <a:off x="0" y="0"/>
              <a:ext cx="18775680" cy="1463040"/>
            </a:xfrm>
            <a:custGeom>
              <a:avLst/>
              <a:gdLst/>
              <a:ahLst/>
              <a:cxnLst/>
              <a:rect l="l" t="t" r="r" b="b"/>
              <a:pathLst>
                <a:path w="18775680" h="1463040">
                  <a:moveTo>
                    <a:pt x="0" y="0"/>
                  </a:moveTo>
                  <a:lnTo>
                    <a:pt x="18775680" y="0"/>
                  </a:lnTo>
                  <a:lnTo>
                    <a:pt x="18775680" y="1463040"/>
                  </a:lnTo>
                  <a:lnTo>
                    <a:pt x="0" y="1463040"/>
                  </a:lnTo>
                  <a:close/>
                </a:path>
              </a:pathLst>
            </a:custGeom>
            <a:blipFill>
              <a:blip r:embed="rId1">
                <a:alphaModFix amt="0"/>
              </a:blip>
              <a:stretch>
                <a:fillRect t="-200057" b="-200057"/>
              </a:stretch>
            </a:blipFill>
          </p:spPr>
        </p:sp>
        <p:sp>
          <p:nvSpPr>
            <p:cNvPr id="8" name="TextBox 8"/>
            <p:cNvSpPr txBox="1"/>
            <p:nvPr/>
          </p:nvSpPr>
          <p:spPr>
            <a:xfrm>
              <a:off x="0" y="-9525"/>
              <a:ext cx="18775680" cy="1472565"/>
            </a:xfrm>
            <a:prstGeom prst="rect">
              <a:avLst/>
            </a:prstGeom>
          </p:spPr>
          <p:txBody>
            <a:bodyPr lIns="0" tIns="0" rIns="0" bIns="0" rtlCol="0" anchor="ctr"/>
            <a:lstStyle/>
            <a:p>
              <a:pPr algn="l">
                <a:lnSpc>
                  <a:spcPts val="6900"/>
                </a:lnSpc>
              </a:pPr>
              <a:r>
                <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rPr>
                <a:t>Chơi game thời gian thực qua mạng</a:t>
              </a:r>
              <a:endPar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9" name="Group 9"/>
          <p:cNvGrpSpPr/>
          <p:nvPr/>
        </p:nvGrpSpPr>
        <p:grpSpPr>
          <a:xfrm rot="0">
            <a:off x="15257783" y="682247"/>
            <a:ext cx="2128523" cy="647195"/>
            <a:chOff x="0" y="0"/>
            <a:chExt cx="2838031" cy="862927"/>
          </a:xfrm>
        </p:grpSpPr>
        <p:sp>
          <p:nvSpPr>
            <p:cNvPr id="10" name="Freeform 10"/>
            <p:cNvSpPr/>
            <p:nvPr/>
          </p:nvSpPr>
          <p:spPr>
            <a:xfrm>
              <a:off x="0" y="0"/>
              <a:ext cx="2837942" cy="862838"/>
            </a:xfrm>
            <a:custGeom>
              <a:avLst/>
              <a:gdLst/>
              <a:ahLst/>
              <a:cxnLst/>
              <a:rect l="l" t="t" r="r" b="b"/>
              <a:pathLst>
                <a:path w="2837942" h="862838">
                  <a:moveTo>
                    <a:pt x="0" y="431419"/>
                  </a:moveTo>
                  <a:cubicBezTo>
                    <a:pt x="0" y="193167"/>
                    <a:pt x="193167" y="0"/>
                    <a:pt x="431419" y="0"/>
                  </a:cubicBezTo>
                  <a:lnTo>
                    <a:pt x="2406523" y="0"/>
                  </a:lnTo>
                  <a:cubicBezTo>
                    <a:pt x="2644775" y="0"/>
                    <a:pt x="2837942" y="193167"/>
                    <a:pt x="2837942" y="431419"/>
                  </a:cubicBezTo>
                  <a:cubicBezTo>
                    <a:pt x="2837942" y="669671"/>
                    <a:pt x="2644775" y="862838"/>
                    <a:pt x="2406523" y="862838"/>
                  </a:cubicBezTo>
                  <a:lnTo>
                    <a:pt x="431419" y="862838"/>
                  </a:lnTo>
                  <a:cubicBezTo>
                    <a:pt x="193167" y="862965"/>
                    <a:pt x="0" y="669798"/>
                    <a:pt x="0" y="431419"/>
                  </a:cubicBezTo>
                  <a:close/>
                </a:path>
              </a:pathLst>
            </a:custGeom>
            <a:solidFill>
              <a:srgbClr val="00897B"/>
            </a:solidFill>
            <a:ln w="25400" cap="sq">
              <a:solidFill>
                <a:srgbClr val="00897B"/>
              </a:solidFill>
              <a:prstDash val="solid"/>
              <a:miter/>
            </a:ln>
          </p:spPr>
        </p:sp>
      </p:grpSp>
      <p:grpSp>
        <p:nvGrpSpPr>
          <p:cNvPr id="11" name="Group 11"/>
          <p:cNvGrpSpPr/>
          <p:nvPr/>
        </p:nvGrpSpPr>
        <p:grpSpPr>
          <a:xfrm rot="0">
            <a:off x="15270480" y="694944"/>
            <a:ext cx="2103120" cy="621792"/>
            <a:chOff x="0" y="0"/>
            <a:chExt cx="2804160" cy="829056"/>
          </a:xfrm>
        </p:grpSpPr>
        <p:sp>
          <p:nvSpPr>
            <p:cNvPr id="12" name="Freeform 12"/>
            <p:cNvSpPr/>
            <p:nvPr/>
          </p:nvSpPr>
          <p:spPr>
            <a:xfrm>
              <a:off x="0" y="0"/>
              <a:ext cx="2804160" cy="829056"/>
            </a:xfrm>
            <a:custGeom>
              <a:avLst/>
              <a:gdLst/>
              <a:ahLst/>
              <a:cxnLst/>
              <a:rect l="l" t="t" r="r" b="b"/>
              <a:pathLst>
                <a:path w="2804160" h="829056">
                  <a:moveTo>
                    <a:pt x="0" y="0"/>
                  </a:moveTo>
                  <a:lnTo>
                    <a:pt x="2804160" y="0"/>
                  </a:lnTo>
                  <a:lnTo>
                    <a:pt x="2804160" y="829056"/>
                  </a:lnTo>
                  <a:lnTo>
                    <a:pt x="0" y="829056"/>
                  </a:lnTo>
                  <a:close/>
                </a:path>
              </a:pathLst>
            </a:custGeom>
            <a:blipFill>
              <a:blip r:embed="rId1">
                <a:alphaModFix amt="0"/>
              </a:blip>
              <a:stretch>
                <a:fillRect t="-15905" b="-15905"/>
              </a:stretch>
            </a:blipFill>
          </p:spPr>
        </p:sp>
        <p:sp>
          <p:nvSpPr>
            <p:cNvPr id="13" name="TextBox 13"/>
            <p:cNvSpPr txBox="1"/>
            <p:nvPr/>
          </p:nvSpPr>
          <p:spPr>
            <a:xfrm>
              <a:off x="0" y="-47625"/>
              <a:ext cx="2804160" cy="876681"/>
            </a:xfrm>
            <a:prstGeom prst="rect">
              <a:avLst/>
            </a:prstGeom>
          </p:spPr>
          <p:txBody>
            <a:bodyPr lIns="0" tIns="0" rIns="0" bIns="0" rtlCol="0" anchor="ctr"/>
            <a:lstStyle/>
            <a:p>
              <a:pPr algn="ctr">
                <a:lnSpc>
                  <a:spcPts val="2640"/>
                </a:lnSpc>
              </a:pPr>
              <a:r>
                <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rPr>
                <a:t>#1</a:t>
              </a:r>
              <a:endPar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4" name="Group 14"/>
          <p:cNvGrpSpPr/>
          <p:nvPr/>
        </p:nvGrpSpPr>
        <p:grpSpPr>
          <a:xfrm rot="0">
            <a:off x="901703" y="2547623"/>
            <a:ext cx="6517643" cy="3225803"/>
            <a:chOff x="0" y="0"/>
            <a:chExt cx="8690191" cy="4301071"/>
          </a:xfrm>
        </p:grpSpPr>
        <p:sp>
          <p:nvSpPr>
            <p:cNvPr id="15" name="Freeform 15"/>
            <p:cNvSpPr/>
            <p:nvPr/>
          </p:nvSpPr>
          <p:spPr>
            <a:xfrm>
              <a:off x="0" y="0"/>
              <a:ext cx="8690228" cy="4301109"/>
            </a:xfrm>
            <a:custGeom>
              <a:avLst/>
              <a:gdLst/>
              <a:ahLst/>
              <a:cxnLst/>
              <a:rect l="l" t="t" r="r" b="b"/>
              <a:pathLst>
                <a:path w="8690228" h="4301109">
                  <a:moveTo>
                    <a:pt x="0" y="245745"/>
                  </a:moveTo>
                  <a:cubicBezTo>
                    <a:pt x="0" y="109982"/>
                    <a:pt x="109982" y="0"/>
                    <a:pt x="245745" y="0"/>
                  </a:cubicBezTo>
                  <a:lnTo>
                    <a:pt x="8444484" y="0"/>
                  </a:lnTo>
                  <a:cubicBezTo>
                    <a:pt x="8580247" y="0"/>
                    <a:pt x="8690228" y="109982"/>
                    <a:pt x="8690228" y="245745"/>
                  </a:cubicBezTo>
                  <a:lnTo>
                    <a:pt x="8690228" y="4055364"/>
                  </a:lnTo>
                  <a:cubicBezTo>
                    <a:pt x="8690228" y="4191127"/>
                    <a:pt x="8580247" y="4301109"/>
                    <a:pt x="8444484" y="4301109"/>
                  </a:cubicBezTo>
                  <a:lnTo>
                    <a:pt x="245745" y="4301109"/>
                  </a:lnTo>
                  <a:cubicBezTo>
                    <a:pt x="109982" y="4301109"/>
                    <a:pt x="0" y="4191000"/>
                    <a:pt x="0" y="4055364"/>
                  </a:cubicBezTo>
                  <a:close/>
                </a:path>
              </a:pathLst>
            </a:custGeom>
            <a:solidFill>
              <a:srgbClr val="EEF3F8"/>
            </a:solidFill>
            <a:ln w="25400" cap="sq">
              <a:solidFill>
                <a:srgbClr val="EEF3F8"/>
              </a:solidFill>
              <a:prstDash val="solid"/>
              <a:miter/>
            </a:ln>
          </p:spPr>
        </p:sp>
      </p:grpSp>
      <p:grpSp>
        <p:nvGrpSpPr>
          <p:cNvPr id="16" name="Group 16"/>
          <p:cNvGrpSpPr/>
          <p:nvPr/>
        </p:nvGrpSpPr>
        <p:grpSpPr>
          <a:xfrm rot="0">
            <a:off x="1463040" y="2926080"/>
            <a:ext cx="5394960" cy="822960"/>
            <a:chOff x="0" y="0"/>
            <a:chExt cx="7193280" cy="1097280"/>
          </a:xfrm>
        </p:grpSpPr>
        <p:sp>
          <p:nvSpPr>
            <p:cNvPr id="17" name="Freeform 17"/>
            <p:cNvSpPr/>
            <p:nvPr/>
          </p:nvSpPr>
          <p:spPr>
            <a:xfrm>
              <a:off x="0" y="0"/>
              <a:ext cx="7193280" cy="1097280"/>
            </a:xfrm>
            <a:custGeom>
              <a:avLst/>
              <a:gdLst/>
              <a:ahLst/>
              <a:cxnLst/>
              <a:rect l="l" t="t" r="r" b="b"/>
              <a:pathLst>
                <a:path w="7193280" h="1097280">
                  <a:moveTo>
                    <a:pt x="0" y="0"/>
                  </a:moveTo>
                  <a:lnTo>
                    <a:pt x="7193280" y="0"/>
                  </a:lnTo>
                  <a:lnTo>
                    <a:pt x="7193280" y="1097280"/>
                  </a:lnTo>
                  <a:lnTo>
                    <a:pt x="0" y="1097280"/>
                  </a:lnTo>
                  <a:close/>
                </a:path>
              </a:pathLst>
            </a:custGeom>
            <a:blipFill>
              <a:blip r:embed="rId1">
                <a:alphaModFix amt="0"/>
              </a:blip>
              <a:stretch>
                <a:fillRect t="-77735" b="-77735"/>
              </a:stretch>
            </a:blipFill>
          </p:spPr>
        </p:sp>
        <p:sp>
          <p:nvSpPr>
            <p:cNvPr id="18" name="TextBox 18"/>
            <p:cNvSpPr txBox="1"/>
            <p:nvPr/>
          </p:nvSpPr>
          <p:spPr>
            <a:xfrm>
              <a:off x="0" y="-85725"/>
              <a:ext cx="7193280" cy="1183005"/>
            </a:xfrm>
            <a:prstGeom prst="rect">
              <a:avLst/>
            </a:prstGeom>
          </p:spPr>
          <p:txBody>
            <a:bodyPr lIns="0" tIns="0" rIns="0" bIns="0" rtlCol="0" anchor="ctr"/>
            <a:lstStyle/>
            <a:p>
              <a:pPr algn="l">
                <a:lnSpc>
                  <a:spcPts val="4800"/>
                </a:lnSpc>
              </a:pPr>
              <a:r>
                <a:rPr lang="en-US" sz="4000" b="1">
                  <a:solidFill>
                    <a:srgbClr val="00897B"/>
                  </a:solidFill>
                  <a:latin typeface="Times New Roman" panose="02020603050405020304"/>
                  <a:ea typeface="Times New Roman" panose="02020603050405020304"/>
                  <a:cs typeface="Times New Roman" panose="02020603050405020304"/>
                  <a:sym typeface="Times New Roman" panose="02020603050405020304"/>
                </a:rPr>
                <a:t>Trên một máy</a:t>
              </a:r>
              <a:endParaRPr lang="en-US" sz="4000" b="1">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19" name="TextBox 19"/>
          <p:cNvSpPr txBox="1"/>
          <p:nvPr/>
        </p:nvSpPr>
        <p:spPr>
          <a:xfrm>
            <a:off x="1463040" y="3773805"/>
            <a:ext cx="5394960" cy="2261235"/>
          </a:xfrm>
          <a:prstGeom prst="rect">
            <a:avLst/>
          </a:prstGeom>
        </p:spPr>
        <p:txBody>
          <a:bodyPr lIns="0" tIns="0" rIns="0" bIns="0" rtlCol="0" anchor="t">
            <a:spAutoFit/>
          </a:bodyPr>
          <a:lstStyle/>
          <a:p>
            <a:pPr algn="l">
              <a:lnSpc>
                <a:spcPts val="3360"/>
              </a:lnSpc>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Bấm phím là thấy ngay; mọi người nhìn chung một màn hình, chung một trạng thái</a:t>
            </a:r>
            <a:endPar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0" name="Group 20"/>
          <p:cNvGrpSpPr/>
          <p:nvPr/>
        </p:nvGrpSpPr>
        <p:grpSpPr>
          <a:xfrm rot="0">
            <a:off x="10868663" y="2547623"/>
            <a:ext cx="6517643" cy="3225803"/>
            <a:chOff x="0" y="0"/>
            <a:chExt cx="8690191" cy="4301071"/>
          </a:xfrm>
        </p:grpSpPr>
        <p:sp>
          <p:nvSpPr>
            <p:cNvPr id="21" name="Freeform 21"/>
            <p:cNvSpPr/>
            <p:nvPr/>
          </p:nvSpPr>
          <p:spPr>
            <a:xfrm>
              <a:off x="0" y="0"/>
              <a:ext cx="8690228" cy="4301109"/>
            </a:xfrm>
            <a:custGeom>
              <a:avLst/>
              <a:gdLst/>
              <a:ahLst/>
              <a:cxnLst/>
              <a:rect l="l" t="t" r="r" b="b"/>
              <a:pathLst>
                <a:path w="8690228" h="4301109">
                  <a:moveTo>
                    <a:pt x="0" y="245745"/>
                  </a:moveTo>
                  <a:cubicBezTo>
                    <a:pt x="0" y="109982"/>
                    <a:pt x="109982" y="0"/>
                    <a:pt x="245745" y="0"/>
                  </a:cubicBezTo>
                  <a:lnTo>
                    <a:pt x="8444484" y="0"/>
                  </a:lnTo>
                  <a:cubicBezTo>
                    <a:pt x="8580247" y="0"/>
                    <a:pt x="8690228" y="109982"/>
                    <a:pt x="8690228" y="245745"/>
                  </a:cubicBezTo>
                  <a:lnTo>
                    <a:pt x="8690228" y="4055364"/>
                  </a:lnTo>
                  <a:cubicBezTo>
                    <a:pt x="8690228" y="4191127"/>
                    <a:pt x="8580247" y="4301109"/>
                    <a:pt x="8444484" y="4301109"/>
                  </a:cubicBezTo>
                  <a:lnTo>
                    <a:pt x="245745" y="4301109"/>
                  </a:lnTo>
                  <a:cubicBezTo>
                    <a:pt x="109982" y="4301109"/>
                    <a:pt x="0" y="4191000"/>
                    <a:pt x="0" y="4055364"/>
                  </a:cubicBezTo>
                  <a:close/>
                </a:path>
              </a:pathLst>
            </a:custGeom>
            <a:solidFill>
              <a:srgbClr val="EEF3F8"/>
            </a:solidFill>
            <a:ln w="25400" cap="sq">
              <a:solidFill>
                <a:srgbClr val="EEF3F8"/>
              </a:solidFill>
              <a:prstDash val="solid"/>
              <a:miter/>
            </a:ln>
          </p:spPr>
        </p:sp>
      </p:grpSp>
      <p:grpSp>
        <p:nvGrpSpPr>
          <p:cNvPr id="22" name="Group 22"/>
          <p:cNvGrpSpPr/>
          <p:nvPr/>
        </p:nvGrpSpPr>
        <p:grpSpPr>
          <a:xfrm rot="0">
            <a:off x="11430000" y="2926080"/>
            <a:ext cx="5394960" cy="822960"/>
            <a:chOff x="0" y="0"/>
            <a:chExt cx="7193280" cy="1097280"/>
          </a:xfrm>
        </p:grpSpPr>
        <p:sp>
          <p:nvSpPr>
            <p:cNvPr id="23" name="Freeform 23"/>
            <p:cNvSpPr/>
            <p:nvPr/>
          </p:nvSpPr>
          <p:spPr>
            <a:xfrm>
              <a:off x="0" y="0"/>
              <a:ext cx="7193280" cy="1097280"/>
            </a:xfrm>
            <a:custGeom>
              <a:avLst/>
              <a:gdLst/>
              <a:ahLst/>
              <a:cxnLst/>
              <a:rect l="l" t="t" r="r" b="b"/>
              <a:pathLst>
                <a:path w="7193280" h="1097280">
                  <a:moveTo>
                    <a:pt x="0" y="0"/>
                  </a:moveTo>
                  <a:lnTo>
                    <a:pt x="7193280" y="0"/>
                  </a:lnTo>
                  <a:lnTo>
                    <a:pt x="7193280" y="1097280"/>
                  </a:lnTo>
                  <a:lnTo>
                    <a:pt x="0" y="1097280"/>
                  </a:lnTo>
                  <a:close/>
                </a:path>
              </a:pathLst>
            </a:custGeom>
            <a:blipFill>
              <a:blip r:embed="rId1">
                <a:alphaModFix amt="0"/>
              </a:blip>
              <a:stretch>
                <a:fillRect t="-77735" b="-77735"/>
              </a:stretch>
            </a:blipFill>
          </p:spPr>
        </p:sp>
        <p:sp>
          <p:nvSpPr>
            <p:cNvPr id="24" name="TextBox 24"/>
            <p:cNvSpPr txBox="1"/>
            <p:nvPr/>
          </p:nvSpPr>
          <p:spPr>
            <a:xfrm>
              <a:off x="0" y="-85725"/>
              <a:ext cx="7193280" cy="1183005"/>
            </a:xfrm>
            <a:prstGeom prst="rect">
              <a:avLst/>
            </a:prstGeom>
          </p:spPr>
          <p:txBody>
            <a:bodyPr lIns="0" tIns="0" rIns="0" bIns="0" rtlCol="0" anchor="ctr"/>
            <a:lstStyle/>
            <a:p>
              <a:pPr algn="l">
                <a:lnSpc>
                  <a:spcPts val="4800"/>
                </a:lnSpc>
              </a:pPr>
              <a:r>
                <a:rPr lang="en-US" sz="4000" b="1">
                  <a:solidFill>
                    <a:srgbClr val="00897B"/>
                  </a:solidFill>
                  <a:latin typeface="Times New Roman" panose="02020603050405020304"/>
                  <a:ea typeface="Times New Roman" panose="02020603050405020304"/>
                  <a:cs typeface="Times New Roman" panose="02020603050405020304"/>
                  <a:sym typeface="Times New Roman" panose="02020603050405020304"/>
                </a:rPr>
                <a:t>Qua mạng</a:t>
              </a:r>
              <a:endParaRPr lang="en-US" sz="4000" b="1">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5" name="TextBox 25"/>
          <p:cNvSpPr txBox="1"/>
          <p:nvPr/>
        </p:nvSpPr>
        <p:spPr>
          <a:xfrm>
            <a:off x="11430000" y="3773805"/>
            <a:ext cx="5394960" cy="2261235"/>
          </a:xfrm>
          <a:prstGeom prst="rect">
            <a:avLst/>
          </a:prstGeom>
        </p:spPr>
        <p:txBody>
          <a:bodyPr lIns="0" tIns="0" rIns="0" bIns="0" rtlCol="0" anchor="t">
            <a:spAutoFit/>
          </a:bodyPr>
          <a:lstStyle/>
          <a:p>
            <a:pPr algn="l">
              <a:lnSpc>
                <a:spcPts val="3360"/>
              </a:lnSpc>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Mỗi thao tác mất 100–200 ms mới tới máy khác; gói tin có thể đến trễ, sai thứ tự hoặc mất</a:t>
            </a:r>
            <a:endPar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6" name="Group 26"/>
          <p:cNvGrpSpPr/>
          <p:nvPr/>
        </p:nvGrpSpPr>
        <p:grpSpPr>
          <a:xfrm rot="0">
            <a:off x="7668263" y="3553463"/>
            <a:ext cx="2951483" cy="1214123"/>
            <a:chOff x="0" y="0"/>
            <a:chExt cx="3935311" cy="1618831"/>
          </a:xfrm>
        </p:grpSpPr>
        <p:sp>
          <p:nvSpPr>
            <p:cNvPr id="27" name="Freeform 27"/>
            <p:cNvSpPr/>
            <p:nvPr/>
          </p:nvSpPr>
          <p:spPr>
            <a:xfrm>
              <a:off x="0" y="0"/>
              <a:ext cx="3935222" cy="1618742"/>
            </a:xfrm>
            <a:custGeom>
              <a:avLst/>
              <a:gdLst/>
              <a:ahLst/>
              <a:cxnLst/>
              <a:rect l="l" t="t" r="r" b="b"/>
              <a:pathLst>
                <a:path w="3935222" h="1618742">
                  <a:moveTo>
                    <a:pt x="0" y="796925"/>
                  </a:moveTo>
                  <a:cubicBezTo>
                    <a:pt x="0" y="356870"/>
                    <a:pt x="356870" y="0"/>
                    <a:pt x="796925" y="0"/>
                  </a:cubicBezTo>
                  <a:lnTo>
                    <a:pt x="3138297" y="0"/>
                  </a:lnTo>
                  <a:cubicBezTo>
                    <a:pt x="3578479" y="0"/>
                    <a:pt x="3935222" y="356870"/>
                    <a:pt x="3935222" y="796925"/>
                  </a:cubicBezTo>
                  <a:lnTo>
                    <a:pt x="3935222" y="821817"/>
                  </a:lnTo>
                  <a:cubicBezTo>
                    <a:pt x="3935222" y="1261999"/>
                    <a:pt x="3578352" y="1618742"/>
                    <a:pt x="3138297" y="1618742"/>
                  </a:cubicBezTo>
                  <a:lnTo>
                    <a:pt x="796925" y="1618742"/>
                  </a:lnTo>
                  <a:cubicBezTo>
                    <a:pt x="356870" y="1618869"/>
                    <a:pt x="0" y="1261999"/>
                    <a:pt x="0" y="821817"/>
                  </a:cubicBezTo>
                  <a:close/>
                </a:path>
              </a:pathLst>
            </a:custGeom>
            <a:solidFill>
              <a:srgbClr val="0B1626"/>
            </a:solidFill>
            <a:ln w="25400" cap="sq">
              <a:solidFill>
                <a:srgbClr val="0B1626"/>
              </a:solidFill>
              <a:prstDash val="solid"/>
              <a:miter/>
            </a:ln>
          </p:spPr>
        </p:sp>
      </p:grpSp>
      <p:grpSp>
        <p:nvGrpSpPr>
          <p:cNvPr id="28" name="Group 28"/>
          <p:cNvGrpSpPr/>
          <p:nvPr/>
        </p:nvGrpSpPr>
        <p:grpSpPr>
          <a:xfrm rot="0">
            <a:off x="7680960" y="3566160"/>
            <a:ext cx="2926080" cy="1188720"/>
            <a:chOff x="0" y="0"/>
            <a:chExt cx="3901440" cy="1584960"/>
          </a:xfrm>
        </p:grpSpPr>
        <p:sp>
          <p:nvSpPr>
            <p:cNvPr id="29" name="Freeform 29"/>
            <p:cNvSpPr/>
            <p:nvPr/>
          </p:nvSpPr>
          <p:spPr>
            <a:xfrm>
              <a:off x="0" y="0"/>
              <a:ext cx="3901440" cy="1584960"/>
            </a:xfrm>
            <a:custGeom>
              <a:avLst/>
              <a:gdLst/>
              <a:ahLst/>
              <a:cxnLst/>
              <a:rect l="l" t="t" r="r" b="b"/>
              <a:pathLst>
                <a:path w="3901440" h="1584960">
                  <a:moveTo>
                    <a:pt x="0" y="0"/>
                  </a:moveTo>
                  <a:lnTo>
                    <a:pt x="3901440" y="0"/>
                  </a:lnTo>
                  <a:lnTo>
                    <a:pt x="3901440" y="1584960"/>
                  </a:lnTo>
                  <a:lnTo>
                    <a:pt x="0" y="1584960"/>
                  </a:lnTo>
                  <a:close/>
                </a:path>
              </a:pathLst>
            </a:custGeom>
            <a:blipFill>
              <a:blip r:embed="rId1">
                <a:alphaModFix amt="0"/>
              </a:blip>
              <a:stretch>
                <a:fillRect l="-2123" r="-2123"/>
              </a:stretch>
            </a:blipFill>
          </p:spPr>
        </p:sp>
        <p:sp>
          <p:nvSpPr>
            <p:cNvPr id="30" name="TextBox 30"/>
            <p:cNvSpPr txBox="1"/>
            <p:nvPr/>
          </p:nvSpPr>
          <p:spPr>
            <a:xfrm>
              <a:off x="0" y="-38100"/>
              <a:ext cx="3901440" cy="1623060"/>
            </a:xfrm>
            <a:prstGeom prst="rect">
              <a:avLst/>
            </a:prstGeom>
          </p:spPr>
          <p:txBody>
            <a:bodyPr lIns="0" tIns="0" rIns="0" bIns="0" rtlCol="0" anchor="ctr"/>
            <a:lstStyle/>
            <a:p>
              <a:pPr algn="ctr">
                <a:lnSpc>
                  <a:spcPts val="2880"/>
                </a:lnSpc>
              </a:pPr>
              <a:r>
                <a:rPr lang="en-US" sz="2400" b="1">
                  <a:solidFill>
                    <a:srgbClr val="FFFFFF"/>
                  </a:solidFill>
                  <a:latin typeface="Times New Roman" panose="02020603050405020304"/>
                  <a:ea typeface="Times New Roman" panose="02020603050405020304"/>
                  <a:cs typeface="Times New Roman" panose="02020603050405020304"/>
                  <a:sym typeface="Times New Roman" panose="02020603050405020304"/>
                </a:rPr>
                <a:t>Mạng</a:t>
              </a:r>
              <a:endParaRPr lang="en-US" sz="24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a:p>
              <a:pPr algn="ctr">
                <a:lnSpc>
                  <a:spcPts val="2880"/>
                </a:lnSpc>
              </a:pPr>
              <a:r>
                <a:rPr lang="en-US" sz="2400">
                  <a:solidFill>
                    <a:srgbClr val="FFFFFF"/>
                  </a:solidFill>
                  <a:latin typeface="Times New Roman" panose="02020603050405020304"/>
                  <a:ea typeface="Times New Roman" panose="02020603050405020304"/>
                  <a:cs typeface="Times New Roman" panose="02020603050405020304"/>
                  <a:sym typeface="Times New Roman" panose="02020603050405020304"/>
                </a:rPr>
                <a:t>100–200 ms</a:t>
              </a:r>
              <a:endParaRPr lang="en-US" sz="2400">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31" name="Group 31"/>
          <p:cNvGrpSpPr/>
          <p:nvPr/>
        </p:nvGrpSpPr>
        <p:grpSpPr>
          <a:xfrm rot="0">
            <a:off x="901703" y="6388103"/>
            <a:ext cx="16484603" cy="1762763"/>
            <a:chOff x="0" y="0"/>
            <a:chExt cx="21979471" cy="2350351"/>
          </a:xfrm>
        </p:grpSpPr>
        <p:sp>
          <p:nvSpPr>
            <p:cNvPr id="32" name="Freeform 32"/>
            <p:cNvSpPr/>
            <p:nvPr/>
          </p:nvSpPr>
          <p:spPr>
            <a:xfrm>
              <a:off x="0" y="0"/>
              <a:ext cx="21979508" cy="2350389"/>
            </a:xfrm>
            <a:custGeom>
              <a:avLst/>
              <a:gdLst/>
              <a:ahLst/>
              <a:cxnLst/>
              <a:rect l="l" t="t" r="r" b="b"/>
              <a:pathLst>
                <a:path w="21979508" h="2350389">
                  <a:moveTo>
                    <a:pt x="0" y="247396"/>
                  </a:moveTo>
                  <a:cubicBezTo>
                    <a:pt x="0" y="110744"/>
                    <a:pt x="110744" y="0"/>
                    <a:pt x="247396" y="0"/>
                  </a:cubicBezTo>
                  <a:lnTo>
                    <a:pt x="21732112" y="0"/>
                  </a:lnTo>
                  <a:cubicBezTo>
                    <a:pt x="21868764" y="0"/>
                    <a:pt x="21979508" y="110744"/>
                    <a:pt x="21979508" y="247396"/>
                  </a:cubicBezTo>
                  <a:lnTo>
                    <a:pt x="21979508" y="2102993"/>
                  </a:lnTo>
                  <a:cubicBezTo>
                    <a:pt x="21979508" y="2239645"/>
                    <a:pt x="21868764" y="2350389"/>
                    <a:pt x="21732112" y="2350389"/>
                  </a:cubicBezTo>
                  <a:lnTo>
                    <a:pt x="247396" y="2350389"/>
                  </a:lnTo>
                  <a:cubicBezTo>
                    <a:pt x="110744" y="2350389"/>
                    <a:pt x="0" y="2239645"/>
                    <a:pt x="0" y="2102993"/>
                  </a:cubicBezTo>
                  <a:close/>
                </a:path>
              </a:pathLst>
            </a:custGeom>
            <a:solidFill>
              <a:srgbClr val="14213D"/>
            </a:solidFill>
            <a:ln w="25400" cap="sq">
              <a:solidFill>
                <a:srgbClr val="14213D"/>
              </a:solidFill>
              <a:prstDash val="solid"/>
              <a:miter/>
            </a:ln>
          </p:spPr>
        </p:sp>
      </p:grpSp>
      <p:grpSp>
        <p:nvGrpSpPr>
          <p:cNvPr id="33" name="Group 33"/>
          <p:cNvGrpSpPr/>
          <p:nvPr/>
        </p:nvGrpSpPr>
        <p:grpSpPr>
          <a:xfrm rot="0">
            <a:off x="1463040" y="6400800"/>
            <a:ext cx="15361920" cy="1737360"/>
            <a:chOff x="0" y="0"/>
            <a:chExt cx="20482560" cy="2316480"/>
          </a:xfrm>
        </p:grpSpPr>
        <p:sp>
          <p:nvSpPr>
            <p:cNvPr id="34" name="Freeform 34"/>
            <p:cNvSpPr/>
            <p:nvPr/>
          </p:nvSpPr>
          <p:spPr>
            <a:xfrm>
              <a:off x="0" y="0"/>
              <a:ext cx="20482561" cy="2316480"/>
            </a:xfrm>
            <a:custGeom>
              <a:avLst/>
              <a:gdLst/>
              <a:ahLst/>
              <a:cxnLst/>
              <a:rect l="l" t="t" r="r" b="b"/>
              <a:pathLst>
                <a:path w="20482561" h="2316480">
                  <a:moveTo>
                    <a:pt x="0" y="0"/>
                  </a:moveTo>
                  <a:lnTo>
                    <a:pt x="20482561" y="0"/>
                  </a:lnTo>
                  <a:lnTo>
                    <a:pt x="20482561" y="2316480"/>
                  </a:lnTo>
                  <a:lnTo>
                    <a:pt x="0" y="2316480"/>
                  </a:lnTo>
                  <a:close/>
                </a:path>
              </a:pathLst>
            </a:custGeom>
            <a:blipFill>
              <a:blip r:embed="rId1">
                <a:alphaModFix amt="0"/>
              </a:blip>
              <a:stretch>
                <a:fillRect t="-122288" b="-122288"/>
              </a:stretch>
            </a:blipFill>
          </p:spPr>
        </p:sp>
        <p:sp>
          <p:nvSpPr>
            <p:cNvPr id="35" name="TextBox 35"/>
            <p:cNvSpPr txBox="1"/>
            <p:nvPr/>
          </p:nvSpPr>
          <p:spPr>
            <a:xfrm>
              <a:off x="0" y="-57150"/>
              <a:ext cx="20482560" cy="2373630"/>
            </a:xfrm>
            <a:prstGeom prst="rect">
              <a:avLst/>
            </a:prstGeom>
          </p:spPr>
          <p:txBody>
            <a:bodyPr lIns="0" tIns="0" rIns="0" bIns="0" rtlCol="0" anchor="ctr"/>
            <a:lstStyle/>
            <a:p>
              <a:pPr algn="l">
                <a:lnSpc>
                  <a:spcPts val="3840"/>
                </a:lnSpc>
              </a:pPr>
              <a:r>
                <a:rPr lang="en-US" sz="3200">
                  <a:solidFill>
                    <a:srgbClr val="FFFFFF"/>
                  </a:solidFill>
                  <a:latin typeface="Times New Roman" panose="02020603050405020304"/>
                  <a:ea typeface="Times New Roman" panose="02020603050405020304"/>
                  <a:cs typeface="Times New Roman" panose="02020603050405020304"/>
                  <a:sym typeface="Times New Roman" panose="02020603050405020304"/>
                </a:rPr>
                <a:t>Bài toán: làm sao chơi qua mạng mà vẫn có cảm giác </a:t>
              </a:r>
              <a:r>
                <a:rPr lang="en-US" sz="3200" b="1">
                  <a:solidFill>
                    <a:srgbClr val="FFFFFF"/>
                  </a:solidFill>
                  <a:latin typeface="Times New Roman" panose="02020603050405020304"/>
                  <a:ea typeface="Times New Roman" panose="02020603050405020304"/>
                  <a:cs typeface="Times New Roman" panose="02020603050405020304"/>
                  <a:sym typeface="Times New Roman" panose="02020603050405020304"/>
                </a:rPr>
                <a:t>như chơi trên cùng một máy</a:t>
              </a:r>
              <a:r>
                <a:rPr lang="en-US" sz="3200">
                  <a:solidFill>
                    <a:srgbClr val="FFFFFF"/>
                  </a:solidFill>
                  <a:latin typeface="Times New Roman" panose="02020603050405020304"/>
                  <a:ea typeface="Times New Roman" panose="02020603050405020304"/>
                  <a:cs typeface="Times New Roman" panose="02020603050405020304"/>
                  <a:sym typeface="Times New Roman" panose="02020603050405020304"/>
                </a:rPr>
                <a:t>?</a:t>
              </a:r>
              <a:endParaRPr lang="en-US" sz="32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36" name="TextBox 36"/>
          <p:cNvSpPr txBox="1"/>
          <p:nvPr/>
        </p:nvSpPr>
        <p:spPr>
          <a:xfrm>
            <a:off x="16550640" y="9517380"/>
            <a:ext cx="731520" cy="495300"/>
          </a:xfrm>
          <a:prstGeom prst="rect">
            <a:avLst/>
          </a:prstGeom>
        </p:spPr>
        <p:txBody>
          <a:bodyPr lIns="0" tIns="0" rIns="0" bIns="0" rtlCol="0" anchor="t">
            <a:spAutoFit/>
          </a:bodyPr>
          <a:lstStyle/>
          <a:p>
            <a:pPr algn="r">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4</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6" name="Header band"/>
          <p:cNvSpPr/>
          <p:nvPr/>
        </p:nvSpPr>
        <p:spPr>
          <a:xfrm>
            <a:off x="0" y="0"/>
            <a:ext cx="18288000" cy="2103120"/>
          </a:xfrm>
          <a:prstGeom prst="rect">
            <a:avLst/>
          </a:prstGeom>
          <a:solidFill>
            <a:srgbClr val="14213D"/>
          </a:solidFill>
          <a:ln>
            <a:noFill/>
          </a:ln>
        </p:spPr>
      </p:sp>
      <p:sp>
        <p:nvSpPr>
          <p:cNvPr id="9017" name="Header rule"/>
          <p:cNvSpPr/>
          <p:nvPr/>
        </p:nvSpPr>
        <p:spPr>
          <a:xfrm>
            <a:off x="0" y="2103120"/>
            <a:ext cx="18288000" cy="64008"/>
          </a:xfrm>
          <a:prstGeom prst="rect">
            <a:avLst/>
          </a:prstGeom>
          <a:solidFill>
            <a:srgbClr val="00897B"/>
          </a:solidFill>
          <a:ln>
            <a:noFill/>
          </a:ln>
        </p:spPr>
      </p:sp>
      <p:grpSp>
        <p:nvGrpSpPr>
          <p:cNvPr id="2" name="Group 2"/>
          <p:cNvGrpSpPr/>
          <p:nvPr/>
        </p:nvGrpSpPr>
        <p:grpSpPr>
          <a:xfrm rot="0">
            <a:off x="914400" y="9509760"/>
            <a:ext cx="12801600" cy="548640"/>
            <a:chOff x="0" y="0"/>
            <a:chExt cx="17068800" cy="731520"/>
          </a:xfrm>
        </p:grpSpPr>
        <p:sp>
          <p:nvSpPr>
            <p:cNvPr id="3" name="Freeform 3"/>
            <p:cNvSpPr/>
            <p:nvPr/>
          </p:nvSpPr>
          <p:spPr>
            <a:xfrm>
              <a:off x="0" y="0"/>
              <a:ext cx="17068800" cy="731520"/>
            </a:xfrm>
            <a:custGeom>
              <a:avLst/>
              <a:gdLst/>
              <a:ahLst/>
              <a:cxnLst/>
              <a:rect l="l" t="t" r="r" b="b"/>
              <a:pathLst>
                <a:path w="17068800" h="731520">
                  <a:moveTo>
                    <a:pt x="0" y="0"/>
                  </a:moveTo>
                  <a:lnTo>
                    <a:pt x="17068800" y="0"/>
                  </a:lnTo>
                  <a:lnTo>
                    <a:pt x="17068800" y="731520"/>
                  </a:lnTo>
                  <a:lnTo>
                    <a:pt x="0" y="731520"/>
                  </a:lnTo>
                  <a:close/>
                </a:path>
              </a:pathLst>
            </a:custGeom>
            <a:blipFill>
              <a:blip r:embed="rId1">
                <a:alphaModFix amt="0"/>
              </a:blip>
              <a:stretch>
                <a:fillRect t="-404650" b="-404650"/>
              </a:stretch>
            </a:blipFill>
          </p:spPr>
        </p:sp>
        <p:sp>
          <p:nvSpPr>
            <p:cNvPr id="4" name="TextBox 4"/>
            <p:cNvSpPr txBox="1"/>
            <p:nvPr/>
          </p:nvSpPr>
          <p:spPr>
            <a:xfrm>
              <a:off x="0" y="-38100"/>
              <a:ext cx="17068800" cy="769620"/>
            </a:xfrm>
            <a:prstGeom prst="rect">
              <a:avLst/>
            </a:prstGeom>
          </p:spPr>
          <p:txBody>
            <a:bodyPr lIns="0" tIns="0" rIns="0" bIns="0" rtlCol="0" anchor="ctr"/>
            <a:lstStyle/>
            <a:p>
              <a:pPr algn="l">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T47 · Kỹ thuật mạng cho game thời gian thực · Lập trình mạng</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5" name="TextBox 5"/>
          <p:cNvSpPr txBox="1"/>
          <p:nvPr/>
        </p:nvSpPr>
        <p:spPr>
          <a:xfrm>
            <a:off x="914400" y="384048"/>
            <a:ext cx="13898880" cy="559689"/>
          </a:xfrm>
          <a:prstGeom prst="rect">
            <a:avLst/>
          </a:prstGeom>
        </p:spPr>
        <p:txBody>
          <a:bodyPr lIns="0" tIns="0" rIns="0" bIns="0" rtlCol="0" anchor="t">
            <a:spAutoFit/>
          </a:bodyPr>
          <a:lstStyle/>
          <a:p>
            <a:pPr algn="l">
              <a:lnSpc>
                <a:spcPts val="2640"/>
              </a:lnSpc>
            </a:pPr>
            <a:r>
              <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YÊU CẦU</a:t>
            </a:r>
            <a:endPar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6" name="Group 6"/>
          <p:cNvGrpSpPr/>
          <p:nvPr/>
        </p:nvGrpSpPr>
        <p:grpSpPr>
          <a:xfrm rot="0">
            <a:off x="914400" y="768096"/>
            <a:ext cx="14081760" cy="1097280"/>
            <a:chOff x="0" y="0"/>
            <a:chExt cx="18775680" cy="1463040"/>
          </a:xfrm>
        </p:grpSpPr>
        <p:sp>
          <p:nvSpPr>
            <p:cNvPr id="7" name="Freeform 7"/>
            <p:cNvSpPr/>
            <p:nvPr/>
          </p:nvSpPr>
          <p:spPr>
            <a:xfrm>
              <a:off x="0" y="0"/>
              <a:ext cx="18775680" cy="1463040"/>
            </a:xfrm>
            <a:custGeom>
              <a:avLst/>
              <a:gdLst/>
              <a:ahLst/>
              <a:cxnLst/>
              <a:rect l="l" t="t" r="r" b="b"/>
              <a:pathLst>
                <a:path w="18775680" h="1463040">
                  <a:moveTo>
                    <a:pt x="0" y="0"/>
                  </a:moveTo>
                  <a:lnTo>
                    <a:pt x="18775680" y="0"/>
                  </a:lnTo>
                  <a:lnTo>
                    <a:pt x="18775680" y="1463040"/>
                  </a:lnTo>
                  <a:lnTo>
                    <a:pt x="0" y="1463040"/>
                  </a:lnTo>
                  <a:close/>
                </a:path>
              </a:pathLst>
            </a:custGeom>
            <a:blipFill>
              <a:blip r:embed="rId1">
                <a:alphaModFix amt="0"/>
              </a:blip>
              <a:stretch>
                <a:fillRect t="-200057" b="-200057"/>
              </a:stretch>
            </a:blipFill>
          </p:spPr>
        </p:sp>
        <p:sp>
          <p:nvSpPr>
            <p:cNvPr id="8" name="TextBox 8"/>
            <p:cNvSpPr txBox="1"/>
            <p:nvPr/>
          </p:nvSpPr>
          <p:spPr>
            <a:xfrm>
              <a:off x="0" y="-9525"/>
              <a:ext cx="18775680" cy="1472565"/>
            </a:xfrm>
            <a:prstGeom prst="rect">
              <a:avLst/>
            </a:prstGeom>
          </p:spPr>
          <p:txBody>
            <a:bodyPr lIns="0" tIns="0" rIns="0" bIns="0" rtlCol="0" anchor="ctr"/>
            <a:lstStyle/>
            <a:p>
              <a:pPr algn="l">
                <a:lnSpc>
                  <a:spcPts val="6900"/>
                </a:lnSpc>
              </a:pPr>
              <a:r>
                <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rPr>
                <a:t>Hai yêu cầu mâu thuẫn</a:t>
              </a:r>
              <a:endPar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9" name="Group 9"/>
          <p:cNvGrpSpPr/>
          <p:nvPr/>
        </p:nvGrpSpPr>
        <p:grpSpPr>
          <a:xfrm rot="0">
            <a:off x="15257783" y="682247"/>
            <a:ext cx="2128523" cy="647195"/>
            <a:chOff x="0" y="0"/>
            <a:chExt cx="2838031" cy="862927"/>
          </a:xfrm>
        </p:grpSpPr>
        <p:sp>
          <p:nvSpPr>
            <p:cNvPr id="10" name="Freeform 10"/>
            <p:cNvSpPr/>
            <p:nvPr/>
          </p:nvSpPr>
          <p:spPr>
            <a:xfrm>
              <a:off x="0" y="0"/>
              <a:ext cx="2837942" cy="862838"/>
            </a:xfrm>
            <a:custGeom>
              <a:avLst/>
              <a:gdLst/>
              <a:ahLst/>
              <a:cxnLst/>
              <a:rect l="l" t="t" r="r" b="b"/>
              <a:pathLst>
                <a:path w="2837942" h="862838">
                  <a:moveTo>
                    <a:pt x="0" y="431419"/>
                  </a:moveTo>
                  <a:cubicBezTo>
                    <a:pt x="0" y="193167"/>
                    <a:pt x="193167" y="0"/>
                    <a:pt x="431419" y="0"/>
                  </a:cubicBezTo>
                  <a:lnTo>
                    <a:pt x="2406523" y="0"/>
                  </a:lnTo>
                  <a:cubicBezTo>
                    <a:pt x="2644775" y="0"/>
                    <a:pt x="2837942" y="193167"/>
                    <a:pt x="2837942" y="431419"/>
                  </a:cubicBezTo>
                  <a:cubicBezTo>
                    <a:pt x="2837942" y="669671"/>
                    <a:pt x="2644775" y="862838"/>
                    <a:pt x="2406523" y="862838"/>
                  </a:cubicBezTo>
                  <a:lnTo>
                    <a:pt x="431419" y="862838"/>
                  </a:lnTo>
                  <a:cubicBezTo>
                    <a:pt x="193167" y="862965"/>
                    <a:pt x="0" y="669798"/>
                    <a:pt x="0" y="431419"/>
                  </a:cubicBezTo>
                  <a:close/>
                </a:path>
              </a:pathLst>
            </a:custGeom>
            <a:solidFill>
              <a:srgbClr val="00897B"/>
            </a:solidFill>
            <a:ln w="25400" cap="sq">
              <a:solidFill>
                <a:srgbClr val="00897B"/>
              </a:solidFill>
              <a:prstDash val="solid"/>
              <a:miter/>
            </a:ln>
          </p:spPr>
        </p:sp>
      </p:grpSp>
      <p:grpSp>
        <p:nvGrpSpPr>
          <p:cNvPr id="11" name="Group 11"/>
          <p:cNvGrpSpPr/>
          <p:nvPr/>
        </p:nvGrpSpPr>
        <p:grpSpPr>
          <a:xfrm rot="0">
            <a:off x="15270480" y="694944"/>
            <a:ext cx="2103120" cy="621792"/>
            <a:chOff x="0" y="0"/>
            <a:chExt cx="2804160" cy="829056"/>
          </a:xfrm>
        </p:grpSpPr>
        <p:sp>
          <p:nvSpPr>
            <p:cNvPr id="12" name="Freeform 12"/>
            <p:cNvSpPr/>
            <p:nvPr/>
          </p:nvSpPr>
          <p:spPr>
            <a:xfrm>
              <a:off x="0" y="0"/>
              <a:ext cx="2804160" cy="829056"/>
            </a:xfrm>
            <a:custGeom>
              <a:avLst/>
              <a:gdLst/>
              <a:ahLst/>
              <a:cxnLst/>
              <a:rect l="l" t="t" r="r" b="b"/>
              <a:pathLst>
                <a:path w="2804160" h="829056">
                  <a:moveTo>
                    <a:pt x="0" y="0"/>
                  </a:moveTo>
                  <a:lnTo>
                    <a:pt x="2804160" y="0"/>
                  </a:lnTo>
                  <a:lnTo>
                    <a:pt x="2804160" y="829056"/>
                  </a:lnTo>
                  <a:lnTo>
                    <a:pt x="0" y="829056"/>
                  </a:lnTo>
                  <a:close/>
                </a:path>
              </a:pathLst>
            </a:custGeom>
            <a:blipFill>
              <a:blip r:embed="rId1">
                <a:alphaModFix amt="0"/>
              </a:blip>
              <a:stretch>
                <a:fillRect t="-15905" b="-15905"/>
              </a:stretch>
            </a:blipFill>
          </p:spPr>
        </p:sp>
        <p:sp>
          <p:nvSpPr>
            <p:cNvPr id="13" name="TextBox 13"/>
            <p:cNvSpPr txBox="1"/>
            <p:nvPr/>
          </p:nvSpPr>
          <p:spPr>
            <a:xfrm>
              <a:off x="0" y="-47625"/>
              <a:ext cx="2804160" cy="876681"/>
            </a:xfrm>
            <a:prstGeom prst="rect">
              <a:avLst/>
            </a:prstGeom>
          </p:spPr>
          <p:txBody>
            <a:bodyPr lIns="0" tIns="0" rIns="0" bIns="0" rtlCol="0" anchor="ctr"/>
            <a:lstStyle/>
            <a:p>
              <a:pPr algn="ctr">
                <a:lnSpc>
                  <a:spcPts val="2640"/>
                </a:lnSpc>
              </a:pPr>
              <a:r>
                <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rPr>
                <a:t>#1</a:t>
              </a:r>
              <a:endPar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4" name="Group 14"/>
          <p:cNvGrpSpPr/>
          <p:nvPr/>
        </p:nvGrpSpPr>
        <p:grpSpPr>
          <a:xfrm rot="0">
            <a:off x="901703" y="2547623"/>
            <a:ext cx="6517643" cy="3225803"/>
            <a:chOff x="0" y="0"/>
            <a:chExt cx="8690191" cy="4301071"/>
          </a:xfrm>
        </p:grpSpPr>
        <p:sp>
          <p:nvSpPr>
            <p:cNvPr id="15" name="Freeform 15"/>
            <p:cNvSpPr/>
            <p:nvPr/>
          </p:nvSpPr>
          <p:spPr>
            <a:xfrm>
              <a:off x="0" y="0"/>
              <a:ext cx="8690228" cy="4301109"/>
            </a:xfrm>
            <a:custGeom>
              <a:avLst/>
              <a:gdLst/>
              <a:ahLst/>
              <a:cxnLst/>
              <a:rect l="l" t="t" r="r" b="b"/>
              <a:pathLst>
                <a:path w="8690228" h="4301109">
                  <a:moveTo>
                    <a:pt x="0" y="245745"/>
                  </a:moveTo>
                  <a:cubicBezTo>
                    <a:pt x="0" y="109982"/>
                    <a:pt x="109982" y="0"/>
                    <a:pt x="245745" y="0"/>
                  </a:cubicBezTo>
                  <a:lnTo>
                    <a:pt x="8444484" y="0"/>
                  </a:lnTo>
                  <a:cubicBezTo>
                    <a:pt x="8580247" y="0"/>
                    <a:pt x="8690228" y="109982"/>
                    <a:pt x="8690228" y="245745"/>
                  </a:cubicBezTo>
                  <a:lnTo>
                    <a:pt x="8690228" y="4055364"/>
                  </a:lnTo>
                  <a:cubicBezTo>
                    <a:pt x="8690228" y="4191127"/>
                    <a:pt x="8580247" y="4301109"/>
                    <a:pt x="8444484" y="4301109"/>
                  </a:cubicBezTo>
                  <a:lnTo>
                    <a:pt x="245745" y="4301109"/>
                  </a:lnTo>
                  <a:cubicBezTo>
                    <a:pt x="109982" y="4301109"/>
                    <a:pt x="0" y="4191000"/>
                    <a:pt x="0" y="4055364"/>
                  </a:cubicBezTo>
                  <a:close/>
                </a:path>
              </a:pathLst>
            </a:custGeom>
            <a:solidFill>
              <a:srgbClr val="EEF3F8"/>
            </a:solidFill>
            <a:ln w="25400" cap="sq">
              <a:solidFill>
                <a:srgbClr val="EEF3F8"/>
              </a:solidFill>
              <a:prstDash val="solid"/>
              <a:miter/>
            </a:ln>
          </p:spPr>
        </p:sp>
      </p:grpSp>
      <p:grpSp>
        <p:nvGrpSpPr>
          <p:cNvPr id="16" name="Group 16"/>
          <p:cNvGrpSpPr/>
          <p:nvPr/>
        </p:nvGrpSpPr>
        <p:grpSpPr>
          <a:xfrm rot="0">
            <a:off x="1463040" y="2926080"/>
            <a:ext cx="5394960" cy="822960"/>
            <a:chOff x="0" y="0"/>
            <a:chExt cx="7193280" cy="1097280"/>
          </a:xfrm>
        </p:grpSpPr>
        <p:sp>
          <p:nvSpPr>
            <p:cNvPr id="17" name="Freeform 17"/>
            <p:cNvSpPr/>
            <p:nvPr/>
          </p:nvSpPr>
          <p:spPr>
            <a:xfrm>
              <a:off x="0" y="0"/>
              <a:ext cx="7193280" cy="1097280"/>
            </a:xfrm>
            <a:custGeom>
              <a:avLst/>
              <a:gdLst/>
              <a:ahLst/>
              <a:cxnLst/>
              <a:rect l="l" t="t" r="r" b="b"/>
              <a:pathLst>
                <a:path w="7193280" h="1097280">
                  <a:moveTo>
                    <a:pt x="0" y="0"/>
                  </a:moveTo>
                  <a:lnTo>
                    <a:pt x="7193280" y="0"/>
                  </a:lnTo>
                  <a:lnTo>
                    <a:pt x="7193280" y="1097280"/>
                  </a:lnTo>
                  <a:lnTo>
                    <a:pt x="0" y="1097280"/>
                  </a:lnTo>
                  <a:close/>
                </a:path>
              </a:pathLst>
            </a:custGeom>
            <a:blipFill>
              <a:blip r:embed="rId1">
                <a:alphaModFix amt="0"/>
              </a:blip>
              <a:stretch>
                <a:fillRect t="-77735" b="-77735"/>
              </a:stretch>
            </a:blipFill>
          </p:spPr>
        </p:sp>
        <p:sp>
          <p:nvSpPr>
            <p:cNvPr id="18" name="TextBox 18"/>
            <p:cNvSpPr txBox="1"/>
            <p:nvPr/>
          </p:nvSpPr>
          <p:spPr>
            <a:xfrm>
              <a:off x="0" y="-85725"/>
              <a:ext cx="7193280" cy="1183005"/>
            </a:xfrm>
            <a:prstGeom prst="rect">
              <a:avLst/>
            </a:prstGeom>
          </p:spPr>
          <p:txBody>
            <a:bodyPr lIns="0" tIns="0" rIns="0" bIns="0" rtlCol="0" anchor="ctr"/>
            <a:lstStyle/>
            <a:p>
              <a:pPr algn="l">
                <a:lnSpc>
                  <a:spcPts val="4800"/>
                </a:lnSpc>
              </a:pPr>
              <a:r>
                <a:rPr lang="en-US" sz="4000" b="1">
                  <a:solidFill>
                    <a:srgbClr val="00897B"/>
                  </a:solidFill>
                  <a:latin typeface="Times New Roman" panose="02020603050405020304"/>
                  <a:ea typeface="Times New Roman" panose="02020603050405020304"/>
                  <a:cs typeface="Times New Roman" panose="02020603050405020304"/>
                  <a:sym typeface="Times New Roman" panose="02020603050405020304"/>
                </a:rPr>
                <a:t>Độ phản hồi</a:t>
              </a:r>
              <a:endParaRPr lang="en-US" sz="4000" b="1">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19" name="TextBox 19"/>
          <p:cNvSpPr txBox="1"/>
          <p:nvPr/>
        </p:nvSpPr>
        <p:spPr>
          <a:xfrm>
            <a:off x="1463040" y="3773805"/>
            <a:ext cx="5394960" cy="2261235"/>
          </a:xfrm>
          <a:prstGeom prst="rect">
            <a:avLst/>
          </a:prstGeom>
        </p:spPr>
        <p:txBody>
          <a:bodyPr lIns="0" tIns="0" rIns="0" bIns="0" rtlCol="0" anchor="t">
            <a:spAutoFit/>
          </a:bodyPr>
          <a:lstStyle/>
          <a:p>
            <a:pPr algn="l">
              <a:lnSpc>
                <a:spcPts val="3360"/>
              </a:lnSpc>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Bấm phím là nhân vật phản ứng ngay (từ ~100 ms đã thấy ì)</a:t>
            </a:r>
            <a:endPar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0" name="Group 20"/>
          <p:cNvGrpSpPr/>
          <p:nvPr/>
        </p:nvGrpSpPr>
        <p:grpSpPr>
          <a:xfrm rot="0">
            <a:off x="10868663" y="2547623"/>
            <a:ext cx="6517643" cy="3225803"/>
            <a:chOff x="0" y="0"/>
            <a:chExt cx="8690191" cy="4301071"/>
          </a:xfrm>
        </p:grpSpPr>
        <p:sp>
          <p:nvSpPr>
            <p:cNvPr id="21" name="Freeform 21"/>
            <p:cNvSpPr/>
            <p:nvPr/>
          </p:nvSpPr>
          <p:spPr>
            <a:xfrm>
              <a:off x="0" y="0"/>
              <a:ext cx="8690228" cy="4301109"/>
            </a:xfrm>
            <a:custGeom>
              <a:avLst/>
              <a:gdLst/>
              <a:ahLst/>
              <a:cxnLst/>
              <a:rect l="l" t="t" r="r" b="b"/>
              <a:pathLst>
                <a:path w="8690228" h="4301109">
                  <a:moveTo>
                    <a:pt x="0" y="245745"/>
                  </a:moveTo>
                  <a:cubicBezTo>
                    <a:pt x="0" y="109982"/>
                    <a:pt x="109982" y="0"/>
                    <a:pt x="245745" y="0"/>
                  </a:cubicBezTo>
                  <a:lnTo>
                    <a:pt x="8444484" y="0"/>
                  </a:lnTo>
                  <a:cubicBezTo>
                    <a:pt x="8580247" y="0"/>
                    <a:pt x="8690228" y="109982"/>
                    <a:pt x="8690228" y="245745"/>
                  </a:cubicBezTo>
                  <a:lnTo>
                    <a:pt x="8690228" y="4055364"/>
                  </a:lnTo>
                  <a:cubicBezTo>
                    <a:pt x="8690228" y="4191127"/>
                    <a:pt x="8580247" y="4301109"/>
                    <a:pt x="8444484" y="4301109"/>
                  </a:cubicBezTo>
                  <a:lnTo>
                    <a:pt x="245745" y="4301109"/>
                  </a:lnTo>
                  <a:cubicBezTo>
                    <a:pt x="109982" y="4301109"/>
                    <a:pt x="0" y="4191000"/>
                    <a:pt x="0" y="4055364"/>
                  </a:cubicBezTo>
                  <a:close/>
                </a:path>
              </a:pathLst>
            </a:custGeom>
            <a:solidFill>
              <a:srgbClr val="EEF3F8"/>
            </a:solidFill>
            <a:ln w="25400" cap="sq">
              <a:solidFill>
                <a:srgbClr val="EEF3F8"/>
              </a:solidFill>
              <a:prstDash val="solid"/>
              <a:miter/>
            </a:ln>
          </p:spPr>
        </p:sp>
      </p:grpSp>
      <p:grpSp>
        <p:nvGrpSpPr>
          <p:cNvPr id="22" name="Group 22"/>
          <p:cNvGrpSpPr/>
          <p:nvPr/>
        </p:nvGrpSpPr>
        <p:grpSpPr>
          <a:xfrm rot="0">
            <a:off x="11430000" y="2926080"/>
            <a:ext cx="5394960" cy="822960"/>
            <a:chOff x="0" y="0"/>
            <a:chExt cx="7193280" cy="1097280"/>
          </a:xfrm>
        </p:grpSpPr>
        <p:sp>
          <p:nvSpPr>
            <p:cNvPr id="23" name="Freeform 23"/>
            <p:cNvSpPr/>
            <p:nvPr/>
          </p:nvSpPr>
          <p:spPr>
            <a:xfrm>
              <a:off x="0" y="0"/>
              <a:ext cx="7193280" cy="1097280"/>
            </a:xfrm>
            <a:custGeom>
              <a:avLst/>
              <a:gdLst/>
              <a:ahLst/>
              <a:cxnLst/>
              <a:rect l="l" t="t" r="r" b="b"/>
              <a:pathLst>
                <a:path w="7193280" h="1097280">
                  <a:moveTo>
                    <a:pt x="0" y="0"/>
                  </a:moveTo>
                  <a:lnTo>
                    <a:pt x="7193280" y="0"/>
                  </a:lnTo>
                  <a:lnTo>
                    <a:pt x="7193280" y="1097280"/>
                  </a:lnTo>
                  <a:lnTo>
                    <a:pt x="0" y="1097280"/>
                  </a:lnTo>
                  <a:close/>
                </a:path>
              </a:pathLst>
            </a:custGeom>
            <a:blipFill>
              <a:blip r:embed="rId1">
                <a:alphaModFix amt="0"/>
              </a:blip>
              <a:stretch>
                <a:fillRect t="-77735" b="-77735"/>
              </a:stretch>
            </a:blipFill>
          </p:spPr>
        </p:sp>
        <p:sp>
          <p:nvSpPr>
            <p:cNvPr id="24" name="TextBox 24"/>
            <p:cNvSpPr txBox="1"/>
            <p:nvPr/>
          </p:nvSpPr>
          <p:spPr>
            <a:xfrm>
              <a:off x="0" y="-85725"/>
              <a:ext cx="7193280" cy="1183005"/>
            </a:xfrm>
            <a:prstGeom prst="rect">
              <a:avLst/>
            </a:prstGeom>
          </p:spPr>
          <p:txBody>
            <a:bodyPr lIns="0" tIns="0" rIns="0" bIns="0" rtlCol="0" anchor="ctr"/>
            <a:lstStyle/>
            <a:p>
              <a:pPr algn="l">
                <a:lnSpc>
                  <a:spcPts val="4800"/>
                </a:lnSpc>
              </a:pPr>
              <a:r>
                <a:rPr lang="en-US" sz="4000" b="1">
                  <a:solidFill>
                    <a:srgbClr val="00897B"/>
                  </a:solidFill>
                  <a:latin typeface="Times New Roman" panose="02020603050405020304"/>
                  <a:ea typeface="Times New Roman" panose="02020603050405020304"/>
                  <a:cs typeface="Times New Roman" panose="02020603050405020304"/>
                  <a:sym typeface="Times New Roman" panose="02020603050405020304"/>
                </a:rPr>
                <a:t>Tính nhất quán</a:t>
              </a:r>
              <a:endParaRPr lang="en-US" sz="4000" b="1">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5" name="TextBox 25"/>
          <p:cNvSpPr txBox="1"/>
          <p:nvPr/>
        </p:nvSpPr>
        <p:spPr>
          <a:xfrm>
            <a:off x="11430000" y="3773805"/>
            <a:ext cx="5394960" cy="2261235"/>
          </a:xfrm>
          <a:prstGeom prst="rect">
            <a:avLst/>
          </a:prstGeom>
        </p:spPr>
        <p:txBody>
          <a:bodyPr lIns="0" tIns="0" rIns="0" bIns="0" rtlCol="0" anchor="t">
            <a:spAutoFit/>
          </a:bodyPr>
          <a:lstStyle/>
          <a:p>
            <a:pPr algn="l">
              <a:lnSpc>
                <a:spcPts val="3360"/>
              </a:lnSpc>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Mọi người thấy cùng một thế giới, không ai gian lận được</a:t>
            </a:r>
            <a:endPar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6" name="Group 26"/>
          <p:cNvGrpSpPr/>
          <p:nvPr/>
        </p:nvGrpSpPr>
        <p:grpSpPr>
          <a:xfrm rot="0">
            <a:off x="7668263" y="3553463"/>
            <a:ext cx="2951483" cy="1214123"/>
            <a:chOff x="0" y="0"/>
            <a:chExt cx="3935311" cy="1618831"/>
          </a:xfrm>
        </p:grpSpPr>
        <p:sp>
          <p:nvSpPr>
            <p:cNvPr id="27" name="Freeform 27"/>
            <p:cNvSpPr/>
            <p:nvPr/>
          </p:nvSpPr>
          <p:spPr>
            <a:xfrm>
              <a:off x="0" y="0"/>
              <a:ext cx="3935222" cy="1618742"/>
            </a:xfrm>
            <a:custGeom>
              <a:avLst/>
              <a:gdLst/>
              <a:ahLst/>
              <a:cxnLst/>
              <a:rect l="l" t="t" r="r" b="b"/>
              <a:pathLst>
                <a:path w="3935222" h="1618742">
                  <a:moveTo>
                    <a:pt x="0" y="796925"/>
                  </a:moveTo>
                  <a:cubicBezTo>
                    <a:pt x="0" y="356870"/>
                    <a:pt x="356870" y="0"/>
                    <a:pt x="796925" y="0"/>
                  </a:cubicBezTo>
                  <a:lnTo>
                    <a:pt x="3138297" y="0"/>
                  </a:lnTo>
                  <a:cubicBezTo>
                    <a:pt x="3578479" y="0"/>
                    <a:pt x="3935222" y="356870"/>
                    <a:pt x="3935222" y="796925"/>
                  </a:cubicBezTo>
                  <a:lnTo>
                    <a:pt x="3935222" y="821817"/>
                  </a:lnTo>
                  <a:cubicBezTo>
                    <a:pt x="3935222" y="1261999"/>
                    <a:pt x="3578352" y="1618742"/>
                    <a:pt x="3138297" y="1618742"/>
                  </a:cubicBezTo>
                  <a:lnTo>
                    <a:pt x="796925" y="1618742"/>
                  </a:lnTo>
                  <a:cubicBezTo>
                    <a:pt x="356870" y="1618869"/>
                    <a:pt x="0" y="1261999"/>
                    <a:pt x="0" y="821817"/>
                  </a:cubicBezTo>
                  <a:close/>
                </a:path>
              </a:pathLst>
            </a:custGeom>
            <a:solidFill>
              <a:srgbClr val="0B1626"/>
            </a:solidFill>
            <a:ln w="25400" cap="sq">
              <a:solidFill>
                <a:srgbClr val="0B1626"/>
              </a:solidFill>
              <a:prstDash val="solid"/>
              <a:miter/>
            </a:ln>
          </p:spPr>
        </p:sp>
      </p:grpSp>
      <p:grpSp>
        <p:nvGrpSpPr>
          <p:cNvPr id="28" name="Group 28"/>
          <p:cNvGrpSpPr/>
          <p:nvPr/>
        </p:nvGrpSpPr>
        <p:grpSpPr>
          <a:xfrm rot="0">
            <a:off x="7680960" y="3566160"/>
            <a:ext cx="2926080" cy="1188720"/>
            <a:chOff x="0" y="0"/>
            <a:chExt cx="3901440" cy="1584960"/>
          </a:xfrm>
        </p:grpSpPr>
        <p:sp>
          <p:nvSpPr>
            <p:cNvPr id="29" name="Freeform 29"/>
            <p:cNvSpPr/>
            <p:nvPr/>
          </p:nvSpPr>
          <p:spPr>
            <a:xfrm>
              <a:off x="0" y="0"/>
              <a:ext cx="3901440" cy="1584960"/>
            </a:xfrm>
            <a:custGeom>
              <a:avLst/>
              <a:gdLst/>
              <a:ahLst/>
              <a:cxnLst/>
              <a:rect l="l" t="t" r="r" b="b"/>
              <a:pathLst>
                <a:path w="3901440" h="1584960">
                  <a:moveTo>
                    <a:pt x="0" y="0"/>
                  </a:moveTo>
                  <a:lnTo>
                    <a:pt x="3901440" y="0"/>
                  </a:lnTo>
                  <a:lnTo>
                    <a:pt x="3901440" y="1584960"/>
                  </a:lnTo>
                  <a:lnTo>
                    <a:pt x="0" y="1584960"/>
                  </a:lnTo>
                  <a:close/>
                </a:path>
              </a:pathLst>
            </a:custGeom>
            <a:blipFill>
              <a:blip r:embed="rId1">
                <a:alphaModFix amt="0"/>
              </a:blip>
              <a:stretch>
                <a:fillRect l="-2123" r="-2123"/>
              </a:stretch>
            </a:blipFill>
          </p:spPr>
        </p:sp>
        <p:sp>
          <p:nvSpPr>
            <p:cNvPr id="30" name="TextBox 30"/>
            <p:cNvSpPr txBox="1"/>
            <p:nvPr/>
          </p:nvSpPr>
          <p:spPr>
            <a:xfrm>
              <a:off x="0" y="-38100"/>
              <a:ext cx="3901440" cy="1623060"/>
            </a:xfrm>
            <a:prstGeom prst="rect">
              <a:avLst/>
            </a:prstGeom>
          </p:spPr>
          <p:txBody>
            <a:bodyPr lIns="0" tIns="0" rIns="0" bIns="0" rtlCol="0" anchor="ctr"/>
            <a:lstStyle/>
            <a:p>
              <a:pPr algn="ctr">
                <a:lnSpc>
                  <a:spcPts val="2880"/>
                </a:lnSpc>
              </a:pPr>
              <a:r>
                <a:rPr lang="en-US" sz="2400" b="1">
                  <a:solidFill>
                    <a:srgbClr val="FFFFFF"/>
                  </a:solidFill>
                  <a:latin typeface="Times New Roman" panose="02020603050405020304"/>
                  <a:ea typeface="Times New Roman" panose="02020603050405020304"/>
                  <a:cs typeface="Times New Roman" panose="02020603050405020304"/>
                  <a:sym typeface="Times New Roman" panose="02020603050405020304"/>
                </a:rPr>
                <a:t>Mạng</a:t>
              </a:r>
              <a:endParaRPr lang="en-US" sz="24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a:p>
              <a:pPr algn="ctr">
                <a:lnSpc>
                  <a:spcPts val="2880"/>
                </a:lnSpc>
              </a:pPr>
              <a:r>
                <a:rPr lang="en-US" sz="2400">
                  <a:solidFill>
                    <a:srgbClr val="FFFFFF"/>
                  </a:solidFill>
                  <a:latin typeface="Times New Roman" panose="02020603050405020304"/>
                  <a:ea typeface="Times New Roman" panose="02020603050405020304"/>
                  <a:cs typeface="Times New Roman" panose="02020603050405020304"/>
                  <a:sym typeface="Times New Roman" panose="02020603050405020304"/>
                </a:rPr>
                <a:t>100–200 ms</a:t>
              </a:r>
              <a:endParaRPr lang="en-US" sz="2400">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31" name="Group 31"/>
          <p:cNvGrpSpPr/>
          <p:nvPr/>
        </p:nvGrpSpPr>
        <p:grpSpPr>
          <a:xfrm rot="0">
            <a:off x="901703" y="6388103"/>
            <a:ext cx="16484603" cy="1762763"/>
            <a:chOff x="0" y="0"/>
            <a:chExt cx="21979471" cy="2350351"/>
          </a:xfrm>
        </p:grpSpPr>
        <p:sp>
          <p:nvSpPr>
            <p:cNvPr id="32" name="Freeform 32"/>
            <p:cNvSpPr/>
            <p:nvPr/>
          </p:nvSpPr>
          <p:spPr>
            <a:xfrm>
              <a:off x="0" y="0"/>
              <a:ext cx="21979508" cy="2350389"/>
            </a:xfrm>
            <a:custGeom>
              <a:avLst/>
              <a:gdLst/>
              <a:ahLst/>
              <a:cxnLst/>
              <a:rect l="l" t="t" r="r" b="b"/>
              <a:pathLst>
                <a:path w="21979508" h="2350389">
                  <a:moveTo>
                    <a:pt x="0" y="247396"/>
                  </a:moveTo>
                  <a:cubicBezTo>
                    <a:pt x="0" y="110744"/>
                    <a:pt x="110744" y="0"/>
                    <a:pt x="247396" y="0"/>
                  </a:cubicBezTo>
                  <a:lnTo>
                    <a:pt x="21732112" y="0"/>
                  </a:lnTo>
                  <a:cubicBezTo>
                    <a:pt x="21868764" y="0"/>
                    <a:pt x="21979508" y="110744"/>
                    <a:pt x="21979508" y="247396"/>
                  </a:cubicBezTo>
                  <a:lnTo>
                    <a:pt x="21979508" y="2102993"/>
                  </a:lnTo>
                  <a:cubicBezTo>
                    <a:pt x="21979508" y="2239645"/>
                    <a:pt x="21868764" y="2350389"/>
                    <a:pt x="21732112" y="2350389"/>
                  </a:cubicBezTo>
                  <a:lnTo>
                    <a:pt x="247396" y="2350389"/>
                  </a:lnTo>
                  <a:cubicBezTo>
                    <a:pt x="110744" y="2350389"/>
                    <a:pt x="0" y="2239645"/>
                    <a:pt x="0" y="2102993"/>
                  </a:cubicBezTo>
                  <a:close/>
                </a:path>
              </a:pathLst>
            </a:custGeom>
            <a:solidFill>
              <a:srgbClr val="14213D"/>
            </a:solidFill>
            <a:ln w="25400" cap="sq">
              <a:solidFill>
                <a:srgbClr val="14213D"/>
              </a:solidFill>
              <a:prstDash val="solid"/>
              <a:miter/>
            </a:ln>
          </p:spPr>
        </p:sp>
      </p:grpSp>
      <p:grpSp>
        <p:nvGrpSpPr>
          <p:cNvPr id="33" name="Group 33"/>
          <p:cNvGrpSpPr/>
          <p:nvPr/>
        </p:nvGrpSpPr>
        <p:grpSpPr>
          <a:xfrm rot="0">
            <a:off x="1463040" y="6400800"/>
            <a:ext cx="15361920" cy="1737360"/>
            <a:chOff x="0" y="0"/>
            <a:chExt cx="20482560" cy="2316480"/>
          </a:xfrm>
        </p:grpSpPr>
        <p:sp>
          <p:nvSpPr>
            <p:cNvPr id="34" name="Freeform 34"/>
            <p:cNvSpPr/>
            <p:nvPr/>
          </p:nvSpPr>
          <p:spPr>
            <a:xfrm>
              <a:off x="0" y="0"/>
              <a:ext cx="20482561" cy="2316480"/>
            </a:xfrm>
            <a:custGeom>
              <a:avLst/>
              <a:gdLst/>
              <a:ahLst/>
              <a:cxnLst/>
              <a:rect l="l" t="t" r="r" b="b"/>
              <a:pathLst>
                <a:path w="20482561" h="2316480">
                  <a:moveTo>
                    <a:pt x="0" y="0"/>
                  </a:moveTo>
                  <a:lnTo>
                    <a:pt x="20482561" y="0"/>
                  </a:lnTo>
                  <a:lnTo>
                    <a:pt x="20482561" y="2316480"/>
                  </a:lnTo>
                  <a:lnTo>
                    <a:pt x="0" y="2316480"/>
                  </a:lnTo>
                  <a:close/>
                </a:path>
              </a:pathLst>
            </a:custGeom>
            <a:blipFill>
              <a:blip r:embed="rId1">
                <a:alphaModFix amt="0"/>
              </a:blip>
              <a:stretch>
                <a:fillRect t="-122288" b="-122288"/>
              </a:stretch>
            </a:blipFill>
          </p:spPr>
        </p:sp>
        <p:sp>
          <p:nvSpPr>
            <p:cNvPr id="35" name="TextBox 35"/>
            <p:cNvSpPr txBox="1"/>
            <p:nvPr/>
          </p:nvSpPr>
          <p:spPr>
            <a:xfrm>
              <a:off x="0" y="-57150"/>
              <a:ext cx="20482560" cy="2373630"/>
            </a:xfrm>
            <a:prstGeom prst="rect">
              <a:avLst/>
            </a:prstGeom>
          </p:spPr>
          <p:txBody>
            <a:bodyPr lIns="0" tIns="0" rIns="0" bIns="0" rtlCol="0" anchor="ctr"/>
            <a:lstStyle/>
            <a:p>
              <a:pPr algn="l">
                <a:lnSpc>
                  <a:spcPts val="3840"/>
                </a:lnSpc>
              </a:pPr>
              <a:r>
                <a:rPr lang="en-US" sz="3200">
                  <a:solidFill>
                    <a:srgbClr val="FFFFFF"/>
                  </a:solidFill>
                  <a:latin typeface="Times New Roman" panose="02020603050405020304"/>
                  <a:ea typeface="Times New Roman" panose="02020603050405020304"/>
                  <a:cs typeface="Times New Roman" panose="02020603050405020304"/>
                  <a:sym typeface="Times New Roman" panose="02020603050405020304"/>
                </a:rPr>
                <a:t>Có mạng ở giữa thì: muốn nhất quán phải </a:t>
              </a:r>
              <a:r>
                <a:rPr lang="en-US" sz="3200" b="1">
                  <a:solidFill>
                    <a:srgbClr val="FFFFFF"/>
                  </a:solidFill>
                  <a:latin typeface="Times New Roman" panose="02020603050405020304"/>
                  <a:ea typeface="Times New Roman" panose="02020603050405020304"/>
                  <a:cs typeface="Times New Roman" panose="02020603050405020304"/>
                  <a:sym typeface="Times New Roman" panose="02020603050405020304"/>
                </a:rPr>
                <a:t>chờ</a:t>
              </a:r>
              <a:r>
                <a:rPr lang="en-US" sz="3200">
                  <a:solidFill>
                    <a:srgbClr val="FFFFFF"/>
                  </a:solidFill>
                  <a:latin typeface="Times New Roman" panose="02020603050405020304"/>
                  <a:ea typeface="Times New Roman" panose="02020603050405020304"/>
                  <a:cs typeface="Times New Roman" panose="02020603050405020304"/>
                  <a:sym typeface="Times New Roman" panose="02020603050405020304"/>
                </a:rPr>
                <a:t>, muốn phản hồi ngay thì </a:t>
              </a:r>
              <a:r>
                <a:rPr lang="en-US" sz="3200" b="1">
                  <a:solidFill>
                    <a:srgbClr val="FFFFFF"/>
                  </a:solidFill>
                  <a:latin typeface="Times New Roman" panose="02020603050405020304"/>
                  <a:ea typeface="Times New Roman" panose="02020603050405020304"/>
                  <a:cs typeface="Times New Roman" panose="02020603050405020304"/>
                  <a:sym typeface="Times New Roman" panose="02020603050405020304"/>
                </a:rPr>
                <a:t>không được chờ</a:t>
              </a:r>
              <a:endParaRPr lang="en-US" sz="32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36" name="TextBox 36"/>
          <p:cNvSpPr txBox="1"/>
          <p:nvPr/>
        </p:nvSpPr>
        <p:spPr>
          <a:xfrm>
            <a:off x="16550640" y="9517380"/>
            <a:ext cx="731520" cy="495300"/>
          </a:xfrm>
          <a:prstGeom prst="rect">
            <a:avLst/>
          </a:prstGeom>
        </p:spPr>
        <p:txBody>
          <a:bodyPr lIns="0" tIns="0" rIns="0" bIns="0" rtlCol="0" anchor="t">
            <a:spAutoFit/>
          </a:bodyPr>
          <a:lstStyle/>
          <a:p>
            <a:pPr algn="r">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5</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35" name="Header band"/>
          <p:cNvSpPr/>
          <p:nvPr/>
        </p:nvSpPr>
        <p:spPr>
          <a:xfrm>
            <a:off x="0" y="0"/>
            <a:ext cx="18288000" cy="2103120"/>
          </a:xfrm>
          <a:prstGeom prst="rect">
            <a:avLst/>
          </a:prstGeom>
          <a:solidFill>
            <a:srgbClr val="14213D"/>
          </a:solidFill>
          <a:ln>
            <a:noFill/>
          </a:ln>
        </p:spPr>
      </p:sp>
      <p:sp>
        <p:nvSpPr>
          <p:cNvPr id="9036" name="Header rule"/>
          <p:cNvSpPr/>
          <p:nvPr/>
        </p:nvSpPr>
        <p:spPr>
          <a:xfrm>
            <a:off x="0" y="2103120"/>
            <a:ext cx="18288000" cy="64008"/>
          </a:xfrm>
          <a:prstGeom prst="rect">
            <a:avLst/>
          </a:prstGeom>
          <a:solidFill>
            <a:srgbClr val="00897B"/>
          </a:solidFill>
          <a:ln>
            <a:noFill/>
          </a:ln>
        </p:spPr>
      </p:sp>
      <p:grpSp>
        <p:nvGrpSpPr>
          <p:cNvPr id="2" name="Group 2"/>
          <p:cNvGrpSpPr/>
          <p:nvPr/>
        </p:nvGrpSpPr>
        <p:grpSpPr>
          <a:xfrm rot="0">
            <a:off x="914400" y="9509760"/>
            <a:ext cx="12801600" cy="548640"/>
            <a:chOff x="0" y="0"/>
            <a:chExt cx="17068800" cy="731520"/>
          </a:xfrm>
        </p:grpSpPr>
        <p:sp>
          <p:nvSpPr>
            <p:cNvPr id="3" name="Freeform 3"/>
            <p:cNvSpPr/>
            <p:nvPr/>
          </p:nvSpPr>
          <p:spPr>
            <a:xfrm>
              <a:off x="0" y="0"/>
              <a:ext cx="17068800" cy="731520"/>
            </a:xfrm>
            <a:custGeom>
              <a:avLst/>
              <a:gdLst/>
              <a:ahLst/>
              <a:cxnLst/>
              <a:rect l="l" t="t" r="r" b="b"/>
              <a:pathLst>
                <a:path w="17068800" h="731520">
                  <a:moveTo>
                    <a:pt x="0" y="0"/>
                  </a:moveTo>
                  <a:lnTo>
                    <a:pt x="17068800" y="0"/>
                  </a:lnTo>
                  <a:lnTo>
                    <a:pt x="17068800" y="731520"/>
                  </a:lnTo>
                  <a:lnTo>
                    <a:pt x="0" y="731520"/>
                  </a:lnTo>
                  <a:close/>
                </a:path>
              </a:pathLst>
            </a:custGeom>
            <a:blipFill>
              <a:blip r:embed="rId1">
                <a:alphaModFix amt="0"/>
              </a:blip>
              <a:stretch>
                <a:fillRect t="-404650" b="-404650"/>
              </a:stretch>
            </a:blipFill>
          </p:spPr>
        </p:sp>
        <p:sp>
          <p:nvSpPr>
            <p:cNvPr id="4" name="TextBox 4"/>
            <p:cNvSpPr txBox="1"/>
            <p:nvPr/>
          </p:nvSpPr>
          <p:spPr>
            <a:xfrm>
              <a:off x="0" y="-38100"/>
              <a:ext cx="17068800" cy="769620"/>
            </a:xfrm>
            <a:prstGeom prst="rect">
              <a:avLst/>
            </a:prstGeom>
          </p:spPr>
          <p:txBody>
            <a:bodyPr lIns="0" tIns="0" rIns="0" bIns="0" rtlCol="0" anchor="ctr"/>
            <a:lstStyle/>
            <a:p>
              <a:pPr algn="l">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T47 · Kỹ thuật mạng cho game thời gian thực · Lập trình mạng</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5" name="Group 5"/>
          <p:cNvGrpSpPr/>
          <p:nvPr/>
        </p:nvGrpSpPr>
        <p:grpSpPr>
          <a:xfrm rot="0">
            <a:off x="914400" y="768096"/>
            <a:ext cx="14081760" cy="1097280"/>
            <a:chOff x="0" y="0"/>
            <a:chExt cx="18775680" cy="1463040"/>
          </a:xfrm>
        </p:grpSpPr>
        <p:sp>
          <p:nvSpPr>
            <p:cNvPr id="6" name="Freeform 6"/>
            <p:cNvSpPr/>
            <p:nvPr/>
          </p:nvSpPr>
          <p:spPr>
            <a:xfrm>
              <a:off x="0" y="0"/>
              <a:ext cx="18775680" cy="1463040"/>
            </a:xfrm>
            <a:custGeom>
              <a:avLst/>
              <a:gdLst/>
              <a:ahLst/>
              <a:cxnLst/>
              <a:rect l="l" t="t" r="r" b="b"/>
              <a:pathLst>
                <a:path w="18775680" h="1463040">
                  <a:moveTo>
                    <a:pt x="0" y="0"/>
                  </a:moveTo>
                  <a:lnTo>
                    <a:pt x="18775680" y="0"/>
                  </a:lnTo>
                  <a:lnTo>
                    <a:pt x="18775680" y="1463040"/>
                  </a:lnTo>
                  <a:lnTo>
                    <a:pt x="0" y="1463040"/>
                  </a:lnTo>
                  <a:close/>
                </a:path>
              </a:pathLst>
            </a:custGeom>
            <a:blipFill>
              <a:blip r:embed="rId1">
                <a:alphaModFix amt="0"/>
              </a:blip>
              <a:stretch>
                <a:fillRect t="-200057" b="-200057"/>
              </a:stretch>
            </a:blipFill>
          </p:spPr>
        </p:sp>
        <p:sp>
          <p:nvSpPr>
            <p:cNvPr id="7" name="TextBox 7"/>
            <p:cNvSpPr txBox="1"/>
            <p:nvPr/>
          </p:nvSpPr>
          <p:spPr>
            <a:xfrm>
              <a:off x="0" y="-9525"/>
              <a:ext cx="18775680" cy="1472565"/>
            </a:xfrm>
            <a:prstGeom prst="rect">
              <a:avLst/>
            </a:prstGeom>
          </p:spPr>
          <p:txBody>
            <a:bodyPr lIns="0" tIns="0" rIns="0" bIns="0" rtlCol="0" anchor="ctr"/>
            <a:lstStyle/>
            <a:p>
              <a:pPr algn="l">
                <a:lnSpc>
                  <a:spcPts val="6900"/>
                </a:lnSpc>
              </a:pPr>
              <a:r>
                <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rPr>
                <a:t>Mạng không hoàn hảo</a:t>
              </a:r>
              <a:endPar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8" name="Group 8"/>
          <p:cNvGrpSpPr/>
          <p:nvPr/>
        </p:nvGrpSpPr>
        <p:grpSpPr>
          <a:xfrm rot="0">
            <a:off x="15257783" y="682247"/>
            <a:ext cx="2128523" cy="647195"/>
            <a:chOff x="0" y="0"/>
            <a:chExt cx="2838031" cy="862927"/>
          </a:xfrm>
        </p:grpSpPr>
        <p:sp>
          <p:nvSpPr>
            <p:cNvPr id="9" name="Freeform 9"/>
            <p:cNvSpPr/>
            <p:nvPr/>
          </p:nvSpPr>
          <p:spPr>
            <a:xfrm>
              <a:off x="0" y="0"/>
              <a:ext cx="2837942" cy="862838"/>
            </a:xfrm>
            <a:custGeom>
              <a:avLst/>
              <a:gdLst/>
              <a:ahLst/>
              <a:cxnLst/>
              <a:rect l="l" t="t" r="r" b="b"/>
              <a:pathLst>
                <a:path w="2837942" h="862838">
                  <a:moveTo>
                    <a:pt x="0" y="431419"/>
                  </a:moveTo>
                  <a:cubicBezTo>
                    <a:pt x="0" y="193167"/>
                    <a:pt x="193167" y="0"/>
                    <a:pt x="431419" y="0"/>
                  </a:cubicBezTo>
                  <a:lnTo>
                    <a:pt x="2406523" y="0"/>
                  </a:lnTo>
                  <a:cubicBezTo>
                    <a:pt x="2644775" y="0"/>
                    <a:pt x="2837942" y="193167"/>
                    <a:pt x="2837942" y="431419"/>
                  </a:cubicBezTo>
                  <a:cubicBezTo>
                    <a:pt x="2837942" y="669671"/>
                    <a:pt x="2644775" y="862838"/>
                    <a:pt x="2406523" y="862838"/>
                  </a:cubicBezTo>
                  <a:lnTo>
                    <a:pt x="431419" y="862838"/>
                  </a:lnTo>
                  <a:cubicBezTo>
                    <a:pt x="193167" y="862965"/>
                    <a:pt x="0" y="669798"/>
                    <a:pt x="0" y="431419"/>
                  </a:cubicBezTo>
                  <a:close/>
                </a:path>
              </a:pathLst>
            </a:custGeom>
            <a:solidFill>
              <a:srgbClr val="00897B"/>
            </a:solidFill>
            <a:ln w="25400" cap="sq">
              <a:solidFill>
                <a:srgbClr val="00897B"/>
              </a:solidFill>
              <a:prstDash val="solid"/>
              <a:miter/>
            </a:ln>
          </p:spPr>
        </p:sp>
      </p:grpSp>
      <p:grpSp>
        <p:nvGrpSpPr>
          <p:cNvPr id="10" name="Group 10"/>
          <p:cNvGrpSpPr/>
          <p:nvPr/>
        </p:nvGrpSpPr>
        <p:grpSpPr>
          <a:xfrm rot="0">
            <a:off x="15270480" y="694944"/>
            <a:ext cx="2103120" cy="621792"/>
            <a:chOff x="0" y="0"/>
            <a:chExt cx="2804160" cy="829056"/>
          </a:xfrm>
        </p:grpSpPr>
        <p:sp>
          <p:nvSpPr>
            <p:cNvPr id="11" name="Freeform 11"/>
            <p:cNvSpPr/>
            <p:nvPr/>
          </p:nvSpPr>
          <p:spPr>
            <a:xfrm>
              <a:off x="0" y="0"/>
              <a:ext cx="2804160" cy="829056"/>
            </a:xfrm>
            <a:custGeom>
              <a:avLst/>
              <a:gdLst/>
              <a:ahLst/>
              <a:cxnLst/>
              <a:rect l="l" t="t" r="r" b="b"/>
              <a:pathLst>
                <a:path w="2804160" h="829056">
                  <a:moveTo>
                    <a:pt x="0" y="0"/>
                  </a:moveTo>
                  <a:lnTo>
                    <a:pt x="2804160" y="0"/>
                  </a:lnTo>
                  <a:lnTo>
                    <a:pt x="2804160" y="829056"/>
                  </a:lnTo>
                  <a:lnTo>
                    <a:pt x="0" y="829056"/>
                  </a:lnTo>
                  <a:close/>
                </a:path>
              </a:pathLst>
            </a:custGeom>
            <a:blipFill>
              <a:blip r:embed="rId1">
                <a:alphaModFix amt="0"/>
              </a:blip>
              <a:stretch>
                <a:fillRect t="-15905" b="-15905"/>
              </a:stretch>
            </a:blipFill>
          </p:spPr>
        </p:sp>
        <p:sp>
          <p:nvSpPr>
            <p:cNvPr id="12" name="TextBox 12"/>
            <p:cNvSpPr txBox="1"/>
            <p:nvPr/>
          </p:nvSpPr>
          <p:spPr>
            <a:xfrm>
              <a:off x="0" y="-47625"/>
              <a:ext cx="2804160" cy="876681"/>
            </a:xfrm>
            <a:prstGeom prst="rect">
              <a:avLst/>
            </a:prstGeom>
          </p:spPr>
          <p:txBody>
            <a:bodyPr lIns="0" tIns="0" rIns="0" bIns="0" rtlCol="0" anchor="ctr"/>
            <a:lstStyle/>
            <a:p>
              <a:pPr algn="ctr">
                <a:lnSpc>
                  <a:spcPts val="2640"/>
                </a:lnSpc>
              </a:pPr>
              <a:r>
                <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rPr>
                <a:t>#1</a:t>
              </a:r>
              <a:endPar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3" name="Group 13"/>
          <p:cNvGrpSpPr/>
          <p:nvPr/>
        </p:nvGrpSpPr>
        <p:grpSpPr>
          <a:xfrm rot="0">
            <a:off x="914400" y="8001000"/>
            <a:ext cx="10424160" cy="822960"/>
            <a:chOff x="0" y="0"/>
            <a:chExt cx="13898880" cy="1097280"/>
          </a:xfrm>
        </p:grpSpPr>
        <p:sp>
          <p:nvSpPr>
            <p:cNvPr id="14" name="Freeform 14"/>
            <p:cNvSpPr/>
            <p:nvPr/>
          </p:nvSpPr>
          <p:spPr>
            <a:xfrm>
              <a:off x="0" y="0"/>
              <a:ext cx="13898880" cy="1097280"/>
            </a:xfrm>
            <a:custGeom>
              <a:avLst/>
              <a:gdLst/>
              <a:ahLst/>
              <a:cxnLst/>
              <a:rect l="l" t="t" r="r" b="b"/>
              <a:pathLst>
                <a:path w="13898880" h="1097280">
                  <a:moveTo>
                    <a:pt x="0" y="0"/>
                  </a:moveTo>
                  <a:lnTo>
                    <a:pt x="13898880" y="0"/>
                  </a:lnTo>
                  <a:lnTo>
                    <a:pt x="13898880" y="1097280"/>
                  </a:lnTo>
                  <a:lnTo>
                    <a:pt x="0" y="1097280"/>
                  </a:lnTo>
                  <a:close/>
                </a:path>
              </a:pathLst>
            </a:custGeom>
            <a:blipFill>
              <a:blip r:embed="rId1">
                <a:alphaModFix amt="0"/>
              </a:blip>
              <a:stretch>
                <a:fillRect t="-196810" b="-196810"/>
              </a:stretch>
            </a:blipFill>
          </p:spPr>
        </p:sp>
        <p:sp>
          <p:nvSpPr>
            <p:cNvPr id="15" name="TextBox 15"/>
            <p:cNvSpPr txBox="1"/>
            <p:nvPr/>
          </p:nvSpPr>
          <p:spPr>
            <a:xfrm>
              <a:off x="0" y="-19050"/>
              <a:ext cx="13898880" cy="1116330"/>
            </a:xfrm>
            <a:prstGeom prst="rect">
              <a:avLst/>
            </a:prstGeom>
          </p:spPr>
          <p:txBody>
            <a:bodyPr lIns="0" tIns="0" rIns="0" bIns="0" rtlCol="0" anchor="ctr"/>
            <a:lstStyle/>
            <a:p>
              <a:pPr algn="l">
                <a:lnSpc>
                  <a:spcPts val="4320"/>
                </a:lnSpc>
              </a:pPr>
              <a:r>
                <a:rPr lang="en-US" sz="3600" b="1" i="1">
                  <a:solidFill>
                    <a:srgbClr val="00897B"/>
                  </a:solidFill>
                  <a:latin typeface="Times New Roman" panose="02020603050405020304"/>
                  <a:ea typeface="Times New Roman" panose="02020603050405020304"/>
                  <a:cs typeface="Times New Roman" panose="02020603050405020304"/>
                  <a:sym typeface="Times New Roman" panose="02020603050405020304"/>
                </a:rPr>
                <a:t>Không thể loại bỏ, chỉ có thể che giấu</a:t>
              </a:r>
              <a:endParaRPr lang="en-US" sz="3600" b="1" i="1">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1" name="TextBox 21"/>
          <p:cNvSpPr txBox="1"/>
          <p:nvPr/>
        </p:nvSpPr>
        <p:spPr>
          <a:xfrm>
            <a:off x="914400" y="384048"/>
            <a:ext cx="13898880" cy="559689"/>
          </a:xfrm>
          <a:prstGeom prst="rect">
            <a:avLst/>
          </a:prstGeom>
        </p:spPr>
        <p:txBody>
          <a:bodyPr lIns="0" tIns="0" rIns="0" bIns="0" rtlCol="0" anchor="t">
            <a:spAutoFit/>
          </a:bodyPr>
          <a:lstStyle/>
          <a:p>
            <a:pPr algn="l">
              <a:lnSpc>
                <a:spcPts val="2640"/>
              </a:lnSpc>
            </a:pPr>
            <a:r>
              <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VẤN ĐỀ GỐC</a:t>
            </a:r>
            <a:endPar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 name="TextBox 23"/>
          <p:cNvSpPr txBox="1"/>
          <p:nvPr/>
        </p:nvSpPr>
        <p:spPr>
          <a:xfrm>
            <a:off x="16550640" y="9517380"/>
            <a:ext cx="731520" cy="495300"/>
          </a:xfrm>
          <a:prstGeom prst="rect">
            <a:avLst/>
          </a:prstGeom>
        </p:spPr>
        <p:txBody>
          <a:bodyPr lIns="0" tIns="0" rIns="0" bIns="0" rtlCol="0" anchor="t">
            <a:spAutoFit/>
          </a:bodyPr>
          <a:lstStyle/>
          <a:p>
            <a:pPr algn="r">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6</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037" name="Card 1"/>
          <p:cNvSpPr/>
          <p:nvPr/>
        </p:nvSpPr>
        <p:spPr>
          <a:xfrm>
            <a:off x="914400" y="2423160"/>
            <a:ext cx="5242560" cy="5394960"/>
          </a:xfrm>
          <a:prstGeom prst="roundRect">
            <a:avLst>
              <a:gd name="adj" fmla="val 4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8" name="Card 1 head"/>
          <p:cNvSpPr txBox="1"/>
          <p:nvPr/>
        </p:nvSpPr>
        <p:spPr>
          <a:xfrm>
            <a:off x="1234440" y="2651760"/>
            <a:ext cx="4602480" cy="548640"/>
          </a:xfrm>
          <a:prstGeom prst="rect">
            <a:avLst/>
          </a:prstGeom>
          <a:noFill/>
        </p:spPr>
        <p:txBody>
          <a:bodyPr wrap="square" lIns="0" tIns="0" rIns="0" bIns="0" anchor="t">
            <a:spAutoFit/>
          </a:bodyPr>
          <a:lstStyle/>
          <a:p>
            <a:r>
              <a:rPr sz="3000" b="1" i="0">
                <a:solidFill>
                  <a:srgbClr val="00897B"/>
                </a:solidFill>
                <a:latin typeface="Times New Roman"/>
                <a:ea typeface="Times New Roman"/>
                <a:cs typeface="Times New Roman"/>
              </a:rPr>
              <a:t>Độ trễ </a:t>
            </a:r>
            <a:r>
              <a:rPr sz="2200" b="0" i="1">
                <a:solidFill>
                  <a:srgbClr val="5B6B82"/>
                </a:solidFill>
                <a:latin typeface="Times New Roman"/>
                <a:ea typeface="Times New Roman"/>
                <a:cs typeface="Times New Roman"/>
              </a:rPr>
              <a:t>(latency)</a:t>
            </a:r>
          </a:p>
        </p:txBody>
      </p:sp>
      <p:sp>
        <p:nvSpPr>
          <p:cNvPr id="9039" name="Card 1 stat"/>
          <p:cNvSpPr txBox="1"/>
          <p:nvPr/>
        </p:nvSpPr>
        <p:spPr>
          <a:xfrm>
            <a:off x="1234440" y="3291840"/>
            <a:ext cx="4602480" cy="1005840"/>
          </a:xfrm>
          <a:prstGeom prst="rect">
            <a:avLst/>
          </a:prstGeom>
          <a:noFill/>
        </p:spPr>
        <p:txBody>
          <a:bodyPr wrap="square" lIns="0" tIns="0" rIns="0" bIns="0" anchor="t">
            <a:spAutoFit/>
          </a:bodyPr>
          <a:lstStyle/>
          <a:p>
            <a:r>
              <a:rPr sz="4400" b="1" i="0">
                <a:solidFill>
                  <a:srgbClr val="14213D"/>
                </a:solidFill>
                <a:latin typeface="Times New Roman"/>
                <a:ea typeface="Times New Roman"/>
                <a:cs typeface="Times New Roman"/>
              </a:rPr>
              <a:t>30–60 ms</a:t>
            </a:r>
          </a:p>
          <a:p>
            <a:r>
              <a:rPr sz="2000" b="0" i="1">
                <a:solidFill>
                  <a:srgbClr val="5B6B82"/>
                </a:solidFill>
                <a:latin typeface="Times New Roman"/>
                <a:ea typeface="Times New Roman"/>
                <a:cs typeface="Times New Roman"/>
              </a:rPr>
              <a:t>ping Hà Nội → server Singapore</a:t>
            </a:r>
          </a:p>
        </p:txBody>
      </p:sp>
      <p:sp>
        <p:nvSpPr>
          <p:cNvPr id="9040" name="Card 1 body"/>
          <p:cNvSpPr txBox="1"/>
          <p:nvPr/>
        </p:nvSpPr>
        <p:spPr>
          <a:xfrm>
            <a:off x="1234440" y="4434840"/>
            <a:ext cx="4602480" cy="3063240"/>
          </a:xfrm>
          <a:prstGeom prst="rect">
            <a:avLst/>
          </a:prstGeom>
          <a:noFill/>
        </p:spPr>
        <p:txBody>
          <a:bodyPr wrap="square" lIns="0" tIns="0" rIns="0" bIns="0" anchor="t">
            <a:spAutoFit/>
          </a:bodyPr>
          <a:lstStyle/>
          <a:p>
            <a:pPr>
              <a:lnSpc>
                <a:spcPts val="2640"/>
              </a:lnSpc>
            </a:pPr>
            <a:r>
              <a:rPr sz="2200" b="1" i="0">
                <a:solidFill>
                  <a:srgbClr val="14213D"/>
                </a:solidFill>
                <a:latin typeface="Times New Roman"/>
                <a:ea typeface="Times New Roman"/>
                <a:cs typeface="Times New Roman"/>
              </a:rPr>
              <a:t>Là gì: </a:t>
            </a:r>
            <a:r>
              <a:rPr sz="2200" b="0" i="0">
                <a:solidFill>
                  <a:srgbClr val="14213D"/>
                </a:solidFill>
                <a:latin typeface="Times New Roman"/>
                <a:ea typeface="Times New Roman"/>
                <a:cs typeface="Times New Roman"/>
              </a:rPr>
              <a:t>thời gian một gói tin đi từ máy này tới máy kia. Ping = thời gian đi + về.</a:t>
            </a:r>
          </a:p>
          <a:p>
            <a:pPr>
              <a:lnSpc>
                <a:spcPts val="2640"/>
              </a:lnSpc>
              <a:spcBef>
                <a:spcPts val="900"/>
              </a:spcBef>
            </a:pPr>
            <a:r>
              <a:rPr sz="2200" b="1" i="0">
                <a:solidFill>
                  <a:srgbClr val="14213D"/>
                </a:solidFill>
                <a:latin typeface="Times New Roman"/>
                <a:ea typeface="Times New Roman"/>
                <a:cs typeface="Times New Roman"/>
              </a:rPr>
              <a:t>Ví dụ: </a:t>
            </a:r>
            <a:r>
              <a:rPr sz="2200" b="0" i="0">
                <a:solidFill>
                  <a:srgbClr val="14213D"/>
                </a:solidFill>
                <a:latin typeface="Times New Roman"/>
                <a:ea typeface="Times New Roman"/>
                <a:cs typeface="Times New Roman"/>
              </a:rPr>
              <a:t>bấm D, gói tin mất ~25 ms mới tới server, ảnh trạng thái mới lại mất ~25 ms để về. Màn 60 khung hình/giây vẽ 1 khung mỗi 16,7 ms, nên ping 50 ms là nhân vật trễ ~3 khung hình.</a:t>
            </a:r>
          </a:p>
        </p:txBody>
      </p:sp>
      <p:sp>
        <p:nvSpPr>
          <p:cNvPr id="9041" name="Card 2"/>
          <p:cNvSpPr/>
          <p:nvPr/>
        </p:nvSpPr>
        <p:spPr>
          <a:xfrm>
            <a:off x="6522720" y="2423160"/>
            <a:ext cx="5242560" cy="5394960"/>
          </a:xfrm>
          <a:prstGeom prst="roundRect">
            <a:avLst>
              <a:gd name="adj" fmla="val 4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2" name="Card 2 head"/>
          <p:cNvSpPr txBox="1"/>
          <p:nvPr/>
        </p:nvSpPr>
        <p:spPr>
          <a:xfrm>
            <a:off x="6842760" y="2651760"/>
            <a:ext cx="4602480" cy="548640"/>
          </a:xfrm>
          <a:prstGeom prst="rect">
            <a:avLst/>
          </a:prstGeom>
          <a:noFill/>
        </p:spPr>
        <p:txBody>
          <a:bodyPr wrap="square" lIns="0" tIns="0" rIns="0" bIns="0" anchor="t">
            <a:spAutoFit/>
          </a:bodyPr>
          <a:lstStyle/>
          <a:p>
            <a:r>
              <a:rPr sz="3000" b="1" i="0">
                <a:solidFill>
                  <a:srgbClr val="00897B"/>
                </a:solidFill>
                <a:latin typeface="Times New Roman"/>
                <a:ea typeface="Times New Roman"/>
                <a:cs typeface="Times New Roman"/>
              </a:rPr>
              <a:t>Dao động độ trễ </a:t>
            </a:r>
            <a:r>
              <a:rPr sz="2200" b="0" i="1">
                <a:solidFill>
                  <a:srgbClr val="5B6B82"/>
                </a:solidFill>
                <a:latin typeface="Times New Roman"/>
                <a:ea typeface="Times New Roman"/>
                <a:cs typeface="Times New Roman"/>
              </a:rPr>
              <a:t>(jitter)</a:t>
            </a:r>
          </a:p>
        </p:txBody>
      </p:sp>
      <p:sp>
        <p:nvSpPr>
          <p:cNvPr id="9043" name="Card 2 stat"/>
          <p:cNvSpPr txBox="1"/>
          <p:nvPr/>
        </p:nvSpPr>
        <p:spPr>
          <a:xfrm>
            <a:off x="6842760" y="3291840"/>
            <a:ext cx="4602480" cy="1005840"/>
          </a:xfrm>
          <a:prstGeom prst="rect">
            <a:avLst/>
          </a:prstGeom>
          <a:noFill/>
        </p:spPr>
        <p:txBody>
          <a:bodyPr wrap="square" lIns="0" tIns="0" rIns="0" bIns="0" anchor="t">
            <a:spAutoFit/>
          </a:bodyPr>
          <a:lstStyle/>
          <a:p>
            <a:r>
              <a:rPr sz="4400" b="1" i="0">
                <a:solidFill>
                  <a:srgbClr val="14213D"/>
                </a:solidFill>
                <a:latin typeface="Times New Roman"/>
                <a:ea typeface="Times New Roman"/>
                <a:cs typeface="Times New Roman"/>
              </a:rPr>
              <a:t>30 · 80 · 45 ms</a:t>
            </a:r>
          </a:p>
          <a:p>
            <a:r>
              <a:rPr sz="2000" b="0" i="1">
                <a:solidFill>
                  <a:srgbClr val="5B6B82"/>
                </a:solidFill>
                <a:latin typeface="Times New Roman"/>
                <a:ea typeface="Times New Roman"/>
                <a:cs typeface="Times New Roman"/>
              </a:rPr>
              <a:t>khoảng cách giữa các gói nhận được</a:t>
            </a:r>
          </a:p>
        </p:txBody>
      </p:sp>
      <p:sp>
        <p:nvSpPr>
          <p:cNvPr id="9044" name="Card 2 body"/>
          <p:cNvSpPr txBox="1"/>
          <p:nvPr/>
        </p:nvSpPr>
        <p:spPr>
          <a:xfrm>
            <a:off x="6842760" y="4434840"/>
            <a:ext cx="4602480" cy="3063240"/>
          </a:xfrm>
          <a:prstGeom prst="rect">
            <a:avLst/>
          </a:prstGeom>
          <a:noFill/>
        </p:spPr>
        <p:txBody>
          <a:bodyPr wrap="square" lIns="0" tIns="0" rIns="0" bIns="0" anchor="t">
            <a:spAutoFit/>
          </a:bodyPr>
          <a:lstStyle/>
          <a:p>
            <a:pPr>
              <a:lnSpc>
                <a:spcPts val="2640"/>
              </a:lnSpc>
            </a:pPr>
            <a:r>
              <a:rPr sz="2200" b="1" i="0">
                <a:solidFill>
                  <a:srgbClr val="14213D"/>
                </a:solidFill>
                <a:latin typeface="Times New Roman"/>
                <a:ea typeface="Times New Roman"/>
                <a:cs typeface="Times New Roman"/>
              </a:rPr>
              <a:t>Là gì: </a:t>
            </a:r>
            <a:r>
              <a:rPr sz="2200" b="0" i="0">
                <a:solidFill>
                  <a:srgbClr val="14213D"/>
                </a:solidFill>
                <a:latin typeface="Times New Roman"/>
                <a:ea typeface="Times New Roman"/>
                <a:cs typeface="Times New Roman"/>
              </a:rPr>
              <a:t>độ trễ mỗi gói một khác, nên gửi đều mà nhận không đều.</a:t>
            </a:r>
          </a:p>
          <a:p>
            <a:pPr>
              <a:lnSpc>
                <a:spcPts val="2640"/>
              </a:lnSpc>
              <a:spcBef>
                <a:spcPts val="900"/>
              </a:spcBef>
            </a:pPr>
            <a:r>
              <a:rPr sz="2200" b="1" i="0">
                <a:solidFill>
                  <a:srgbClr val="14213D"/>
                </a:solidFill>
                <a:latin typeface="Times New Roman"/>
                <a:ea typeface="Times New Roman"/>
                <a:cs typeface="Times New Roman"/>
              </a:rPr>
              <a:t>Ví dụ: </a:t>
            </a:r>
            <a:r>
              <a:rPr sz="2200" b="0" i="0">
                <a:solidFill>
                  <a:srgbClr val="14213D"/>
                </a:solidFill>
                <a:latin typeface="Times New Roman"/>
                <a:ea typeface="Times New Roman"/>
                <a:cs typeface="Times New Roman"/>
              </a:rPr>
              <a:t>server gửi vị trí đối thủ đều 50 ms một lần. Nếu vẽ ngay khi nhận, đối thủ lúc lao nhanh, lúc khựng lại. Giống xe buýt xuất bến đều 10 phút, nhưng tới trạm lúc 5 phút, lúc 15 phút.</a:t>
            </a:r>
          </a:p>
        </p:txBody>
      </p:sp>
      <p:sp>
        <p:nvSpPr>
          <p:cNvPr id="9045" name="Card 3"/>
          <p:cNvSpPr/>
          <p:nvPr/>
        </p:nvSpPr>
        <p:spPr>
          <a:xfrm>
            <a:off x="12131040" y="2423160"/>
            <a:ext cx="5242560" cy="5394960"/>
          </a:xfrm>
          <a:prstGeom prst="roundRect">
            <a:avLst>
              <a:gd name="adj" fmla="val 4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6" name="Card 3 head"/>
          <p:cNvSpPr txBox="1"/>
          <p:nvPr/>
        </p:nvSpPr>
        <p:spPr>
          <a:xfrm>
            <a:off x="12451080" y="2651760"/>
            <a:ext cx="4602480" cy="548640"/>
          </a:xfrm>
          <a:prstGeom prst="rect">
            <a:avLst/>
          </a:prstGeom>
          <a:noFill/>
        </p:spPr>
        <p:txBody>
          <a:bodyPr wrap="square" lIns="0" tIns="0" rIns="0" bIns="0" anchor="t">
            <a:spAutoFit/>
          </a:bodyPr>
          <a:lstStyle/>
          <a:p>
            <a:r>
              <a:rPr sz="3000" b="1" i="0">
                <a:solidFill>
                  <a:srgbClr val="00897B"/>
                </a:solidFill>
                <a:latin typeface="Times New Roman"/>
                <a:ea typeface="Times New Roman"/>
                <a:cs typeface="Times New Roman"/>
              </a:rPr>
              <a:t>Mất gói, sai thứ tự </a:t>
            </a:r>
            <a:r>
              <a:rPr sz="2200" b="0" i="1">
                <a:solidFill>
                  <a:srgbClr val="5B6B82"/>
                </a:solidFill>
                <a:latin typeface="Times New Roman"/>
                <a:ea typeface="Times New Roman"/>
                <a:cs typeface="Times New Roman"/>
              </a:rPr>
              <a:t>(packet loss)</a:t>
            </a:r>
          </a:p>
        </p:txBody>
      </p:sp>
      <p:sp>
        <p:nvSpPr>
          <p:cNvPr id="9047" name="Card 3 stat"/>
          <p:cNvSpPr txBox="1"/>
          <p:nvPr/>
        </p:nvSpPr>
        <p:spPr>
          <a:xfrm>
            <a:off x="12451080" y="3291840"/>
            <a:ext cx="4602480" cy="1005840"/>
          </a:xfrm>
          <a:prstGeom prst="rect">
            <a:avLst/>
          </a:prstGeom>
          <a:noFill/>
        </p:spPr>
        <p:txBody>
          <a:bodyPr wrap="square" lIns="0" tIns="0" rIns="0" bIns="0" anchor="t">
            <a:spAutoFit/>
          </a:bodyPr>
          <a:lstStyle/>
          <a:p>
            <a:r>
              <a:rPr sz="4400" b="1" i="0">
                <a:solidFill>
                  <a:srgbClr val="14213D"/>
                </a:solidFill>
                <a:latin typeface="Times New Roman"/>
                <a:ea typeface="Times New Roman"/>
                <a:cs typeface="Times New Roman"/>
              </a:rPr>
              <a:t>0,5–2%</a:t>
            </a:r>
            <a:r>
              <a:rPr sz="2000" b="1" i="1">
                <a:solidFill>
                  <a:srgbClr val="D93A3F"/>
                </a:solidFill>
                <a:latin typeface="Times New Roman"/>
                <a:ea typeface="Times New Roman"/>
                <a:cs typeface="Times New Roman"/>
              </a:rPr>
              <a:t> (cần đo lại)</a:t>
            </a:r>
          </a:p>
          <a:p>
            <a:r>
              <a:rPr sz="2000" b="0" i="1">
                <a:solidFill>
                  <a:srgbClr val="5B6B82"/>
                </a:solidFill>
                <a:latin typeface="Times New Roman"/>
                <a:ea typeface="Times New Roman"/>
                <a:cs typeface="Times New Roman"/>
              </a:rPr>
              <a:t>tỉ lệ mất gói qua Wi-Fi / 4G</a:t>
            </a:r>
          </a:p>
        </p:txBody>
      </p:sp>
      <p:sp>
        <p:nvSpPr>
          <p:cNvPr id="9048" name="Card 3 body"/>
          <p:cNvSpPr txBox="1"/>
          <p:nvPr/>
        </p:nvSpPr>
        <p:spPr>
          <a:xfrm>
            <a:off x="12451080" y="4434840"/>
            <a:ext cx="4602480" cy="3063240"/>
          </a:xfrm>
          <a:prstGeom prst="rect">
            <a:avLst/>
          </a:prstGeom>
          <a:noFill/>
        </p:spPr>
        <p:txBody>
          <a:bodyPr wrap="square" lIns="0" tIns="0" rIns="0" bIns="0" anchor="t">
            <a:spAutoFit/>
          </a:bodyPr>
          <a:lstStyle/>
          <a:p>
            <a:pPr>
              <a:lnSpc>
                <a:spcPts val="2640"/>
              </a:lnSpc>
            </a:pPr>
            <a:r>
              <a:rPr sz="2200" b="1" i="0">
                <a:solidFill>
                  <a:srgbClr val="14213D"/>
                </a:solidFill>
                <a:latin typeface="Times New Roman"/>
                <a:ea typeface="Times New Roman"/>
                <a:cs typeface="Times New Roman"/>
              </a:rPr>
              <a:t>Là gì: </a:t>
            </a:r>
            <a:r>
              <a:rPr sz="2200" b="0" i="0">
                <a:solidFill>
                  <a:srgbClr val="14213D"/>
                </a:solidFill>
                <a:latin typeface="Times New Roman"/>
                <a:ea typeface="Times New Roman"/>
                <a:cs typeface="Times New Roman"/>
              </a:rPr>
              <a:t>gói không tới nơi, hoặc gói gửi sau lại tới trước.</a:t>
            </a:r>
          </a:p>
          <a:p>
            <a:pPr>
              <a:lnSpc>
                <a:spcPts val="2640"/>
              </a:lnSpc>
              <a:spcBef>
                <a:spcPts val="900"/>
              </a:spcBef>
            </a:pPr>
            <a:r>
              <a:rPr sz="2200" b="1" i="0">
                <a:solidFill>
                  <a:srgbClr val="14213D"/>
                </a:solidFill>
                <a:latin typeface="Times New Roman"/>
                <a:ea typeface="Times New Roman"/>
                <a:cs typeface="Times New Roman"/>
              </a:rPr>
              <a:t>Ví dụ: </a:t>
            </a:r>
            <a:r>
              <a:rPr sz="2200" b="0" i="0">
                <a:solidFill>
                  <a:srgbClr val="14213D"/>
                </a:solidFill>
                <a:latin typeface="Times New Roman"/>
                <a:ea typeface="Times New Roman"/>
                <a:cs typeface="Times New Roman"/>
              </a:rPr>
              <a:t>gửi 30 gói/giây, mất 1% là cứ ~3 giây mất 1 gói vị trí. Gói “x = 6” tới trước gói “x = 5” thì nhân vật bị kéo lùi.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35" name="Header band"/>
          <p:cNvSpPr/>
          <p:nvPr/>
        </p:nvSpPr>
        <p:spPr>
          <a:xfrm>
            <a:off x="0" y="0"/>
            <a:ext cx="18288000" cy="2103120"/>
          </a:xfrm>
          <a:prstGeom prst="rect">
            <a:avLst/>
          </a:prstGeom>
          <a:solidFill>
            <a:srgbClr val="14213D"/>
          </a:solidFill>
          <a:ln>
            <a:noFill/>
          </a:ln>
        </p:spPr>
      </p:sp>
      <p:sp>
        <p:nvSpPr>
          <p:cNvPr id="9036" name="Header rule"/>
          <p:cNvSpPr/>
          <p:nvPr/>
        </p:nvSpPr>
        <p:spPr>
          <a:xfrm>
            <a:off x="0" y="2103120"/>
            <a:ext cx="18288000" cy="64008"/>
          </a:xfrm>
          <a:prstGeom prst="rect">
            <a:avLst/>
          </a:prstGeom>
          <a:solidFill>
            <a:srgbClr val="00897B"/>
          </a:solidFill>
          <a:ln>
            <a:noFill/>
          </a:ln>
        </p:spPr>
      </p:sp>
      <p:grpSp>
        <p:nvGrpSpPr>
          <p:cNvPr id="2" name="Group 2"/>
          <p:cNvGrpSpPr/>
          <p:nvPr/>
        </p:nvGrpSpPr>
        <p:grpSpPr>
          <a:xfrm rot="0">
            <a:off x="914400" y="9509760"/>
            <a:ext cx="12801600" cy="548640"/>
            <a:chOff x="0" y="0"/>
            <a:chExt cx="17068800" cy="731520"/>
          </a:xfrm>
        </p:grpSpPr>
        <p:sp>
          <p:nvSpPr>
            <p:cNvPr id="3" name="Freeform 3"/>
            <p:cNvSpPr/>
            <p:nvPr/>
          </p:nvSpPr>
          <p:spPr>
            <a:xfrm>
              <a:off x="0" y="0"/>
              <a:ext cx="17068800" cy="731520"/>
            </a:xfrm>
            <a:custGeom>
              <a:avLst/>
              <a:gdLst/>
              <a:ahLst/>
              <a:cxnLst/>
              <a:rect l="l" t="t" r="r" b="b"/>
              <a:pathLst>
                <a:path w="17068800" h="731520">
                  <a:moveTo>
                    <a:pt x="0" y="0"/>
                  </a:moveTo>
                  <a:lnTo>
                    <a:pt x="17068800" y="0"/>
                  </a:lnTo>
                  <a:lnTo>
                    <a:pt x="17068800" y="731520"/>
                  </a:lnTo>
                  <a:lnTo>
                    <a:pt x="0" y="731520"/>
                  </a:lnTo>
                  <a:close/>
                </a:path>
              </a:pathLst>
            </a:custGeom>
            <a:blipFill>
              <a:blip r:embed="rId1">
                <a:alphaModFix amt="0"/>
              </a:blip>
              <a:stretch>
                <a:fillRect t="-404650" b="-404650"/>
              </a:stretch>
            </a:blipFill>
          </p:spPr>
        </p:sp>
        <p:sp>
          <p:nvSpPr>
            <p:cNvPr id="4" name="TextBox 4"/>
            <p:cNvSpPr txBox="1"/>
            <p:nvPr/>
          </p:nvSpPr>
          <p:spPr>
            <a:xfrm>
              <a:off x="0" y="-38100"/>
              <a:ext cx="17068800" cy="769620"/>
            </a:xfrm>
            <a:prstGeom prst="rect">
              <a:avLst/>
            </a:prstGeom>
          </p:spPr>
          <p:txBody>
            <a:bodyPr lIns="0" tIns="0" rIns="0" bIns="0" rtlCol="0" anchor="ctr"/>
            <a:lstStyle/>
            <a:p>
              <a:pPr algn="l">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T47 · Kỹ thuật mạng cho game thời gian thực · Lập trình mạng</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5" name="Group 5"/>
          <p:cNvGrpSpPr/>
          <p:nvPr/>
        </p:nvGrpSpPr>
        <p:grpSpPr>
          <a:xfrm rot="0">
            <a:off x="914400" y="768096"/>
            <a:ext cx="14081760" cy="1097280"/>
            <a:chOff x="0" y="0"/>
            <a:chExt cx="18775680" cy="1463040"/>
          </a:xfrm>
        </p:grpSpPr>
        <p:sp>
          <p:nvSpPr>
            <p:cNvPr id="6" name="Freeform 6"/>
            <p:cNvSpPr/>
            <p:nvPr/>
          </p:nvSpPr>
          <p:spPr>
            <a:xfrm>
              <a:off x="0" y="0"/>
              <a:ext cx="18775680" cy="1463040"/>
            </a:xfrm>
            <a:custGeom>
              <a:avLst/>
              <a:gdLst/>
              <a:ahLst/>
              <a:cxnLst/>
              <a:rect l="l" t="t" r="r" b="b"/>
              <a:pathLst>
                <a:path w="18775680" h="1463040">
                  <a:moveTo>
                    <a:pt x="0" y="0"/>
                  </a:moveTo>
                  <a:lnTo>
                    <a:pt x="18775680" y="0"/>
                  </a:lnTo>
                  <a:lnTo>
                    <a:pt x="18775680" y="1463040"/>
                  </a:lnTo>
                  <a:lnTo>
                    <a:pt x="0" y="1463040"/>
                  </a:lnTo>
                  <a:close/>
                </a:path>
              </a:pathLst>
            </a:custGeom>
            <a:blipFill>
              <a:blip r:embed="rId1">
                <a:alphaModFix amt="0"/>
              </a:blip>
              <a:stretch>
                <a:fillRect t="-200057" b="-200057"/>
              </a:stretch>
            </a:blipFill>
          </p:spPr>
        </p:sp>
        <p:sp>
          <p:nvSpPr>
            <p:cNvPr id="7" name="TextBox 7"/>
            <p:cNvSpPr txBox="1"/>
            <p:nvPr/>
          </p:nvSpPr>
          <p:spPr>
            <a:xfrm>
              <a:off x="0" y="-9525"/>
              <a:ext cx="18775680" cy="1472565"/>
            </a:xfrm>
            <a:prstGeom prst="rect">
              <a:avLst/>
            </a:prstGeom>
          </p:spPr>
          <p:txBody>
            <a:bodyPr lIns="0" tIns="0" rIns="0" bIns="0" rtlCol="0" anchor="ctr"/>
            <a:lstStyle/>
            <a:p>
              <a:pPr algn="l">
                <a:lnSpc>
                  <a:spcPts val="6900"/>
                </a:lnSpc>
              </a:pPr>
              <a:r>
                <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rPr>
                <a:t>TCP hay UDP?</a:t>
              </a:r>
              <a:endPar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8" name="Group 8"/>
          <p:cNvGrpSpPr/>
          <p:nvPr/>
        </p:nvGrpSpPr>
        <p:grpSpPr>
          <a:xfrm rot="0">
            <a:off x="15257783" y="682247"/>
            <a:ext cx="2128523" cy="647195"/>
            <a:chOff x="0" y="0"/>
            <a:chExt cx="2838031" cy="862927"/>
          </a:xfrm>
        </p:grpSpPr>
        <p:sp>
          <p:nvSpPr>
            <p:cNvPr id="9" name="Freeform 9"/>
            <p:cNvSpPr/>
            <p:nvPr/>
          </p:nvSpPr>
          <p:spPr>
            <a:xfrm>
              <a:off x="0" y="0"/>
              <a:ext cx="2837942" cy="862838"/>
            </a:xfrm>
            <a:custGeom>
              <a:avLst/>
              <a:gdLst/>
              <a:ahLst/>
              <a:cxnLst/>
              <a:rect l="l" t="t" r="r" b="b"/>
              <a:pathLst>
                <a:path w="2837942" h="862838">
                  <a:moveTo>
                    <a:pt x="0" y="431419"/>
                  </a:moveTo>
                  <a:cubicBezTo>
                    <a:pt x="0" y="193167"/>
                    <a:pt x="193167" y="0"/>
                    <a:pt x="431419" y="0"/>
                  </a:cubicBezTo>
                  <a:lnTo>
                    <a:pt x="2406523" y="0"/>
                  </a:lnTo>
                  <a:cubicBezTo>
                    <a:pt x="2644775" y="0"/>
                    <a:pt x="2837942" y="193167"/>
                    <a:pt x="2837942" y="431419"/>
                  </a:cubicBezTo>
                  <a:cubicBezTo>
                    <a:pt x="2837942" y="669671"/>
                    <a:pt x="2644775" y="862838"/>
                    <a:pt x="2406523" y="862838"/>
                  </a:cubicBezTo>
                  <a:lnTo>
                    <a:pt x="431419" y="862838"/>
                  </a:lnTo>
                  <a:cubicBezTo>
                    <a:pt x="193167" y="862965"/>
                    <a:pt x="0" y="669798"/>
                    <a:pt x="0" y="431419"/>
                  </a:cubicBezTo>
                  <a:close/>
                </a:path>
              </a:pathLst>
            </a:custGeom>
            <a:solidFill>
              <a:srgbClr val="00897B"/>
            </a:solidFill>
            <a:ln w="25400" cap="sq">
              <a:solidFill>
                <a:srgbClr val="00897B"/>
              </a:solidFill>
              <a:prstDash val="solid"/>
              <a:miter/>
            </a:ln>
          </p:spPr>
        </p:sp>
      </p:grpSp>
      <p:grpSp>
        <p:nvGrpSpPr>
          <p:cNvPr id="10" name="Group 10"/>
          <p:cNvGrpSpPr/>
          <p:nvPr/>
        </p:nvGrpSpPr>
        <p:grpSpPr>
          <a:xfrm rot="0">
            <a:off x="15270480" y="694944"/>
            <a:ext cx="2103120" cy="621792"/>
            <a:chOff x="0" y="0"/>
            <a:chExt cx="2804160" cy="829056"/>
          </a:xfrm>
        </p:grpSpPr>
        <p:sp>
          <p:nvSpPr>
            <p:cNvPr id="11" name="Freeform 11"/>
            <p:cNvSpPr/>
            <p:nvPr/>
          </p:nvSpPr>
          <p:spPr>
            <a:xfrm>
              <a:off x="0" y="0"/>
              <a:ext cx="2804160" cy="829056"/>
            </a:xfrm>
            <a:custGeom>
              <a:avLst/>
              <a:gdLst/>
              <a:ahLst/>
              <a:cxnLst/>
              <a:rect l="l" t="t" r="r" b="b"/>
              <a:pathLst>
                <a:path w="2804160" h="829056">
                  <a:moveTo>
                    <a:pt x="0" y="0"/>
                  </a:moveTo>
                  <a:lnTo>
                    <a:pt x="2804160" y="0"/>
                  </a:lnTo>
                  <a:lnTo>
                    <a:pt x="2804160" y="829056"/>
                  </a:lnTo>
                  <a:lnTo>
                    <a:pt x="0" y="829056"/>
                  </a:lnTo>
                  <a:close/>
                </a:path>
              </a:pathLst>
            </a:custGeom>
            <a:blipFill>
              <a:blip r:embed="rId1">
                <a:alphaModFix amt="0"/>
              </a:blip>
              <a:stretch>
                <a:fillRect t="-15905" b="-15905"/>
              </a:stretch>
            </a:blipFill>
          </p:spPr>
        </p:sp>
        <p:sp>
          <p:nvSpPr>
            <p:cNvPr id="12" name="TextBox 12"/>
            <p:cNvSpPr txBox="1"/>
            <p:nvPr/>
          </p:nvSpPr>
          <p:spPr>
            <a:xfrm>
              <a:off x="0" y="-47625"/>
              <a:ext cx="2804160" cy="876681"/>
            </a:xfrm>
            <a:prstGeom prst="rect">
              <a:avLst/>
            </a:prstGeom>
          </p:spPr>
          <p:txBody>
            <a:bodyPr lIns="0" tIns="0" rIns="0" bIns="0" rtlCol="0" anchor="ctr"/>
            <a:lstStyle/>
            <a:p>
              <a:pPr algn="ctr">
                <a:lnSpc>
                  <a:spcPts val="2640"/>
                </a:lnSpc>
              </a:pPr>
              <a:r>
                <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rPr>
                <a:t>#1</a:t>
              </a:r>
              <a:endPar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6" name="Group 16"/>
          <p:cNvGrpSpPr/>
          <p:nvPr/>
        </p:nvGrpSpPr>
        <p:grpSpPr>
          <a:xfrm rot="0">
            <a:off x="11941895" y="2395728"/>
            <a:ext cx="5447574" cy="6764141"/>
            <a:chOff x="0" y="0"/>
            <a:chExt cx="7479449" cy="9287078"/>
          </a:xfrm>
        </p:grpSpPr>
        <p:sp>
          <p:nvSpPr>
            <p:cNvPr id="17" name="Freeform 17"/>
            <p:cNvSpPr/>
            <p:nvPr/>
          </p:nvSpPr>
          <p:spPr>
            <a:xfrm>
              <a:off x="0" y="0"/>
              <a:ext cx="7479538" cy="9287167"/>
            </a:xfrm>
            <a:custGeom>
              <a:avLst/>
              <a:gdLst/>
              <a:ahLst/>
              <a:cxnLst/>
              <a:rect l="l" t="t" r="r" b="b"/>
              <a:pathLst>
                <a:path w="7479538" h="9287167">
                  <a:moveTo>
                    <a:pt x="0" y="203776"/>
                  </a:moveTo>
                  <a:cubicBezTo>
                    <a:pt x="0" y="91271"/>
                    <a:pt x="87884" y="0"/>
                    <a:pt x="196215" y="0"/>
                  </a:cubicBezTo>
                  <a:lnTo>
                    <a:pt x="7283323" y="0"/>
                  </a:lnTo>
                  <a:cubicBezTo>
                    <a:pt x="7391654" y="0"/>
                    <a:pt x="7479538" y="91271"/>
                    <a:pt x="7479538" y="203776"/>
                  </a:cubicBezTo>
                  <a:lnTo>
                    <a:pt x="7479538" y="9083394"/>
                  </a:lnTo>
                  <a:cubicBezTo>
                    <a:pt x="7479538" y="9195901"/>
                    <a:pt x="7391654" y="9287167"/>
                    <a:pt x="7283323" y="9287167"/>
                  </a:cubicBezTo>
                  <a:lnTo>
                    <a:pt x="196215" y="9287167"/>
                  </a:lnTo>
                  <a:cubicBezTo>
                    <a:pt x="87884" y="9287039"/>
                    <a:pt x="0" y="9195900"/>
                    <a:pt x="0" y="9083394"/>
                  </a:cubicBezTo>
                  <a:close/>
                </a:path>
              </a:pathLst>
            </a:custGeom>
            <a:blipFill>
              <a:blip r:embed="rId2"/>
              <a:stretch>
                <a:fillRect l="-1736" r="-1736"/>
              </a:stretch>
            </a:blipFill>
            <a:ln w="31750" cap="sq">
              <a:solidFill>
                <a:srgbClr val="00897B"/>
              </a:solidFill>
              <a:prstDash val="dash"/>
              <a:miter/>
            </a:ln>
          </p:spPr>
        </p:sp>
      </p:grpSp>
      <p:grpSp>
        <p:nvGrpSpPr>
          <p:cNvPr id="18" name="Group 18"/>
          <p:cNvGrpSpPr/>
          <p:nvPr/>
        </p:nvGrpSpPr>
        <p:grpSpPr>
          <a:xfrm rot="0">
            <a:off x="12161520" y="2743200"/>
            <a:ext cx="4846320" cy="512064"/>
            <a:chOff x="0" y="0"/>
            <a:chExt cx="6461760" cy="682752"/>
          </a:xfrm>
        </p:grpSpPr>
        <p:sp>
          <p:nvSpPr>
            <p:cNvPr id="19" name="Freeform 19"/>
            <p:cNvSpPr/>
            <p:nvPr/>
          </p:nvSpPr>
          <p:spPr>
            <a:xfrm>
              <a:off x="0" y="0"/>
              <a:ext cx="6461760" cy="682752"/>
            </a:xfrm>
            <a:custGeom>
              <a:avLst/>
              <a:gdLst/>
              <a:ahLst/>
              <a:cxnLst/>
              <a:rect l="l" t="t" r="r" b="b"/>
              <a:pathLst>
                <a:path w="6461760" h="682752">
                  <a:moveTo>
                    <a:pt x="0" y="0"/>
                  </a:moveTo>
                  <a:lnTo>
                    <a:pt x="6461760" y="0"/>
                  </a:lnTo>
                  <a:lnTo>
                    <a:pt x="6461760" y="682752"/>
                  </a:lnTo>
                  <a:lnTo>
                    <a:pt x="0" y="682752"/>
                  </a:lnTo>
                  <a:close/>
                </a:path>
              </a:pathLst>
            </a:custGeom>
            <a:blipFill>
              <a:blip r:embed="rId1">
                <a:alphaModFix amt="0"/>
              </a:blip>
              <a:stretch>
                <a:fillRect t="-134411" b="-134411"/>
              </a:stretch>
            </a:blipFill>
          </p:spPr>
        </p:sp>
        <p:sp>
          <p:nvSpPr>
            <p:cNvPr id="20" name="TextBox 20"/>
            <p:cNvSpPr txBox="1"/>
            <p:nvPr/>
          </p:nvSpPr>
          <p:spPr>
            <a:xfrm>
              <a:off x="0" y="-38100"/>
              <a:ext cx="6461760" cy="720852"/>
            </a:xfrm>
            <a:prstGeom prst="rect">
              <a:avLst/>
            </a:prstGeom>
          </p:spPr>
          <p:txBody>
            <a:bodyPr lIns="0" tIns="0" rIns="0" bIns="0" rtlCol="0" anchor="ctr"/>
            <a:lstStyle/>
            <a:p>
              <a:pPr algn="l">
                <a:lnSpc>
                  <a:spcPts val="2400"/>
                </a:lnSpc>
              </a:pPr>
            </a:p>
          </p:txBody>
        </p:sp>
      </p:grpSp>
      <p:sp>
        <p:nvSpPr>
          <p:cNvPr id="21" name="TextBox 21"/>
          <p:cNvSpPr txBox="1"/>
          <p:nvPr/>
        </p:nvSpPr>
        <p:spPr>
          <a:xfrm>
            <a:off x="914400" y="384048"/>
            <a:ext cx="13898880" cy="559689"/>
          </a:xfrm>
          <a:prstGeom prst="rect">
            <a:avLst/>
          </a:prstGeom>
        </p:spPr>
        <p:txBody>
          <a:bodyPr lIns="0" tIns="0" rIns="0" bIns="0" rtlCol="0" anchor="t">
            <a:spAutoFit/>
          </a:bodyPr>
          <a:lstStyle/>
          <a:p>
            <a:pPr algn="l">
              <a:lnSpc>
                <a:spcPts val="2640"/>
              </a:lnSpc>
            </a:pPr>
            <a:r>
              <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VẤN ĐỀ GỐC</a:t>
            </a:r>
            <a:endPar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 name="TextBox 23"/>
          <p:cNvSpPr txBox="1"/>
          <p:nvPr/>
        </p:nvSpPr>
        <p:spPr>
          <a:xfrm>
            <a:off x="16550640" y="9517380"/>
            <a:ext cx="731520" cy="495300"/>
          </a:xfrm>
          <a:prstGeom prst="rect">
            <a:avLst/>
          </a:prstGeom>
        </p:spPr>
        <p:txBody>
          <a:bodyPr lIns="0" tIns="0" rIns="0" bIns="0" rtlCol="0" anchor="t">
            <a:spAutoFit/>
          </a:bodyPr>
          <a:lstStyle/>
          <a:p>
            <a:pPr algn="r">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7</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0" name="Chain 5 VĐ"/>
          <p:cNvSpPr txBox="1"/>
          <p:nvPr/>
        </p:nvSpPr>
        <p:spPr>
          <a:xfrm>
            <a:off x="914400" y="6675120"/>
            <a:ext cx="10424160" cy="2194560"/>
          </a:xfrm>
          <a:prstGeom prst="rect">
            <a:avLst/>
          </a:prstGeom>
        </p:spPr>
        <p:txBody>
          <a:bodyPr lIns="0" tIns="0" rIns="0" bIns="0" rtlCol="0" anchor="t">
            <a:normAutofit/>
          </a:bodyPr>
          <a:lstStyle/>
          <a:p>
            <a:pPr algn="l">
              <a:lnSpc>
                <a:spcPts val="2640"/>
              </a:lnSpc>
            </a:pPr>
            <a:r>
              <a:rPr lang="vi-VN" sz="2200" b="1" spc="300">
                <a:solidFill>
                  <a:srgbClr val="5B6B82"/>
                </a:solidFill>
                <a:latin typeface="Times New Roman" panose="02020603050405020304"/>
                <a:ea typeface="Times New Roman" panose="02020603050405020304"/>
                <a:cs typeface="Times New Roman" panose="02020603050405020304"/>
                <a:sym typeface="Times New Roman" panose="02020603050405020304"/>
              </a:rPr>
              <a:t>CHIA THÀNH 5 VẤN ĐỀ CON</a:t>
            </a:r>
            <a:endParaRPr lang="vi-VN" sz="2200" b="1" spc="3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3360"/>
              </a:lnSpc>
              <a:spcBef>
                <a:spcPts val="900"/>
              </a:spcBef>
            </a:pPr>
            <a:r>
              <a:rPr lang="vi-VN" sz="2400" b="1">
                <a:solidFill>
                  <a:srgbClr val="00897B"/>
                </a:solidFill>
                <a:latin typeface="Times New Roman" panose="02020603050405020304"/>
                <a:ea typeface="Times New Roman" panose="02020603050405020304"/>
                <a:cs typeface="Times New Roman" panose="02020603050405020304"/>
                <a:sym typeface="Times New Roman" panose="02020603050405020304"/>
              </a:rPr>
              <a:t>VĐ1 </a:t>
            </a:r>
            <a:r>
              <a:rPr lang="vi-VN" sz="2400">
                <a:solidFill>
                  <a:srgbClr val="14213D"/>
                </a:solidFill>
                <a:latin typeface="Times New Roman" panose="02020603050405020304"/>
                <a:ea typeface="Times New Roman" panose="02020603050405020304"/>
                <a:cs typeface="Times New Roman" panose="02020603050405020304"/>
                <a:sym typeface="Times New Roman" panose="02020603050405020304"/>
              </a:rPr>
              <a:t>Ai quyết định</a:t>
            </a:r>
            <a:r>
              <a:rPr lang="vi-VN" sz="2400">
                <a:solidFill>
                  <a:srgbClr val="5B6B82"/>
                </a:solidFill>
                <a:latin typeface="Times New Roman" panose="02020603050405020304"/>
                <a:ea typeface="Times New Roman" panose="02020603050405020304"/>
                <a:cs typeface="Times New Roman" panose="02020603050405020304"/>
                <a:sym typeface="Times New Roman" panose="02020603050405020304"/>
              </a:rPr>
              <a:t>  →  </a:t>
            </a:r>
            <a:r>
              <a:rPr lang="vi-VN" sz="2400" b="1">
                <a:solidFill>
                  <a:srgbClr val="00897B"/>
                </a:solidFill>
                <a:latin typeface="Times New Roman" panose="02020603050405020304"/>
                <a:ea typeface="Times New Roman" panose="02020603050405020304"/>
                <a:cs typeface="Times New Roman" panose="02020603050405020304"/>
                <a:sym typeface="Times New Roman" panose="02020603050405020304"/>
              </a:rPr>
              <a:t>VĐ2 </a:t>
            </a:r>
            <a:r>
              <a:rPr lang="vi-VN" sz="2400">
                <a:solidFill>
                  <a:srgbClr val="14213D"/>
                </a:solidFill>
                <a:latin typeface="Times New Roman" panose="02020603050405020304"/>
                <a:ea typeface="Times New Roman" panose="02020603050405020304"/>
                <a:cs typeface="Times New Roman" panose="02020603050405020304"/>
                <a:sym typeface="Times New Roman" panose="02020603050405020304"/>
              </a:rPr>
              <a:t>Điều khiển ì</a:t>
            </a:r>
            <a:r>
              <a:rPr lang="vi-VN" sz="2400">
                <a:solidFill>
                  <a:srgbClr val="5B6B82"/>
                </a:solidFill>
                <a:latin typeface="Times New Roman" panose="02020603050405020304"/>
                <a:ea typeface="Times New Roman" panose="02020603050405020304"/>
                <a:cs typeface="Times New Roman" panose="02020603050405020304"/>
                <a:sym typeface="Times New Roman" panose="02020603050405020304"/>
              </a:rPr>
              <a:t>  →  </a:t>
            </a:r>
            <a:r>
              <a:rPr lang="vi-VN" sz="2400" b="1">
                <a:solidFill>
                  <a:srgbClr val="00897B"/>
                </a:solidFill>
                <a:latin typeface="Times New Roman" panose="02020603050405020304"/>
                <a:ea typeface="Times New Roman" panose="02020603050405020304"/>
                <a:cs typeface="Times New Roman" panose="02020603050405020304"/>
                <a:sym typeface="Times New Roman" panose="02020603050405020304"/>
              </a:rPr>
              <a:t>VĐ3 </a:t>
            </a:r>
            <a:r>
              <a:rPr lang="vi-VN" sz="2400">
                <a:solidFill>
                  <a:srgbClr val="14213D"/>
                </a:solidFill>
                <a:latin typeface="Times New Roman" panose="02020603050405020304"/>
                <a:ea typeface="Times New Roman" panose="02020603050405020304"/>
                <a:cs typeface="Times New Roman" panose="02020603050405020304"/>
                <a:sym typeface="Times New Roman" panose="02020603050405020304"/>
              </a:rPr>
              <a:t>Đối thủ giật</a:t>
            </a:r>
            <a:r>
              <a:rPr lang="vi-VN" sz="2400">
                <a:solidFill>
                  <a:srgbClr val="5B6B82"/>
                </a:solidFill>
                <a:latin typeface="Times New Roman" panose="02020603050405020304"/>
                <a:ea typeface="Times New Roman" panose="02020603050405020304"/>
                <a:cs typeface="Times New Roman" panose="02020603050405020304"/>
                <a:sym typeface="Times New Roman" panose="02020603050405020304"/>
              </a:rPr>
              <a:t>  →  </a:t>
            </a:r>
            <a:br>
              <a:rPr lang="vi-VN" sz="2400"/>
            </a:br>
            <a:r>
              <a:rPr lang="vi-VN" sz="2400" b="1">
                <a:solidFill>
                  <a:srgbClr val="00897B"/>
                </a:solidFill>
                <a:latin typeface="Times New Roman" panose="02020603050405020304"/>
                <a:ea typeface="Times New Roman" panose="02020603050405020304"/>
                <a:cs typeface="Times New Roman" panose="02020603050405020304"/>
                <a:sym typeface="Times New Roman" panose="02020603050405020304"/>
              </a:rPr>
              <a:t>VĐ4 </a:t>
            </a:r>
            <a:r>
              <a:rPr lang="vi-VN" sz="2400">
                <a:solidFill>
                  <a:srgbClr val="14213D"/>
                </a:solidFill>
                <a:latin typeface="Times New Roman" panose="02020603050405020304"/>
                <a:ea typeface="Times New Roman" panose="02020603050405020304"/>
                <a:cs typeface="Times New Roman" panose="02020603050405020304"/>
                <a:sym typeface="Times New Roman" panose="02020603050405020304"/>
              </a:rPr>
              <a:t>Không công bằng</a:t>
            </a:r>
            <a:r>
              <a:rPr lang="vi-VN" sz="2400">
                <a:solidFill>
                  <a:srgbClr val="5B6B82"/>
                </a:solidFill>
                <a:latin typeface="Times New Roman" panose="02020603050405020304"/>
                <a:ea typeface="Times New Roman" panose="02020603050405020304"/>
                <a:cs typeface="Times New Roman" panose="02020603050405020304"/>
                <a:sym typeface="Times New Roman" panose="02020603050405020304"/>
              </a:rPr>
              <a:t>  →  </a:t>
            </a:r>
            <a:r>
              <a:rPr lang="vi-VN" sz="2400" b="1">
                <a:solidFill>
                  <a:srgbClr val="00897B"/>
                </a:solidFill>
                <a:latin typeface="Times New Roman" panose="02020603050405020304"/>
                <a:ea typeface="Times New Roman" panose="02020603050405020304"/>
                <a:cs typeface="Times New Roman" panose="02020603050405020304"/>
                <a:sym typeface="Times New Roman" panose="02020603050405020304"/>
              </a:rPr>
              <a:t>VĐ5 </a:t>
            </a:r>
            <a:r>
              <a:rPr lang="vi-VN" sz="2400">
                <a:solidFill>
                  <a:srgbClr val="14213D"/>
                </a:solidFill>
                <a:latin typeface="Times New Roman" panose="02020603050405020304"/>
                <a:ea typeface="Times New Roman" panose="02020603050405020304"/>
                <a:cs typeface="Times New Roman" panose="02020603050405020304"/>
                <a:sym typeface="Times New Roman" panose="02020603050405020304"/>
              </a:rPr>
              <a:t>Dự đoán sai</a:t>
            </a:r>
            <a:endParaRPr lang="vi-VN" sz="24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3360"/>
              </a:lnSpc>
              <a:spcBef>
                <a:spcPts val="600"/>
              </a:spcBef>
            </a:pPr>
            <a:r>
              <a:rPr lang="vi-VN" sz="2400" i="1">
                <a:solidFill>
                  <a:srgbClr val="5B6B82"/>
                </a:solidFill>
                <a:latin typeface="Times New Roman" panose="02020603050405020304"/>
                <a:ea typeface="Times New Roman" panose="02020603050405020304"/>
                <a:cs typeface="Times New Roman" panose="02020603050405020304"/>
                <a:sym typeface="Times New Roman" panose="02020603050405020304"/>
              </a:rPr>
              <a:t>Giải pháp của vấn đề trước </a:t>
            </a:r>
            <a:r>
              <a:rPr lang="vi-VN" sz="2400" b="1" i="1">
                <a:solidFill>
                  <a:srgbClr val="5B6B82"/>
                </a:solidFill>
                <a:latin typeface="Times New Roman" panose="02020603050405020304"/>
                <a:ea typeface="Times New Roman" panose="02020603050405020304"/>
                <a:cs typeface="Times New Roman" panose="02020603050405020304"/>
                <a:sym typeface="Times New Roman" panose="02020603050405020304"/>
              </a:rPr>
              <a:t>làm lộ ra</a:t>
            </a:r>
            <a:r>
              <a:rPr lang="vi-VN" sz="2400" i="1">
                <a:solidFill>
                  <a:srgbClr val="5B6B82"/>
                </a:solidFill>
                <a:latin typeface="Times New Roman" panose="02020603050405020304"/>
                <a:ea typeface="Times New Roman" panose="02020603050405020304"/>
                <a:cs typeface="Times New Roman" panose="02020603050405020304"/>
                <a:sym typeface="Times New Roman" panose="02020603050405020304"/>
              </a:rPr>
              <a:t> vấn đề sau</a:t>
            </a:r>
            <a:endParaRPr lang="vi-VN" sz="2400" i="1">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037" name="TCP UDP"/>
          <p:cNvSpPr txBox="1"/>
          <p:nvPr/>
        </p:nvSpPr>
        <p:spPr>
          <a:xfrm>
            <a:off x="914400" y="2423160"/>
            <a:ext cx="10424160" cy="3840480"/>
          </a:xfrm>
          <a:prstGeom prst="rect">
            <a:avLst/>
          </a:prstGeom>
          <a:noFill/>
        </p:spPr>
        <p:txBody>
          <a:bodyPr wrap="square" lIns="0" tIns="0" rIns="0" bIns="0" anchor="t">
            <a:spAutoFit/>
          </a:bodyPr>
          <a:lstStyle/>
          <a:p>
            <a:pPr>
              <a:lnSpc>
                <a:spcPts val="3000"/>
              </a:lnSpc>
            </a:pPr>
            <a:r>
              <a:rPr sz="2800" b="1" i="0">
                <a:solidFill>
                  <a:srgbClr val="00897B"/>
                </a:solidFill>
                <a:latin typeface="Times New Roman"/>
                <a:ea typeface="Times New Roman"/>
                <a:cs typeface="Times New Roman"/>
              </a:rPr>
              <a:t>TCP</a:t>
            </a:r>
            <a:r>
              <a:rPr sz="2400" b="0" i="0">
                <a:solidFill>
                  <a:srgbClr val="14213D"/>
                </a:solidFill>
                <a:latin typeface="Times New Roman"/>
                <a:ea typeface="Times New Roman"/>
                <a:cs typeface="Times New Roman"/>
              </a:rPr>
              <a:t>: đảm bảo mọi gói tới </a:t>
            </a:r>
            <a:r>
              <a:rPr sz="2400" b="1" i="0">
                <a:solidFill>
                  <a:srgbClr val="14213D"/>
                </a:solidFill>
                <a:latin typeface="Times New Roman"/>
                <a:ea typeface="Times New Roman"/>
                <a:cs typeface="Times New Roman"/>
              </a:rPr>
              <a:t>đủ</a:t>
            </a:r>
            <a:r>
              <a:rPr sz="2400" b="0" i="0">
                <a:solidFill>
                  <a:srgbClr val="14213D"/>
                </a:solidFill>
                <a:latin typeface="Times New Roman"/>
                <a:ea typeface="Times New Roman"/>
                <a:cs typeface="Times New Roman"/>
              </a:rPr>
              <a:t> và </a:t>
            </a:r>
            <a:r>
              <a:rPr sz="2400" b="1" i="0">
                <a:solidFill>
                  <a:srgbClr val="14213D"/>
                </a:solidFill>
                <a:latin typeface="Times New Roman"/>
                <a:ea typeface="Times New Roman"/>
                <a:cs typeface="Times New Roman"/>
              </a:rPr>
              <a:t>đúng thứ tự</a:t>
            </a:r>
            <a:r>
              <a:rPr sz="2400" b="0" i="0">
                <a:solidFill>
                  <a:srgbClr val="14213D"/>
                </a:solidFill>
                <a:latin typeface="Times New Roman"/>
                <a:ea typeface="Times New Roman"/>
                <a:cs typeface="Times New Roman"/>
              </a:rPr>
              <a:t>.</a:t>
            </a:r>
          </a:p>
          <a:p>
            <a:pPr>
              <a:lnSpc>
                <a:spcPts val="3000"/>
              </a:lnSpc>
              <a:spcBef>
                <a:spcPts val="600"/>
              </a:spcBef>
            </a:pPr>
            <a:r>
              <a:rPr sz="2400" b="0" i="0">
                <a:solidFill>
                  <a:srgbClr val="5B6B82"/>
                </a:solidFill>
                <a:latin typeface="Times New Roman"/>
                <a:ea typeface="Times New Roman"/>
                <a:cs typeface="Times New Roman"/>
              </a:rPr>
              <a:t>Mất gói 2 thì gói 3, 4 đã tới vẫn bị giữ lại, chờ gói 2 được gửi lại (thêm ít nhất 1 ping). Hiện tượng này gọi là </a:t>
            </a:r>
            <a:r>
              <a:rPr sz="2400" b="1" i="0">
                <a:solidFill>
                  <a:srgbClr val="14213D"/>
                </a:solidFill>
                <a:latin typeface="Times New Roman"/>
                <a:ea typeface="Times New Roman"/>
                <a:cs typeface="Times New Roman"/>
              </a:rPr>
              <a:t>nghẽn đầu hàng</a:t>
            </a:r>
            <a:r>
              <a:rPr sz="2400" b="0" i="0">
                <a:solidFill>
                  <a:srgbClr val="5B6B82"/>
                </a:solidFill>
                <a:latin typeface="Times New Roman"/>
                <a:ea typeface="Times New Roman"/>
                <a:cs typeface="Times New Roman"/>
              </a:rPr>
              <a:t> (head-of-line blocking): đối thủ đứng hình rồi nhảy vọt.</a:t>
            </a:r>
          </a:p>
          <a:p>
            <a:pPr>
              <a:lnSpc>
                <a:spcPts val="3000"/>
              </a:lnSpc>
              <a:spcBef>
                <a:spcPts val="2000"/>
              </a:spcBef>
            </a:pPr>
            <a:r>
              <a:rPr sz="2800" b="1" i="0">
                <a:solidFill>
                  <a:srgbClr val="00897B"/>
                </a:solidFill>
                <a:latin typeface="Times New Roman"/>
                <a:ea typeface="Times New Roman"/>
                <a:cs typeface="Times New Roman"/>
              </a:rPr>
              <a:t>UDP</a:t>
            </a:r>
            <a:r>
              <a:rPr sz="2400" b="0" i="0">
                <a:solidFill>
                  <a:srgbClr val="14213D"/>
                </a:solidFill>
                <a:latin typeface="Times New Roman"/>
                <a:ea typeface="Times New Roman"/>
                <a:cs typeface="Times New Roman"/>
              </a:rPr>
              <a:t>: gửi rồi thôi, không gửi lại, không sắp thứ tự.</a:t>
            </a:r>
          </a:p>
          <a:p>
            <a:pPr>
              <a:lnSpc>
                <a:spcPts val="3000"/>
              </a:lnSpc>
              <a:spcBef>
                <a:spcPts val="600"/>
              </a:spcBef>
            </a:pPr>
            <a:r>
              <a:rPr sz="2400" b="0" i="0">
                <a:solidFill>
                  <a:srgbClr val="5B6B82"/>
                </a:solidFill>
                <a:latin typeface="Times New Roman"/>
                <a:ea typeface="Times New Roman"/>
                <a:cs typeface="Times New Roman"/>
              </a:rPr>
              <a:t>Gói 3, 4 tới là dùng ngay; gói 2 mất thì bỏ qua. Với vị trí nhân vật, gói cũ đã lỗi thời vì gói sau mang vị trí mới hơn, nên mất 1 gói gần như không ai thấy.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626"/>
        </a:solidFill>
        <a:effectLst/>
      </p:bgPr>
    </p:bg>
    <p:spTree>
      <p:nvGrpSpPr>
        <p:cNvPr id="1" name=""/>
        <p:cNvGrpSpPr/>
        <p:nvPr/>
      </p:nvGrpSpPr>
      <p:grpSpPr>
        <a:xfrm>
          <a:off x="0" y="0"/>
          <a:ext cx="0" cy="0"/>
          <a:chOff x="0" y="0"/>
          <a:chExt cx="0" cy="0"/>
        </a:xfrm>
      </p:grpSpPr>
      <p:sp>
        <p:nvSpPr>
          <p:cNvPr id="2" name="TextBox 2"/>
          <p:cNvSpPr txBox="1"/>
          <p:nvPr/>
        </p:nvSpPr>
        <p:spPr>
          <a:xfrm>
            <a:off x="1097280" y="2377440"/>
            <a:ext cx="10607040" cy="1234440"/>
          </a:xfrm>
          <a:prstGeom prst="rect">
            <a:avLst/>
          </a:prstGeom>
        </p:spPr>
        <p:txBody>
          <a:bodyPr lIns="0" tIns="0" rIns="0" bIns="0" rtlCol="0" anchor="t">
            <a:spAutoFit/>
          </a:bodyPr>
          <a:lstStyle/>
          <a:p>
            <a:pPr algn="l">
              <a:lnSpc>
                <a:spcPct val="90000"/>
              </a:lnSpc>
            </a:pPr>
            <a:r>
              <a:rPr lang="vi-VN" sz="9600" b="1" spc="200">
                <a:solidFill>
                  <a:srgbClr val="BFE8E3"/>
                </a:solidFill>
                <a:latin typeface="Times New Roman" panose="02020603050405020304"/>
                <a:ea typeface="Times New Roman" panose="02020603050405020304"/>
                <a:cs typeface="Times New Roman" panose="02020603050405020304"/>
                <a:sym typeface="Times New Roman" panose="02020603050405020304"/>
              </a:rPr>
              <a:t>PHẦN </a:t>
            </a:r>
            <a:r>
              <a:rPr lang="vi-VN" sz="9600" b="1" spc="200">
                <a:solidFill>
                  <a:srgbClr val="00897B"/>
                </a:solidFill>
                <a:latin typeface="Times New Roman" panose="02020603050405020304"/>
                <a:ea typeface="Times New Roman" panose="02020603050405020304"/>
                <a:cs typeface="Times New Roman" panose="02020603050405020304"/>
                <a:sym typeface="Times New Roman" panose="02020603050405020304"/>
              </a:rPr>
              <a:t>2</a:t>
            </a:r>
            <a:endParaRPr lang="vi-VN" sz="9600" b="1" spc="200">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TextBox 3"/>
          <p:cNvSpPr txBox="1"/>
          <p:nvPr/>
        </p:nvSpPr>
        <p:spPr>
          <a:xfrm>
            <a:off x="1097280" y="4160520"/>
            <a:ext cx="10607040" cy="2661285"/>
          </a:xfrm>
          <a:prstGeom prst="rect">
            <a:avLst/>
          </a:prstGeom>
        </p:spPr>
        <p:txBody>
          <a:bodyPr lIns="0" tIns="0" rIns="0" bIns="0" rtlCol="0" anchor="t">
            <a:spAutoFit/>
          </a:bodyPr>
          <a:lstStyle/>
          <a:p>
            <a:pPr algn="l">
              <a:lnSpc>
                <a:spcPts val="5760"/>
              </a:lnSpc>
            </a:pPr>
            <a:r>
              <a:rPr lang="en-US" sz="4800" b="1">
                <a:solidFill>
                  <a:srgbClr val="FFFFFF"/>
                </a:solidFill>
                <a:latin typeface="Times New Roman" panose="02020603050405020304"/>
                <a:ea typeface="Times New Roman" panose="02020603050405020304"/>
                <a:cs typeface="Times New Roman" panose="02020603050405020304"/>
                <a:sym typeface="Times New Roman" panose="02020603050405020304"/>
              </a:rPr>
              <a:t>Các vấn đề con và giải pháp</a:t>
            </a:r>
            <a:endParaRPr lang="en-US" sz="48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 name="TextBox 4"/>
          <p:cNvSpPr txBox="1"/>
          <p:nvPr/>
        </p:nvSpPr>
        <p:spPr>
          <a:xfrm>
            <a:off x="1097280" y="5212080"/>
            <a:ext cx="10607040" cy="3639185"/>
          </a:xfrm>
          <a:prstGeom prst="rect">
            <a:avLst/>
          </a:prstGeom>
        </p:spPr>
        <p:txBody>
          <a:bodyPr lIns="0" tIns="0" rIns="0" bIns="0" rtlCol="0" anchor="t">
            <a:spAutoFit/>
          </a:bodyPr>
          <a:lstStyle/>
          <a:p>
            <a:pPr marL="311150" indent="-311150" algn="l">
              <a:lnSpc>
                <a:spcPct val="100000"/>
              </a:lnSpc>
              <a:spcBef>
                <a:spcPts val="300"/>
              </a:spcBef>
            </a:pPr>
            <a:r>
              <a:rPr lang="en-US" sz="3200" b="1">
                <a:solidFill>
                  <a:srgbClr val="BFE8E3"/>
                </a:solidFill>
                <a:latin typeface="Times New Roman" panose="02020603050405020304"/>
                <a:ea typeface="Times New Roman" panose="02020603050405020304"/>
                <a:cs typeface="Times New Roman" panose="02020603050405020304"/>
                <a:sym typeface="Times New Roman" panose="02020603050405020304"/>
              </a:rPr>
              <a:t>Giải pháp của vấn đề trước làm lộ ra vấn đề sau</a:t>
            </a:r>
            <a:endParaRPr lang="en-US" sz="3200" b="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a:p>
            <a:pPr marL="311150" indent="-311150" algn="l">
              <a:lnSpc>
                <a:spcPct val="100000"/>
              </a:lnSpc>
              <a:spcBef>
                <a:spcPts val="300"/>
              </a:spcBef>
            </a:pPr>
            <a:r>
              <a:rPr lang="vi-VN" sz="3200" b="1">
                <a:solidFill>
                  <a:schemeClr val="bg1"/>
                </a:solidFill>
                <a:latin typeface="Times New Roman" panose="02020603050405020304"/>
                <a:ea typeface="Times New Roman" panose="02020603050405020304"/>
                <a:cs typeface="Times New Roman" panose="02020603050405020304"/>
                <a:sym typeface="Times New Roman" panose="02020603050405020304"/>
              </a:rPr>
              <a:t>a.	</a:t>
            </a:r>
            <a:r>
              <a:rPr lang="vi-VN" sz="3200">
                <a:solidFill>
                  <a:schemeClr val="bg1"/>
                </a:solidFill>
                <a:latin typeface="Times New Roman" panose="02020603050405020304"/>
                <a:ea typeface="Times New Roman" panose="02020603050405020304"/>
                <a:cs typeface="Times New Roman" panose="02020603050405020304"/>
                <a:sym typeface="Times New Roman" panose="02020603050405020304"/>
              </a:rPr>
              <a:t>VĐ1 Ai giữ quyền quyết định</a:t>
            </a:r>
            <a:endParaRPr lang="vi-VN" sz="3200">
              <a:solidFill>
                <a:schemeClr val="bg1"/>
              </a:solidFill>
              <a:latin typeface="Times New Roman" panose="02020603050405020304"/>
              <a:ea typeface="Times New Roman" panose="02020603050405020304"/>
              <a:cs typeface="Times New Roman" panose="02020603050405020304"/>
              <a:sym typeface="Times New Roman" panose="02020603050405020304"/>
            </a:endParaRPr>
          </a:p>
          <a:p>
            <a:pPr marL="311150" indent="-311150" algn="l">
              <a:lnSpc>
                <a:spcPct val="100000"/>
              </a:lnSpc>
              <a:spcBef>
                <a:spcPts val="300"/>
              </a:spcBef>
            </a:pPr>
            <a:r>
              <a:rPr lang="vi-VN" sz="3200" b="1">
                <a:solidFill>
                  <a:schemeClr val="bg1"/>
                </a:solidFill>
                <a:latin typeface="Times New Roman" panose="02020603050405020304"/>
                <a:ea typeface="Times New Roman" panose="02020603050405020304"/>
                <a:cs typeface="Times New Roman" panose="02020603050405020304"/>
                <a:sym typeface="Times New Roman" panose="02020603050405020304"/>
              </a:rPr>
              <a:t>b.</a:t>
            </a:r>
            <a:r>
              <a:rPr lang="vi-VN" sz="3200">
                <a:solidFill>
                  <a:schemeClr val="bg1"/>
                </a:solidFill>
                <a:latin typeface="Times New Roman" panose="02020603050405020304"/>
                <a:ea typeface="Times New Roman" panose="02020603050405020304"/>
                <a:cs typeface="Times New Roman" panose="02020603050405020304"/>
                <a:sym typeface="Times New Roman" panose="02020603050405020304"/>
              </a:rPr>
              <a:t>VĐ2 Điều khiển bị ì</a:t>
            </a:r>
            <a:endParaRPr lang="vi-VN" sz="3200">
              <a:solidFill>
                <a:schemeClr val="bg1"/>
              </a:solidFill>
              <a:latin typeface="Times New Roman" panose="02020603050405020304"/>
              <a:ea typeface="Times New Roman" panose="02020603050405020304"/>
              <a:cs typeface="Times New Roman" panose="02020603050405020304"/>
              <a:sym typeface="Times New Roman" panose="02020603050405020304"/>
            </a:endParaRPr>
          </a:p>
          <a:p>
            <a:pPr marL="311150" indent="-311150" algn="l">
              <a:lnSpc>
                <a:spcPct val="100000"/>
              </a:lnSpc>
              <a:spcBef>
                <a:spcPts val="300"/>
              </a:spcBef>
            </a:pPr>
            <a:r>
              <a:rPr lang="vi-VN" sz="3200" b="1">
                <a:solidFill>
                  <a:schemeClr val="bg1"/>
                </a:solidFill>
                <a:latin typeface="Times New Roman" panose="02020603050405020304"/>
                <a:ea typeface="Times New Roman" panose="02020603050405020304"/>
                <a:cs typeface="Times New Roman" panose="02020603050405020304"/>
                <a:sym typeface="Times New Roman" panose="02020603050405020304"/>
              </a:rPr>
              <a:t>c.	</a:t>
            </a:r>
            <a:r>
              <a:rPr lang="vi-VN" sz="3200">
                <a:solidFill>
                  <a:schemeClr val="bg1"/>
                </a:solidFill>
                <a:latin typeface="Times New Roman" panose="02020603050405020304"/>
                <a:ea typeface="Times New Roman" panose="02020603050405020304"/>
                <a:cs typeface="Times New Roman" panose="02020603050405020304"/>
                <a:sym typeface="Times New Roman" panose="02020603050405020304"/>
              </a:rPr>
              <a:t>VĐ3 Đối thủ giật</a:t>
            </a:r>
            <a:endParaRPr lang="vi-VN" sz="3200">
              <a:solidFill>
                <a:schemeClr val="bg1"/>
              </a:solidFill>
              <a:latin typeface="Times New Roman" panose="02020603050405020304"/>
              <a:ea typeface="Times New Roman" panose="02020603050405020304"/>
              <a:cs typeface="Times New Roman" panose="02020603050405020304"/>
              <a:sym typeface="Times New Roman" panose="02020603050405020304"/>
            </a:endParaRPr>
          </a:p>
          <a:p>
            <a:pPr marL="311150" indent="-311150" algn="l">
              <a:lnSpc>
                <a:spcPct val="100000"/>
              </a:lnSpc>
              <a:spcBef>
                <a:spcPts val="300"/>
              </a:spcBef>
            </a:pPr>
            <a:r>
              <a:rPr lang="vi-VN" sz="3200" b="1">
                <a:solidFill>
                  <a:schemeClr val="bg1"/>
                </a:solidFill>
                <a:latin typeface="Times New Roman" panose="02020603050405020304"/>
                <a:ea typeface="Times New Roman" panose="02020603050405020304"/>
                <a:cs typeface="Times New Roman" panose="02020603050405020304"/>
                <a:sym typeface="Times New Roman" panose="02020603050405020304"/>
              </a:rPr>
              <a:t>d.</a:t>
            </a:r>
            <a:r>
              <a:rPr lang="vi-VN" sz="3200">
                <a:solidFill>
                  <a:schemeClr val="bg1"/>
                </a:solidFill>
                <a:latin typeface="Times New Roman" panose="02020603050405020304"/>
                <a:ea typeface="Times New Roman" panose="02020603050405020304"/>
                <a:cs typeface="Times New Roman" panose="02020603050405020304"/>
                <a:sym typeface="Times New Roman" panose="02020603050405020304"/>
              </a:rPr>
              <a:t>VĐ4 Không công bằng</a:t>
            </a:r>
            <a:endParaRPr lang="vi-VN" sz="3200">
              <a:solidFill>
                <a:schemeClr val="bg1"/>
              </a:solidFill>
              <a:latin typeface="Times New Roman" panose="02020603050405020304"/>
              <a:ea typeface="Times New Roman" panose="02020603050405020304"/>
              <a:cs typeface="Times New Roman" panose="02020603050405020304"/>
              <a:sym typeface="Times New Roman" panose="02020603050405020304"/>
            </a:endParaRPr>
          </a:p>
          <a:p>
            <a:pPr marL="311150" indent="-311150" algn="l">
              <a:lnSpc>
                <a:spcPct val="100000"/>
              </a:lnSpc>
              <a:spcBef>
                <a:spcPts val="300"/>
              </a:spcBef>
            </a:pPr>
            <a:r>
              <a:rPr lang="vi-VN" sz="3200" b="1">
                <a:solidFill>
                  <a:schemeClr val="bg1"/>
                </a:solidFill>
                <a:latin typeface="Times New Roman" panose="02020603050405020304"/>
                <a:ea typeface="Times New Roman" panose="02020603050405020304"/>
                <a:cs typeface="Times New Roman" panose="02020603050405020304"/>
                <a:sym typeface="Times New Roman" panose="02020603050405020304"/>
              </a:rPr>
              <a:t>e.	</a:t>
            </a:r>
            <a:r>
              <a:rPr lang="vi-VN" sz="3200">
                <a:solidFill>
                  <a:schemeClr val="bg1"/>
                </a:solidFill>
                <a:latin typeface="Times New Roman" panose="02020603050405020304"/>
                <a:ea typeface="Times New Roman" panose="02020603050405020304"/>
                <a:cs typeface="Times New Roman" panose="02020603050405020304"/>
                <a:sym typeface="Times New Roman" panose="02020603050405020304"/>
              </a:rPr>
              <a:t>VĐ5 Dự đoán hành động sai</a:t>
            </a:r>
            <a:endParaRPr lang="vi-VN" sz="3200">
              <a:solidFill>
                <a:schemeClr val="bg1"/>
              </a:solidFill>
              <a:latin typeface="Times New Roman" panose="02020603050405020304"/>
              <a:ea typeface="Times New Roman" panose="02020603050405020304"/>
              <a:cs typeface="Times New Roman" panose="02020603050405020304"/>
              <a:sym typeface="Times New Roman" panose="02020603050405020304"/>
            </a:endParaRPr>
          </a:p>
          <a:p>
            <a:pPr marL="311150" indent="-311150" algn="l">
              <a:lnSpc>
                <a:spcPct val="100000"/>
              </a:lnSpc>
              <a:spcBef>
                <a:spcPts val="300"/>
              </a:spcBef>
            </a:pPr>
            <a:r>
              <a:rPr lang="vi-VN" sz="3200" b="1">
                <a:solidFill>
                  <a:schemeClr val="bg1"/>
                </a:solidFill>
                <a:latin typeface="Times New Roman" panose="02020603050405020304"/>
                <a:ea typeface="Times New Roman" panose="02020603050405020304"/>
                <a:cs typeface="Times New Roman" panose="02020603050405020304"/>
                <a:sym typeface="Times New Roman" panose="02020603050405020304"/>
              </a:rPr>
              <a:t>f.	</a:t>
            </a:r>
            <a:r>
              <a:rPr lang="vi-VN" sz="3200">
                <a:solidFill>
                  <a:schemeClr val="bg1"/>
                </a:solidFill>
                <a:latin typeface="Times New Roman" panose="02020603050405020304"/>
                <a:ea typeface="Times New Roman" panose="02020603050405020304"/>
                <a:cs typeface="Times New Roman" panose="02020603050405020304"/>
                <a:sym typeface="Times New Roman" panose="02020603050405020304"/>
              </a:rPr>
              <a:t>Tổng kết phần 2</a:t>
            </a:r>
            <a:endParaRPr lang="vi-VN" sz="3200">
              <a:solidFill>
                <a:schemeClr val="bg1"/>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3840"/>
              </a:lnSpc>
            </a:pPr>
            <a:endParaRPr lang="vi-VN" sz="3200" b="1">
              <a:solidFill>
                <a:schemeClr val="bg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 name="AutoShape 6"/>
          <p:cNvSpPr/>
          <p:nvPr/>
        </p:nvSpPr>
        <p:spPr>
          <a:xfrm rot="-3820860">
            <a:off x="11596345" y="4882515"/>
            <a:ext cx="4239301" cy="0"/>
          </a:xfrm>
          <a:prstGeom prst="line">
            <a:avLst/>
          </a:prstGeom>
          <a:ln w="19050" cap="rnd">
            <a:solidFill>
              <a:srgbClr val="BFE8E3"/>
            </a:solidFill>
            <a:prstDash val="solid"/>
            <a:headEnd type="none" w="sm" len="sm"/>
            <a:tailEnd type="none" w="sm" len="sm"/>
          </a:ln>
        </p:spPr>
      </p:sp>
      <p:sp>
        <p:nvSpPr>
          <p:cNvPr id="7" name="AutoShape 7"/>
          <p:cNvSpPr/>
          <p:nvPr/>
        </p:nvSpPr>
        <p:spPr>
          <a:xfrm rot="3820860">
            <a:off x="13425145" y="4882515"/>
            <a:ext cx="4239301" cy="0"/>
          </a:xfrm>
          <a:prstGeom prst="line">
            <a:avLst/>
          </a:prstGeom>
          <a:ln w="19050" cap="rnd">
            <a:solidFill>
              <a:srgbClr val="BFE8E3"/>
            </a:solidFill>
            <a:prstDash val="solid"/>
            <a:headEnd type="none" w="sm" len="sm"/>
            <a:tailEnd type="none" w="sm" len="sm"/>
          </a:ln>
        </p:spPr>
      </p:sp>
      <p:grpSp>
        <p:nvGrpSpPr>
          <p:cNvPr id="8" name="Group 8"/>
          <p:cNvGrpSpPr/>
          <p:nvPr/>
        </p:nvGrpSpPr>
        <p:grpSpPr>
          <a:xfrm rot="0">
            <a:off x="13282679" y="5295395"/>
            <a:ext cx="318011" cy="318011"/>
            <a:chOff x="0" y="0"/>
            <a:chExt cx="424015" cy="424015"/>
          </a:xfrm>
        </p:grpSpPr>
        <p:sp>
          <p:nvSpPr>
            <p:cNvPr id="9" name="Freeform 9"/>
            <p:cNvSpPr/>
            <p:nvPr/>
          </p:nvSpPr>
          <p:spPr>
            <a:xfrm>
              <a:off x="0" y="0"/>
              <a:ext cx="424053" cy="424053"/>
            </a:xfrm>
            <a:custGeom>
              <a:avLst/>
              <a:gdLst/>
              <a:ahLst/>
              <a:cxnLst/>
              <a:rect l="l" t="t" r="r" b="b"/>
              <a:pathLst>
                <a:path w="424053" h="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00897B"/>
            </a:solidFill>
            <a:ln w="25400" cap="sq">
              <a:solidFill>
                <a:srgbClr val="00897B"/>
              </a:solidFill>
              <a:prstDash val="solid"/>
              <a:miter/>
            </a:ln>
          </p:spPr>
        </p:sp>
      </p:grpSp>
      <p:grpSp>
        <p:nvGrpSpPr>
          <p:cNvPr id="10" name="Group 10"/>
          <p:cNvGrpSpPr/>
          <p:nvPr/>
        </p:nvGrpSpPr>
        <p:grpSpPr>
          <a:xfrm rot="0">
            <a:off x="13831319" y="4170683"/>
            <a:ext cx="318011" cy="318011"/>
            <a:chOff x="0" y="0"/>
            <a:chExt cx="424015" cy="424015"/>
          </a:xfrm>
        </p:grpSpPr>
        <p:sp>
          <p:nvSpPr>
            <p:cNvPr id="11" name="Freeform 11"/>
            <p:cNvSpPr/>
            <p:nvPr/>
          </p:nvSpPr>
          <p:spPr>
            <a:xfrm>
              <a:off x="0" y="0"/>
              <a:ext cx="424053" cy="424053"/>
            </a:xfrm>
            <a:custGeom>
              <a:avLst/>
              <a:gdLst/>
              <a:ahLst/>
              <a:cxnLst/>
              <a:rect l="l" t="t" r="r" b="b"/>
              <a:pathLst>
                <a:path w="424053" h="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F4A259"/>
            </a:solidFill>
            <a:ln w="25400" cap="sq">
              <a:solidFill>
                <a:srgbClr val="F4A259"/>
              </a:solidFill>
              <a:prstDash val="solid"/>
              <a:miter/>
            </a:ln>
          </p:spPr>
        </p:sp>
      </p:grpSp>
      <p:grpSp>
        <p:nvGrpSpPr>
          <p:cNvPr id="12" name="Group 12"/>
          <p:cNvGrpSpPr/>
          <p:nvPr/>
        </p:nvGrpSpPr>
        <p:grpSpPr>
          <a:xfrm rot="0">
            <a:off x="15568679" y="5107943"/>
            <a:ext cx="318011" cy="318011"/>
            <a:chOff x="0" y="0"/>
            <a:chExt cx="424015" cy="424015"/>
          </a:xfrm>
        </p:grpSpPr>
        <p:sp>
          <p:nvSpPr>
            <p:cNvPr id="13" name="Freeform 13"/>
            <p:cNvSpPr/>
            <p:nvPr/>
          </p:nvSpPr>
          <p:spPr>
            <a:xfrm>
              <a:off x="0" y="0"/>
              <a:ext cx="424053" cy="424053"/>
            </a:xfrm>
            <a:custGeom>
              <a:avLst/>
              <a:gdLst/>
              <a:ahLst/>
              <a:cxnLst/>
              <a:rect l="l" t="t" r="r" b="b"/>
              <a:pathLst>
                <a:path w="424053" h="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F4A259"/>
            </a:solidFill>
            <a:ln w="25400" cap="sq">
              <a:solidFill>
                <a:srgbClr val="F4A259"/>
              </a:solidFill>
              <a:prstDash val="solid"/>
              <a:miter/>
            </a:ln>
          </p:spPr>
        </p:sp>
      </p:grpSp>
      <p:grpSp>
        <p:nvGrpSpPr>
          <p:cNvPr id="14" name="Group 14"/>
          <p:cNvGrpSpPr/>
          <p:nvPr/>
        </p:nvGrpSpPr>
        <p:grpSpPr>
          <a:xfrm rot="0">
            <a:off x="15020039" y="3983231"/>
            <a:ext cx="318011" cy="318011"/>
            <a:chOff x="0" y="0"/>
            <a:chExt cx="424015" cy="424015"/>
          </a:xfrm>
        </p:grpSpPr>
        <p:sp>
          <p:nvSpPr>
            <p:cNvPr id="15" name="Freeform 15"/>
            <p:cNvSpPr/>
            <p:nvPr/>
          </p:nvSpPr>
          <p:spPr>
            <a:xfrm>
              <a:off x="0" y="0"/>
              <a:ext cx="424053" cy="424053"/>
            </a:xfrm>
            <a:custGeom>
              <a:avLst/>
              <a:gdLst/>
              <a:ahLst/>
              <a:cxnLst/>
              <a:rect l="l" t="t" r="r" b="b"/>
              <a:pathLst>
                <a:path w="424053" h="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00897B"/>
            </a:solidFill>
            <a:ln w="25400" cap="sq">
              <a:solidFill>
                <a:srgbClr val="00897B"/>
              </a:solidFill>
              <a:prstDash val="solid"/>
              <a:miter/>
            </a:ln>
          </p:spPr>
        </p:sp>
      </p:grpSp>
      <p:grpSp>
        <p:nvGrpSpPr>
          <p:cNvPr id="16" name="Group 16"/>
          <p:cNvGrpSpPr/>
          <p:nvPr/>
        </p:nvGrpSpPr>
        <p:grpSpPr>
          <a:xfrm rot="0">
            <a:off x="13690597" y="2077717"/>
            <a:ext cx="1879597" cy="1879597"/>
            <a:chOff x="0" y="0"/>
            <a:chExt cx="2506129" cy="2506129"/>
          </a:xfrm>
        </p:grpSpPr>
        <p:sp>
          <p:nvSpPr>
            <p:cNvPr id="17" name="Freeform 17"/>
            <p:cNvSpPr/>
            <p:nvPr/>
          </p:nvSpPr>
          <p:spPr>
            <a:xfrm>
              <a:off x="0" y="0"/>
              <a:ext cx="2506218" cy="2506218"/>
            </a:xfrm>
            <a:custGeom>
              <a:avLst/>
              <a:gdLst/>
              <a:ahLst/>
              <a:cxnLst/>
              <a:rect l="l" t="t" r="r" b="b"/>
              <a:pathLst>
                <a:path w="2506218" h="2506218">
                  <a:moveTo>
                    <a:pt x="0" y="1253109"/>
                  </a:moveTo>
                  <a:cubicBezTo>
                    <a:pt x="0" y="560959"/>
                    <a:pt x="560959" y="0"/>
                    <a:pt x="1253109" y="0"/>
                  </a:cubicBezTo>
                  <a:cubicBezTo>
                    <a:pt x="1945259" y="0"/>
                    <a:pt x="2506218" y="560959"/>
                    <a:pt x="2506218" y="1253109"/>
                  </a:cubicBezTo>
                  <a:cubicBezTo>
                    <a:pt x="2506218" y="1945259"/>
                    <a:pt x="1945259" y="2506218"/>
                    <a:pt x="1253109" y="2506218"/>
                  </a:cubicBezTo>
                  <a:cubicBezTo>
                    <a:pt x="560959" y="2506218"/>
                    <a:pt x="0" y="1945132"/>
                    <a:pt x="0" y="1253109"/>
                  </a:cubicBezTo>
                  <a:close/>
                </a:path>
              </a:pathLst>
            </a:custGeom>
            <a:solidFill>
              <a:srgbClr val="00897B"/>
            </a:solidFill>
            <a:ln w="50800" cap="sq">
              <a:solidFill>
                <a:srgbClr val="BFE8E3"/>
              </a:solidFill>
              <a:prstDash val="solid"/>
              <a:miter/>
            </a:ln>
          </p:spPr>
        </p:sp>
      </p:grpSp>
      <p:grpSp>
        <p:nvGrpSpPr>
          <p:cNvPr id="18" name="Group 18"/>
          <p:cNvGrpSpPr/>
          <p:nvPr/>
        </p:nvGrpSpPr>
        <p:grpSpPr>
          <a:xfrm rot="0">
            <a:off x="13716000" y="2103120"/>
            <a:ext cx="1828800" cy="1828800"/>
            <a:chOff x="0" y="0"/>
            <a:chExt cx="2438400" cy="2438400"/>
          </a:xfrm>
        </p:grpSpPr>
        <p:sp>
          <p:nvSpPr>
            <p:cNvPr id="19" name="Freeform 19"/>
            <p:cNvSpPr/>
            <p:nvPr/>
          </p:nvSpPr>
          <p:spPr>
            <a:xfrm>
              <a:off x="0" y="0"/>
              <a:ext cx="2438400" cy="2438400"/>
            </a:xfrm>
            <a:custGeom>
              <a:avLst/>
              <a:gdLst/>
              <a:ahLst/>
              <a:cxnLst/>
              <a:rect l="l" t="t" r="r" b="b"/>
              <a:pathLst>
                <a:path w="2438400" h="2438400">
                  <a:moveTo>
                    <a:pt x="0" y="0"/>
                  </a:moveTo>
                  <a:lnTo>
                    <a:pt x="2438400" y="0"/>
                  </a:lnTo>
                  <a:lnTo>
                    <a:pt x="2438400" y="2438400"/>
                  </a:lnTo>
                  <a:lnTo>
                    <a:pt x="0" y="2438400"/>
                  </a:lnTo>
                  <a:close/>
                </a:path>
              </a:pathLst>
            </a:custGeom>
            <a:blipFill>
              <a:blip r:embed="rId1">
                <a:alphaModFix amt="0"/>
              </a:blip>
              <a:stretch>
                <a:fillRect l="-78303" r="-78303"/>
              </a:stretch>
            </a:blipFill>
          </p:spPr>
        </p:sp>
        <p:sp>
          <p:nvSpPr>
            <p:cNvPr id="20" name="TextBox 20"/>
            <p:cNvSpPr txBox="1"/>
            <p:nvPr/>
          </p:nvSpPr>
          <p:spPr>
            <a:xfrm>
              <a:off x="0" y="-57150"/>
              <a:ext cx="2438400" cy="2495550"/>
            </a:xfrm>
            <a:prstGeom prst="rect">
              <a:avLst/>
            </a:prstGeom>
          </p:spPr>
          <p:txBody>
            <a:bodyPr lIns="0" tIns="0" rIns="0" bIns="0" rtlCol="0" anchor="ctr"/>
            <a:lstStyle/>
            <a:p>
              <a:pPr algn="ctr">
                <a:lnSpc>
                  <a:spcPts val="3120"/>
                </a:lnSpc>
              </a:pPr>
              <a:r>
                <a:rPr lang="en-US" sz="2600" b="1">
                  <a:solidFill>
                    <a:srgbClr val="FFFFFF"/>
                  </a:solidFill>
                  <a:latin typeface="Times New Roman" panose="02020603050405020304"/>
                  <a:ea typeface="Times New Roman" panose="02020603050405020304"/>
                  <a:cs typeface="Times New Roman" panose="02020603050405020304"/>
                  <a:sym typeface="Times New Roman" panose="02020603050405020304"/>
                </a:rPr>
                <a:t>Server</a:t>
              </a:r>
              <a:endParaRPr lang="en-US" sz="26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1" name="Group 21"/>
          <p:cNvGrpSpPr/>
          <p:nvPr/>
        </p:nvGrpSpPr>
        <p:grpSpPr>
          <a:xfrm rot="0">
            <a:off x="11953237" y="5918197"/>
            <a:ext cx="1696717" cy="1696717"/>
            <a:chOff x="0" y="0"/>
            <a:chExt cx="2262289" cy="2262289"/>
          </a:xfrm>
        </p:grpSpPr>
        <p:sp>
          <p:nvSpPr>
            <p:cNvPr id="22" name="Freeform 22"/>
            <p:cNvSpPr/>
            <p:nvPr/>
          </p:nvSpPr>
          <p:spPr>
            <a:xfrm>
              <a:off x="0" y="0"/>
              <a:ext cx="2262378" cy="2262378"/>
            </a:xfrm>
            <a:custGeom>
              <a:avLst/>
              <a:gdLst/>
              <a:ahLst/>
              <a:cxnLst/>
              <a:rect l="l" t="t" r="r" b="b"/>
              <a:pathLst>
                <a:path w="2262378" h="2262378">
                  <a:moveTo>
                    <a:pt x="0" y="1131189"/>
                  </a:moveTo>
                  <a:cubicBezTo>
                    <a:pt x="0" y="506476"/>
                    <a:pt x="506476" y="0"/>
                    <a:pt x="1131189" y="0"/>
                  </a:cubicBezTo>
                  <a:cubicBezTo>
                    <a:pt x="1755902" y="0"/>
                    <a:pt x="2262378" y="506476"/>
                    <a:pt x="2262378" y="1131189"/>
                  </a:cubicBezTo>
                  <a:cubicBezTo>
                    <a:pt x="2262378" y="1755902"/>
                    <a:pt x="1755902" y="2262378"/>
                    <a:pt x="1131189" y="2262378"/>
                  </a:cubicBezTo>
                  <a:cubicBezTo>
                    <a:pt x="506476" y="2262378"/>
                    <a:pt x="0" y="1755902"/>
                    <a:pt x="0" y="1131189"/>
                  </a:cubicBezTo>
                  <a:close/>
                </a:path>
              </a:pathLst>
            </a:custGeom>
            <a:solidFill>
              <a:srgbClr val="0B1626"/>
            </a:solidFill>
            <a:ln w="50800" cap="sq">
              <a:solidFill>
                <a:srgbClr val="BFE8E3"/>
              </a:solidFill>
              <a:prstDash val="solid"/>
              <a:miter/>
            </a:ln>
          </p:spPr>
        </p:sp>
      </p:grpSp>
      <p:grpSp>
        <p:nvGrpSpPr>
          <p:cNvPr id="23" name="Group 23"/>
          <p:cNvGrpSpPr/>
          <p:nvPr/>
        </p:nvGrpSpPr>
        <p:grpSpPr>
          <a:xfrm rot="0">
            <a:off x="11978640" y="5943600"/>
            <a:ext cx="1645920" cy="1645920"/>
            <a:chOff x="0" y="0"/>
            <a:chExt cx="2194560" cy="2194560"/>
          </a:xfrm>
        </p:grpSpPr>
        <p:sp>
          <p:nvSpPr>
            <p:cNvPr id="24" name="Freeform 24"/>
            <p:cNvSpPr/>
            <p:nvPr/>
          </p:nvSpPr>
          <p:spPr>
            <a:xfrm>
              <a:off x="0" y="0"/>
              <a:ext cx="2194560" cy="2194560"/>
            </a:xfrm>
            <a:custGeom>
              <a:avLst/>
              <a:gdLst/>
              <a:ahLst/>
              <a:cxnLst/>
              <a:rect l="l" t="t" r="r" b="b"/>
              <a:pathLst>
                <a:path w="2194560" h="2194560">
                  <a:moveTo>
                    <a:pt x="0" y="0"/>
                  </a:moveTo>
                  <a:lnTo>
                    <a:pt x="2194560" y="0"/>
                  </a:lnTo>
                  <a:lnTo>
                    <a:pt x="2194560" y="2194560"/>
                  </a:lnTo>
                  <a:lnTo>
                    <a:pt x="0" y="2194560"/>
                  </a:lnTo>
                  <a:close/>
                </a:path>
              </a:pathLst>
            </a:custGeom>
            <a:blipFill>
              <a:blip r:embed="rId1">
                <a:alphaModFix amt="0"/>
              </a:blip>
              <a:stretch>
                <a:fillRect l="-78303" r="-78303"/>
              </a:stretch>
            </a:blipFill>
          </p:spPr>
        </p:sp>
        <p:sp>
          <p:nvSpPr>
            <p:cNvPr id="25" name="TextBox 25"/>
            <p:cNvSpPr txBox="1"/>
            <p:nvPr/>
          </p:nvSpPr>
          <p:spPr>
            <a:xfrm>
              <a:off x="0" y="-47625"/>
              <a:ext cx="2194560" cy="2242185"/>
            </a:xfrm>
            <a:prstGeom prst="rect">
              <a:avLst/>
            </a:prstGeom>
          </p:spPr>
          <p:txBody>
            <a:bodyPr lIns="0" tIns="0" rIns="0" bIns="0" rtlCol="0" anchor="ctr"/>
            <a:lstStyle/>
            <a:p>
              <a:pPr algn="ctr">
                <a:lnSpc>
                  <a:spcPts val="2640"/>
                </a:lnSpc>
              </a:pPr>
              <a:r>
                <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rPr>
                <a:t>Client</a:t>
              </a:r>
              <a:endPar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a:p>
              <a:pPr algn="ctr">
                <a:lnSpc>
                  <a:spcPts val="2640"/>
                </a:lnSpc>
              </a:pPr>
              <a:r>
                <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rPr>
                <a:t>A</a:t>
              </a:r>
              <a:endPar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6" name="Group 26"/>
          <p:cNvGrpSpPr/>
          <p:nvPr/>
        </p:nvGrpSpPr>
        <p:grpSpPr>
          <a:xfrm rot="0">
            <a:off x="15610837" y="5918197"/>
            <a:ext cx="1696717" cy="1696717"/>
            <a:chOff x="0" y="0"/>
            <a:chExt cx="2262289" cy="2262289"/>
          </a:xfrm>
        </p:grpSpPr>
        <p:sp>
          <p:nvSpPr>
            <p:cNvPr id="27" name="Freeform 27"/>
            <p:cNvSpPr/>
            <p:nvPr/>
          </p:nvSpPr>
          <p:spPr>
            <a:xfrm>
              <a:off x="0" y="0"/>
              <a:ext cx="2262378" cy="2262378"/>
            </a:xfrm>
            <a:custGeom>
              <a:avLst/>
              <a:gdLst/>
              <a:ahLst/>
              <a:cxnLst/>
              <a:rect l="l" t="t" r="r" b="b"/>
              <a:pathLst>
                <a:path w="2262378" h="2262378">
                  <a:moveTo>
                    <a:pt x="0" y="1131189"/>
                  </a:moveTo>
                  <a:cubicBezTo>
                    <a:pt x="0" y="506476"/>
                    <a:pt x="506476" y="0"/>
                    <a:pt x="1131189" y="0"/>
                  </a:cubicBezTo>
                  <a:cubicBezTo>
                    <a:pt x="1755902" y="0"/>
                    <a:pt x="2262378" y="506476"/>
                    <a:pt x="2262378" y="1131189"/>
                  </a:cubicBezTo>
                  <a:cubicBezTo>
                    <a:pt x="2262378" y="1755902"/>
                    <a:pt x="1755902" y="2262378"/>
                    <a:pt x="1131189" y="2262378"/>
                  </a:cubicBezTo>
                  <a:cubicBezTo>
                    <a:pt x="506476" y="2262378"/>
                    <a:pt x="0" y="1755902"/>
                    <a:pt x="0" y="1131189"/>
                  </a:cubicBezTo>
                  <a:close/>
                </a:path>
              </a:pathLst>
            </a:custGeom>
            <a:solidFill>
              <a:srgbClr val="0B1626"/>
            </a:solidFill>
            <a:ln w="50800" cap="sq">
              <a:solidFill>
                <a:srgbClr val="BFE8E3"/>
              </a:solidFill>
              <a:prstDash val="solid"/>
              <a:miter/>
            </a:ln>
          </p:spPr>
        </p:sp>
      </p:grpSp>
      <p:grpSp>
        <p:nvGrpSpPr>
          <p:cNvPr id="28" name="Group 28"/>
          <p:cNvGrpSpPr/>
          <p:nvPr/>
        </p:nvGrpSpPr>
        <p:grpSpPr>
          <a:xfrm rot="0">
            <a:off x="15636240" y="5943600"/>
            <a:ext cx="1645920" cy="1645920"/>
            <a:chOff x="0" y="0"/>
            <a:chExt cx="2194560" cy="2194560"/>
          </a:xfrm>
        </p:grpSpPr>
        <p:sp>
          <p:nvSpPr>
            <p:cNvPr id="29" name="Freeform 29"/>
            <p:cNvSpPr/>
            <p:nvPr/>
          </p:nvSpPr>
          <p:spPr>
            <a:xfrm>
              <a:off x="0" y="0"/>
              <a:ext cx="2194560" cy="2194560"/>
            </a:xfrm>
            <a:custGeom>
              <a:avLst/>
              <a:gdLst/>
              <a:ahLst/>
              <a:cxnLst/>
              <a:rect l="l" t="t" r="r" b="b"/>
              <a:pathLst>
                <a:path w="2194560" h="2194560">
                  <a:moveTo>
                    <a:pt x="0" y="0"/>
                  </a:moveTo>
                  <a:lnTo>
                    <a:pt x="2194560" y="0"/>
                  </a:lnTo>
                  <a:lnTo>
                    <a:pt x="2194560" y="2194560"/>
                  </a:lnTo>
                  <a:lnTo>
                    <a:pt x="0" y="2194560"/>
                  </a:lnTo>
                  <a:close/>
                </a:path>
              </a:pathLst>
            </a:custGeom>
            <a:blipFill>
              <a:blip r:embed="rId1">
                <a:alphaModFix amt="0"/>
              </a:blip>
              <a:stretch>
                <a:fillRect l="-78303" r="-78303"/>
              </a:stretch>
            </a:blipFill>
          </p:spPr>
        </p:sp>
        <p:sp>
          <p:nvSpPr>
            <p:cNvPr id="30" name="TextBox 30"/>
            <p:cNvSpPr txBox="1"/>
            <p:nvPr/>
          </p:nvSpPr>
          <p:spPr>
            <a:xfrm>
              <a:off x="0" y="-47625"/>
              <a:ext cx="2194560" cy="2242185"/>
            </a:xfrm>
            <a:prstGeom prst="rect">
              <a:avLst/>
            </a:prstGeom>
          </p:spPr>
          <p:txBody>
            <a:bodyPr lIns="0" tIns="0" rIns="0" bIns="0" rtlCol="0" anchor="ctr"/>
            <a:lstStyle/>
            <a:p>
              <a:pPr algn="ctr">
                <a:lnSpc>
                  <a:spcPts val="2640"/>
                </a:lnSpc>
              </a:pPr>
              <a:r>
                <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rPr>
                <a:t>Client</a:t>
              </a:r>
              <a:endPar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a:p>
              <a:pPr algn="ctr">
                <a:lnSpc>
                  <a:spcPts val="2640"/>
                </a:lnSpc>
              </a:pPr>
              <a:r>
                <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rPr>
                <a:t>B</a:t>
              </a:r>
              <a:endPar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31" name="Group 31"/>
          <p:cNvGrpSpPr/>
          <p:nvPr/>
        </p:nvGrpSpPr>
        <p:grpSpPr>
          <a:xfrm rot="0">
            <a:off x="12801600" y="7808976"/>
            <a:ext cx="3657600" cy="548640"/>
            <a:chOff x="0" y="0"/>
            <a:chExt cx="4876800" cy="731520"/>
          </a:xfrm>
        </p:grpSpPr>
        <p:sp>
          <p:nvSpPr>
            <p:cNvPr id="32" name="Freeform 32"/>
            <p:cNvSpPr/>
            <p:nvPr/>
          </p:nvSpPr>
          <p:spPr>
            <a:xfrm>
              <a:off x="0" y="0"/>
              <a:ext cx="4876800" cy="731520"/>
            </a:xfrm>
            <a:custGeom>
              <a:avLst/>
              <a:gdLst/>
              <a:ahLst/>
              <a:cxnLst/>
              <a:rect l="l" t="t" r="r" b="b"/>
              <a:pathLst>
                <a:path w="4876800" h="731520">
                  <a:moveTo>
                    <a:pt x="0" y="0"/>
                  </a:moveTo>
                  <a:lnTo>
                    <a:pt x="4876800" y="0"/>
                  </a:lnTo>
                  <a:lnTo>
                    <a:pt x="4876800" y="731520"/>
                  </a:lnTo>
                  <a:lnTo>
                    <a:pt x="0" y="731520"/>
                  </a:lnTo>
                  <a:close/>
                </a:path>
              </a:pathLst>
            </a:custGeom>
            <a:blipFill>
              <a:blip r:embed="rId1">
                <a:alphaModFix amt="0"/>
              </a:blip>
              <a:stretch>
                <a:fillRect t="-79900" b="-79900"/>
              </a:stretch>
            </a:blipFill>
          </p:spPr>
        </p:sp>
        <p:sp>
          <p:nvSpPr>
            <p:cNvPr id="33" name="TextBox 33"/>
            <p:cNvSpPr txBox="1"/>
            <p:nvPr/>
          </p:nvSpPr>
          <p:spPr>
            <a:xfrm>
              <a:off x="0" y="-47625"/>
              <a:ext cx="4876800" cy="779145"/>
            </a:xfrm>
            <a:prstGeom prst="rect">
              <a:avLst/>
            </a:prstGeom>
          </p:spPr>
          <p:txBody>
            <a:bodyPr lIns="0" tIns="0" rIns="0" bIns="0" rtlCol="0" anchor="ctr"/>
            <a:lstStyle/>
            <a:p>
              <a:pPr algn="ctr">
                <a:lnSpc>
                  <a:spcPts val="2640"/>
                </a:lnSpc>
              </a:pPr>
              <a:r>
                <a:rPr lang="en-US" sz="2200" i="1">
                  <a:solidFill>
                    <a:srgbClr val="BFE8E3"/>
                  </a:solidFill>
                  <a:latin typeface="Times New Roman" panose="02020603050405020304"/>
                  <a:ea typeface="Times New Roman" panose="02020603050405020304"/>
                  <a:cs typeface="Times New Roman" panose="02020603050405020304"/>
                  <a:sym typeface="Times New Roman" panose="02020603050405020304"/>
                </a:rPr>
                <a:t>RTT 100–200 ms</a:t>
              </a:r>
              <a:endParaRPr lang="en-US" sz="2200" i="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9033" name="Section rule"/>
          <p:cNvSpPr/>
          <p:nvPr/>
        </p:nvSpPr>
        <p:spPr>
          <a:xfrm>
            <a:off x="1097280" y="3749040"/>
            <a:ext cx="1645920" cy="91440"/>
          </a:xfrm>
          <a:prstGeom prst="rect">
            <a:avLst/>
          </a:prstGeom>
          <a:solidFill>
            <a:srgbClr val="00897B"/>
          </a:solidFill>
          <a:ln>
            <a:no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43" name="Header band"/>
          <p:cNvSpPr/>
          <p:nvPr/>
        </p:nvSpPr>
        <p:spPr>
          <a:xfrm>
            <a:off x="0" y="0"/>
            <a:ext cx="18288000" cy="2103120"/>
          </a:xfrm>
          <a:prstGeom prst="rect">
            <a:avLst/>
          </a:prstGeom>
          <a:solidFill>
            <a:srgbClr val="14213D"/>
          </a:solidFill>
          <a:ln>
            <a:noFill/>
          </a:ln>
        </p:spPr>
      </p:sp>
      <p:sp>
        <p:nvSpPr>
          <p:cNvPr id="9044" name="Header rule"/>
          <p:cNvSpPr/>
          <p:nvPr/>
        </p:nvSpPr>
        <p:spPr>
          <a:xfrm>
            <a:off x="0" y="2103120"/>
            <a:ext cx="18288000" cy="64008"/>
          </a:xfrm>
          <a:prstGeom prst="rect">
            <a:avLst/>
          </a:prstGeom>
          <a:solidFill>
            <a:srgbClr val="00897B"/>
          </a:solidFill>
          <a:ln>
            <a:noFill/>
          </a:ln>
        </p:spPr>
      </p:sp>
      <p:grpSp>
        <p:nvGrpSpPr>
          <p:cNvPr id="2" name="Group 2"/>
          <p:cNvGrpSpPr/>
          <p:nvPr/>
        </p:nvGrpSpPr>
        <p:grpSpPr>
          <a:xfrm rot="0">
            <a:off x="914400" y="9509760"/>
            <a:ext cx="12801600" cy="548640"/>
            <a:chOff x="0" y="0"/>
            <a:chExt cx="17068800" cy="731520"/>
          </a:xfrm>
        </p:grpSpPr>
        <p:sp>
          <p:nvSpPr>
            <p:cNvPr id="3" name="Freeform 3"/>
            <p:cNvSpPr/>
            <p:nvPr/>
          </p:nvSpPr>
          <p:spPr>
            <a:xfrm>
              <a:off x="0" y="0"/>
              <a:ext cx="17068800" cy="731520"/>
            </a:xfrm>
            <a:custGeom>
              <a:avLst/>
              <a:gdLst/>
              <a:ahLst/>
              <a:cxnLst/>
              <a:rect l="l" t="t" r="r" b="b"/>
              <a:pathLst>
                <a:path w="17068800" h="731520">
                  <a:moveTo>
                    <a:pt x="0" y="0"/>
                  </a:moveTo>
                  <a:lnTo>
                    <a:pt x="17068800" y="0"/>
                  </a:lnTo>
                  <a:lnTo>
                    <a:pt x="17068800" y="731520"/>
                  </a:lnTo>
                  <a:lnTo>
                    <a:pt x="0" y="731520"/>
                  </a:lnTo>
                  <a:close/>
                </a:path>
              </a:pathLst>
            </a:custGeom>
            <a:blipFill>
              <a:blip r:embed="rId1">
                <a:alphaModFix amt="0"/>
              </a:blip>
              <a:stretch>
                <a:fillRect t="-404650" b="-404650"/>
              </a:stretch>
            </a:blipFill>
          </p:spPr>
        </p:sp>
        <p:sp>
          <p:nvSpPr>
            <p:cNvPr id="4" name="TextBox 4"/>
            <p:cNvSpPr txBox="1"/>
            <p:nvPr/>
          </p:nvSpPr>
          <p:spPr>
            <a:xfrm>
              <a:off x="0" y="-38100"/>
              <a:ext cx="17068800" cy="769620"/>
            </a:xfrm>
            <a:prstGeom prst="rect">
              <a:avLst/>
            </a:prstGeom>
          </p:spPr>
          <p:txBody>
            <a:bodyPr lIns="0" tIns="0" rIns="0" bIns="0" rtlCol="0" anchor="ctr"/>
            <a:lstStyle/>
            <a:p>
              <a:pPr algn="l">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T47 · Kỹ thuật mạng cho game thời gian thực · Lập trình mạng</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5" name="Group 5"/>
          <p:cNvGrpSpPr/>
          <p:nvPr/>
        </p:nvGrpSpPr>
        <p:grpSpPr>
          <a:xfrm rot="0">
            <a:off x="914400" y="768096"/>
            <a:ext cx="14081760" cy="1097280"/>
            <a:chOff x="0" y="0"/>
            <a:chExt cx="18775680" cy="1463040"/>
          </a:xfrm>
        </p:grpSpPr>
        <p:sp>
          <p:nvSpPr>
            <p:cNvPr id="6" name="Freeform 6"/>
            <p:cNvSpPr/>
            <p:nvPr/>
          </p:nvSpPr>
          <p:spPr>
            <a:xfrm>
              <a:off x="0" y="0"/>
              <a:ext cx="18775680" cy="1463040"/>
            </a:xfrm>
            <a:custGeom>
              <a:avLst/>
              <a:gdLst/>
              <a:ahLst/>
              <a:cxnLst/>
              <a:rect l="l" t="t" r="r" b="b"/>
              <a:pathLst>
                <a:path w="18775680" h="1463040">
                  <a:moveTo>
                    <a:pt x="0" y="0"/>
                  </a:moveTo>
                  <a:lnTo>
                    <a:pt x="18775680" y="0"/>
                  </a:lnTo>
                  <a:lnTo>
                    <a:pt x="18775680" y="1463040"/>
                  </a:lnTo>
                  <a:lnTo>
                    <a:pt x="0" y="1463040"/>
                  </a:lnTo>
                  <a:close/>
                </a:path>
              </a:pathLst>
            </a:custGeom>
            <a:blipFill>
              <a:blip r:embed="rId1">
                <a:alphaModFix amt="0"/>
              </a:blip>
              <a:stretch>
                <a:fillRect t="-200057" b="-200057"/>
              </a:stretch>
            </a:blipFill>
          </p:spPr>
        </p:sp>
        <p:sp>
          <p:nvSpPr>
            <p:cNvPr id="7" name="TextBox 7"/>
            <p:cNvSpPr txBox="1"/>
            <p:nvPr/>
          </p:nvSpPr>
          <p:spPr>
            <a:xfrm>
              <a:off x="0" y="-9525"/>
              <a:ext cx="18775680" cy="1472565"/>
            </a:xfrm>
            <a:prstGeom prst="rect">
              <a:avLst/>
            </a:prstGeom>
          </p:spPr>
          <p:txBody>
            <a:bodyPr lIns="0" tIns="0" rIns="0" bIns="0" rtlCol="0" anchor="ctr"/>
            <a:lstStyle/>
            <a:p>
              <a:pPr algn="l">
                <a:lnSpc>
                  <a:spcPts val="6900"/>
                </a:lnSpc>
              </a:pPr>
              <a:r>
                <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rPr>
                <a:t>Ai giữ quyền quyết định trạng thái?</a:t>
              </a:r>
              <a:endPar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8" name="Group 8"/>
          <p:cNvGrpSpPr/>
          <p:nvPr/>
        </p:nvGrpSpPr>
        <p:grpSpPr>
          <a:xfrm rot="0">
            <a:off x="15257783" y="682247"/>
            <a:ext cx="2128523" cy="647195"/>
            <a:chOff x="0" y="0"/>
            <a:chExt cx="2838031" cy="862927"/>
          </a:xfrm>
        </p:grpSpPr>
        <p:sp>
          <p:nvSpPr>
            <p:cNvPr id="9" name="Freeform 9"/>
            <p:cNvSpPr/>
            <p:nvPr/>
          </p:nvSpPr>
          <p:spPr>
            <a:xfrm>
              <a:off x="0" y="0"/>
              <a:ext cx="2837942" cy="862838"/>
            </a:xfrm>
            <a:custGeom>
              <a:avLst/>
              <a:gdLst/>
              <a:ahLst/>
              <a:cxnLst/>
              <a:rect l="l" t="t" r="r" b="b"/>
              <a:pathLst>
                <a:path w="2837942" h="862838">
                  <a:moveTo>
                    <a:pt x="0" y="431419"/>
                  </a:moveTo>
                  <a:cubicBezTo>
                    <a:pt x="0" y="193167"/>
                    <a:pt x="193167" y="0"/>
                    <a:pt x="431419" y="0"/>
                  </a:cubicBezTo>
                  <a:lnTo>
                    <a:pt x="2406523" y="0"/>
                  </a:lnTo>
                  <a:cubicBezTo>
                    <a:pt x="2644775" y="0"/>
                    <a:pt x="2837942" y="193167"/>
                    <a:pt x="2837942" y="431419"/>
                  </a:cubicBezTo>
                  <a:cubicBezTo>
                    <a:pt x="2837942" y="669671"/>
                    <a:pt x="2644775" y="862838"/>
                    <a:pt x="2406523" y="862838"/>
                  </a:cubicBezTo>
                  <a:lnTo>
                    <a:pt x="431419" y="862838"/>
                  </a:lnTo>
                  <a:cubicBezTo>
                    <a:pt x="193167" y="862965"/>
                    <a:pt x="0" y="669798"/>
                    <a:pt x="0" y="431419"/>
                  </a:cubicBezTo>
                  <a:close/>
                </a:path>
              </a:pathLst>
            </a:custGeom>
            <a:solidFill>
              <a:srgbClr val="00897B"/>
            </a:solidFill>
            <a:ln w="25400" cap="sq">
              <a:solidFill>
                <a:srgbClr val="00897B"/>
              </a:solidFill>
              <a:prstDash val="solid"/>
              <a:miter/>
            </a:ln>
          </p:spPr>
        </p:sp>
      </p:grpSp>
      <p:grpSp>
        <p:nvGrpSpPr>
          <p:cNvPr id="10" name="Group 10"/>
          <p:cNvGrpSpPr/>
          <p:nvPr/>
        </p:nvGrpSpPr>
        <p:grpSpPr>
          <a:xfrm rot="0">
            <a:off x="15270480" y="694944"/>
            <a:ext cx="2103120" cy="621792"/>
            <a:chOff x="0" y="0"/>
            <a:chExt cx="2804160" cy="829056"/>
          </a:xfrm>
        </p:grpSpPr>
        <p:sp>
          <p:nvSpPr>
            <p:cNvPr id="11" name="Freeform 11"/>
            <p:cNvSpPr/>
            <p:nvPr/>
          </p:nvSpPr>
          <p:spPr>
            <a:xfrm>
              <a:off x="0" y="0"/>
              <a:ext cx="2804160" cy="829056"/>
            </a:xfrm>
            <a:custGeom>
              <a:avLst/>
              <a:gdLst/>
              <a:ahLst/>
              <a:cxnLst/>
              <a:rect l="l" t="t" r="r" b="b"/>
              <a:pathLst>
                <a:path w="2804160" h="829056">
                  <a:moveTo>
                    <a:pt x="0" y="0"/>
                  </a:moveTo>
                  <a:lnTo>
                    <a:pt x="2804160" y="0"/>
                  </a:lnTo>
                  <a:lnTo>
                    <a:pt x="2804160" y="829056"/>
                  </a:lnTo>
                  <a:lnTo>
                    <a:pt x="0" y="829056"/>
                  </a:lnTo>
                  <a:close/>
                </a:path>
              </a:pathLst>
            </a:custGeom>
            <a:blipFill>
              <a:blip r:embed="rId1">
                <a:alphaModFix amt="0"/>
              </a:blip>
              <a:stretch>
                <a:fillRect t="-15905" b="-15905"/>
              </a:stretch>
            </a:blipFill>
          </p:spPr>
        </p:sp>
        <p:sp>
          <p:nvSpPr>
            <p:cNvPr id="12" name="TextBox 12"/>
            <p:cNvSpPr txBox="1"/>
            <p:nvPr/>
          </p:nvSpPr>
          <p:spPr>
            <a:xfrm>
              <a:off x="0" y="-47625"/>
              <a:ext cx="2804160" cy="876681"/>
            </a:xfrm>
            <a:prstGeom prst="rect">
              <a:avLst/>
            </a:prstGeom>
          </p:spPr>
          <p:txBody>
            <a:bodyPr lIns="0" tIns="0" rIns="0" bIns="0" rtlCol="0" anchor="ctr"/>
            <a:lstStyle/>
            <a:p>
              <a:pPr algn="ctr">
                <a:lnSpc>
                  <a:spcPts val="2640"/>
                </a:lnSpc>
              </a:pPr>
              <a:r>
                <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rPr>
                <a:t>#1</a:t>
              </a:r>
              <a:endPar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aphicFrame>
        <p:nvGraphicFramePr>
          <p:cNvPr id="13" name="Table 13"/>
          <p:cNvGraphicFramePr>
            <a:graphicFrameLocks noGrp="1"/>
          </p:cNvGraphicFramePr>
          <p:nvPr/>
        </p:nvGraphicFramePr>
        <p:xfrm>
          <a:off x="914400" y="2468880"/>
          <a:ext cx="16408401" cy="3962400"/>
        </p:xfrm>
        <a:graphic>
          <a:graphicData uri="http://schemas.openxmlformats.org/drawingml/2006/table">
            <a:tbl>
              <a:tblPr/>
              <a:tblGrid>
                <a:gridCol w="5005315"/>
                <a:gridCol w="2656957"/>
                <a:gridCol w="2566635"/>
                <a:gridCol w="6179494"/>
              </a:tblGrid>
              <a:tr h="701736">
                <a:tc>
                  <a:txBody>
                    <a:bodyPr rtlCol="0"/>
                    <a:lstStyle/>
                    <a:p>
                      <a:pPr algn="l">
                        <a:lnSpc>
                          <a:spcPts val="3120"/>
                        </a:lnSpc>
                        <a:defRPr/>
                      </a:pPr>
                      <a:r>
                        <a:rPr lang="en-US" sz="2600" b="1">
                          <a:solidFill>
                            <a:srgbClr val="FFFFFF"/>
                          </a:solidFill>
                          <a:latin typeface="Times New Roman" panose="02020603050405020304"/>
                          <a:ea typeface="Times New Roman" panose="02020603050405020304"/>
                          <a:cs typeface="Times New Roman" panose="02020603050405020304"/>
                          <a:sym typeface="Times New Roman" panose="02020603050405020304"/>
                        </a:rPr>
                        <a:t>Hướng</a:t>
                      </a:r>
                      <a:endParaRPr lang="en-US" sz="1100"/>
                    </a:p>
                  </a:txBody>
                  <a:tcPr marT="91440" marB="91440" anchor="t">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rgbClr val="14213D"/>
                    </a:solidFill>
                  </a:tcPr>
                </a:tc>
                <a:tc>
                  <a:txBody>
                    <a:bodyPr rtlCol="0"/>
                    <a:lstStyle/>
                    <a:p>
                      <a:pPr algn="l">
                        <a:lnSpc>
                          <a:spcPts val="3120"/>
                        </a:lnSpc>
                        <a:defRPr/>
                      </a:pPr>
                      <a:r>
                        <a:rPr lang="en-US" sz="2600" b="1">
                          <a:solidFill>
                            <a:srgbClr val="FFFFFF"/>
                          </a:solidFill>
                          <a:latin typeface="Times New Roman" panose="02020603050405020304"/>
                          <a:ea typeface="Times New Roman" panose="02020603050405020304"/>
                          <a:cs typeface="Times New Roman" panose="02020603050405020304"/>
                          <a:sym typeface="Times New Roman" panose="02020603050405020304"/>
                        </a:rPr>
                        <a:t>Phản hồi</a:t>
                      </a:r>
                      <a:endParaRPr lang="en-US" sz="1100"/>
                    </a:p>
                  </a:txBody>
                  <a:tcPr marT="91440" marB="91440" anchor="t">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rgbClr val="14213D"/>
                    </a:solidFill>
                  </a:tcPr>
                </a:tc>
                <a:tc>
                  <a:txBody>
                    <a:bodyPr rtlCol="0"/>
                    <a:lstStyle/>
                    <a:p>
                      <a:pPr algn="l">
                        <a:lnSpc>
                          <a:spcPts val="3120"/>
                        </a:lnSpc>
                        <a:defRPr/>
                      </a:pPr>
                      <a:r>
                        <a:rPr lang="en-US" sz="2600" b="1">
                          <a:solidFill>
                            <a:srgbClr val="FFFFFF"/>
                          </a:solidFill>
                          <a:latin typeface="Times New Roman" panose="02020603050405020304"/>
                          <a:ea typeface="Times New Roman" panose="02020603050405020304"/>
                          <a:cs typeface="Times New Roman" panose="02020603050405020304"/>
                          <a:sym typeface="Times New Roman" panose="02020603050405020304"/>
                        </a:rPr>
                        <a:t>Chống gian lận</a:t>
                      </a:r>
                      <a:endParaRPr lang="en-US" sz="1100"/>
                    </a:p>
                  </a:txBody>
                  <a:tcPr marT="91440" marB="91440" anchor="t">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rgbClr val="14213D"/>
                    </a:solidFill>
                  </a:tcPr>
                </a:tc>
                <a:tc>
                  <a:txBody>
                    <a:bodyPr rtlCol="0"/>
                    <a:lstStyle/>
                    <a:p>
                      <a:pPr algn="l">
                        <a:lnSpc>
                          <a:spcPts val="3120"/>
                        </a:lnSpc>
                        <a:defRPr/>
                      </a:pPr>
                      <a:r>
                        <a:rPr lang="en-US" sz="2600" b="1">
                          <a:solidFill>
                            <a:srgbClr val="FFFFFF"/>
                          </a:solidFill>
                          <a:latin typeface="Times New Roman" panose="02020603050405020304"/>
                          <a:ea typeface="Times New Roman" panose="02020603050405020304"/>
                          <a:cs typeface="Times New Roman" panose="02020603050405020304"/>
                          <a:sym typeface="Times New Roman" panose="02020603050405020304"/>
                        </a:rPr>
                        <a:t>Ghi chú</a:t>
                      </a:r>
                      <a:endParaRPr lang="en-US" sz="1100"/>
                    </a:p>
                  </a:txBody>
                  <a:tcPr marT="91440" marB="91440" anchor="t">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rgbClr val="14213D"/>
                    </a:solidFill>
                  </a:tcPr>
                </a:tc>
              </a:tr>
              <a:tr h="1086888">
                <a:tc>
                  <a:txBody>
                    <a:bodyPr rtlCol="0"/>
                    <a:lstStyle/>
                    <a:p>
                      <a:pPr algn="l">
                        <a:lnSpc>
                          <a:spcPts val="3360"/>
                        </a:lnSpc>
                        <a:defRPr/>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Client tự quyết, server chuyển tiếp</a:t>
                      </a:r>
                      <a:endParaRPr lang="en-US" sz="1100"/>
                    </a:p>
                  </a:txBody>
                  <a:tcPr marT="91440" marB="91440" anchor="t">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rgbClr val="FFFFFF"/>
                    </a:solidFill>
                  </a:tcPr>
                </a:tc>
                <a:tc>
                  <a:txBody>
                    <a:bodyPr rtlCol="0"/>
                    <a:lstStyle/>
                    <a:p>
                      <a:pPr algn="l">
                        <a:lnSpc>
                          <a:spcPts val="3840"/>
                        </a:lnSpc>
                        <a:defRPr/>
                      </a:pPr>
                      <a:r>
                        <a:rPr lang="en-US" sz="3200">
                          <a:solidFill>
                            <a:srgbClr val="00897B"/>
                          </a:solidFill>
                          <a:latin typeface="Times New Roman" panose="02020603050405020304"/>
                          <a:ea typeface="Times New Roman" panose="02020603050405020304"/>
                          <a:cs typeface="Times New Roman" panose="02020603050405020304"/>
                          <a:sym typeface="Times New Roman" panose="02020603050405020304"/>
                        </a:rPr>
                        <a:t>●</a:t>
                      </a:r>
                      <a:endParaRPr lang="en-US" sz="1100"/>
                    </a:p>
                  </a:txBody>
                  <a:tcPr marT="91440" marB="91440" anchor="t">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rgbClr val="FFFFFF"/>
                    </a:solidFill>
                  </a:tcPr>
                </a:tc>
                <a:tc>
                  <a:txBody>
                    <a:bodyPr rtlCol="0"/>
                    <a:lstStyle/>
                    <a:p>
                      <a:pPr algn="l">
                        <a:lnSpc>
                          <a:spcPts val="3840"/>
                        </a:lnSpc>
                        <a:defRPr/>
                      </a:pPr>
                      <a:r>
                        <a:rPr lang="en-US" sz="3200">
                          <a:solidFill>
                            <a:srgbClr val="5B6B82"/>
                          </a:solidFill>
                          <a:latin typeface="Times New Roman" panose="02020603050405020304"/>
                          <a:ea typeface="Times New Roman" panose="02020603050405020304"/>
                          <a:cs typeface="Times New Roman" panose="02020603050405020304"/>
                          <a:sym typeface="Times New Roman" panose="02020603050405020304"/>
                        </a:rPr>
                        <a:t>○</a:t>
                      </a:r>
                      <a:endParaRPr lang="en-US" sz="1100"/>
                    </a:p>
                  </a:txBody>
                  <a:tcPr marT="91440" marB="91440" anchor="t">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rgbClr val="FFFFFF"/>
                    </a:solidFill>
                  </a:tcPr>
                </a:tc>
                <a:tc>
                  <a:txBody>
                    <a:bodyPr rtlCol="0"/>
                    <a:lstStyle/>
                    <a:p>
                      <a:pPr algn="l">
                        <a:lnSpc>
                          <a:spcPts val="3360"/>
                        </a:lnSpc>
                        <a:defRPr/>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Sửa gói tin là dịch chuyển, hack tốc độ, tự cộng điểm</a:t>
                      </a:r>
                      <a:endParaRPr lang="en-US" sz="1100"/>
                    </a:p>
                  </a:txBody>
                  <a:tcPr marT="91440" marB="91440" anchor="t">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rgbClr val="FFFFFF"/>
                    </a:solidFill>
                  </a:tcPr>
                </a:tc>
              </a:tr>
              <a:tr h="1086888">
                <a:tc>
                  <a:txBody>
                    <a:bodyPr rtlCol="0"/>
                    <a:lstStyle/>
                    <a:p>
                      <a:pPr algn="l">
                        <a:lnSpc>
                          <a:spcPts val="3360"/>
                        </a:lnSpc>
                        <a:defRPr/>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Đồng bộ theo bước (ngang hàng)</a:t>
                      </a:r>
                      <a:endParaRPr lang="en-US" sz="1100"/>
                    </a:p>
                  </a:txBody>
                  <a:tcPr marT="91440" marB="91440" anchor="t">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rgbClr val="EEF3F8"/>
                    </a:solidFill>
                  </a:tcPr>
                </a:tc>
                <a:tc>
                  <a:txBody>
                    <a:bodyPr rtlCol="0"/>
                    <a:lstStyle/>
                    <a:p>
                      <a:pPr algn="l">
                        <a:lnSpc>
                          <a:spcPts val="3840"/>
                        </a:lnSpc>
                        <a:defRPr/>
                      </a:pPr>
                      <a:r>
                        <a:rPr lang="en-US" sz="3200">
                          <a:solidFill>
                            <a:srgbClr val="5B6B82"/>
                          </a:solidFill>
                          <a:latin typeface="Times New Roman" panose="02020603050405020304"/>
                          <a:ea typeface="Times New Roman" panose="02020603050405020304"/>
                          <a:cs typeface="Times New Roman" panose="02020603050405020304"/>
                          <a:sym typeface="Times New Roman" panose="02020603050405020304"/>
                        </a:rPr>
                        <a:t>○</a:t>
                      </a:r>
                      <a:endParaRPr lang="en-US" sz="1100"/>
                    </a:p>
                  </a:txBody>
                  <a:tcPr marT="91440" marB="91440" anchor="t">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rgbClr val="EEF3F8"/>
                    </a:solidFill>
                  </a:tcPr>
                </a:tc>
                <a:tc>
                  <a:txBody>
                    <a:bodyPr rtlCol="0"/>
                    <a:lstStyle/>
                    <a:p>
                      <a:pPr algn="l">
                        <a:lnSpc>
                          <a:spcPts val="3840"/>
                        </a:lnSpc>
                        <a:defRPr/>
                      </a:pPr>
                      <a:r>
                        <a:rPr lang="en-US" sz="3200">
                          <a:solidFill>
                            <a:srgbClr val="F4A259"/>
                          </a:solidFill>
                          <a:latin typeface="Times New Roman" panose="02020603050405020304"/>
                          <a:ea typeface="Times New Roman" panose="02020603050405020304"/>
                          <a:cs typeface="Times New Roman" panose="02020603050405020304"/>
                          <a:sym typeface="Times New Roman" panose="02020603050405020304"/>
                        </a:rPr>
                        <a:t>◐</a:t>
                      </a:r>
                      <a:endParaRPr lang="en-US" sz="1100"/>
                    </a:p>
                  </a:txBody>
                  <a:tcPr marT="91440" marB="91440" anchor="t">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rgbClr val="EEF3F8"/>
                    </a:solidFill>
                  </a:tcPr>
                </a:tc>
                <a:tc>
                  <a:txBody>
                    <a:bodyPr rtlCol="0"/>
                    <a:lstStyle/>
                    <a:p>
                      <a:pPr algn="l">
                        <a:lnSpc>
                          <a:spcPts val="3360"/>
                        </a:lnSpc>
                        <a:defRPr/>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Chờ người chậm nhất</a:t>
                      </a:r>
                      <a:endParaRPr lang="en-US" sz="1100"/>
                    </a:p>
                  </a:txBody>
                  <a:tcPr marT="91440" marB="91440" anchor="t">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rgbClr val="EEF3F8"/>
                    </a:solidFill>
                  </a:tcPr>
                </a:tc>
              </a:tr>
              <a:tr h="1086888">
                <a:tc>
                  <a:txBody>
                    <a:bodyPr rtlCol="0"/>
                    <a:lstStyle/>
                    <a:p>
                      <a:pPr algn="l">
                        <a:lnSpc>
                          <a:spcPts val="3360"/>
                        </a:lnSpc>
                        <a:defRPr/>
                      </a:pP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Server quyết định</a:t>
                      </a:r>
                      <a:endParaRPr lang="en-US" sz="1100"/>
                    </a:p>
                  </a:txBody>
                  <a:tcPr marT="91440" marB="91440" anchor="t">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rgbClr val="BFE8E3"/>
                    </a:solidFill>
                  </a:tcPr>
                </a:tc>
                <a:tc>
                  <a:txBody>
                    <a:bodyPr rtlCol="0"/>
                    <a:lstStyle/>
                    <a:p>
                      <a:pPr algn="l">
                        <a:lnSpc>
                          <a:spcPts val="2880"/>
                        </a:lnSpc>
                        <a:defRPr/>
                      </a:pPr>
                      <a:r>
                        <a:rPr lang="en-US" sz="2400" b="1">
                          <a:solidFill>
                            <a:srgbClr val="5B6B82"/>
                          </a:solidFill>
                          <a:latin typeface="Times New Roman" panose="02020603050405020304"/>
                          <a:ea typeface="Times New Roman" panose="02020603050405020304"/>
                          <a:cs typeface="Times New Roman" panose="02020603050405020304"/>
                          <a:sym typeface="Times New Roman" panose="02020603050405020304"/>
                        </a:rPr>
                        <a:t>○ (giải ở VĐ2)</a:t>
                      </a:r>
                      <a:endParaRPr lang="en-US" sz="1100"/>
                    </a:p>
                  </a:txBody>
                  <a:tcPr marT="91440" marB="91440" anchor="t">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rgbClr val="BFE8E3"/>
                    </a:solidFill>
                  </a:tcPr>
                </a:tc>
                <a:tc>
                  <a:txBody>
                    <a:bodyPr rtlCol="0"/>
                    <a:lstStyle/>
                    <a:p>
                      <a:pPr algn="l">
                        <a:lnSpc>
                          <a:spcPts val="3840"/>
                        </a:lnSpc>
                        <a:defRPr/>
                      </a:pPr>
                      <a:r>
                        <a:rPr lang="en-US" sz="3200" b="1">
                          <a:solidFill>
                            <a:srgbClr val="00897B"/>
                          </a:solidFill>
                          <a:latin typeface="Times New Roman" panose="02020603050405020304"/>
                          <a:ea typeface="Times New Roman" panose="02020603050405020304"/>
                          <a:cs typeface="Times New Roman" panose="02020603050405020304"/>
                          <a:sym typeface="Times New Roman" panose="02020603050405020304"/>
                        </a:rPr>
                        <a:t>●</a:t>
                      </a:r>
                      <a:endParaRPr lang="en-US" sz="1100"/>
                    </a:p>
                  </a:txBody>
                  <a:tcPr marT="91440" marB="91440" anchor="t">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rgbClr val="BFE8E3"/>
                    </a:solidFill>
                  </a:tcPr>
                </a:tc>
                <a:tc>
                  <a:txBody>
                    <a:bodyPr rtlCol="0"/>
                    <a:lstStyle/>
                    <a:p>
                      <a:pPr algn="l">
                        <a:lnSpc>
                          <a:spcPts val="3360"/>
                        </a:lnSpc>
                        <a:defRPr/>
                      </a:pP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Client chỉ gửi lệnh điều khiển</a:t>
                      </a:r>
                      <a:endParaRPr lang="en-US" sz="1100"/>
                    </a:p>
                  </a:txBody>
                  <a:tcPr marT="91440" marB="91440" anchor="t">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rgbClr val="BFE8E3"/>
                    </a:solidFill>
                  </a:tcPr>
                </a:tc>
              </a:tr>
            </a:tbl>
          </a:graphicData>
        </a:graphic>
      </p:graphicFrame>
      <p:grpSp>
        <p:nvGrpSpPr>
          <p:cNvPr id="14" name="Group 14"/>
          <p:cNvGrpSpPr/>
          <p:nvPr/>
        </p:nvGrpSpPr>
        <p:grpSpPr>
          <a:xfrm rot="0">
            <a:off x="4135120" y="6583680"/>
            <a:ext cx="9966960" cy="2857500"/>
            <a:chOff x="0" y="0"/>
            <a:chExt cx="21987929" cy="4064838"/>
          </a:xfrm>
        </p:grpSpPr>
        <p:sp>
          <p:nvSpPr>
            <p:cNvPr id="15" name="Freeform 15"/>
            <p:cNvSpPr/>
            <p:nvPr/>
          </p:nvSpPr>
          <p:spPr>
            <a:xfrm>
              <a:off x="0" y="0"/>
              <a:ext cx="21988018" cy="4064927"/>
            </a:xfrm>
            <a:custGeom>
              <a:avLst/>
              <a:gdLst/>
              <a:ahLst/>
              <a:cxnLst/>
              <a:rect l="l" t="t" r="r" b="b"/>
              <a:pathLst>
                <a:path w="21988018" h="4064927">
                  <a:moveTo>
                    <a:pt x="0" y="250223"/>
                  </a:moveTo>
                  <a:cubicBezTo>
                    <a:pt x="0" y="112014"/>
                    <a:pt x="88519" y="0"/>
                    <a:pt x="197739" y="0"/>
                  </a:cubicBezTo>
                  <a:lnTo>
                    <a:pt x="21790279" y="0"/>
                  </a:lnTo>
                  <a:cubicBezTo>
                    <a:pt x="21899499" y="0"/>
                    <a:pt x="21988018" y="112014"/>
                    <a:pt x="21988018" y="250223"/>
                  </a:cubicBezTo>
                  <a:lnTo>
                    <a:pt x="21988018" y="3814728"/>
                  </a:lnTo>
                  <a:cubicBezTo>
                    <a:pt x="21988018" y="3952937"/>
                    <a:pt x="21899499" y="4064927"/>
                    <a:pt x="21790279" y="4064927"/>
                  </a:cubicBezTo>
                  <a:lnTo>
                    <a:pt x="197739" y="4064927"/>
                  </a:lnTo>
                  <a:cubicBezTo>
                    <a:pt x="88519" y="4064790"/>
                    <a:pt x="0" y="3952777"/>
                    <a:pt x="0" y="3814728"/>
                  </a:cubicBezTo>
                  <a:close/>
                </a:path>
              </a:pathLst>
            </a:custGeom>
            <a:blipFill>
              <a:blip r:embed="rId2"/>
              <a:srcRect t="6000" b="8000"/>
              <a:stretch>
                <a:fillRect/>
              </a:stretch>
            </a:blipFill>
            <a:ln w="31750" cap="sq">
              <a:solidFill>
                <a:srgbClr val="00897B"/>
              </a:solidFill>
              <a:prstDash val="dash"/>
              <a:miter/>
            </a:ln>
          </p:spPr>
        </p:sp>
      </p:grpSp>
      <p:sp>
        <p:nvSpPr>
          <p:cNvPr id="16" name="TextBox 16"/>
          <p:cNvSpPr txBox="1"/>
          <p:nvPr/>
        </p:nvSpPr>
        <p:spPr>
          <a:xfrm>
            <a:off x="914400" y="384048"/>
            <a:ext cx="13898880" cy="559689"/>
          </a:xfrm>
          <a:prstGeom prst="rect">
            <a:avLst/>
          </a:prstGeom>
        </p:spPr>
        <p:txBody>
          <a:bodyPr lIns="0" tIns="0" rIns="0" bIns="0" rtlCol="0" anchor="t">
            <a:spAutoFit/>
          </a:bodyPr>
          <a:lstStyle/>
          <a:p>
            <a:pPr algn="l">
              <a:lnSpc>
                <a:spcPts val="2640"/>
              </a:lnSpc>
            </a:pPr>
            <a:r>
              <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VẤN ĐỀ 1</a:t>
            </a:r>
            <a:endPar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 name="TextBox 17"/>
          <p:cNvSpPr txBox="1"/>
          <p:nvPr/>
        </p:nvSpPr>
        <p:spPr>
          <a:xfrm>
            <a:off x="16550640" y="9517380"/>
            <a:ext cx="731520" cy="495300"/>
          </a:xfrm>
          <a:prstGeom prst="rect">
            <a:avLst/>
          </a:prstGeom>
        </p:spPr>
        <p:txBody>
          <a:bodyPr lIns="0" tIns="0" rIns="0" bIns="0" rtlCol="0" anchor="t">
            <a:spAutoFit/>
          </a:bodyPr>
          <a:lstStyle/>
          <a:p>
            <a:pPr algn="r">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9</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45" name="Header band"/>
          <p:cNvSpPr/>
          <p:nvPr/>
        </p:nvSpPr>
        <p:spPr>
          <a:xfrm>
            <a:off x="0" y="0"/>
            <a:ext cx="18288000" cy="2103120"/>
          </a:xfrm>
          <a:prstGeom prst="rect">
            <a:avLst/>
          </a:prstGeom>
          <a:solidFill>
            <a:srgbClr val="14213D"/>
          </a:solidFill>
          <a:ln>
            <a:noFill/>
          </a:ln>
        </p:spPr>
        <p:txBody>
          <a:bodyPr/>
          <a:p/>
        </p:txBody>
      </p:sp>
      <p:sp>
        <p:nvSpPr>
          <p:cNvPr id="9046" name="Header rule"/>
          <p:cNvSpPr/>
          <p:nvPr/>
        </p:nvSpPr>
        <p:spPr>
          <a:xfrm>
            <a:off x="0" y="2103120"/>
            <a:ext cx="18288000" cy="64008"/>
          </a:xfrm>
          <a:prstGeom prst="rect">
            <a:avLst/>
          </a:prstGeom>
          <a:solidFill>
            <a:srgbClr val="00897B"/>
          </a:solidFill>
          <a:ln>
            <a:noFill/>
          </a:ln>
        </p:spPr>
        <p:txBody>
          <a:bodyPr/>
          <a:p/>
        </p:txBody>
      </p:sp>
      <p:grpSp>
        <p:nvGrpSpPr>
          <p:cNvPr id="2" name="Group 2"/>
          <p:cNvGrpSpPr/>
          <p:nvPr/>
        </p:nvGrpSpPr>
        <p:grpSpPr>
          <a:xfrm rot="0">
            <a:off x="914400" y="9509760"/>
            <a:ext cx="12801600" cy="548640"/>
            <a:chOff x="0" y="0"/>
            <a:chExt cx="17068800" cy="731520"/>
          </a:xfrm>
        </p:grpSpPr>
        <p:sp>
          <p:nvSpPr>
            <p:cNvPr id="3" name="Freeform 3"/>
            <p:cNvSpPr/>
            <p:nvPr/>
          </p:nvSpPr>
          <p:spPr>
            <a:xfrm>
              <a:off x="0" y="0"/>
              <a:ext cx="17068800" cy="731520"/>
            </a:xfrm>
            <a:custGeom>
              <a:avLst/>
              <a:gdLst/>
              <a:ahLst/>
              <a:cxnLst/>
              <a:rect l="l" t="t" r="r" b="b"/>
              <a:pathLst>
                <a:path w="17068800" h="731520">
                  <a:moveTo>
                    <a:pt x="0" y="0"/>
                  </a:moveTo>
                  <a:lnTo>
                    <a:pt x="17068800" y="0"/>
                  </a:lnTo>
                  <a:lnTo>
                    <a:pt x="17068800" y="731520"/>
                  </a:lnTo>
                  <a:lnTo>
                    <a:pt x="0" y="731520"/>
                  </a:lnTo>
                  <a:close/>
                </a:path>
              </a:pathLst>
            </a:custGeom>
            <a:blipFill>
              <a:blip r:embed="rId1">
                <a:alphaModFix amt="0"/>
              </a:blip>
              <a:stretch>
                <a:fillRect t="-404650" b="-404650"/>
              </a:stretch>
            </a:blipFill>
          </p:spPr>
          <p:txBody>
            <a:bodyPr/>
            <a:p/>
          </p:txBody>
        </p:sp>
        <p:sp>
          <p:nvSpPr>
            <p:cNvPr id="4" name="TextBox 4"/>
            <p:cNvSpPr txBox="1"/>
            <p:nvPr/>
          </p:nvSpPr>
          <p:spPr>
            <a:xfrm>
              <a:off x="0" y="-38100"/>
              <a:ext cx="17068800" cy="769620"/>
            </a:xfrm>
            <a:prstGeom prst="rect">
              <a:avLst/>
            </a:prstGeom>
          </p:spPr>
          <p:txBody>
            <a:bodyPr lIns="0" tIns="0" rIns="0" bIns="0" rtlCol="0" anchor="ctr"/>
            <a:lstStyle/>
            <a:p>
              <a:pPr algn="l">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T47 · Kỹ thuật mạng cho game thời gian thực · Lập trình mạng</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5" name="Group 5"/>
          <p:cNvGrpSpPr/>
          <p:nvPr/>
        </p:nvGrpSpPr>
        <p:grpSpPr>
          <a:xfrm rot="0">
            <a:off x="914400" y="768096"/>
            <a:ext cx="14081760" cy="1097280"/>
            <a:chOff x="0" y="0"/>
            <a:chExt cx="18775680" cy="1463040"/>
          </a:xfrm>
        </p:grpSpPr>
        <p:sp>
          <p:nvSpPr>
            <p:cNvPr id="6" name="Freeform 6"/>
            <p:cNvSpPr/>
            <p:nvPr/>
          </p:nvSpPr>
          <p:spPr>
            <a:xfrm>
              <a:off x="0" y="0"/>
              <a:ext cx="18775680" cy="1463040"/>
            </a:xfrm>
            <a:custGeom>
              <a:avLst/>
              <a:gdLst/>
              <a:ahLst/>
              <a:cxnLst/>
              <a:rect l="l" t="t" r="r" b="b"/>
              <a:pathLst>
                <a:path w="18775680" h="1463040">
                  <a:moveTo>
                    <a:pt x="0" y="0"/>
                  </a:moveTo>
                  <a:lnTo>
                    <a:pt x="18775680" y="0"/>
                  </a:lnTo>
                  <a:lnTo>
                    <a:pt x="18775680" y="1463040"/>
                  </a:lnTo>
                  <a:lnTo>
                    <a:pt x="0" y="1463040"/>
                  </a:lnTo>
                  <a:close/>
                </a:path>
              </a:pathLst>
            </a:custGeom>
            <a:blipFill>
              <a:blip r:embed="rId1">
                <a:alphaModFix amt="0"/>
              </a:blip>
              <a:stretch>
                <a:fillRect t="-200057" b="-200057"/>
              </a:stretch>
            </a:blipFill>
          </p:spPr>
          <p:txBody>
            <a:bodyPr/>
            <a:p/>
          </p:txBody>
        </p:sp>
        <p:sp>
          <p:nvSpPr>
            <p:cNvPr id="7" name="TextBox 7"/>
            <p:cNvSpPr txBox="1"/>
            <p:nvPr/>
          </p:nvSpPr>
          <p:spPr>
            <a:xfrm>
              <a:off x="0" y="-9525"/>
              <a:ext cx="18775680" cy="1472565"/>
            </a:xfrm>
            <a:prstGeom prst="rect">
              <a:avLst/>
            </a:prstGeom>
          </p:spPr>
          <p:txBody>
            <a:bodyPr lIns="0" tIns="0" rIns="0" bIns="0" rtlCol="0" anchor="ctr"/>
            <a:lstStyle/>
            <a:p>
              <a:pPr algn="l">
                <a:lnSpc>
                  <a:spcPts val="5750"/>
                </a:lnSpc>
              </a:pPr>
              <a:r>
                <a:rPr lang="en-US" sz="5000" b="1">
                  <a:solidFill>
                    <a:srgbClr val="FFFFFF"/>
                  </a:solidFill>
                  <a:latin typeface="Times New Roman" panose="02020603050405020304"/>
                  <a:ea typeface="Times New Roman" panose="02020603050405020304"/>
                  <a:cs typeface="Times New Roman" panose="02020603050405020304"/>
                  <a:sym typeface="Times New Roman" panose="02020603050405020304"/>
                </a:rPr>
                <a:t>Server quyết định, nhịp cố định, kênh truyền</a:t>
              </a:r>
              <a:endParaRPr lang="en-US" sz="50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8" name="Group 8"/>
          <p:cNvGrpSpPr/>
          <p:nvPr/>
        </p:nvGrpSpPr>
        <p:grpSpPr>
          <a:xfrm rot="0">
            <a:off x="15257783" y="682247"/>
            <a:ext cx="2128523" cy="647195"/>
            <a:chOff x="0" y="0"/>
            <a:chExt cx="2838031" cy="862927"/>
          </a:xfrm>
        </p:grpSpPr>
        <p:sp>
          <p:nvSpPr>
            <p:cNvPr id="9" name="Freeform 9"/>
            <p:cNvSpPr/>
            <p:nvPr/>
          </p:nvSpPr>
          <p:spPr>
            <a:xfrm>
              <a:off x="0" y="0"/>
              <a:ext cx="2837942" cy="862838"/>
            </a:xfrm>
            <a:custGeom>
              <a:avLst/>
              <a:gdLst/>
              <a:ahLst/>
              <a:cxnLst/>
              <a:rect l="l" t="t" r="r" b="b"/>
              <a:pathLst>
                <a:path w="2837942" h="862838">
                  <a:moveTo>
                    <a:pt x="0" y="431419"/>
                  </a:moveTo>
                  <a:cubicBezTo>
                    <a:pt x="0" y="193167"/>
                    <a:pt x="193167" y="0"/>
                    <a:pt x="431419" y="0"/>
                  </a:cubicBezTo>
                  <a:lnTo>
                    <a:pt x="2406523" y="0"/>
                  </a:lnTo>
                  <a:cubicBezTo>
                    <a:pt x="2644775" y="0"/>
                    <a:pt x="2837942" y="193167"/>
                    <a:pt x="2837942" y="431419"/>
                  </a:cubicBezTo>
                  <a:cubicBezTo>
                    <a:pt x="2837942" y="669671"/>
                    <a:pt x="2644775" y="862838"/>
                    <a:pt x="2406523" y="862838"/>
                  </a:cubicBezTo>
                  <a:lnTo>
                    <a:pt x="431419" y="862838"/>
                  </a:lnTo>
                  <a:cubicBezTo>
                    <a:pt x="193167" y="862965"/>
                    <a:pt x="0" y="669798"/>
                    <a:pt x="0" y="431419"/>
                  </a:cubicBezTo>
                  <a:close/>
                </a:path>
              </a:pathLst>
            </a:custGeom>
            <a:solidFill>
              <a:srgbClr val="00897B"/>
            </a:solidFill>
            <a:ln w="25400" cap="sq">
              <a:solidFill>
                <a:srgbClr val="00897B"/>
              </a:solidFill>
              <a:prstDash val="solid"/>
              <a:miter/>
            </a:ln>
          </p:spPr>
          <p:txBody>
            <a:bodyPr/>
            <a:p/>
          </p:txBody>
        </p:sp>
      </p:grpSp>
      <p:grpSp>
        <p:nvGrpSpPr>
          <p:cNvPr id="10" name="Group 10"/>
          <p:cNvGrpSpPr/>
          <p:nvPr/>
        </p:nvGrpSpPr>
        <p:grpSpPr>
          <a:xfrm rot="0">
            <a:off x="15270480" y="694944"/>
            <a:ext cx="2103120" cy="621792"/>
            <a:chOff x="0" y="0"/>
            <a:chExt cx="2804160" cy="829056"/>
          </a:xfrm>
        </p:grpSpPr>
        <p:sp>
          <p:nvSpPr>
            <p:cNvPr id="11" name="Freeform 11"/>
            <p:cNvSpPr/>
            <p:nvPr/>
          </p:nvSpPr>
          <p:spPr>
            <a:xfrm>
              <a:off x="0" y="0"/>
              <a:ext cx="2804160" cy="829056"/>
            </a:xfrm>
            <a:custGeom>
              <a:avLst/>
              <a:gdLst/>
              <a:ahLst/>
              <a:cxnLst/>
              <a:rect l="l" t="t" r="r" b="b"/>
              <a:pathLst>
                <a:path w="2804160" h="829056">
                  <a:moveTo>
                    <a:pt x="0" y="0"/>
                  </a:moveTo>
                  <a:lnTo>
                    <a:pt x="2804160" y="0"/>
                  </a:lnTo>
                  <a:lnTo>
                    <a:pt x="2804160" y="829056"/>
                  </a:lnTo>
                  <a:lnTo>
                    <a:pt x="0" y="829056"/>
                  </a:lnTo>
                  <a:close/>
                </a:path>
              </a:pathLst>
            </a:custGeom>
            <a:blipFill>
              <a:blip r:embed="rId1">
                <a:alphaModFix amt="0"/>
              </a:blip>
              <a:stretch>
                <a:fillRect t="-15905" b="-15905"/>
              </a:stretch>
            </a:blipFill>
          </p:spPr>
          <p:txBody>
            <a:bodyPr/>
            <a:p/>
          </p:txBody>
        </p:sp>
        <p:sp>
          <p:nvSpPr>
            <p:cNvPr id="12" name="TextBox 12"/>
            <p:cNvSpPr txBox="1"/>
            <p:nvPr/>
          </p:nvSpPr>
          <p:spPr>
            <a:xfrm>
              <a:off x="0" y="-47625"/>
              <a:ext cx="2804160" cy="876681"/>
            </a:xfrm>
            <a:prstGeom prst="rect">
              <a:avLst/>
            </a:prstGeom>
          </p:spPr>
          <p:txBody>
            <a:bodyPr lIns="0" tIns="0" rIns="0" bIns="0" rtlCol="0" anchor="ctr"/>
            <a:lstStyle/>
            <a:p>
              <a:pPr algn="ctr">
                <a:lnSpc>
                  <a:spcPts val="2640"/>
                </a:lnSpc>
              </a:pPr>
              <a:r>
                <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rPr>
                <a:t>#1</a:t>
              </a:r>
              <a:endPar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3" name="Group 13"/>
          <p:cNvGrpSpPr/>
          <p:nvPr/>
        </p:nvGrpSpPr>
        <p:grpSpPr>
          <a:xfrm rot="0">
            <a:off x="901703" y="2456183"/>
            <a:ext cx="4963163" cy="1945643"/>
            <a:chOff x="0" y="0"/>
            <a:chExt cx="6617551" cy="2594191"/>
          </a:xfrm>
        </p:grpSpPr>
        <p:sp>
          <p:nvSpPr>
            <p:cNvPr id="14" name="Freeform 14"/>
            <p:cNvSpPr/>
            <p:nvPr/>
          </p:nvSpPr>
          <p:spPr>
            <a:xfrm>
              <a:off x="0" y="0"/>
              <a:ext cx="6617462" cy="2594102"/>
            </a:xfrm>
            <a:custGeom>
              <a:avLst/>
              <a:gdLst/>
              <a:ahLst/>
              <a:cxnLst/>
              <a:rect l="l" t="t" r="r" b="b"/>
              <a:pathLst>
                <a:path w="6617462" h="2594102">
                  <a:moveTo>
                    <a:pt x="0" y="247015"/>
                  </a:moveTo>
                  <a:cubicBezTo>
                    <a:pt x="0" y="110617"/>
                    <a:pt x="110617" y="0"/>
                    <a:pt x="247015" y="0"/>
                  </a:cubicBezTo>
                  <a:lnTo>
                    <a:pt x="6370447" y="0"/>
                  </a:lnTo>
                  <a:cubicBezTo>
                    <a:pt x="6506845" y="0"/>
                    <a:pt x="6617462" y="110617"/>
                    <a:pt x="6617462" y="247015"/>
                  </a:cubicBezTo>
                  <a:lnTo>
                    <a:pt x="6617462" y="2347087"/>
                  </a:lnTo>
                  <a:cubicBezTo>
                    <a:pt x="6617462" y="2483485"/>
                    <a:pt x="6506845" y="2594102"/>
                    <a:pt x="6370447" y="2594102"/>
                  </a:cubicBezTo>
                  <a:lnTo>
                    <a:pt x="247015" y="2594102"/>
                  </a:lnTo>
                  <a:cubicBezTo>
                    <a:pt x="110617" y="2594229"/>
                    <a:pt x="0" y="2483612"/>
                    <a:pt x="0" y="2347087"/>
                  </a:cubicBezTo>
                  <a:close/>
                </a:path>
              </a:pathLst>
            </a:custGeom>
            <a:solidFill>
              <a:srgbClr val="EEF3F8"/>
            </a:solidFill>
            <a:ln w="25400" cap="sq">
              <a:solidFill>
                <a:srgbClr val="EEF3F8"/>
              </a:solidFill>
              <a:prstDash val="solid"/>
              <a:miter/>
            </a:ln>
          </p:spPr>
          <p:txBody>
            <a:bodyPr/>
            <a:p/>
          </p:txBody>
        </p:sp>
      </p:grpSp>
      <p:grpSp>
        <p:nvGrpSpPr>
          <p:cNvPr id="15" name="Group 15"/>
          <p:cNvGrpSpPr/>
          <p:nvPr/>
        </p:nvGrpSpPr>
        <p:grpSpPr>
          <a:xfrm rot="0">
            <a:off x="1280160" y="2560320"/>
            <a:ext cx="1828800" cy="1737360"/>
            <a:chOff x="0" y="0"/>
            <a:chExt cx="2438400" cy="2316480"/>
          </a:xfrm>
        </p:grpSpPr>
        <p:sp>
          <p:nvSpPr>
            <p:cNvPr id="16" name="Freeform 16"/>
            <p:cNvSpPr/>
            <p:nvPr/>
          </p:nvSpPr>
          <p:spPr>
            <a:xfrm>
              <a:off x="0" y="0"/>
              <a:ext cx="2438400" cy="2316480"/>
            </a:xfrm>
            <a:custGeom>
              <a:avLst/>
              <a:gdLst/>
              <a:ahLst/>
              <a:cxnLst/>
              <a:rect l="l" t="t" r="r" b="b"/>
              <a:pathLst>
                <a:path w="2438400" h="2316480">
                  <a:moveTo>
                    <a:pt x="0" y="0"/>
                  </a:moveTo>
                  <a:lnTo>
                    <a:pt x="2438400" y="0"/>
                  </a:lnTo>
                  <a:lnTo>
                    <a:pt x="2438400" y="2316480"/>
                  </a:lnTo>
                  <a:lnTo>
                    <a:pt x="0" y="2316480"/>
                  </a:lnTo>
                  <a:close/>
                </a:path>
              </a:pathLst>
            </a:custGeom>
            <a:blipFill>
              <a:blip r:embed="rId1">
                <a:alphaModFix amt="0"/>
              </a:blip>
              <a:stretch>
                <a:fillRect l="-71888" r="-71888"/>
              </a:stretch>
            </a:blipFill>
          </p:spPr>
          <p:txBody>
            <a:bodyPr/>
            <a:p/>
          </p:txBody>
        </p:sp>
        <p:sp>
          <p:nvSpPr>
            <p:cNvPr id="17" name="TextBox 17"/>
            <p:cNvSpPr txBox="1"/>
            <p:nvPr/>
          </p:nvSpPr>
          <p:spPr>
            <a:xfrm>
              <a:off x="0" y="-9525"/>
              <a:ext cx="2438400" cy="2326005"/>
            </a:xfrm>
            <a:prstGeom prst="rect">
              <a:avLst/>
            </a:prstGeom>
          </p:spPr>
          <p:txBody>
            <a:bodyPr lIns="0" tIns="0" rIns="0" bIns="0" rtlCol="0" anchor="ctr"/>
            <a:lstStyle/>
            <a:p>
              <a:pPr algn="l">
                <a:lnSpc>
                  <a:spcPts val="9600"/>
                </a:lnSpc>
              </a:pPr>
              <a:r>
                <a:rPr lang="en-US" sz="8000" b="1">
                  <a:solidFill>
                    <a:srgbClr val="00897B"/>
                  </a:solidFill>
                  <a:latin typeface="Times New Roman" panose="02020603050405020304"/>
                  <a:ea typeface="Times New Roman" panose="02020603050405020304"/>
                  <a:cs typeface="Times New Roman" panose="02020603050405020304"/>
                  <a:sym typeface="Times New Roman" panose="02020603050405020304"/>
                </a:rPr>
                <a:t>30</a:t>
              </a:r>
              <a:endParaRPr lang="en-US" sz="8000" b="1">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8" name="Group 18"/>
          <p:cNvGrpSpPr/>
          <p:nvPr/>
        </p:nvGrpSpPr>
        <p:grpSpPr>
          <a:xfrm rot="0">
            <a:off x="3108960" y="2560320"/>
            <a:ext cx="2560320" cy="1737360"/>
            <a:chOff x="0" y="0"/>
            <a:chExt cx="3413760" cy="2316480"/>
          </a:xfrm>
        </p:grpSpPr>
        <p:sp>
          <p:nvSpPr>
            <p:cNvPr id="19" name="Freeform 19"/>
            <p:cNvSpPr/>
            <p:nvPr/>
          </p:nvSpPr>
          <p:spPr>
            <a:xfrm>
              <a:off x="0" y="0"/>
              <a:ext cx="3413760" cy="2316480"/>
            </a:xfrm>
            <a:custGeom>
              <a:avLst/>
              <a:gdLst/>
              <a:ahLst/>
              <a:cxnLst/>
              <a:rect l="l" t="t" r="r" b="b"/>
              <a:pathLst>
                <a:path w="3413760" h="2316480">
                  <a:moveTo>
                    <a:pt x="0" y="0"/>
                  </a:moveTo>
                  <a:lnTo>
                    <a:pt x="3413760" y="0"/>
                  </a:lnTo>
                  <a:lnTo>
                    <a:pt x="3413760" y="2316480"/>
                  </a:lnTo>
                  <a:lnTo>
                    <a:pt x="0" y="2316480"/>
                  </a:lnTo>
                  <a:close/>
                </a:path>
              </a:pathLst>
            </a:custGeom>
            <a:blipFill>
              <a:blip r:embed="rId1">
                <a:alphaModFix amt="0"/>
              </a:blip>
              <a:stretch>
                <a:fillRect l="-37063" r="-37063"/>
              </a:stretch>
            </a:blipFill>
          </p:spPr>
          <p:txBody>
            <a:bodyPr/>
            <a:p/>
          </p:txBody>
        </p:sp>
        <p:sp>
          <p:nvSpPr>
            <p:cNvPr id="20" name="TextBox 20"/>
            <p:cNvSpPr txBox="1"/>
            <p:nvPr/>
          </p:nvSpPr>
          <p:spPr>
            <a:xfrm>
              <a:off x="0" y="-57150"/>
              <a:ext cx="3413760" cy="2373630"/>
            </a:xfrm>
            <a:prstGeom prst="rect">
              <a:avLst/>
            </a:prstGeom>
          </p:spPr>
          <p:txBody>
            <a:bodyPr lIns="0" tIns="0" rIns="0" bIns="0" rtlCol="0" anchor="ctr"/>
            <a:lstStyle/>
            <a:p>
              <a:pPr algn="l">
                <a:lnSpc>
                  <a:spcPts val="3120"/>
                </a:lnSpc>
              </a:pPr>
              <a:r>
                <a:rPr lang="en-US" sz="2600">
                  <a:solidFill>
                    <a:srgbClr val="14213D"/>
                  </a:solidFill>
                  <a:latin typeface="Times New Roman" panose="02020603050405020304"/>
                  <a:ea typeface="Times New Roman" panose="02020603050405020304"/>
                  <a:cs typeface="Times New Roman" panose="02020603050405020304"/>
                  <a:sym typeface="Times New Roman" panose="02020603050405020304"/>
                </a:rPr>
                <a:t>nhịp mô phỏng mỗi giây (cố định)</a:t>
              </a:r>
              <a:endParaRPr lang="en-US" sz="26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1" name="Group 21"/>
          <p:cNvGrpSpPr/>
          <p:nvPr/>
        </p:nvGrpSpPr>
        <p:grpSpPr>
          <a:xfrm rot="0">
            <a:off x="6388103" y="2456183"/>
            <a:ext cx="4963163" cy="1945643"/>
            <a:chOff x="0" y="0"/>
            <a:chExt cx="6617551" cy="2594191"/>
          </a:xfrm>
        </p:grpSpPr>
        <p:sp>
          <p:nvSpPr>
            <p:cNvPr id="22" name="Freeform 22"/>
            <p:cNvSpPr/>
            <p:nvPr/>
          </p:nvSpPr>
          <p:spPr>
            <a:xfrm>
              <a:off x="0" y="0"/>
              <a:ext cx="6617462" cy="2594102"/>
            </a:xfrm>
            <a:custGeom>
              <a:avLst/>
              <a:gdLst/>
              <a:ahLst/>
              <a:cxnLst/>
              <a:rect l="l" t="t" r="r" b="b"/>
              <a:pathLst>
                <a:path w="6617462" h="2594102">
                  <a:moveTo>
                    <a:pt x="0" y="247015"/>
                  </a:moveTo>
                  <a:cubicBezTo>
                    <a:pt x="0" y="110617"/>
                    <a:pt x="110617" y="0"/>
                    <a:pt x="247015" y="0"/>
                  </a:cubicBezTo>
                  <a:lnTo>
                    <a:pt x="6370447" y="0"/>
                  </a:lnTo>
                  <a:cubicBezTo>
                    <a:pt x="6506845" y="0"/>
                    <a:pt x="6617462" y="110617"/>
                    <a:pt x="6617462" y="247015"/>
                  </a:cubicBezTo>
                  <a:lnTo>
                    <a:pt x="6617462" y="2347087"/>
                  </a:lnTo>
                  <a:cubicBezTo>
                    <a:pt x="6617462" y="2483485"/>
                    <a:pt x="6506845" y="2594102"/>
                    <a:pt x="6370447" y="2594102"/>
                  </a:cubicBezTo>
                  <a:lnTo>
                    <a:pt x="247015" y="2594102"/>
                  </a:lnTo>
                  <a:cubicBezTo>
                    <a:pt x="110617" y="2594229"/>
                    <a:pt x="0" y="2483612"/>
                    <a:pt x="0" y="2347087"/>
                  </a:cubicBezTo>
                  <a:close/>
                </a:path>
              </a:pathLst>
            </a:custGeom>
            <a:solidFill>
              <a:srgbClr val="EEF3F8"/>
            </a:solidFill>
            <a:ln w="25400" cap="sq">
              <a:solidFill>
                <a:srgbClr val="EEF3F8"/>
              </a:solidFill>
              <a:prstDash val="solid"/>
              <a:miter/>
            </a:ln>
          </p:spPr>
          <p:txBody>
            <a:bodyPr/>
            <a:p/>
          </p:txBody>
        </p:sp>
      </p:grpSp>
      <p:grpSp>
        <p:nvGrpSpPr>
          <p:cNvPr id="23" name="Group 23"/>
          <p:cNvGrpSpPr/>
          <p:nvPr/>
        </p:nvGrpSpPr>
        <p:grpSpPr>
          <a:xfrm rot="0">
            <a:off x="6766560" y="2560320"/>
            <a:ext cx="1828800" cy="1737360"/>
            <a:chOff x="0" y="0"/>
            <a:chExt cx="2438400" cy="2316480"/>
          </a:xfrm>
        </p:grpSpPr>
        <p:sp>
          <p:nvSpPr>
            <p:cNvPr id="24" name="Freeform 24"/>
            <p:cNvSpPr/>
            <p:nvPr/>
          </p:nvSpPr>
          <p:spPr>
            <a:xfrm>
              <a:off x="0" y="0"/>
              <a:ext cx="2438400" cy="2316480"/>
            </a:xfrm>
            <a:custGeom>
              <a:avLst/>
              <a:gdLst/>
              <a:ahLst/>
              <a:cxnLst/>
              <a:rect l="l" t="t" r="r" b="b"/>
              <a:pathLst>
                <a:path w="2438400" h="2316480">
                  <a:moveTo>
                    <a:pt x="0" y="0"/>
                  </a:moveTo>
                  <a:lnTo>
                    <a:pt x="2438400" y="0"/>
                  </a:lnTo>
                  <a:lnTo>
                    <a:pt x="2438400" y="2316480"/>
                  </a:lnTo>
                  <a:lnTo>
                    <a:pt x="0" y="2316480"/>
                  </a:lnTo>
                  <a:close/>
                </a:path>
              </a:pathLst>
            </a:custGeom>
            <a:blipFill>
              <a:blip r:embed="rId1">
                <a:alphaModFix amt="0"/>
              </a:blip>
              <a:stretch>
                <a:fillRect l="-71888" r="-71888"/>
              </a:stretch>
            </a:blipFill>
          </p:spPr>
          <p:txBody>
            <a:bodyPr/>
            <a:p/>
          </p:txBody>
        </p:sp>
        <p:sp>
          <p:nvSpPr>
            <p:cNvPr id="25" name="TextBox 25"/>
            <p:cNvSpPr txBox="1"/>
            <p:nvPr/>
          </p:nvSpPr>
          <p:spPr>
            <a:xfrm>
              <a:off x="0" y="-9525"/>
              <a:ext cx="2438400" cy="2326005"/>
            </a:xfrm>
            <a:prstGeom prst="rect">
              <a:avLst/>
            </a:prstGeom>
          </p:spPr>
          <p:txBody>
            <a:bodyPr lIns="0" tIns="0" rIns="0" bIns="0" rtlCol="0" anchor="ctr"/>
            <a:lstStyle/>
            <a:p>
              <a:pPr algn="l">
                <a:lnSpc>
                  <a:spcPts val="9600"/>
                </a:lnSpc>
              </a:pPr>
              <a:r>
                <a:rPr lang="en-US" sz="8000" b="1">
                  <a:solidFill>
                    <a:srgbClr val="00897B"/>
                  </a:solidFill>
                  <a:latin typeface="Times New Roman" panose="02020603050405020304"/>
                  <a:ea typeface="Times New Roman" panose="02020603050405020304"/>
                  <a:cs typeface="Times New Roman" panose="02020603050405020304"/>
                  <a:sym typeface="Times New Roman" panose="02020603050405020304"/>
                </a:rPr>
                <a:t>20</a:t>
              </a:r>
              <a:endParaRPr lang="en-US" sz="8000" b="1">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6" name="Group 26"/>
          <p:cNvGrpSpPr/>
          <p:nvPr/>
        </p:nvGrpSpPr>
        <p:grpSpPr>
          <a:xfrm rot="0">
            <a:off x="8595360" y="2560320"/>
            <a:ext cx="2560320" cy="1737360"/>
            <a:chOff x="0" y="0"/>
            <a:chExt cx="3413760" cy="2316480"/>
          </a:xfrm>
        </p:grpSpPr>
        <p:sp>
          <p:nvSpPr>
            <p:cNvPr id="27" name="Freeform 27"/>
            <p:cNvSpPr/>
            <p:nvPr/>
          </p:nvSpPr>
          <p:spPr>
            <a:xfrm>
              <a:off x="0" y="0"/>
              <a:ext cx="3413760" cy="2316480"/>
            </a:xfrm>
            <a:custGeom>
              <a:avLst/>
              <a:gdLst/>
              <a:ahLst/>
              <a:cxnLst/>
              <a:rect l="l" t="t" r="r" b="b"/>
              <a:pathLst>
                <a:path w="3413760" h="2316480">
                  <a:moveTo>
                    <a:pt x="0" y="0"/>
                  </a:moveTo>
                  <a:lnTo>
                    <a:pt x="3413760" y="0"/>
                  </a:lnTo>
                  <a:lnTo>
                    <a:pt x="3413760" y="2316480"/>
                  </a:lnTo>
                  <a:lnTo>
                    <a:pt x="0" y="2316480"/>
                  </a:lnTo>
                  <a:close/>
                </a:path>
              </a:pathLst>
            </a:custGeom>
            <a:blipFill>
              <a:blip r:embed="rId1">
                <a:alphaModFix amt="0"/>
              </a:blip>
              <a:stretch>
                <a:fillRect l="-37063" r="-37063"/>
              </a:stretch>
            </a:blipFill>
          </p:spPr>
          <p:txBody>
            <a:bodyPr/>
            <a:p/>
          </p:txBody>
        </p:sp>
        <p:sp>
          <p:nvSpPr>
            <p:cNvPr id="28" name="TextBox 28"/>
            <p:cNvSpPr txBox="1"/>
            <p:nvPr/>
          </p:nvSpPr>
          <p:spPr>
            <a:xfrm>
              <a:off x="0" y="-57150"/>
              <a:ext cx="3413760" cy="2373630"/>
            </a:xfrm>
            <a:prstGeom prst="rect">
              <a:avLst/>
            </a:prstGeom>
          </p:spPr>
          <p:txBody>
            <a:bodyPr lIns="0" tIns="0" rIns="0" bIns="0" rtlCol="0" anchor="ctr"/>
            <a:lstStyle/>
            <a:p>
              <a:pPr algn="l">
                <a:lnSpc>
                  <a:spcPts val="3120"/>
                </a:lnSpc>
              </a:pPr>
              <a:r>
                <a:rPr lang="en-US" sz="2600">
                  <a:solidFill>
                    <a:srgbClr val="14213D"/>
                  </a:solidFill>
                  <a:latin typeface="Times New Roman" panose="02020603050405020304"/>
                  <a:ea typeface="Times New Roman" panose="02020603050405020304"/>
                  <a:cs typeface="Times New Roman" panose="02020603050405020304"/>
                  <a:sym typeface="Times New Roman" panose="02020603050405020304"/>
                </a:rPr>
                <a:t>ảnh trạng thái gửi mỗi giây</a:t>
              </a:r>
              <a:endParaRPr lang="en-US" sz="26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9" name="Group 29"/>
          <p:cNvGrpSpPr/>
          <p:nvPr/>
        </p:nvGrpSpPr>
        <p:grpSpPr>
          <a:xfrm rot="0">
            <a:off x="11779882" y="2453002"/>
            <a:ext cx="5609587" cy="6706867"/>
            <a:chOff x="0" y="0"/>
            <a:chExt cx="7479449" cy="8942489"/>
          </a:xfrm>
        </p:grpSpPr>
        <p:sp>
          <p:nvSpPr>
            <p:cNvPr id="30" name="Freeform 30"/>
            <p:cNvSpPr/>
            <p:nvPr/>
          </p:nvSpPr>
          <p:spPr>
            <a:xfrm>
              <a:off x="0" y="0"/>
              <a:ext cx="7479538" cy="8942578"/>
            </a:xfrm>
            <a:custGeom>
              <a:avLst/>
              <a:gdLst/>
              <a:ahLst/>
              <a:cxnLst/>
              <a:rect l="l" t="t" r="r" b="b"/>
              <a:pathLst>
                <a:path w="7479538" h="8942578">
                  <a:moveTo>
                    <a:pt x="0" y="196215"/>
                  </a:moveTo>
                  <a:cubicBezTo>
                    <a:pt x="0" y="87884"/>
                    <a:pt x="87884" y="0"/>
                    <a:pt x="196215" y="0"/>
                  </a:cubicBezTo>
                  <a:lnTo>
                    <a:pt x="7283323" y="0"/>
                  </a:lnTo>
                  <a:cubicBezTo>
                    <a:pt x="7391654" y="0"/>
                    <a:pt x="7479538" y="87884"/>
                    <a:pt x="7479538" y="196215"/>
                  </a:cubicBezTo>
                  <a:lnTo>
                    <a:pt x="7479538" y="8746363"/>
                  </a:lnTo>
                  <a:cubicBezTo>
                    <a:pt x="7479538" y="8854694"/>
                    <a:pt x="7391654" y="8942578"/>
                    <a:pt x="7283323" y="8942578"/>
                  </a:cubicBezTo>
                  <a:lnTo>
                    <a:pt x="196215" y="8942578"/>
                  </a:lnTo>
                  <a:cubicBezTo>
                    <a:pt x="87884" y="8942451"/>
                    <a:pt x="0" y="8854694"/>
                    <a:pt x="0" y="8746363"/>
                  </a:cubicBezTo>
                  <a:close/>
                </a:path>
              </a:pathLst>
            </a:custGeom>
            <a:blipFill>
              <a:blip r:embed="rId2"/>
              <a:stretch>
                <a:fillRect t="-183" b="-183"/>
              </a:stretch>
            </a:blipFill>
            <a:ln w="31750" cap="sq">
              <a:solidFill>
                <a:srgbClr val="00897B"/>
              </a:solidFill>
              <a:prstDash val="dash"/>
              <a:miter/>
            </a:ln>
          </p:spPr>
          <p:txBody>
            <a:bodyPr/>
            <a:p/>
          </p:txBody>
        </p:sp>
      </p:grpSp>
      <p:sp>
        <p:nvSpPr>
          <p:cNvPr id="31" name="TextBox 31"/>
          <p:cNvSpPr txBox="1"/>
          <p:nvPr/>
        </p:nvSpPr>
        <p:spPr>
          <a:xfrm>
            <a:off x="914400" y="384048"/>
            <a:ext cx="13898880" cy="559689"/>
          </a:xfrm>
          <a:prstGeom prst="rect">
            <a:avLst/>
          </a:prstGeom>
        </p:spPr>
        <p:txBody>
          <a:bodyPr lIns="0" tIns="0" rIns="0" bIns="0" rtlCol="0" anchor="t">
            <a:spAutoFit/>
          </a:bodyPr>
          <a:lstStyle/>
          <a:p>
            <a:pPr algn="l">
              <a:lnSpc>
                <a:spcPts val="2640"/>
              </a:lnSpc>
            </a:pPr>
            <a:r>
              <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VẤN ĐỀ 1</a:t>
            </a:r>
            <a:endPar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2" name="TextBox 32"/>
          <p:cNvSpPr txBox="1"/>
          <p:nvPr/>
        </p:nvSpPr>
        <p:spPr>
          <a:xfrm>
            <a:off x="914400" y="4779645"/>
            <a:ext cx="10424160" cy="4455795"/>
          </a:xfrm>
          <a:prstGeom prst="rect">
            <a:avLst/>
          </a:prstGeom>
        </p:spPr>
        <p:txBody>
          <a:bodyPr lIns="0" tIns="0" rIns="0" bIns="0" rtlCol="0" anchor="t">
            <a:spAutoFit/>
          </a:bodyPr>
          <a:lstStyle/>
          <a:p>
            <a:pPr marL="675640" lvl="1" indent="-337820" algn="l">
              <a:lnSpc>
                <a:spcPts val="3360"/>
              </a:lnSpc>
              <a:buFont typeface="Times New Roman" panose="02020603050405020304"/>
              <a:buChar char="•"/>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Mỗi nhịp cộng </a:t>
            </a: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1 lượt xử lý/người</a:t>
            </a: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 (để dành tối đa 3): lệnh đến dồn vẫn bắt kịp, nhưng gửi nhiều lệnh cũng không chạy nhanh hơn</a:t>
            </a:r>
            <a:endPar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a:p>
            <a:pPr marL="675640" lvl="1" indent="-337820" algn="l">
              <a:lnSpc>
                <a:spcPts val="3360"/>
              </a:lnSpc>
              <a:buFont typeface="Times New Roman" panose="02020603050405020304"/>
              <a:buChar char="•"/>
            </a:pP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TCP:</a:t>
            </a: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 đăng nhập, ghép trận, kết quả quan trọng · </a:t>
            </a: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UDP:</a:t>
            </a: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 lệnh, ảnh trạng thái</a:t>
            </a:r>
            <a:endPar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3" name="TextBox 33"/>
          <p:cNvSpPr txBox="1"/>
          <p:nvPr/>
        </p:nvSpPr>
        <p:spPr>
          <a:xfrm>
            <a:off x="16550640" y="9517380"/>
            <a:ext cx="731520" cy="495300"/>
          </a:xfrm>
          <a:prstGeom prst="rect">
            <a:avLst/>
          </a:prstGeom>
        </p:spPr>
        <p:txBody>
          <a:bodyPr lIns="0" tIns="0" rIns="0" bIns="0" rtlCol="0" anchor="t">
            <a:spAutoFit/>
          </a:bodyPr>
          <a:lstStyle/>
          <a:p>
            <a:pPr algn="r">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10</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47" name="Header band"/>
          <p:cNvSpPr/>
          <p:nvPr/>
        </p:nvSpPr>
        <p:spPr>
          <a:xfrm>
            <a:off x="0" y="0"/>
            <a:ext cx="18288000" cy="2103120"/>
          </a:xfrm>
          <a:prstGeom prst="rect">
            <a:avLst/>
          </a:prstGeom>
          <a:solidFill>
            <a:srgbClr val="14213D"/>
          </a:solidFill>
          <a:ln>
            <a:noFill/>
          </a:ln>
        </p:spPr>
        <p:txBody>
          <a:bodyPr/>
          <a:p/>
        </p:txBody>
      </p:sp>
      <p:sp>
        <p:nvSpPr>
          <p:cNvPr id="9048" name="Header rule"/>
          <p:cNvSpPr/>
          <p:nvPr/>
        </p:nvSpPr>
        <p:spPr>
          <a:xfrm>
            <a:off x="0" y="2103120"/>
            <a:ext cx="18288000" cy="64008"/>
          </a:xfrm>
          <a:prstGeom prst="rect">
            <a:avLst/>
          </a:prstGeom>
          <a:solidFill>
            <a:srgbClr val="00897B"/>
          </a:solidFill>
          <a:ln>
            <a:noFill/>
          </a:ln>
        </p:spPr>
        <p:txBody>
          <a:bodyPr/>
          <a:p/>
        </p:txBody>
      </p:sp>
      <p:grpSp>
        <p:nvGrpSpPr>
          <p:cNvPr id="2" name="Group 2"/>
          <p:cNvGrpSpPr/>
          <p:nvPr/>
        </p:nvGrpSpPr>
        <p:grpSpPr>
          <a:xfrm rot="0">
            <a:off x="914400" y="9509760"/>
            <a:ext cx="12801600" cy="548640"/>
            <a:chOff x="0" y="0"/>
            <a:chExt cx="17068800" cy="731520"/>
          </a:xfrm>
        </p:grpSpPr>
        <p:sp>
          <p:nvSpPr>
            <p:cNvPr id="3" name="Freeform 3"/>
            <p:cNvSpPr/>
            <p:nvPr/>
          </p:nvSpPr>
          <p:spPr>
            <a:xfrm>
              <a:off x="0" y="0"/>
              <a:ext cx="17068800" cy="731520"/>
            </a:xfrm>
            <a:custGeom>
              <a:avLst/>
              <a:gdLst/>
              <a:ahLst/>
              <a:cxnLst/>
              <a:rect l="l" t="t" r="r" b="b"/>
              <a:pathLst>
                <a:path w="17068800" h="731520">
                  <a:moveTo>
                    <a:pt x="0" y="0"/>
                  </a:moveTo>
                  <a:lnTo>
                    <a:pt x="17068800" y="0"/>
                  </a:lnTo>
                  <a:lnTo>
                    <a:pt x="17068800" y="731520"/>
                  </a:lnTo>
                  <a:lnTo>
                    <a:pt x="0" y="731520"/>
                  </a:lnTo>
                  <a:close/>
                </a:path>
              </a:pathLst>
            </a:custGeom>
            <a:blipFill>
              <a:blip r:embed="rId1">
                <a:alphaModFix amt="0"/>
              </a:blip>
              <a:stretch>
                <a:fillRect t="-404650" b="-404650"/>
              </a:stretch>
            </a:blipFill>
          </p:spPr>
          <p:txBody>
            <a:bodyPr/>
            <a:p/>
          </p:txBody>
        </p:sp>
        <p:sp>
          <p:nvSpPr>
            <p:cNvPr id="4" name="TextBox 4"/>
            <p:cNvSpPr txBox="1"/>
            <p:nvPr/>
          </p:nvSpPr>
          <p:spPr>
            <a:xfrm>
              <a:off x="0" y="-38100"/>
              <a:ext cx="17068800" cy="769620"/>
            </a:xfrm>
            <a:prstGeom prst="rect">
              <a:avLst/>
            </a:prstGeom>
          </p:spPr>
          <p:txBody>
            <a:bodyPr lIns="0" tIns="0" rIns="0" bIns="0" rtlCol="0" anchor="ctr"/>
            <a:lstStyle/>
            <a:p>
              <a:pPr algn="l">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T47 · Kỹ thuật mạng cho game thời gian thực · Lập trình mạng</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5" name="Group 5"/>
          <p:cNvGrpSpPr/>
          <p:nvPr/>
        </p:nvGrpSpPr>
        <p:grpSpPr>
          <a:xfrm rot="0">
            <a:off x="914400" y="768096"/>
            <a:ext cx="14081760" cy="1097280"/>
            <a:chOff x="0" y="0"/>
            <a:chExt cx="18775680" cy="1463040"/>
          </a:xfrm>
        </p:grpSpPr>
        <p:sp>
          <p:nvSpPr>
            <p:cNvPr id="6" name="Freeform 6"/>
            <p:cNvSpPr/>
            <p:nvPr/>
          </p:nvSpPr>
          <p:spPr>
            <a:xfrm>
              <a:off x="0" y="0"/>
              <a:ext cx="18775680" cy="1463040"/>
            </a:xfrm>
            <a:custGeom>
              <a:avLst/>
              <a:gdLst/>
              <a:ahLst/>
              <a:cxnLst/>
              <a:rect l="l" t="t" r="r" b="b"/>
              <a:pathLst>
                <a:path w="18775680" h="1463040">
                  <a:moveTo>
                    <a:pt x="0" y="0"/>
                  </a:moveTo>
                  <a:lnTo>
                    <a:pt x="18775680" y="0"/>
                  </a:lnTo>
                  <a:lnTo>
                    <a:pt x="18775680" y="1463040"/>
                  </a:lnTo>
                  <a:lnTo>
                    <a:pt x="0" y="1463040"/>
                  </a:lnTo>
                  <a:close/>
                </a:path>
              </a:pathLst>
            </a:custGeom>
            <a:blipFill>
              <a:blip r:embed="rId1">
                <a:alphaModFix amt="0"/>
              </a:blip>
              <a:stretch>
                <a:fillRect t="-200057" b="-200057"/>
              </a:stretch>
            </a:blipFill>
          </p:spPr>
          <p:txBody>
            <a:bodyPr/>
            <a:p/>
          </p:txBody>
        </p:sp>
        <p:sp>
          <p:nvSpPr>
            <p:cNvPr id="7" name="TextBox 7"/>
            <p:cNvSpPr txBox="1"/>
            <p:nvPr/>
          </p:nvSpPr>
          <p:spPr>
            <a:xfrm>
              <a:off x="0" y="-9525"/>
              <a:ext cx="18775680" cy="1472565"/>
            </a:xfrm>
            <a:prstGeom prst="rect">
              <a:avLst/>
            </a:prstGeom>
          </p:spPr>
          <p:txBody>
            <a:bodyPr lIns="0" tIns="0" rIns="0" bIns="0" rtlCol="0" anchor="ctr"/>
            <a:lstStyle/>
            <a:p>
              <a:pPr algn="l">
                <a:lnSpc>
                  <a:spcPts val="6785"/>
                </a:lnSpc>
              </a:pPr>
              <a:r>
                <a:rPr lang="en-US" sz="5900" b="1">
                  <a:solidFill>
                    <a:srgbClr val="FFFFFF"/>
                  </a:solidFill>
                  <a:latin typeface="Times New Roman" panose="02020603050405020304"/>
                  <a:ea typeface="Times New Roman" panose="02020603050405020304"/>
                  <a:cs typeface="Times New Roman" panose="02020603050405020304"/>
                  <a:sym typeface="Times New Roman" panose="02020603050405020304"/>
                </a:rPr>
                <a:t>Điều khiển bị ì → dự đoán phía client</a:t>
              </a:r>
              <a:endParaRPr lang="en-US" sz="59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8" name="Group 8"/>
          <p:cNvGrpSpPr/>
          <p:nvPr/>
        </p:nvGrpSpPr>
        <p:grpSpPr>
          <a:xfrm rot="0">
            <a:off x="15257783" y="682247"/>
            <a:ext cx="2128523" cy="647195"/>
            <a:chOff x="0" y="0"/>
            <a:chExt cx="2838031" cy="862927"/>
          </a:xfrm>
        </p:grpSpPr>
        <p:sp>
          <p:nvSpPr>
            <p:cNvPr id="9" name="Freeform 9"/>
            <p:cNvSpPr/>
            <p:nvPr/>
          </p:nvSpPr>
          <p:spPr>
            <a:xfrm>
              <a:off x="0" y="0"/>
              <a:ext cx="2837942" cy="862838"/>
            </a:xfrm>
            <a:custGeom>
              <a:avLst/>
              <a:gdLst/>
              <a:ahLst/>
              <a:cxnLst/>
              <a:rect l="l" t="t" r="r" b="b"/>
              <a:pathLst>
                <a:path w="2837942" h="862838">
                  <a:moveTo>
                    <a:pt x="0" y="431419"/>
                  </a:moveTo>
                  <a:cubicBezTo>
                    <a:pt x="0" y="193167"/>
                    <a:pt x="193167" y="0"/>
                    <a:pt x="431419" y="0"/>
                  </a:cubicBezTo>
                  <a:lnTo>
                    <a:pt x="2406523" y="0"/>
                  </a:lnTo>
                  <a:cubicBezTo>
                    <a:pt x="2644775" y="0"/>
                    <a:pt x="2837942" y="193167"/>
                    <a:pt x="2837942" y="431419"/>
                  </a:cubicBezTo>
                  <a:cubicBezTo>
                    <a:pt x="2837942" y="669671"/>
                    <a:pt x="2644775" y="862838"/>
                    <a:pt x="2406523" y="862838"/>
                  </a:cubicBezTo>
                  <a:lnTo>
                    <a:pt x="431419" y="862838"/>
                  </a:lnTo>
                  <a:cubicBezTo>
                    <a:pt x="193167" y="862965"/>
                    <a:pt x="0" y="669798"/>
                    <a:pt x="0" y="431419"/>
                  </a:cubicBezTo>
                  <a:close/>
                </a:path>
              </a:pathLst>
            </a:custGeom>
            <a:solidFill>
              <a:srgbClr val="6C5CE7"/>
            </a:solidFill>
            <a:ln w="25400" cap="sq">
              <a:solidFill>
                <a:srgbClr val="6C5CE7"/>
              </a:solidFill>
              <a:prstDash val="solid"/>
              <a:miter/>
            </a:ln>
          </p:spPr>
          <p:txBody>
            <a:bodyPr/>
            <a:p/>
          </p:txBody>
        </p:sp>
      </p:grpSp>
      <p:grpSp>
        <p:nvGrpSpPr>
          <p:cNvPr id="10" name="Group 10"/>
          <p:cNvGrpSpPr/>
          <p:nvPr/>
        </p:nvGrpSpPr>
        <p:grpSpPr>
          <a:xfrm rot="0">
            <a:off x="15270480" y="694944"/>
            <a:ext cx="2103120" cy="621792"/>
            <a:chOff x="0" y="0"/>
            <a:chExt cx="2804160" cy="829056"/>
          </a:xfrm>
        </p:grpSpPr>
        <p:sp>
          <p:nvSpPr>
            <p:cNvPr id="11" name="Freeform 11"/>
            <p:cNvSpPr/>
            <p:nvPr/>
          </p:nvSpPr>
          <p:spPr>
            <a:xfrm>
              <a:off x="0" y="0"/>
              <a:ext cx="2804160" cy="829056"/>
            </a:xfrm>
            <a:custGeom>
              <a:avLst/>
              <a:gdLst/>
              <a:ahLst/>
              <a:cxnLst/>
              <a:rect l="l" t="t" r="r" b="b"/>
              <a:pathLst>
                <a:path w="2804160" h="829056">
                  <a:moveTo>
                    <a:pt x="0" y="0"/>
                  </a:moveTo>
                  <a:lnTo>
                    <a:pt x="2804160" y="0"/>
                  </a:lnTo>
                  <a:lnTo>
                    <a:pt x="2804160" y="829056"/>
                  </a:lnTo>
                  <a:lnTo>
                    <a:pt x="0" y="829056"/>
                  </a:lnTo>
                  <a:close/>
                </a:path>
              </a:pathLst>
            </a:custGeom>
            <a:blipFill>
              <a:blip r:embed="rId1">
                <a:alphaModFix amt="0"/>
              </a:blip>
              <a:stretch>
                <a:fillRect t="-15905" b="-15905"/>
              </a:stretch>
            </a:blipFill>
          </p:spPr>
          <p:txBody>
            <a:bodyPr/>
            <a:p/>
          </p:txBody>
        </p:sp>
        <p:sp>
          <p:nvSpPr>
            <p:cNvPr id="12" name="TextBox 12"/>
            <p:cNvSpPr txBox="1"/>
            <p:nvPr/>
          </p:nvSpPr>
          <p:spPr>
            <a:xfrm>
              <a:off x="0" y="-47625"/>
              <a:ext cx="2804160" cy="876681"/>
            </a:xfrm>
            <a:prstGeom prst="rect">
              <a:avLst/>
            </a:prstGeom>
          </p:spPr>
          <p:txBody>
            <a:bodyPr lIns="0" tIns="0" rIns="0" bIns="0" rtlCol="0" anchor="ctr"/>
            <a:lstStyle/>
            <a:p>
              <a:pPr algn="ctr">
                <a:lnSpc>
                  <a:spcPts val="2640"/>
                </a:lnSpc>
              </a:pPr>
              <a:r>
                <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rPr>
                <a:t>#2</a:t>
              </a:r>
              <a:endPar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3" name="Group 13"/>
          <p:cNvGrpSpPr/>
          <p:nvPr/>
        </p:nvGrpSpPr>
        <p:grpSpPr>
          <a:xfrm rot="0">
            <a:off x="914400" y="3657600"/>
            <a:ext cx="10424160" cy="402336"/>
            <a:chOff x="0" y="0"/>
            <a:chExt cx="13898880" cy="536448"/>
          </a:xfrm>
        </p:grpSpPr>
        <p:sp>
          <p:nvSpPr>
            <p:cNvPr id="14" name="Freeform 14"/>
            <p:cNvSpPr/>
            <p:nvPr/>
          </p:nvSpPr>
          <p:spPr>
            <a:xfrm>
              <a:off x="0" y="0"/>
              <a:ext cx="13898880" cy="536448"/>
            </a:xfrm>
            <a:custGeom>
              <a:avLst/>
              <a:gdLst/>
              <a:ahLst/>
              <a:cxnLst/>
              <a:rect l="l" t="t" r="r" b="b"/>
              <a:pathLst>
                <a:path w="13898880" h="536448">
                  <a:moveTo>
                    <a:pt x="0" y="0"/>
                  </a:moveTo>
                  <a:lnTo>
                    <a:pt x="13898880" y="0"/>
                  </a:lnTo>
                  <a:lnTo>
                    <a:pt x="13898880" y="536448"/>
                  </a:lnTo>
                  <a:lnTo>
                    <a:pt x="0" y="536448"/>
                  </a:lnTo>
                  <a:close/>
                </a:path>
              </a:pathLst>
            </a:custGeom>
            <a:blipFill>
              <a:blip r:embed="rId1">
                <a:alphaModFix amt="0"/>
              </a:blip>
              <a:stretch>
                <a:fillRect t="-454839" b="-454839"/>
              </a:stretch>
            </a:blipFill>
          </p:spPr>
          <p:txBody>
            <a:bodyPr/>
            <a:p/>
          </p:txBody>
        </p:sp>
        <p:sp>
          <p:nvSpPr>
            <p:cNvPr id="15" name="TextBox 15"/>
            <p:cNvSpPr txBox="1"/>
            <p:nvPr/>
          </p:nvSpPr>
          <p:spPr>
            <a:xfrm>
              <a:off x="0" y="-38100"/>
              <a:ext cx="13898880" cy="574548"/>
            </a:xfrm>
            <a:prstGeom prst="rect">
              <a:avLst/>
            </a:prstGeom>
          </p:spPr>
          <p:txBody>
            <a:bodyPr lIns="0" tIns="0" rIns="0" bIns="0" rtlCol="0" anchor="ctr"/>
            <a:lstStyle/>
            <a:p>
              <a:pPr algn="l">
                <a:lnSpc>
                  <a:spcPts val="2400"/>
                </a:lnSpc>
              </a:pPr>
              <a:r>
                <a:rPr lang="en-US" sz="2000" b="1" spc="300">
                  <a:solidFill>
                    <a:srgbClr val="5B6B82"/>
                  </a:solidFill>
                  <a:latin typeface="Times New Roman" panose="02020603050405020304"/>
                  <a:ea typeface="Times New Roman" panose="02020603050405020304"/>
                  <a:cs typeface="Times New Roman" panose="02020603050405020304"/>
                  <a:sym typeface="Times New Roman" panose="02020603050405020304"/>
                </a:rPr>
                <a:t>CÁC HƯỚNG</a:t>
              </a:r>
              <a:endParaRPr lang="en-US" sz="2000" b="1" spc="3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6" name="Group 16"/>
          <p:cNvGrpSpPr/>
          <p:nvPr/>
        </p:nvGrpSpPr>
        <p:grpSpPr>
          <a:xfrm rot="0">
            <a:off x="1097280" y="4151376"/>
            <a:ext cx="548640" cy="585216"/>
            <a:chOff x="0" y="0"/>
            <a:chExt cx="731520" cy="780288"/>
          </a:xfrm>
        </p:grpSpPr>
        <p:sp>
          <p:nvSpPr>
            <p:cNvPr id="17" name="Freeform 17"/>
            <p:cNvSpPr/>
            <p:nvPr/>
          </p:nvSpPr>
          <p:spPr>
            <a:xfrm>
              <a:off x="0" y="0"/>
              <a:ext cx="731520" cy="780288"/>
            </a:xfrm>
            <a:custGeom>
              <a:avLst/>
              <a:gdLst/>
              <a:ahLst/>
              <a:cxnLst/>
              <a:rect l="l" t="t" r="r" b="b"/>
              <a:pathLst>
                <a:path w="731520" h="780288">
                  <a:moveTo>
                    <a:pt x="0" y="0"/>
                  </a:moveTo>
                  <a:lnTo>
                    <a:pt x="731520" y="0"/>
                  </a:lnTo>
                  <a:lnTo>
                    <a:pt x="731520" y="780288"/>
                  </a:lnTo>
                  <a:lnTo>
                    <a:pt x="0" y="780288"/>
                  </a:lnTo>
                  <a:close/>
                </a:path>
              </a:pathLst>
            </a:custGeom>
            <a:blipFill>
              <a:blip r:embed="rId1">
                <a:alphaModFix amt="0"/>
              </a:blip>
              <a:stretch>
                <a:fillRect l="-86857" r="-86857"/>
              </a:stretch>
            </a:blipFill>
          </p:spPr>
          <p:txBody>
            <a:bodyPr/>
            <a:p/>
          </p:txBody>
        </p:sp>
        <p:sp>
          <p:nvSpPr>
            <p:cNvPr id="18" name="TextBox 18"/>
            <p:cNvSpPr txBox="1"/>
            <p:nvPr/>
          </p:nvSpPr>
          <p:spPr>
            <a:xfrm>
              <a:off x="0" y="-66675"/>
              <a:ext cx="731520" cy="846963"/>
            </a:xfrm>
            <a:prstGeom prst="rect">
              <a:avLst/>
            </a:prstGeom>
          </p:spPr>
          <p:txBody>
            <a:bodyPr lIns="0" tIns="0" rIns="0" bIns="0" rtlCol="0" anchor="ctr"/>
            <a:lstStyle/>
            <a:p>
              <a:pPr algn="ctr">
                <a:lnSpc>
                  <a:spcPts val="3600"/>
                </a:lnSpc>
              </a:pPr>
              <a:r>
                <a:rPr lang="en-US" sz="3000">
                  <a:solidFill>
                    <a:srgbClr val="5B6B82"/>
                  </a:solidFill>
                  <a:latin typeface="Times New Roman" panose="02020603050405020304"/>
                  <a:ea typeface="Times New Roman" panose="02020603050405020304"/>
                  <a:cs typeface="Times New Roman" panose="02020603050405020304"/>
                  <a:sym typeface="Times New Roman" panose="02020603050405020304"/>
                </a:rPr>
                <a:t>○</a:t>
              </a:r>
              <a:endParaRPr lang="en-US" sz="3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9" name="Group 19"/>
          <p:cNvGrpSpPr/>
          <p:nvPr/>
        </p:nvGrpSpPr>
        <p:grpSpPr>
          <a:xfrm rot="0">
            <a:off x="1737360" y="4151376"/>
            <a:ext cx="7772400" cy="585216"/>
            <a:chOff x="0" y="0"/>
            <a:chExt cx="10363200" cy="780288"/>
          </a:xfrm>
        </p:grpSpPr>
        <p:sp>
          <p:nvSpPr>
            <p:cNvPr id="20" name="Freeform 20"/>
            <p:cNvSpPr/>
            <p:nvPr/>
          </p:nvSpPr>
          <p:spPr>
            <a:xfrm>
              <a:off x="0" y="0"/>
              <a:ext cx="10363200" cy="780288"/>
            </a:xfrm>
            <a:custGeom>
              <a:avLst/>
              <a:gdLst/>
              <a:ahLst/>
              <a:cxnLst/>
              <a:rect l="l" t="t" r="r" b="b"/>
              <a:pathLst>
                <a:path w="10363200" h="780288">
                  <a:moveTo>
                    <a:pt x="0" y="0"/>
                  </a:moveTo>
                  <a:lnTo>
                    <a:pt x="10363200" y="0"/>
                  </a:lnTo>
                  <a:lnTo>
                    <a:pt x="10363200" y="780288"/>
                  </a:lnTo>
                  <a:lnTo>
                    <a:pt x="0" y="780288"/>
                  </a:lnTo>
                  <a:close/>
                </a:path>
              </a:pathLst>
            </a:custGeom>
            <a:blipFill>
              <a:blip r:embed="rId1">
                <a:alphaModFix amt="0"/>
              </a:blip>
              <a:stretch>
                <a:fillRect t="-208785" b="-208785"/>
              </a:stretch>
            </a:blipFill>
          </p:spPr>
          <p:txBody>
            <a:bodyPr/>
            <a:p/>
          </p:txBody>
        </p:sp>
        <p:sp>
          <p:nvSpPr>
            <p:cNvPr id="21" name="TextBox 21"/>
            <p:cNvSpPr txBox="1"/>
            <p:nvPr/>
          </p:nvSpPr>
          <p:spPr>
            <a:xfrm>
              <a:off x="0" y="-66675"/>
              <a:ext cx="10363200" cy="846963"/>
            </a:xfrm>
            <a:prstGeom prst="rect">
              <a:avLst/>
            </a:prstGeom>
          </p:spPr>
          <p:txBody>
            <a:bodyPr lIns="0" tIns="0" rIns="0" bIns="0" rtlCol="0" anchor="ctr"/>
            <a:lstStyle/>
            <a:p>
              <a:pPr algn="l">
                <a:lnSpc>
                  <a:spcPts val="3360"/>
                </a:lnSpc>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Chờ server</a:t>
              </a:r>
              <a:endPar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2" name="Group 22"/>
          <p:cNvGrpSpPr/>
          <p:nvPr/>
        </p:nvGrpSpPr>
        <p:grpSpPr>
          <a:xfrm rot="0">
            <a:off x="1097280" y="4809744"/>
            <a:ext cx="548640" cy="585216"/>
            <a:chOff x="0" y="0"/>
            <a:chExt cx="731520" cy="780288"/>
          </a:xfrm>
        </p:grpSpPr>
        <p:sp>
          <p:nvSpPr>
            <p:cNvPr id="23" name="Freeform 23"/>
            <p:cNvSpPr/>
            <p:nvPr/>
          </p:nvSpPr>
          <p:spPr>
            <a:xfrm>
              <a:off x="0" y="0"/>
              <a:ext cx="731520" cy="780288"/>
            </a:xfrm>
            <a:custGeom>
              <a:avLst/>
              <a:gdLst/>
              <a:ahLst/>
              <a:cxnLst/>
              <a:rect l="l" t="t" r="r" b="b"/>
              <a:pathLst>
                <a:path w="731520" h="780288">
                  <a:moveTo>
                    <a:pt x="0" y="0"/>
                  </a:moveTo>
                  <a:lnTo>
                    <a:pt x="731520" y="0"/>
                  </a:lnTo>
                  <a:lnTo>
                    <a:pt x="731520" y="780288"/>
                  </a:lnTo>
                  <a:lnTo>
                    <a:pt x="0" y="780288"/>
                  </a:lnTo>
                  <a:close/>
                </a:path>
              </a:pathLst>
            </a:custGeom>
            <a:blipFill>
              <a:blip r:embed="rId1">
                <a:alphaModFix amt="0"/>
              </a:blip>
              <a:stretch>
                <a:fillRect l="-86857" r="-86857"/>
              </a:stretch>
            </a:blipFill>
          </p:spPr>
          <p:txBody>
            <a:bodyPr/>
            <a:p/>
          </p:txBody>
        </p:sp>
        <p:sp>
          <p:nvSpPr>
            <p:cNvPr id="24" name="TextBox 24"/>
            <p:cNvSpPr txBox="1"/>
            <p:nvPr/>
          </p:nvSpPr>
          <p:spPr>
            <a:xfrm>
              <a:off x="0" y="-66675"/>
              <a:ext cx="731520" cy="846963"/>
            </a:xfrm>
            <a:prstGeom prst="rect">
              <a:avLst/>
            </a:prstGeom>
          </p:spPr>
          <p:txBody>
            <a:bodyPr lIns="0" tIns="0" rIns="0" bIns="0" rtlCol="0" anchor="ctr"/>
            <a:lstStyle/>
            <a:p>
              <a:pPr algn="ctr">
                <a:lnSpc>
                  <a:spcPts val="3600"/>
                </a:lnSpc>
              </a:pPr>
              <a:r>
                <a:rPr lang="en-US" sz="3000">
                  <a:solidFill>
                    <a:srgbClr val="F4A259"/>
                  </a:solidFill>
                  <a:latin typeface="Times New Roman" panose="02020603050405020304"/>
                  <a:ea typeface="Times New Roman" panose="02020603050405020304"/>
                  <a:cs typeface="Times New Roman" panose="02020603050405020304"/>
                  <a:sym typeface="Times New Roman" panose="02020603050405020304"/>
                </a:rPr>
                <a:t>◐</a:t>
              </a:r>
              <a:endParaRPr lang="en-US" sz="3000">
                <a:solidFill>
                  <a:srgbClr val="F4A259"/>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5" name="Group 25"/>
          <p:cNvGrpSpPr/>
          <p:nvPr/>
        </p:nvGrpSpPr>
        <p:grpSpPr>
          <a:xfrm rot="0">
            <a:off x="1737360" y="4809744"/>
            <a:ext cx="7772400" cy="585216"/>
            <a:chOff x="0" y="0"/>
            <a:chExt cx="10363200" cy="780288"/>
          </a:xfrm>
        </p:grpSpPr>
        <p:sp>
          <p:nvSpPr>
            <p:cNvPr id="26" name="Freeform 26"/>
            <p:cNvSpPr/>
            <p:nvPr/>
          </p:nvSpPr>
          <p:spPr>
            <a:xfrm>
              <a:off x="0" y="0"/>
              <a:ext cx="10363200" cy="780288"/>
            </a:xfrm>
            <a:custGeom>
              <a:avLst/>
              <a:gdLst/>
              <a:ahLst/>
              <a:cxnLst/>
              <a:rect l="l" t="t" r="r" b="b"/>
              <a:pathLst>
                <a:path w="10363200" h="780288">
                  <a:moveTo>
                    <a:pt x="0" y="0"/>
                  </a:moveTo>
                  <a:lnTo>
                    <a:pt x="10363200" y="0"/>
                  </a:lnTo>
                  <a:lnTo>
                    <a:pt x="10363200" y="780288"/>
                  </a:lnTo>
                  <a:lnTo>
                    <a:pt x="0" y="780288"/>
                  </a:lnTo>
                  <a:close/>
                </a:path>
              </a:pathLst>
            </a:custGeom>
            <a:blipFill>
              <a:blip r:embed="rId1">
                <a:alphaModFix amt="0"/>
              </a:blip>
              <a:stretch>
                <a:fillRect t="-208785" b="-208785"/>
              </a:stretch>
            </a:blipFill>
          </p:spPr>
          <p:txBody>
            <a:bodyPr/>
            <a:p/>
          </p:txBody>
        </p:sp>
        <p:sp>
          <p:nvSpPr>
            <p:cNvPr id="27" name="TextBox 27"/>
            <p:cNvSpPr txBox="1"/>
            <p:nvPr/>
          </p:nvSpPr>
          <p:spPr>
            <a:xfrm>
              <a:off x="0" y="-66675"/>
              <a:ext cx="10363200" cy="846963"/>
            </a:xfrm>
            <a:prstGeom prst="rect">
              <a:avLst/>
            </a:prstGeom>
          </p:spPr>
          <p:txBody>
            <a:bodyPr lIns="0" tIns="0" rIns="0" bIns="0" rtlCol="0" anchor="ctr"/>
            <a:lstStyle/>
            <a:p>
              <a:pPr algn="l">
                <a:lnSpc>
                  <a:spcPts val="3360"/>
                </a:lnSpc>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Che bằng hoạt ảnh</a:t>
              </a:r>
              <a:endPar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8" name="Group 28"/>
          <p:cNvGrpSpPr/>
          <p:nvPr/>
        </p:nvGrpSpPr>
        <p:grpSpPr>
          <a:xfrm rot="0">
            <a:off x="901703" y="5455415"/>
            <a:ext cx="10449563" cy="610619"/>
            <a:chOff x="0" y="0"/>
            <a:chExt cx="13932751" cy="814159"/>
          </a:xfrm>
        </p:grpSpPr>
        <p:sp>
          <p:nvSpPr>
            <p:cNvPr id="29" name="Freeform 29"/>
            <p:cNvSpPr/>
            <p:nvPr/>
          </p:nvSpPr>
          <p:spPr>
            <a:xfrm>
              <a:off x="0" y="0"/>
              <a:ext cx="13932790" cy="814197"/>
            </a:xfrm>
            <a:custGeom>
              <a:avLst/>
              <a:gdLst/>
              <a:ahLst/>
              <a:cxnLst/>
              <a:rect l="l" t="t" r="r" b="b"/>
              <a:pathLst>
                <a:path w="13932790" h="814197">
                  <a:moveTo>
                    <a:pt x="0" y="203581"/>
                  </a:moveTo>
                  <a:cubicBezTo>
                    <a:pt x="0" y="91186"/>
                    <a:pt x="91186" y="0"/>
                    <a:pt x="203581" y="0"/>
                  </a:cubicBezTo>
                  <a:lnTo>
                    <a:pt x="13729208" y="0"/>
                  </a:lnTo>
                  <a:cubicBezTo>
                    <a:pt x="13841603" y="0"/>
                    <a:pt x="13932790" y="91186"/>
                    <a:pt x="13932790" y="203581"/>
                  </a:cubicBezTo>
                  <a:lnTo>
                    <a:pt x="13932790" y="610616"/>
                  </a:lnTo>
                  <a:cubicBezTo>
                    <a:pt x="13932790" y="723011"/>
                    <a:pt x="13841603" y="814197"/>
                    <a:pt x="13729208" y="814197"/>
                  </a:cubicBezTo>
                  <a:lnTo>
                    <a:pt x="203581" y="814197"/>
                  </a:lnTo>
                  <a:cubicBezTo>
                    <a:pt x="91186" y="814197"/>
                    <a:pt x="0" y="723011"/>
                    <a:pt x="0" y="610616"/>
                  </a:cubicBezTo>
                  <a:close/>
                </a:path>
              </a:pathLst>
            </a:custGeom>
            <a:solidFill>
              <a:srgbClr val="BFE8E3"/>
            </a:solidFill>
            <a:ln w="25400" cap="sq">
              <a:solidFill>
                <a:srgbClr val="BFE8E3"/>
              </a:solidFill>
              <a:prstDash val="solid"/>
              <a:miter/>
            </a:ln>
          </p:spPr>
          <p:txBody>
            <a:bodyPr/>
            <a:p/>
          </p:txBody>
        </p:sp>
      </p:grpSp>
      <p:grpSp>
        <p:nvGrpSpPr>
          <p:cNvPr id="30" name="Group 30"/>
          <p:cNvGrpSpPr/>
          <p:nvPr/>
        </p:nvGrpSpPr>
        <p:grpSpPr>
          <a:xfrm rot="0">
            <a:off x="9601200" y="5468112"/>
            <a:ext cx="1554480" cy="585216"/>
            <a:chOff x="0" y="0"/>
            <a:chExt cx="2072640" cy="780288"/>
          </a:xfrm>
        </p:grpSpPr>
        <p:sp>
          <p:nvSpPr>
            <p:cNvPr id="31" name="Freeform 31"/>
            <p:cNvSpPr/>
            <p:nvPr/>
          </p:nvSpPr>
          <p:spPr>
            <a:xfrm>
              <a:off x="0" y="0"/>
              <a:ext cx="2072640" cy="780288"/>
            </a:xfrm>
            <a:custGeom>
              <a:avLst/>
              <a:gdLst/>
              <a:ahLst/>
              <a:cxnLst/>
              <a:rect l="l" t="t" r="r" b="b"/>
              <a:pathLst>
                <a:path w="2072640" h="780288">
                  <a:moveTo>
                    <a:pt x="0" y="0"/>
                  </a:moveTo>
                  <a:lnTo>
                    <a:pt x="2072640" y="0"/>
                  </a:lnTo>
                  <a:lnTo>
                    <a:pt x="2072640" y="780288"/>
                  </a:lnTo>
                  <a:lnTo>
                    <a:pt x="0" y="780288"/>
                  </a:lnTo>
                  <a:close/>
                </a:path>
              </a:pathLst>
            </a:custGeom>
            <a:blipFill>
              <a:blip r:embed="rId1">
                <a:alphaModFix amt="0"/>
              </a:blip>
              <a:stretch>
                <a:fillRect t="-1757" b="-1757"/>
              </a:stretch>
            </a:blipFill>
          </p:spPr>
          <p:txBody>
            <a:bodyPr/>
            <a:p/>
          </p:txBody>
        </p:sp>
        <p:sp>
          <p:nvSpPr>
            <p:cNvPr id="32" name="TextBox 32"/>
            <p:cNvSpPr txBox="1"/>
            <p:nvPr/>
          </p:nvSpPr>
          <p:spPr>
            <a:xfrm>
              <a:off x="0" y="-38100"/>
              <a:ext cx="2072640" cy="818388"/>
            </a:xfrm>
            <a:prstGeom prst="rect">
              <a:avLst/>
            </a:prstGeom>
          </p:spPr>
          <p:txBody>
            <a:bodyPr lIns="0" tIns="0" rIns="0" bIns="0" rtlCol="0" anchor="ctr"/>
            <a:lstStyle/>
            <a:p>
              <a:pPr algn="r">
                <a:lnSpc>
                  <a:spcPts val="2400"/>
                </a:lnSpc>
              </a:pPr>
              <a:r>
                <a:rPr lang="en-US" sz="2000" b="1">
                  <a:solidFill>
                    <a:srgbClr val="00897B"/>
                  </a:solidFill>
                  <a:latin typeface="Times New Roman" panose="02020603050405020304"/>
                  <a:ea typeface="Times New Roman" panose="02020603050405020304"/>
                  <a:cs typeface="Times New Roman" panose="02020603050405020304"/>
                  <a:sym typeface="Times New Roman" panose="02020603050405020304"/>
                </a:rPr>
                <a:t>ĐÃ CHỌN</a:t>
              </a:r>
              <a:endParaRPr lang="en-US" sz="2000" b="1">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33" name="Group 33"/>
          <p:cNvGrpSpPr/>
          <p:nvPr/>
        </p:nvGrpSpPr>
        <p:grpSpPr>
          <a:xfrm rot="0">
            <a:off x="1097280" y="5468112"/>
            <a:ext cx="548640" cy="585216"/>
            <a:chOff x="0" y="0"/>
            <a:chExt cx="731520" cy="780288"/>
          </a:xfrm>
        </p:grpSpPr>
        <p:sp>
          <p:nvSpPr>
            <p:cNvPr id="34" name="Freeform 34"/>
            <p:cNvSpPr/>
            <p:nvPr/>
          </p:nvSpPr>
          <p:spPr>
            <a:xfrm>
              <a:off x="0" y="0"/>
              <a:ext cx="731520" cy="780288"/>
            </a:xfrm>
            <a:custGeom>
              <a:avLst/>
              <a:gdLst/>
              <a:ahLst/>
              <a:cxnLst/>
              <a:rect l="l" t="t" r="r" b="b"/>
              <a:pathLst>
                <a:path w="731520" h="780288">
                  <a:moveTo>
                    <a:pt x="0" y="0"/>
                  </a:moveTo>
                  <a:lnTo>
                    <a:pt x="731520" y="0"/>
                  </a:lnTo>
                  <a:lnTo>
                    <a:pt x="731520" y="780288"/>
                  </a:lnTo>
                  <a:lnTo>
                    <a:pt x="0" y="780288"/>
                  </a:lnTo>
                  <a:close/>
                </a:path>
              </a:pathLst>
            </a:custGeom>
            <a:blipFill>
              <a:blip r:embed="rId1">
                <a:alphaModFix amt="0"/>
              </a:blip>
              <a:stretch>
                <a:fillRect l="-86857" r="-86857"/>
              </a:stretch>
            </a:blipFill>
          </p:spPr>
          <p:txBody>
            <a:bodyPr/>
            <a:p/>
          </p:txBody>
        </p:sp>
        <p:sp>
          <p:nvSpPr>
            <p:cNvPr id="35" name="TextBox 35"/>
            <p:cNvSpPr txBox="1"/>
            <p:nvPr/>
          </p:nvSpPr>
          <p:spPr>
            <a:xfrm>
              <a:off x="0" y="-66675"/>
              <a:ext cx="731520" cy="846963"/>
            </a:xfrm>
            <a:prstGeom prst="rect">
              <a:avLst/>
            </a:prstGeom>
          </p:spPr>
          <p:txBody>
            <a:bodyPr lIns="0" tIns="0" rIns="0" bIns="0" rtlCol="0" anchor="ctr"/>
            <a:lstStyle/>
            <a:p>
              <a:pPr algn="ctr">
                <a:lnSpc>
                  <a:spcPts val="3600"/>
                </a:lnSpc>
              </a:pPr>
              <a:r>
                <a:rPr lang="en-US" sz="3000">
                  <a:solidFill>
                    <a:srgbClr val="00897B"/>
                  </a:solidFill>
                  <a:latin typeface="Times New Roman" panose="02020603050405020304"/>
                  <a:ea typeface="Times New Roman" panose="02020603050405020304"/>
                  <a:cs typeface="Times New Roman" panose="02020603050405020304"/>
                  <a:sym typeface="Times New Roman" panose="02020603050405020304"/>
                </a:rPr>
                <a:t>●</a:t>
              </a:r>
              <a:endParaRPr lang="en-US" sz="3000">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36" name="Group 36"/>
          <p:cNvGrpSpPr/>
          <p:nvPr/>
        </p:nvGrpSpPr>
        <p:grpSpPr>
          <a:xfrm rot="0">
            <a:off x="1737360" y="5468112"/>
            <a:ext cx="7772400" cy="585216"/>
            <a:chOff x="0" y="0"/>
            <a:chExt cx="10363200" cy="780288"/>
          </a:xfrm>
        </p:grpSpPr>
        <p:sp>
          <p:nvSpPr>
            <p:cNvPr id="37" name="Freeform 37"/>
            <p:cNvSpPr/>
            <p:nvPr/>
          </p:nvSpPr>
          <p:spPr>
            <a:xfrm>
              <a:off x="0" y="0"/>
              <a:ext cx="10363200" cy="780288"/>
            </a:xfrm>
            <a:custGeom>
              <a:avLst/>
              <a:gdLst/>
              <a:ahLst/>
              <a:cxnLst/>
              <a:rect l="l" t="t" r="r" b="b"/>
              <a:pathLst>
                <a:path w="10363200" h="780288">
                  <a:moveTo>
                    <a:pt x="0" y="0"/>
                  </a:moveTo>
                  <a:lnTo>
                    <a:pt x="10363200" y="0"/>
                  </a:lnTo>
                  <a:lnTo>
                    <a:pt x="10363200" y="780288"/>
                  </a:lnTo>
                  <a:lnTo>
                    <a:pt x="0" y="780288"/>
                  </a:lnTo>
                  <a:close/>
                </a:path>
              </a:pathLst>
            </a:custGeom>
            <a:blipFill>
              <a:blip r:embed="rId1">
                <a:alphaModFix amt="0"/>
              </a:blip>
              <a:stretch>
                <a:fillRect t="-208785" b="-208785"/>
              </a:stretch>
            </a:blipFill>
          </p:spPr>
          <p:txBody>
            <a:bodyPr/>
            <a:p/>
          </p:txBody>
        </p:sp>
        <p:sp>
          <p:nvSpPr>
            <p:cNvPr id="38" name="TextBox 38"/>
            <p:cNvSpPr txBox="1"/>
            <p:nvPr/>
          </p:nvSpPr>
          <p:spPr>
            <a:xfrm>
              <a:off x="0" y="-66675"/>
              <a:ext cx="10363200" cy="846963"/>
            </a:xfrm>
            <a:prstGeom prst="rect">
              <a:avLst/>
            </a:prstGeom>
          </p:spPr>
          <p:txBody>
            <a:bodyPr lIns="0" tIns="0" rIns="0" bIns="0" rtlCol="0" anchor="ctr"/>
            <a:lstStyle/>
            <a:p>
              <a:pPr algn="l">
                <a:lnSpc>
                  <a:spcPts val="3360"/>
                </a:lnSpc>
              </a:pP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Dự đoán phía client</a:t>
              </a:r>
              <a:endPar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39" name="Group 39"/>
          <p:cNvGrpSpPr/>
          <p:nvPr/>
        </p:nvGrpSpPr>
        <p:grpSpPr>
          <a:xfrm rot="0">
            <a:off x="11779882" y="2453002"/>
            <a:ext cx="5609587" cy="6706867"/>
            <a:chOff x="0" y="0"/>
            <a:chExt cx="7479449" cy="8942489"/>
          </a:xfrm>
        </p:grpSpPr>
        <p:sp>
          <p:nvSpPr>
            <p:cNvPr id="40" name="Freeform 40"/>
            <p:cNvSpPr/>
            <p:nvPr/>
          </p:nvSpPr>
          <p:spPr>
            <a:xfrm>
              <a:off x="0" y="0"/>
              <a:ext cx="7479538" cy="8942578"/>
            </a:xfrm>
            <a:custGeom>
              <a:avLst/>
              <a:gdLst/>
              <a:ahLst/>
              <a:cxnLst/>
              <a:rect l="l" t="t" r="r" b="b"/>
              <a:pathLst>
                <a:path w="7479538" h="8942578">
                  <a:moveTo>
                    <a:pt x="0" y="196215"/>
                  </a:moveTo>
                  <a:cubicBezTo>
                    <a:pt x="0" y="87884"/>
                    <a:pt x="87884" y="0"/>
                    <a:pt x="196215" y="0"/>
                  </a:cubicBezTo>
                  <a:lnTo>
                    <a:pt x="7283323" y="0"/>
                  </a:lnTo>
                  <a:cubicBezTo>
                    <a:pt x="7391654" y="0"/>
                    <a:pt x="7479538" y="87884"/>
                    <a:pt x="7479538" y="196215"/>
                  </a:cubicBezTo>
                  <a:lnTo>
                    <a:pt x="7479538" y="8746363"/>
                  </a:lnTo>
                  <a:cubicBezTo>
                    <a:pt x="7479538" y="8854694"/>
                    <a:pt x="7391654" y="8942578"/>
                    <a:pt x="7283323" y="8942578"/>
                  </a:cubicBezTo>
                  <a:lnTo>
                    <a:pt x="196215" y="8942578"/>
                  </a:lnTo>
                  <a:cubicBezTo>
                    <a:pt x="87884" y="8942451"/>
                    <a:pt x="0" y="8854694"/>
                    <a:pt x="0" y="8746363"/>
                  </a:cubicBezTo>
                  <a:close/>
                </a:path>
              </a:pathLst>
            </a:custGeom>
            <a:blipFill>
              <a:blip r:embed="rId2"/>
              <a:stretch>
                <a:fillRect t="-183" b="-183"/>
              </a:stretch>
            </a:blipFill>
            <a:ln w="31750" cap="sq">
              <a:solidFill>
                <a:srgbClr val="00897B"/>
              </a:solidFill>
              <a:prstDash val="dash"/>
              <a:miter/>
            </a:ln>
          </p:spPr>
          <p:txBody>
            <a:bodyPr/>
            <a:p/>
          </p:txBody>
        </p:sp>
      </p:grpSp>
      <p:sp>
        <p:nvSpPr>
          <p:cNvPr id="41" name="TextBox 41"/>
          <p:cNvSpPr txBox="1"/>
          <p:nvPr/>
        </p:nvSpPr>
        <p:spPr>
          <a:xfrm>
            <a:off x="914400" y="384048"/>
            <a:ext cx="13898880" cy="559689"/>
          </a:xfrm>
          <a:prstGeom prst="rect">
            <a:avLst/>
          </a:prstGeom>
        </p:spPr>
        <p:txBody>
          <a:bodyPr lIns="0" tIns="0" rIns="0" bIns="0" rtlCol="0" anchor="t">
            <a:spAutoFit/>
          </a:bodyPr>
          <a:lstStyle/>
          <a:p>
            <a:pPr algn="l">
              <a:lnSpc>
                <a:spcPts val="2640"/>
              </a:lnSpc>
            </a:pPr>
            <a:r>
              <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VẤN ĐỀ 2</a:t>
            </a:r>
            <a:endPar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2" name="TextBox 42"/>
          <p:cNvSpPr txBox="1"/>
          <p:nvPr/>
        </p:nvSpPr>
        <p:spPr>
          <a:xfrm>
            <a:off x="914400" y="2402205"/>
            <a:ext cx="10424160" cy="1163955"/>
          </a:xfrm>
          <a:prstGeom prst="rect">
            <a:avLst/>
          </a:prstGeom>
        </p:spPr>
        <p:txBody>
          <a:bodyPr lIns="0" tIns="0" rIns="0" bIns="0" rtlCol="0" anchor="t">
            <a:spAutoFit/>
          </a:bodyPr>
          <a:lstStyle/>
          <a:p>
            <a:pPr marL="675640" lvl="1" indent="-337820" algn="l">
              <a:lnSpc>
                <a:spcPts val="3360"/>
              </a:lnSpc>
              <a:buFont typeface="Times New Roman" panose="02020603050405020304"/>
              <a:buChar char="•"/>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Độ trễ điều khiển ≈ </a:t>
            </a: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RTT + tối đa 83 ms</a:t>
            </a: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 Với RTT 200 ms là </a:t>
            </a: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200–280 ms</a:t>
            </a:r>
            <a:endPar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3" name="TextBox 43"/>
          <p:cNvSpPr txBox="1"/>
          <p:nvPr/>
        </p:nvSpPr>
        <p:spPr>
          <a:xfrm>
            <a:off x="914400" y="6279261"/>
            <a:ext cx="10424160" cy="2956179"/>
          </a:xfrm>
          <a:prstGeom prst="rect">
            <a:avLst/>
          </a:prstGeom>
        </p:spPr>
        <p:txBody>
          <a:bodyPr lIns="0" tIns="0" rIns="0" bIns="0" rtlCol="0" anchor="t">
            <a:spAutoFit/>
          </a:bodyPr>
          <a:lstStyle/>
          <a:p>
            <a:pPr marL="675640" lvl="1" indent="-337820" algn="l">
              <a:lnSpc>
                <a:spcPts val="3360"/>
              </a:lnSpc>
              <a:buFont typeface="Times New Roman" panose="02020603050405020304"/>
              <a:buChar char="•"/>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Dự đoán: client </a:t>
            </a: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tự áp lệnh ngay</a:t>
            </a: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 server vẫn là người quyết định cuối</a:t>
            </a:r>
            <a:endPar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a:p>
            <a:pPr marL="675640" lvl="1" indent="-337820" algn="l">
              <a:lnSpc>
                <a:spcPts val="3360"/>
              </a:lnSpc>
              <a:buFont typeface="Times New Roman" panose="02020603050405020304"/>
              <a:buChar char="•"/>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Điều kiện: </a:t>
            </a: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dùng chung code mô phỏng</a:t>
            </a: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 Simulation.Step (một file C#, chạy ở cả client và server)</a:t>
            </a:r>
            <a:endPar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a:p>
            <a:pPr marL="675640" lvl="1" indent="-337820" algn="l">
              <a:lnSpc>
                <a:spcPts val="3360"/>
              </a:lnSpc>
              <a:buFont typeface="Times New Roman" panose="02020603050405020304"/>
              <a:buChar char="•"/>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Nhưng chỉ dự đoán thôi thì bị </a:t>
            </a: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giật ngược</a:t>
            </a:r>
            <a:endPar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4" name="TextBox 44"/>
          <p:cNvSpPr txBox="1"/>
          <p:nvPr/>
        </p:nvSpPr>
        <p:spPr>
          <a:xfrm>
            <a:off x="16550640" y="9517380"/>
            <a:ext cx="731520" cy="495300"/>
          </a:xfrm>
          <a:prstGeom prst="rect">
            <a:avLst/>
          </a:prstGeom>
        </p:spPr>
        <p:txBody>
          <a:bodyPr lIns="0" tIns="0" rIns="0" bIns="0" rtlCol="0" anchor="t">
            <a:spAutoFit/>
          </a:bodyPr>
          <a:lstStyle/>
          <a:p>
            <a:pPr algn="r">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11</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49" name="Header band"/>
          <p:cNvSpPr/>
          <p:nvPr/>
        </p:nvSpPr>
        <p:spPr>
          <a:xfrm>
            <a:off x="0" y="0"/>
            <a:ext cx="18288000" cy="2103120"/>
          </a:xfrm>
          <a:prstGeom prst="rect">
            <a:avLst/>
          </a:prstGeom>
          <a:solidFill>
            <a:srgbClr val="14213D"/>
          </a:solidFill>
          <a:ln>
            <a:noFill/>
          </a:ln>
        </p:spPr>
        <p:txBody>
          <a:bodyPr/>
          <a:p/>
        </p:txBody>
      </p:sp>
      <p:sp>
        <p:nvSpPr>
          <p:cNvPr id="9050" name="Header rule"/>
          <p:cNvSpPr/>
          <p:nvPr/>
        </p:nvSpPr>
        <p:spPr>
          <a:xfrm>
            <a:off x="0" y="2103120"/>
            <a:ext cx="18288000" cy="64008"/>
          </a:xfrm>
          <a:prstGeom prst="rect">
            <a:avLst/>
          </a:prstGeom>
          <a:solidFill>
            <a:srgbClr val="00897B"/>
          </a:solidFill>
          <a:ln>
            <a:noFill/>
          </a:ln>
        </p:spPr>
        <p:txBody>
          <a:bodyPr/>
          <a:p/>
        </p:txBody>
      </p:sp>
      <p:grpSp>
        <p:nvGrpSpPr>
          <p:cNvPr id="2" name="Group 2"/>
          <p:cNvGrpSpPr/>
          <p:nvPr/>
        </p:nvGrpSpPr>
        <p:grpSpPr>
          <a:xfrm rot="0">
            <a:off x="914400" y="9509760"/>
            <a:ext cx="12801600" cy="548640"/>
            <a:chOff x="0" y="0"/>
            <a:chExt cx="17068800" cy="731520"/>
          </a:xfrm>
        </p:grpSpPr>
        <p:sp>
          <p:nvSpPr>
            <p:cNvPr id="3" name="Freeform 3"/>
            <p:cNvSpPr/>
            <p:nvPr/>
          </p:nvSpPr>
          <p:spPr>
            <a:xfrm>
              <a:off x="0" y="0"/>
              <a:ext cx="17068800" cy="731520"/>
            </a:xfrm>
            <a:custGeom>
              <a:avLst/>
              <a:gdLst/>
              <a:ahLst/>
              <a:cxnLst/>
              <a:rect l="l" t="t" r="r" b="b"/>
              <a:pathLst>
                <a:path w="17068800" h="731520">
                  <a:moveTo>
                    <a:pt x="0" y="0"/>
                  </a:moveTo>
                  <a:lnTo>
                    <a:pt x="17068800" y="0"/>
                  </a:lnTo>
                  <a:lnTo>
                    <a:pt x="17068800" y="731520"/>
                  </a:lnTo>
                  <a:lnTo>
                    <a:pt x="0" y="731520"/>
                  </a:lnTo>
                  <a:close/>
                </a:path>
              </a:pathLst>
            </a:custGeom>
            <a:blipFill>
              <a:blip r:embed="rId1">
                <a:alphaModFix amt="0"/>
              </a:blip>
              <a:stretch>
                <a:fillRect t="-404650" b="-404650"/>
              </a:stretch>
            </a:blipFill>
          </p:spPr>
          <p:txBody>
            <a:bodyPr/>
            <a:p/>
          </p:txBody>
        </p:sp>
        <p:sp>
          <p:nvSpPr>
            <p:cNvPr id="4" name="TextBox 4"/>
            <p:cNvSpPr txBox="1"/>
            <p:nvPr/>
          </p:nvSpPr>
          <p:spPr>
            <a:xfrm>
              <a:off x="0" y="-38100"/>
              <a:ext cx="17068800" cy="769620"/>
            </a:xfrm>
            <a:prstGeom prst="rect">
              <a:avLst/>
            </a:prstGeom>
          </p:spPr>
          <p:txBody>
            <a:bodyPr lIns="0" tIns="0" rIns="0" bIns="0" rtlCol="0" anchor="ctr"/>
            <a:lstStyle/>
            <a:p>
              <a:pPr algn="l">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T47 · Kỹ thuật mạng cho game thời gian thực · Lập trình mạng</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5" name="Group 5"/>
          <p:cNvGrpSpPr/>
          <p:nvPr/>
        </p:nvGrpSpPr>
        <p:grpSpPr>
          <a:xfrm rot="0">
            <a:off x="914400" y="768096"/>
            <a:ext cx="14081760" cy="1097280"/>
            <a:chOff x="0" y="0"/>
            <a:chExt cx="18775680" cy="1463040"/>
          </a:xfrm>
        </p:grpSpPr>
        <p:sp>
          <p:nvSpPr>
            <p:cNvPr id="6" name="Freeform 6"/>
            <p:cNvSpPr/>
            <p:nvPr/>
          </p:nvSpPr>
          <p:spPr>
            <a:xfrm>
              <a:off x="0" y="0"/>
              <a:ext cx="18775680" cy="1463040"/>
            </a:xfrm>
            <a:custGeom>
              <a:avLst/>
              <a:gdLst/>
              <a:ahLst/>
              <a:cxnLst/>
              <a:rect l="l" t="t" r="r" b="b"/>
              <a:pathLst>
                <a:path w="18775680" h="1463040">
                  <a:moveTo>
                    <a:pt x="0" y="0"/>
                  </a:moveTo>
                  <a:lnTo>
                    <a:pt x="18775680" y="0"/>
                  </a:lnTo>
                  <a:lnTo>
                    <a:pt x="18775680" y="1463040"/>
                  </a:lnTo>
                  <a:lnTo>
                    <a:pt x="0" y="1463040"/>
                  </a:lnTo>
                  <a:close/>
                </a:path>
              </a:pathLst>
            </a:custGeom>
            <a:blipFill>
              <a:blip r:embed="rId1">
                <a:alphaModFix amt="0"/>
              </a:blip>
              <a:stretch>
                <a:fillRect t="-200057" b="-200057"/>
              </a:stretch>
            </a:blipFill>
          </p:spPr>
          <p:txBody>
            <a:bodyPr/>
            <a:p/>
          </p:txBody>
        </p:sp>
        <p:sp>
          <p:nvSpPr>
            <p:cNvPr id="7" name="TextBox 7"/>
            <p:cNvSpPr txBox="1"/>
            <p:nvPr/>
          </p:nvSpPr>
          <p:spPr>
            <a:xfrm>
              <a:off x="0" y="-9525"/>
              <a:ext cx="18775680" cy="1472565"/>
            </a:xfrm>
            <a:prstGeom prst="rect">
              <a:avLst/>
            </a:prstGeom>
          </p:spPr>
          <p:txBody>
            <a:bodyPr lIns="0" tIns="0" rIns="0" bIns="0" rtlCol="0" anchor="ctr"/>
            <a:lstStyle/>
            <a:p>
              <a:pPr algn="l">
                <a:lnSpc>
                  <a:spcPts val="6900"/>
                </a:lnSpc>
              </a:pPr>
              <a:r>
                <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rPr>
                <a:t>Đối chiếu với server</a:t>
              </a:r>
              <a:endPar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8" name="Group 8"/>
          <p:cNvGrpSpPr/>
          <p:nvPr/>
        </p:nvGrpSpPr>
        <p:grpSpPr>
          <a:xfrm rot="0">
            <a:off x="15257783" y="682247"/>
            <a:ext cx="2128523" cy="647195"/>
            <a:chOff x="0" y="0"/>
            <a:chExt cx="2838031" cy="862927"/>
          </a:xfrm>
        </p:grpSpPr>
        <p:sp>
          <p:nvSpPr>
            <p:cNvPr id="9" name="Freeform 9"/>
            <p:cNvSpPr/>
            <p:nvPr/>
          </p:nvSpPr>
          <p:spPr>
            <a:xfrm>
              <a:off x="0" y="0"/>
              <a:ext cx="2837942" cy="862838"/>
            </a:xfrm>
            <a:custGeom>
              <a:avLst/>
              <a:gdLst/>
              <a:ahLst/>
              <a:cxnLst/>
              <a:rect l="l" t="t" r="r" b="b"/>
              <a:pathLst>
                <a:path w="2837942" h="862838">
                  <a:moveTo>
                    <a:pt x="0" y="431419"/>
                  </a:moveTo>
                  <a:cubicBezTo>
                    <a:pt x="0" y="193167"/>
                    <a:pt x="193167" y="0"/>
                    <a:pt x="431419" y="0"/>
                  </a:cubicBezTo>
                  <a:lnTo>
                    <a:pt x="2406523" y="0"/>
                  </a:lnTo>
                  <a:cubicBezTo>
                    <a:pt x="2644775" y="0"/>
                    <a:pt x="2837942" y="193167"/>
                    <a:pt x="2837942" y="431419"/>
                  </a:cubicBezTo>
                  <a:cubicBezTo>
                    <a:pt x="2837942" y="669671"/>
                    <a:pt x="2644775" y="862838"/>
                    <a:pt x="2406523" y="862838"/>
                  </a:cubicBezTo>
                  <a:lnTo>
                    <a:pt x="431419" y="862838"/>
                  </a:lnTo>
                  <a:cubicBezTo>
                    <a:pt x="193167" y="862965"/>
                    <a:pt x="0" y="669798"/>
                    <a:pt x="0" y="431419"/>
                  </a:cubicBezTo>
                  <a:close/>
                </a:path>
              </a:pathLst>
            </a:custGeom>
            <a:solidFill>
              <a:srgbClr val="6C5CE7"/>
            </a:solidFill>
            <a:ln w="25400" cap="sq">
              <a:solidFill>
                <a:srgbClr val="6C5CE7"/>
              </a:solidFill>
              <a:prstDash val="solid"/>
              <a:miter/>
            </a:ln>
          </p:spPr>
          <p:txBody>
            <a:bodyPr/>
            <a:p/>
          </p:txBody>
        </p:sp>
      </p:grpSp>
      <p:grpSp>
        <p:nvGrpSpPr>
          <p:cNvPr id="10" name="Group 10"/>
          <p:cNvGrpSpPr/>
          <p:nvPr/>
        </p:nvGrpSpPr>
        <p:grpSpPr>
          <a:xfrm rot="0">
            <a:off x="15270480" y="694944"/>
            <a:ext cx="2103120" cy="621792"/>
            <a:chOff x="0" y="0"/>
            <a:chExt cx="2804160" cy="829056"/>
          </a:xfrm>
        </p:grpSpPr>
        <p:sp>
          <p:nvSpPr>
            <p:cNvPr id="11" name="Freeform 11"/>
            <p:cNvSpPr/>
            <p:nvPr/>
          </p:nvSpPr>
          <p:spPr>
            <a:xfrm>
              <a:off x="0" y="0"/>
              <a:ext cx="2804160" cy="829056"/>
            </a:xfrm>
            <a:custGeom>
              <a:avLst/>
              <a:gdLst/>
              <a:ahLst/>
              <a:cxnLst/>
              <a:rect l="l" t="t" r="r" b="b"/>
              <a:pathLst>
                <a:path w="2804160" h="829056">
                  <a:moveTo>
                    <a:pt x="0" y="0"/>
                  </a:moveTo>
                  <a:lnTo>
                    <a:pt x="2804160" y="0"/>
                  </a:lnTo>
                  <a:lnTo>
                    <a:pt x="2804160" y="829056"/>
                  </a:lnTo>
                  <a:lnTo>
                    <a:pt x="0" y="829056"/>
                  </a:lnTo>
                  <a:close/>
                </a:path>
              </a:pathLst>
            </a:custGeom>
            <a:blipFill>
              <a:blip r:embed="rId1">
                <a:alphaModFix amt="0"/>
              </a:blip>
              <a:stretch>
                <a:fillRect t="-15905" b="-15905"/>
              </a:stretch>
            </a:blipFill>
          </p:spPr>
          <p:txBody>
            <a:bodyPr/>
            <a:p/>
          </p:txBody>
        </p:sp>
        <p:sp>
          <p:nvSpPr>
            <p:cNvPr id="12" name="TextBox 12"/>
            <p:cNvSpPr txBox="1"/>
            <p:nvPr/>
          </p:nvSpPr>
          <p:spPr>
            <a:xfrm>
              <a:off x="0" y="-47625"/>
              <a:ext cx="2804160" cy="876681"/>
            </a:xfrm>
            <a:prstGeom prst="rect">
              <a:avLst/>
            </a:prstGeom>
          </p:spPr>
          <p:txBody>
            <a:bodyPr lIns="0" tIns="0" rIns="0" bIns="0" rtlCol="0" anchor="ctr"/>
            <a:lstStyle/>
            <a:p>
              <a:pPr algn="ctr">
                <a:lnSpc>
                  <a:spcPts val="2640"/>
                </a:lnSpc>
              </a:pPr>
              <a:r>
                <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rPr>
                <a:t>#2</a:t>
              </a:r>
              <a:endPar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3" name="Group 13"/>
          <p:cNvGrpSpPr/>
          <p:nvPr/>
        </p:nvGrpSpPr>
        <p:grpSpPr>
          <a:xfrm rot="0">
            <a:off x="901703" y="2456183"/>
            <a:ext cx="756923" cy="756923"/>
            <a:chOff x="0" y="0"/>
            <a:chExt cx="1009231" cy="1009231"/>
          </a:xfrm>
        </p:grpSpPr>
        <p:sp>
          <p:nvSpPr>
            <p:cNvPr id="14" name="Freeform 14"/>
            <p:cNvSpPr/>
            <p:nvPr/>
          </p:nvSpPr>
          <p:spPr>
            <a:xfrm>
              <a:off x="0" y="0"/>
              <a:ext cx="1009269" cy="1009269"/>
            </a:xfrm>
            <a:custGeom>
              <a:avLst/>
              <a:gdLst/>
              <a:ahLst/>
              <a:cxnLst/>
              <a:rect l="l" t="t" r="r" b="b"/>
              <a:pathLst>
                <a:path w="1009269" h="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6C5CE7"/>
            </a:solidFill>
            <a:ln w="25400" cap="sq">
              <a:solidFill>
                <a:srgbClr val="6C5CE7"/>
              </a:solidFill>
              <a:prstDash val="solid"/>
              <a:miter/>
            </a:ln>
          </p:spPr>
          <p:txBody>
            <a:bodyPr/>
            <a:p/>
          </p:txBody>
        </p:sp>
      </p:grpSp>
      <p:grpSp>
        <p:nvGrpSpPr>
          <p:cNvPr id="15" name="Group 15"/>
          <p:cNvGrpSpPr/>
          <p:nvPr/>
        </p:nvGrpSpPr>
        <p:grpSpPr>
          <a:xfrm rot="0">
            <a:off x="914400" y="2468880"/>
            <a:ext cx="731520" cy="731520"/>
            <a:chOff x="0" y="0"/>
            <a:chExt cx="975360" cy="975360"/>
          </a:xfrm>
        </p:grpSpPr>
        <p:sp>
          <p:nvSpPr>
            <p:cNvPr id="16" name="Freeform 16"/>
            <p:cNvSpPr/>
            <p:nvPr/>
          </p:nvSpPr>
          <p:spPr>
            <a:xfrm>
              <a:off x="0" y="0"/>
              <a:ext cx="975360" cy="975360"/>
            </a:xfrm>
            <a:custGeom>
              <a:avLst/>
              <a:gdLst/>
              <a:ahLst/>
              <a:cxnLst/>
              <a:rect l="l" t="t" r="r" b="b"/>
              <a:pathLst>
                <a:path w="975360" h="975360">
                  <a:moveTo>
                    <a:pt x="0" y="0"/>
                  </a:moveTo>
                  <a:lnTo>
                    <a:pt x="975360" y="0"/>
                  </a:lnTo>
                  <a:lnTo>
                    <a:pt x="975360" y="975360"/>
                  </a:lnTo>
                  <a:lnTo>
                    <a:pt x="0" y="975360"/>
                  </a:lnTo>
                  <a:close/>
                </a:path>
              </a:pathLst>
            </a:custGeom>
            <a:blipFill>
              <a:blip r:embed="rId1">
                <a:alphaModFix amt="0"/>
              </a:blip>
              <a:stretch>
                <a:fillRect l="-78303" r="-78303"/>
              </a:stretch>
            </a:blipFill>
          </p:spPr>
          <p:txBody>
            <a:bodyPr/>
            <a:p/>
          </p:txBody>
        </p:sp>
        <p:sp>
          <p:nvSpPr>
            <p:cNvPr id="17" name="TextBox 17"/>
            <p:cNvSpPr txBox="1"/>
            <p:nvPr/>
          </p:nvSpPr>
          <p:spPr>
            <a:xfrm>
              <a:off x="0" y="-66675"/>
              <a:ext cx="975360" cy="1042035"/>
            </a:xfrm>
            <a:prstGeom prst="rect">
              <a:avLst/>
            </a:prstGeom>
          </p:spPr>
          <p:txBody>
            <a:bodyPr lIns="0" tIns="0" rIns="0" bIns="0" rtlCol="0" anchor="ctr"/>
            <a:lstStyle/>
            <a:p>
              <a:pPr algn="ctr">
                <a:lnSpc>
                  <a:spcPts val="3360"/>
                </a:lnSpc>
              </a:pPr>
              <a:r>
                <a:rPr lang="en-US" sz="2800" b="1">
                  <a:solidFill>
                    <a:srgbClr val="FFFFFF"/>
                  </a:solidFill>
                  <a:latin typeface="Times New Roman" panose="02020603050405020304"/>
                  <a:ea typeface="Times New Roman" panose="02020603050405020304"/>
                  <a:cs typeface="Times New Roman" panose="02020603050405020304"/>
                  <a:sym typeface="Times New Roman" panose="02020603050405020304"/>
                </a:rPr>
                <a:t>1</a:t>
              </a:r>
              <a:endParaRPr lang="en-US" sz="28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8" name="Group 18"/>
          <p:cNvGrpSpPr/>
          <p:nvPr/>
        </p:nvGrpSpPr>
        <p:grpSpPr>
          <a:xfrm rot="0">
            <a:off x="901703" y="3462023"/>
            <a:ext cx="756923" cy="756923"/>
            <a:chOff x="0" y="0"/>
            <a:chExt cx="1009231" cy="1009231"/>
          </a:xfrm>
        </p:grpSpPr>
        <p:sp>
          <p:nvSpPr>
            <p:cNvPr id="19" name="Freeform 19"/>
            <p:cNvSpPr/>
            <p:nvPr/>
          </p:nvSpPr>
          <p:spPr>
            <a:xfrm>
              <a:off x="0" y="0"/>
              <a:ext cx="1009269" cy="1009269"/>
            </a:xfrm>
            <a:custGeom>
              <a:avLst/>
              <a:gdLst/>
              <a:ahLst/>
              <a:cxnLst/>
              <a:rect l="l" t="t" r="r" b="b"/>
              <a:pathLst>
                <a:path w="1009269" h="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6C5CE7"/>
            </a:solidFill>
            <a:ln w="25400" cap="sq">
              <a:solidFill>
                <a:srgbClr val="6C5CE7"/>
              </a:solidFill>
              <a:prstDash val="solid"/>
              <a:miter/>
            </a:ln>
          </p:spPr>
          <p:txBody>
            <a:bodyPr/>
            <a:p/>
          </p:txBody>
        </p:sp>
      </p:grpSp>
      <p:grpSp>
        <p:nvGrpSpPr>
          <p:cNvPr id="20" name="Group 20"/>
          <p:cNvGrpSpPr/>
          <p:nvPr/>
        </p:nvGrpSpPr>
        <p:grpSpPr>
          <a:xfrm rot="0">
            <a:off x="914400" y="3474720"/>
            <a:ext cx="731520" cy="731520"/>
            <a:chOff x="0" y="0"/>
            <a:chExt cx="975360" cy="975360"/>
          </a:xfrm>
        </p:grpSpPr>
        <p:sp>
          <p:nvSpPr>
            <p:cNvPr id="21" name="Freeform 21"/>
            <p:cNvSpPr/>
            <p:nvPr/>
          </p:nvSpPr>
          <p:spPr>
            <a:xfrm>
              <a:off x="0" y="0"/>
              <a:ext cx="975360" cy="975360"/>
            </a:xfrm>
            <a:custGeom>
              <a:avLst/>
              <a:gdLst/>
              <a:ahLst/>
              <a:cxnLst/>
              <a:rect l="l" t="t" r="r" b="b"/>
              <a:pathLst>
                <a:path w="975360" h="975360">
                  <a:moveTo>
                    <a:pt x="0" y="0"/>
                  </a:moveTo>
                  <a:lnTo>
                    <a:pt x="975360" y="0"/>
                  </a:lnTo>
                  <a:lnTo>
                    <a:pt x="975360" y="975360"/>
                  </a:lnTo>
                  <a:lnTo>
                    <a:pt x="0" y="975360"/>
                  </a:lnTo>
                  <a:close/>
                </a:path>
              </a:pathLst>
            </a:custGeom>
            <a:blipFill>
              <a:blip r:embed="rId1">
                <a:alphaModFix amt="0"/>
              </a:blip>
              <a:stretch>
                <a:fillRect l="-78303" r="-78303"/>
              </a:stretch>
            </a:blipFill>
          </p:spPr>
          <p:txBody>
            <a:bodyPr/>
            <a:p/>
          </p:txBody>
        </p:sp>
        <p:sp>
          <p:nvSpPr>
            <p:cNvPr id="22" name="TextBox 22"/>
            <p:cNvSpPr txBox="1"/>
            <p:nvPr/>
          </p:nvSpPr>
          <p:spPr>
            <a:xfrm>
              <a:off x="0" y="-66675"/>
              <a:ext cx="975360" cy="1042035"/>
            </a:xfrm>
            <a:prstGeom prst="rect">
              <a:avLst/>
            </a:prstGeom>
          </p:spPr>
          <p:txBody>
            <a:bodyPr lIns="0" tIns="0" rIns="0" bIns="0" rtlCol="0" anchor="ctr"/>
            <a:lstStyle/>
            <a:p>
              <a:pPr algn="ctr">
                <a:lnSpc>
                  <a:spcPts val="3360"/>
                </a:lnSpc>
              </a:pPr>
              <a:r>
                <a:rPr lang="en-US" sz="2800" b="1">
                  <a:solidFill>
                    <a:srgbClr val="FFFFFF"/>
                  </a:solidFill>
                  <a:latin typeface="Times New Roman" panose="02020603050405020304"/>
                  <a:ea typeface="Times New Roman" panose="02020603050405020304"/>
                  <a:cs typeface="Times New Roman" panose="02020603050405020304"/>
                  <a:sym typeface="Times New Roman" panose="02020603050405020304"/>
                </a:rPr>
                <a:t>2</a:t>
              </a:r>
              <a:endParaRPr lang="en-US" sz="28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3" name="Group 23"/>
          <p:cNvGrpSpPr/>
          <p:nvPr/>
        </p:nvGrpSpPr>
        <p:grpSpPr>
          <a:xfrm rot="0">
            <a:off x="901703" y="4467863"/>
            <a:ext cx="756923" cy="756923"/>
            <a:chOff x="0" y="0"/>
            <a:chExt cx="1009231" cy="1009231"/>
          </a:xfrm>
        </p:grpSpPr>
        <p:sp>
          <p:nvSpPr>
            <p:cNvPr id="24" name="Freeform 24"/>
            <p:cNvSpPr/>
            <p:nvPr/>
          </p:nvSpPr>
          <p:spPr>
            <a:xfrm>
              <a:off x="0" y="0"/>
              <a:ext cx="1009269" cy="1009269"/>
            </a:xfrm>
            <a:custGeom>
              <a:avLst/>
              <a:gdLst/>
              <a:ahLst/>
              <a:cxnLst/>
              <a:rect l="l" t="t" r="r" b="b"/>
              <a:pathLst>
                <a:path w="1009269" h="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6C5CE7"/>
            </a:solidFill>
            <a:ln w="25400" cap="sq">
              <a:solidFill>
                <a:srgbClr val="6C5CE7"/>
              </a:solidFill>
              <a:prstDash val="solid"/>
              <a:miter/>
            </a:ln>
          </p:spPr>
          <p:txBody>
            <a:bodyPr/>
            <a:p/>
          </p:txBody>
        </p:sp>
      </p:grpSp>
      <p:grpSp>
        <p:nvGrpSpPr>
          <p:cNvPr id="25" name="Group 25"/>
          <p:cNvGrpSpPr/>
          <p:nvPr/>
        </p:nvGrpSpPr>
        <p:grpSpPr>
          <a:xfrm rot="0">
            <a:off x="914400" y="4480560"/>
            <a:ext cx="731520" cy="731520"/>
            <a:chOff x="0" y="0"/>
            <a:chExt cx="975360" cy="975360"/>
          </a:xfrm>
        </p:grpSpPr>
        <p:sp>
          <p:nvSpPr>
            <p:cNvPr id="26" name="Freeform 26"/>
            <p:cNvSpPr/>
            <p:nvPr/>
          </p:nvSpPr>
          <p:spPr>
            <a:xfrm>
              <a:off x="0" y="0"/>
              <a:ext cx="975360" cy="975360"/>
            </a:xfrm>
            <a:custGeom>
              <a:avLst/>
              <a:gdLst/>
              <a:ahLst/>
              <a:cxnLst/>
              <a:rect l="l" t="t" r="r" b="b"/>
              <a:pathLst>
                <a:path w="975360" h="975360">
                  <a:moveTo>
                    <a:pt x="0" y="0"/>
                  </a:moveTo>
                  <a:lnTo>
                    <a:pt x="975360" y="0"/>
                  </a:lnTo>
                  <a:lnTo>
                    <a:pt x="975360" y="975360"/>
                  </a:lnTo>
                  <a:lnTo>
                    <a:pt x="0" y="975360"/>
                  </a:lnTo>
                  <a:close/>
                </a:path>
              </a:pathLst>
            </a:custGeom>
            <a:blipFill>
              <a:blip r:embed="rId1">
                <a:alphaModFix amt="0"/>
              </a:blip>
              <a:stretch>
                <a:fillRect l="-78303" r="-78303"/>
              </a:stretch>
            </a:blipFill>
          </p:spPr>
          <p:txBody>
            <a:bodyPr/>
            <a:p/>
          </p:txBody>
        </p:sp>
        <p:sp>
          <p:nvSpPr>
            <p:cNvPr id="27" name="TextBox 27"/>
            <p:cNvSpPr txBox="1"/>
            <p:nvPr/>
          </p:nvSpPr>
          <p:spPr>
            <a:xfrm>
              <a:off x="0" y="-66675"/>
              <a:ext cx="975360" cy="1042035"/>
            </a:xfrm>
            <a:prstGeom prst="rect">
              <a:avLst/>
            </a:prstGeom>
          </p:spPr>
          <p:txBody>
            <a:bodyPr lIns="0" tIns="0" rIns="0" bIns="0" rtlCol="0" anchor="ctr"/>
            <a:lstStyle/>
            <a:p>
              <a:pPr algn="ctr">
                <a:lnSpc>
                  <a:spcPts val="3360"/>
                </a:lnSpc>
              </a:pPr>
              <a:r>
                <a:rPr lang="en-US" sz="2800" b="1">
                  <a:solidFill>
                    <a:srgbClr val="FFFFFF"/>
                  </a:solidFill>
                  <a:latin typeface="Times New Roman" panose="02020603050405020304"/>
                  <a:ea typeface="Times New Roman" panose="02020603050405020304"/>
                  <a:cs typeface="Times New Roman" panose="02020603050405020304"/>
                  <a:sym typeface="Times New Roman" panose="02020603050405020304"/>
                </a:rPr>
                <a:t>3</a:t>
              </a:r>
              <a:endParaRPr lang="en-US" sz="28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8" name="Group 28"/>
          <p:cNvGrpSpPr/>
          <p:nvPr/>
        </p:nvGrpSpPr>
        <p:grpSpPr>
          <a:xfrm rot="0">
            <a:off x="901703" y="6662423"/>
            <a:ext cx="16484603" cy="2494283"/>
            <a:chOff x="0" y="0"/>
            <a:chExt cx="21979471" cy="3325711"/>
          </a:xfrm>
        </p:grpSpPr>
        <p:sp>
          <p:nvSpPr>
            <p:cNvPr id="29" name="Freeform 29"/>
            <p:cNvSpPr/>
            <p:nvPr/>
          </p:nvSpPr>
          <p:spPr>
            <a:xfrm>
              <a:off x="0" y="0"/>
              <a:ext cx="21979510" cy="3325749"/>
            </a:xfrm>
            <a:custGeom>
              <a:avLst/>
              <a:gdLst/>
              <a:ahLst/>
              <a:cxnLst/>
              <a:rect l="l" t="t" r="r" b="b"/>
              <a:pathLst>
                <a:path w="21979510" h="3325749">
                  <a:moveTo>
                    <a:pt x="0" y="197104"/>
                  </a:moveTo>
                  <a:cubicBezTo>
                    <a:pt x="0" y="88265"/>
                    <a:pt x="88265" y="0"/>
                    <a:pt x="197104" y="0"/>
                  </a:cubicBezTo>
                  <a:lnTo>
                    <a:pt x="21782405" y="0"/>
                  </a:lnTo>
                  <a:cubicBezTo>
                    <a:pt x="21891244" y="0"/>
                    <a:pt x="21979510" y="88265"/>
                    <a:pt x="21979510" y="197104"/>
                  </a:cubicBezTo>
                  <a:lnTo>
                    <a:pt x="21979510" y="3128645"/>
                  </a:lnTo>
                  <a:cubicBezTo>
                    <a:pt x="21979510" y="3237484"/>
                    <a:pt x="21891244" y="3325749"/>
                    <a:pt x="21782405" y="3325749"/>
                  </a:cubicBezTo>
                  <a:lnTo>
                    <a:pt x="197104" y="3325749"/>
                  </a:lnTo>
                  <a:cubicBezTo>
                    <a:pt x="88265" y="3325749"/>
                    <a:pt x="0" y="3237484"/>
                    <a:pt x="0" y="3128645"/>
                  </a:cubicBezTo>
                  <a:close/>
                </a:path>
              </a:pathLst>
            </a:custGeom>
            <a:solidFill>
              <a:srgbClr val="0B1626"/>
            </a:solidFill>
            <a:ln w="25400" cap="sq">
              <a:solidFill>
                <a:srgbClr val="0B1626"/>
              </a:solidFill>
              <a:prstDash val="solid"/>
              <a:miter/>
            </a:ln>
          </p:spPr>
          <p:txBody>
            <a:bodyPr/>
            <a:p/>
          </p:txBody>
        </p:sp>
      </p:grpSp>
      <p:grpSp>
        <p:nvGrpSpPr>
          <p:cNvPr id="30" name="Group 30"/>
          <p:cNvGrpSpPr/>
          <p:nvPr/>
        </p:nvGrpSpPr>
        <p:grpSpPr>
          <a:xfrm rot="0">
            <a:off x="1371600" y="6675120"/>
            <a:ext cx="15544800" cy="2468880"/>
            <a:chOff x="0" y="0"/>
            <a:chExt cx="20726400" cy="3291840"/>
          </a:xfrm>
        </p:grpSpPr>
        <p:sp>
          <p:nvSpPr>
            <p:cNvPr id="31" name="Freeform 31"/>
            <p:cNvSpPr/>
            <p:nvPr/>
          </p:nvSpPr>
          <p:spPr>
            <a:xfrm>
              <a:off x="0" y="0"/>
              <a:ext cx="20726400" cy="3291840"/>
            </a:xfrm>
            <a:custGeom>
              <a:avLst/>
              <a:gdLst/>
              <a:ahLst/>
              <a:cxnLst/>
              <a:rect l="l" t="t" r="r" b="b"/>
              <a:pathLst>
                <a:path w="20726400" h="3291840">
                  <a:moveTo>
                    <a:pt x="0" y="0"/>
                  </a:moveTo>
                  <a:lnTo>
                    <a:pt x="20726400" y="0"/>
                  </a:lnTo>
                  <a:lnTo>
                    <a:pt x="20726400" y="3291840"/>
                  </a:lnTo>
                  <a:lnTo>
                    <a:pt x="0" y="3291840"/>
                  </a:lnTo>
                  <a:close/>
                </a:path>
              </a:pathLst>
            </a:custGeom>
            <a:blipFill>
              <a:blip r:embed="rId1">
                <a:alphaModFix amt="0"/>
              </a:blip>
              <a:stretch>
                <a:fillRect t="-72683" b="-72683"/>
              </a:stretch>
            </a:blipFill>
          </p:spPr>
          <p:txBody>
            <a:bodyPr/>
            <a:p/>
          </p:txBody>
        </p:sp>
        <p:sp>
          <p:nvSpPr>
            <p:cNvPr id="32" name="TextBox 32"/>
            <p:cNvSpPr txBox="1"/>
            <p:nvPr/>
          </p:nvSpPr>
          <p:spPr>
            <a:xfrm>
              <a:off x="0" y="-19050"/>
              <a:ext cx="20726400" cy="3310890"/>
            </a:xfrm>
            <a:prstGeom prst="rect">
              <a:avLst/>
            </a:prstGeom>
          </p:spPr>
          <p:txBody>
            <a:bodyPr lIns="0" tIns="0" rIns="0" bIns="0" rtlCol="0" anchor="ctr"/>
            <a:lstStyle/>
            <a:p>
              <a:pPr algn="l">
                <a:lnSpc>
                  <a:spcPts val="3120"/>
                </a:lnSpc>
              </a:pPr>
              <a:r>
                <a:rPr lang="en-US" sz="2600">
                  <a:solidFill>
                    <a:srgbClr val="BFE8E3"/>
                  </a:solidFill>
                  <a:latin typeface="Courier New" panose="02070309020205020404"/>
                  <a:ea typeface="Courier New" panose="02070309020205020404"/>
                  <a:cs typeface="Courier New" panose="02070309020205020404"/>
                  <a:sym typeface="Courier New" panose="02070309020205020404"/>
                </a:rPr>
                <a:t>Self.Pos = ServerSelf;                                  // (1)</a:t>
              </a:r>
              <a:endParaRPr lang="en-US" sz="2600">
                <a:solidFill>
                  <a:srgbClr val="BFE8E3"/>
                </a:solidFill>
                <a:latin typeface="Courier New" panose="02070309020205020404"/>
                <a:ea typeface="Courier New" panose="02070309020205020404"/>
                <a:cs typeface="Courier New" panose="02070309020205020404"/>
                <a:sym typeface="Courier New" panose="02070309020205020404"/>
              </a:endParaRPr>
            </a:p>
            <a:p>
              <a:pPr algn="l">
                <a:lnSpc>
                  <a:spcPts val="3120"/>
                </a:lnSpc>
              </a:pPr>
              <a:r>
                <a:rPr lang="en-US" sz="2600">
                  <a:solidFill>
                    <a:srgbClr val="BFE8E3"/>
                  </a:solidFill>
                  <a:latin typeface="Courier New" panose="02070309020205020404"/>
                  <a:ea typeface="Courier New" panose="02070309020205020404"/>
                  <a:cs typeface="Courier New" panose="02070309020205020404"/>
                  <a:sym typeface="Courier New" panose="02070309020205020404"/>
                </a:rPr>
                <a:t>_pending.RemoveAll(i =&gt; i.Seq &lt;= s.LastProcessedSeq);   // (2)</a:t>
              </a:r>
              <a:endParaRPr lang="en-US" sz="2600">
                <a:solidFill>
                  <a:srgbClr val="BFE8E3"/>
                </a:solidFill>
                <a:latin typeface="Courier New" panose="02070309020205020404"/>
                <a:ea typeface="Courier New" panose="02070309020205020404"/>
                <a:cs typeface="Courier New" panose="02070309020205020404"/>
                <a:sym typeface="Courier New" panose="02070309020205020404"/>
              </a:endParaRPr>
            </a:p>
            <a:p>
              <a:pPr algn="l">
                <a:lnSpc>
                  <a:spcPts val="3120"/>
                </a:lnSpc>
              </a:pPr>
              <a:r>
                <a:rPr lang="en-US" sz="2600">
                  <a:solidFill>
                    <a:srgbClr val="BFE8E3"/>
                  </a:solidFill>
                  <a:latin typeface="Courier New" panose="02070309020205020404"/>
                  <a:ea typeface="Courier New" panose="02070309020205020404"/>
                  <a:cs typeface="Courier New" panose="02070309020205020404"/>
                  <a:sym typeface="Courier New" panose="02070309020205020404"/>
                </a:rPr>
                <a:t>foreach (var i in _pending)                             // (3)</a:t>
              </a:r>
              <a:endParaRPr lang="en-US" sz="2600">
                <a:solidFill>
                  <a:srgbClr val="BFE8E3"/>
                </a:solidFill>
                <a:latin typeface="Courier New" panose="02070309020205020404"/>
                <a:ea typeface="Courier New" panose="02070309020205020404"/>
                <a:cs typeface="Courier New" panose="02070309020205020404"/>
                <a:sym typeface="Courier New" panose="02070309020205020404"/>
              </a:endParaRPr>
            </a:p>
            <a:p>
              <a:pPr algn="l">
                <a:lnSpc>
                  <a:spcPts val="3120"/>
                </a:lnSpc>
              </a:pPr>
              <a:r>
                <a:rPr lang="en-US" sz="2600">
                  <a:solidFill>
                    <a:srgbClr val="BFE8E3"/>
                  </a:solidFill>
                  <a:latin typeface="Courier New" panose="02070309020205020404"/>
                  <a:ea typeface="Courier New" panose="02070309020205020404"/>
                  <a:cs typeface="Courier New" panose="02070309020205020404"/>
                  <a:sym typeface="Courier New" panose="02070309020205020404"/>
                </a:rPr>
                <a:t>    Self = Simulation.Step(Self, i.Keys, Dt);</a:t>
              </a:r>
              <a:endParaRPr lang="en-US" sz="2600">
                <a:solidFill>
                  <a:srgbClr val="BFE8E3"/>
                </a:solidFill>
                <a:latin typeface="Courier New" panose="02070309020205020404"/>
                <a:ea typeface="Courier New" panose="02070309020205020404"/>
                <a:cs typeface="Courier New" panose="02070309020205020404"/>
                <a:sym typeface="Courier New" panose="02070309020205020404"/>
              </a:endParaRPr>
            </a:p>
          </p:txBody>
        </p:sp>
      </p:grpSp>
      <p:grpSp>
        <p:nvGrpSpPr>
          <p:cNvPr id="33" name="Group 33"/>
          <p:cNvGrpSpPr/>
          <p:nvPr/>
        </p:nvGrpSpPr>
        <p:grpSpPr>
          <a:xfrm rot="0">
            <a:off x="11531034" y="2395728"/>
            <a:ext cx="6179906" cy="4113199"/>
            <a:chOff x="0" y="0"/>
            <a:chExt cx="8642870" cy="5752489"/>
          </a:xfrm>
        </p:grpSpPr>
        <p:sp>
          <p:nvSpPr>
            <p:cNvPr id="34" name="Freeform 34"/>
            <p:cNvSpPr/>
            <p:nvPr/>
          </p:nvSpPr>
          <p:spPr>
            <a:xfrm>
              <a:off x="0" y="0"/>
              <a:ext cx="8642826" cy="5752447"/>
            </a:xfrm>
            <a:custGeom>
              <a:avLst/>
              <a:gdLst/>
              <a:ahLst/>
              <a:cxnLst/>
              <a:rect l="l" t="t" r="r" b="b"/>
              <a:pathLst>
                <a:path w="8642826" h="5752447">
                  <a:moveTo>
                    <a:pt x="0" y="219185"/>
                  </a:moveTo>
                  <a:cubicBezTo>
                    <a:pt x="0" y="98060"/>
                    <a:pt x="101701" y="0"/>
                    <a:pt x="227323" y="0"/>
                  </a:cubicBezTo>
                  <a:lnTo>
                    <a:pt x="8415503" y="0"/>
                  </a:lnTo>
                  <a:cubicBezTo>
                    <a:pt x="8540978" y="0"/>
                    <a:pt x="8642826" y="98060"/>
                    <a:pt x="8642826" y="219185"/>
                  </a:cubicBezTo>
                  <a:lnTo>
                    <a:pt x="8642826" y="5533261"/>
                  </a:lnTo>
                  <a:cubicBezTo>
                    <a:pt x="8642826" y="5654245"/>
                    <a:pt x="8541125" y="5752447"/>
                    <a:pt x="8415503" y="5752447"/>
                  </a:cubicBezTo>
                  <a:lnTo>
                    <a:pt x="227323" y="5752447"/>
                  </a:lnTo>
                  <a:cubicBezTo>
                    <a:pt x="101701" y="5752447"/>
                    <a:pt x="0" y="5654386"/>
                    <a:pt x="0" y="5533261"/>
                  </a:cubicBezTo>
                  <a:close/>
                </a:path>
              </a:pathLst>
            </a:custGeom>
            <a:blipFill>
              <a:blip r:embed="rId2"/>
              <a:stretch>
                <a:fillRect t="-82" b="-82"/>
              </a:stretch>
            </a:blipFill>
            <a:ln w="31750" cap="sq">
              <a:solidFill>
                <a:srgbClr val="00897B"/>
              </a:solidFill>
              <a:prstDash val="dash"/>
              <a:miter/>
            </a:ln>
          </p:spPr>
        </p:sp>
      </p:grpSp>
      <p:sp>
        <p:nvSpPr>
          <p:cNvPr id="35" name="TextBox 35"/>
          <p:cNvSpPr txBox="1"/>
          <p:nvPr/>
        </p:nvSpPr>
        <p:spPr>
          <a:xfrm>
            <a:off x="914400" y="384048"/>
            <a:ext cx="13898880" cy="559689"/>
          </a:xfrm>
          <a:prstGeom prst="rect">
            <a:avLst/>
          </a:prstGeom>
        </p:spPr>
        <p:txBody>
          <a:bodyPr lIns="0" tIns="0" rIns="0" bIns="0" rtlCol="0" anchor="t">
            <a:spAutoFit/>
          </a:bodyPr>
          <a:lstStyle/>
          <a:p>
            <a:pPr algn="l">
              <a:lnSpc>
                <a:spcPts val="2640"/>
              </a:lnSpc>
            </a:pPr>
            <a:r>
              <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VẤN ĐỀ 2</a:t>
            </a:r>
            <a:endPar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6" name="TextBox 36"/>
          <p:cNvSpPr txBox="1"/>
          <p:nvPr/>
        </p:nvSpPr>
        <p:spPr>
          <a:xfrm>
            <a:off x="1996440" y="2402205"/>
            <a:ext cx="9342120" cy="981075"/>
          </a:xfrm>
          <a:prstGeom prst="rect">
            <a:avLst/>
          </a:prstGeom>
        </p:spPr>
        <p:txBody>
          <a:bodyPr lIns="0" tIns="0" rIns="0" bIns="0" rtlCol="0" anchor="t">
            <a:spAutoFit/>
          </a:bodyPr>
          <a:lstStyle/>
          <a:p>
            <a:pPr algn="l">
              <a:lnSpc>
                <a:spcPts val="3360"/>
              </a:lnSpc>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Client giữ </a:t>
            </a: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bộ đệm</a:t>
            </a: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 các lệnh chưa được xác nhận</a:t>
            </a:r>
            <a:endPar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7" name="TextBox 37"/>
          <p:cNvSpPr txBox="1"/>
          <p:nvPr/>
        </p:nvSpPr>
        <p:spPr>
          <a:xfrm>
            <a:off x="1996440" y="3465195"/>
            <a:ext cx="9342120" cy="923925"/>
          </a:xfrm>
          <a:prstGeom prst="rect">
            <a:avLst/>
          </a:prstGeom>
        </p:spPr>
        <p:txBody>
          <a:bodyPr lIns="0" tIns="0" rIns="0" bIns="0" rtlCol="0" anchor="t">
            <a:spAutoFit/>
          </a:bodyPr>
          <a:lstStyle/>
          <a:p>
            <a:pPr algn="l">
              <a:lnSpc>
                <a:spcPts val="3360"/>
              </a:lnSpc>
            </a:pPr>
            <a:r>
              <a:rPr lang="en-US" sz="2800">
                <a:solidFill>
                  <a:srgbClr val="14213D"/>
                </a:solidFill>
                <a:latin typeface="Courier New" panose="02070309020205020404"/>
                <a:ea typeface="Courier New" panose="02070309020205020404"/>
                <a:cs typeface="Courier New" panose="02070309020205020404"/>
                <a:sym typeface="Courier New" panose="02070309020205020404"/>
              </a:rPr>
              <a:t>Ảnh trạng thái kèm lastProcessedSeq = N</a:t>
            </a:r>
            <a:endParaRPr lang="en-US" sz="2800">
              <a:solidFill>
                <a:srgbClr val="14213D"/>
              </a:solidFill>
              <a:latin typeface="Courier New" panose="02070309020205020404"/>
              <a:ea typeface="Courier New" panose="02070309020205020404"/>
              <a:cs typeface="Courier New" panose="02070309020205020404"/>
              <a:sym typeface="Courier New" panose="02070309020205020404"/>
            </a:endParaRPr>
          </a:p>
        </p:txBody>
      </p:sp>
      <p:sp>
        <p:nvSpPr>
          <p:cNvPr id="38" name="TextBox 38"/>
          <p:cNvSpPr txBox="1"/>
          <p:nvPr/>
        </p:nvSpPr>
        <p:spPr>
          <a:xfrm>
            <a:off x="1658626" y="4417695"/>
            <a:ext cx="9043611" cy="904875"/>
          </a:xfrm>
          <a:prstGeom prst="rect">
            <a:avLst/>
          </a:prstGeom>
        </p:spPr>
        <p:txBody>
          <a:bodyPr lIns="0" tIns="0" rIns="0" bIns="0" rtlCol="0" anchor="t">
            <a:spAutoFit/>
          </a:bodyPr>
          <a:lstStyle/>
          <a:p>
            <a:pPr algn="l">
              <a:lnSpc>
                <a:spcPts val="3360"/>
              </a:lnSpc>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Nhận ảnh: </a:t>
            </a: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đặt lại</a:t>
            </a: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 theo server → </a:t>
            </a: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bỏ</a:t>
            </a: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 lệnh ≤ N → </a:t>
            </a: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chạy lại</a:t>
            </a: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 lệnh còn lại</a:t>
            </a:r>
            <a:endPar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9" name="TextBox 39"/>
          <p:cNvSpPr txBox="1"/>
          <p:nvPr/>
        </p:nvSpPr>
        <p:spPr>
          <a:xfrm>
            <a:off x="16550640" y="9517380"/>
            <a:ext cx="731520" cy="495300"/>
          </a:xfrm>
          <a:prstGeom prst="rect">
            <a:avLst/>
          </a:prstGeom>
        </p:spPr>
        <p:txBody>
          <a:bodyPr lIns="0" tIns="0" rIns="0" bIns="0" rtlCol="0" anchor="t">
            <a:spAutoFit/>
          </a:bodyPr>
          <a:lstStyle/>
          <a:p>
            <a:pPr algn="r">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12</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1" name="Header band"/>
          <p:cNvSpPr/>
          <p:nvPr/>
        </p:nvSpPr>
        <p:spPr>
          <a:xfrm>
            <a:off x="0" y="0"/>
            <a:ext cx="18288000" cy="2103120"/>
          </a:xfrm>
          <a:prstGeom prst="rect">
            <a:avLst/>
          </a:prstGeom>
          <a:solidFill>
            <a:srgbClr val="14213D"/>
          </a:solidFill>
          <a:ln>
            <a:noFill/>
          </a:ln>
        </p:spPr>
      </p:sp>
      <p:sp>
        <p:nvSpPr>
          <p:cNvPr id="9052" name="Header rule"/>
          <p:cNvSpPr/>
          <p:nvPr/>
        </p:nvSpPr>
        <p:spPr>
          <a:xfrm>
            <a:off x="0" y="2103120"/>
            <a:ext cx="18288000" cy="64008"/>
          </a:xfrm>
          <a:prstGeom prst="rect">
            <a:avLst/>
          </a:prstGeom>
          <a:solidFill>
            <a:srgbClr val="00897B"/>
          </a:solidFill>
          <a:ln>
            <a:noFill/>
          </a:ln>
        </p:spPr>
      </p:sp>
      <p:grpSp>
        <p:nvGrpSpPr>
          <p:cNvPr id="2" name="Group 2"/>
          <p:cNvGrpSpPr/>
          <p:nvPr/>
        </p:nvGrpSpPr>
        <p:grpSpPr>
          <a:xfrm rot="0">
            <a:off x="914400" y="9509760"/>
            <a:ext cx="12801600" cy="548640"/>
            <a:chOff x="0" y="0"/>
            <a:chExt cx="17068800" cy="731520"/>
          </a:xfrm>
        </p:grpSpPr>
        <p:sp>
          <p:nvSpPr>
            <p:cNvPr id="3" name="Freeform 3"/>
            <p:cNvSpPr/>
            <p:nvPr/>
          </p:nvSpPr>
          <p:spPr>
            <a:xfrm>
              <a:off x="0" y="0"/>
              <a:ext cx="17068800" cy="731520"/>
            </a:xfrm>
            <a:custGeom>
              <a:avLst/>
              <a:gdLst/>
              <a:ahLst/>
              <a:cxnLst/>
              <a:rect l="l" t="t" r="r" b="b"/>
              <a:pathLst>
                <a:path w="17068800" h="731520">
                  <a:moveTo>
                    <a:pt x="0" y="0"/>
                  </a:moveTo>
                  <a:lnTo>
                    <a:pt x="17068800" y="0"/>
                  </a:lnTo>
                  <a:lnTo>
                    <a:pt x="17068800" y="731520"/>
                  </a:lnTo>
                  <a:lnTo>
                    <a:pt x="0" y="731520"/>
                  </a:lnTo>
                  <a:close/>
                </a:path>
              </a:pathLst>
            </a:custGeom>
            <a:blipFill>
              <a:blip r:embed="rId1">
                <a:alphaModFix amt="0"/>
              </a:blip>
              <a:stretch>
                <a:fillRect t="-404650" b="-404650"/>
              </a:stretch>
            </a:blipFill>
          </p:spPr>
        </p:sp>
        <p:sp>
          <p:nvSpPr>
            <p:cNvPr id="4" name="TextBox 4"/>
            <p:cNvSpPr txBox="1"/>
            <p:nvPr/>
          </p:nvSpPr>
          <p:spPr>
            <a:xfrm>
              <a:off x="0" y="-38100"/>
              <a:ext cx="17068800" cy="769620"/>
            </a:xfrm>
            <a:prstGeom prst="rect">
              <a:avLst/>
            </a:prstGeom>
          </p:spPr>
          <p:txBody>
            <a:bodyPr lIns="0" tIns="0" rIns="0" bIns="0" rtlCol="0" anchor="ctr"/>
            <a:lstStyle/>
            <a:p>
              <a:pPr algn="l">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T47 · Kỹ thuật mạng cho game thời gian thực · Lập trình mạng</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5" name="Group 5"/>
          <p:cNvGrpSpPr/>
          <p:nvPr/>
        </p:nvGrpSpPr>
        <p:grpSpPr>
          <a:xfrm rot="0">
            <a:off x="914400" y="768096"/>
            <a:ext cx="14081760" cy="1097280"/>
            <a:chOff x="0" y="0"/>
            <a:chExt cx="18775680" cy="1463040"/>
          </a:xfrm>
        </p:grpSpPr>
        <p:sp>
          <p:nvSpPr>
            <p:cNvPr id="6" name="Freeform 6"/>
            <p:cNvSpPr/>
            <p:nvPr/>
          </p:nvSpPr>
          <p:spPr>
            <a:xfrm>
              <a:off x="0" y="0"/>
              <a:ext cx="18775680" cy="1463040"/>
            </a:xfrm>
            <a:custGeom>
              <a:avLst/>
              <a:gdLst/>
              <a:ahLst/>
              <a:cxnLst/>
              <a:rect l="l" t="t" r="r" b="b"/>
              <a:pathLst>
                <a:path w="18775680" h="1463040">
                  <a:moveTo>
                    <a:pt x="0" y="0"/>
                  </a:moveTo>
                  <a:lnTo>
                    <a:pt x="18775680" y="0"/>
                  </a:lnTo>
                  <a:lnTo>
                    <a:pt x="18775680" y="1463040"/>
                  </a:lnTo>
                  <a:lnTo>
                    <a:pt x="0" y="1463040"/>
                  </a:lnTo>
                  <a:close/>
                </a:path>
              </a:pathLst>
            </a:custGeom>
            <a:blipFill>
              <a:blip r:embed="rId1">
                <a:alphaModFix amt="0"/>
              </a:blip>
              <a:stretch>
                <a:fillRect t="-200057" b="-200057"/>
              </a:stretch>
            </a:blipFill>
          </p:spPr>
        </p:sp>
        <p:sp>
          <p:nvSpPr>
            <p:cNvPr id="7" name="TextBox 7"/>
            <p:cNvSpPr txBox="1"/>
            <p:nvPr/>
          </p:nvSpPr>
          <p:spPr>
            <a:xfrm>
              <a:off x="0" y="-9525"/>
              <a:ext cx="18775680" cy="1472565"/>
            </a:xfrm>
            <a:prstGeom prst="rect">
              <a:avLst/>
            </a:prstGeom>
          </p:spPr>
          <p:txBody>
            <a:bodyPr lIns="0" tIns="0" rIns="0" bIns="0" rtlCol="0" anchor="ctr"/>
            <a:lstStyle/>
            <a:p>
              <a:pPr algn="l">
                <a:lnSpc>
                  <a:spcPts val="6325"/>
                </a:lnSpc>
              </a:pPr>
              <a:r>
                <a:rPr lang="en-US" sz="5500" b="1">
                  <a:solidFill>
                    <a:srgbClr val="FFFFFF"/>
                  </a:solidFill>
                  <a:latin typeface="Times New Roman" panose="02020603050405020304"/>
                  <a:ea typeface="Times New Roman" panose="02020603050405020304"/>
                  <a:cs typeface="Times New Roman" panose="02020603050405020304"/>
                  <a:sym typeface="Times New Roman" panose="02020603050405020304"/>
                </a:rPr>
                <a:t>Đối thủ hiển thị giật → nội suy thực thể</a:t>
              </a:r>
              <a:endParaRPr lang="en-US" sz="55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8" name="Group 8"/>
          <p:cNvGrpSpPr/>
          <p:nvPr/>
        </p:nvGrpSpPr>
        <p:grpSpPr>
          <a:xfrm rot="0">
            <a:off x="15257783" y="682247"/>
            <a:ext cx="2128523" cy="647195"/>
            <a:chOff x="0" y="0"/>
            <a:chExt cx="2838031" cy="862927"/>
          </a:xfrm>
        </p:grpSpPr>
        <p:sp>
          <p:nvSpPr>
            <p:cNvPr id="9" name="Freeform 9"/>
            <p:cNvSpPr/>
            <p:nvPr/>
          </p:nvSpPr>
          <p:spPr>
            <a:xfrm>
              <a:off x="0" y="0"/>
              <a:ext cx="2837942" cy="862838"/>
            </a:xfrm>
            <a:custGeom>
              <a:avLst/>
              <a:gdLst/>
              <a:ahLst/>
              <a:cxnLst/>
              <a:rect l="l" t="t" r="r" b="b"/>
              <a:pathLst>
                <a:path w="2837942" h="862838">
                  <a:moveTo>
                    <a:pt x="0" y="431419"/>
                  </a:moveTo>
                  <a:cubicBezTo>
                    <a:pt x="0" y="193167"/>
                    <a:pt x="193167" y="0"/>
                    <a:pt x="431419" y="0"/>
                  </a:cubicBezTo>
                  <a:lnTo>
                    <a:pt x="2406523" y="0"/>
                  </a:lnTo>
                  <a:cubicBezTo>
                    <a:pt x="2644775" y="0"/>
                    <a:pt x="2837942" y="193167"/>
                    <a:pt x="2837942" y="431419"/>
                  </a:cubicBezTo>
                  <a:cubicBezTo>
                    <a:pt x="2837942" y="669671"/>
                    <a:pt x="2644775" y="862838"/>
                    <a:pt x="2406523" y="862838"/>
                  </a:cubicBezTo>
                  <a:lnTo>
                    <a:pt x="431419" y="862838"/>
                  </a:lnTo>
                  <a:cubicBezTo>
                    <a:pt x="193167" y="862965"/>
                    <a:pt x="0" y="669798"/>
                    <a:pt x="0" y="431419"/>
                  </a:cubicBezTo>
                  <a:close/>
                </a:path>
              </a:pathLst>
            </a:custGeom>
            <a:solidFill>
              <a:srgbClr val="6C5CE7"/>
            </a:solidFill>
            <a:ln w="25400" cap="sq">
              <a:solidFill>
                <a:srgbClr val="6C5CE7"/>
              </a:solidFill>
              <a:prstDash val="solid"/>
              <a:miter/>
            </a:ln>
          </p:spPr>
        </p:sp>
      </p:grpSp>
      <p:grpSp>
        <p:nvGrpSpPr>
          <p:cNvPr id="10" name="Group 10"/>
          <p:cNvGrpSpPr/>
          <p:nvPr/>
        </p:nvGrpSpPr>
        <p:grpSpPr>
          <a:xfrm rot="0">
            <a:off x="15270480" y="694944"/>
            <a:ext cx="2103120" cy="621792"/>
            <a:chOff x="0" y="0"/>
            <a:chExt cx="2804160" cy="829056"/>
          </a:xfrm>
        </p:grpSpPr>
        <p:sp>
          <p:nvSpPr>
            <p:cNvPr id="11" name="Freeform 11"/>
            <p:cNvSpPr/>
            <p:nvPr/>
          </p:nvSpPr>
          <p:spPr>
            <a:xfrm>
              <a:off x="0" y="0"/>
              <a:ext cx="2804160" cy="829056"/>
            </a:xfrm>
            <a:custGeom>
              <a:avLst/>
              <a:gdLst/>
              <a:ahLst/>
              <a:cxnLst/>
              <a:rect l="l" t="t" r="r" b="b"/>
              <a:pathLst>
                <a:path w="2804160" h="829056">
                  <a:moveTo>
                    <a:pt x="0" y="0"/>
                  </a:moveTo>
                  <a:lnTo>
                    <a:pt x="2804160" y="0"/>
                  </a:lnTo>
                  <a:lnTo>
                    <a:pt x="2804160" y="829056"/>
                  </a:lnTo>
                  <a:lnTo>
                    <a:pt x="0" y="829056"/>
                  </a:lnTo>
                  <a:close/>
                </a:path>
              </a:pathLst>
            </a:custGeom>
            <a:blipFill>
              <a:blip r:embed="rId1">
                <a:alphaModFix amt="0"/>
              </a:blip>
              <a:stretch>
                <a:fillRect t="-15905" b="-15905"/>
              </a:stretch>
            </a:blipFill>
          </p:spPr>
        </p:sp>
        <p:sp>
          <p:nvSpPr>
            <p:cNvPr id="12" name="TextBox 12"/>
            <p:cNvSpPr txBox="1"/>
            <p:nvPr/>
          </p:nvSpPr>
          <p:spPr>
            <a:xfrm>
              <a:off x="0" y="-47625"/>
              <a:ext cx="2804160" cy="876681"/>
            </a:xfrm>
            <a:prstGeom prst="rect">
              <a:avLst/>
            </a:prstGeom>
          </p:spPr>
          <p:txBody>
            <a:bodyPr lIns="0" tIns="0" rIns="0" bIns="0" rtlCol="0" anchor="ctr"/>
            <a:lstStyle/>
            <a:p>
              <a:pPr algn="ctr">
                <a:lnSpc>
                  <a:spcPts val="2640"/>
                </a:lnSpc>
              </a:pPr>
              <a:r>
                <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rPr>
                <a:t>#2</a:t>
              </a:r>
              <a:endPar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3" name="Group 13"/>
          <p:cNvGrpSpPr/>
          <p:nvPr/>
        </p:nvGrpSpPr>
        <p:grpSpPr>
          <a:xfrm rot="0">
            <a:off x="914400" y="3657600"/>
            <a:ext cx="10424160" cy="402336"/>
            <a:chOff x="0" y="0"/>
            <a:chExt cx="13898880" cy="536448"/>
          </a:xfrm>
        </p:grpSpPr>
        <p:sp>
          <p:nvSpPr>
            <p:cNvPr id="14" name="Freeform 14"/>
            <p:cNvSpPr/>
            <p:nvPr/>
          </p:nvSpPr>
          <p:spPr>
            <a:xfrm>
              <a:off x="0" y="0"/>
              <a:ext cx="13898880" cy="536448"/>
            </a:xfrm>
            <a:custGeom>
              <a:avLst/>
              <a:gdLst/>
              <a:ahLst/>
              <a:cxnLst/>
              <a:rect l="l" t="t" r="r" b="b"/>
              <a:pathLst>
                <a:path w="13898880" h="536448">
                  <a:moveTo>
                    <a:pt x="0" y="0"/>
                  </a:moveTo>
                  <a:lnTo>
                    <a:pt x="13898880" y="0"/>
                  </a:lnTo>
                  <a:lnTo>
                    <a:pt x="13898880" y="536448"/>
                  </a:lnTo>
                  <a:lnTo>
                    <a:pt x="0" y="536448"/>
                  </a:lnTo>
                  <a:close/>
                </a:path>
              </a:pathLst>
            </a:custGeom>
            <a:blipFill>
              <a:blip r:embed="rId1">
                <a:alphaModFix amt="0"/>
              </a:blip>
              <a:stretch>
                <a:fillRect t="-454839" b="-454839"/>
              </a:stretch>
            </a:blipFill>
          </p:spPr>
        </p:sp>
        <p:sp>
          <p:nvSpPr>
            <p:cNvPr id="15" name="TextBox 15"/>
            <p:cNvSpPr txBox="1"/>
            <p:nvPr/>
          </p:nvSpPr>
          <p:spPr>
            <a:xfrm>
              <a:off x="0" y="-38100"/>
              <a:ext cx="13898880" cy="574548"/>
            </a:xfrm>
            <a:prstGeom prst="rect">
              <a:avLst/>
            </a:prstGeom>
          </p:spPr>
          <p:txBody>
            <a:bodyPr lIns="0" tIns="0" rIns="0" bIns="0" rtlCol="0" anchor="ctr"/>
            <a:lstStyle/>
            <a:p>
              <a:pPr algn="l">
                <a:lnSpc>
                  <a:spcPts val="2400"/>
                </a:lnSpc>
              </a:pPr>
              <a:r>
                <a:rPr lang="en-US" sz="2000" b="1" spc="300">
                  <a:solidFill>
                    <a:srgbClr val="5B6B82"/>
                  </a:solidFill>
                  <a:latin typeface="Times New Roman" panose="02020603050405020304"/>
                  <a:ea typeface="Times New Roman" panose="02020603050405020304"/>
                  <a:cs typeface="Times New Roman" panose="02020603050405020304"/>
                  <a:sym typeface="Times New Roman" panose="02020603050405020304"/>
                </a:rPr>
                <a:t>CÁC HƯỚNG</a:t>
              </a:r>
              <a:endParaRPr lang="en-US" sz="2000" b="1" spc="3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6" name="Group 16"/>
          <p:cNvGrpSpPr/>
          <p:nvPr/>
        </p:nvGrpSpPr>
        <p:grpSpPr>
          <a:xfrm rot="0">
            <a:off x="1097280" y="4151376"/>
            <a:ext cx="548640" cy="585216"/>
            <a:chOff x="0" y="0"/>
            <a:chExt cx="731520" cy="780288"/>
          </a:xfrm>
        </p:grpSpPr>
        <p:sp>
          <p:nvSpPr>
            <p:cNvPr id="17" name="Freeform 17"/>
            <p:cNvSpPr/>
            <p:nvPr/>
          </p:nvSpPr>
          <p:spPr>
            <a:xfrm>
              <a:off x="0" y="0"/>
              <a:ext cx="731520" cy="780288"/>
            </a:xfrm>
            <a:custGeom>
              <a:avLst/>
              <a:gdLst/>
              <a:ahLst/>
              <a:cxnLst/>
              <a:rect l="l" t="t" r="r" b="b"/>
              <a:pathLst>
                <a:path w="731520" h="780288">
                  <a:moveTo>
                    <a:pt x="0" y="0"/>
                  </a:moveTo>
                  <a:lnTo>
                    <a:pt x="731520" y="0"/>
                  </a:lnTo>
                  <a:lnTo>
                    <a:pt x="731520" y="780288"/>
                  </a:lnTo>
                  <a:lnTo>
                    <a:pt x="0" y="780288"/>
                  </a:lnTo>
                  <a:close/>
                </a:path>
              </a:pathLst>
            </a:custGeom>
            <a:blipFill>
              <a:blip r:embed="rId1">
                <a:alphaModFix amt="0"/>
              </a:blip>
              <a:stretch>
                <a:fillRect l="-86857" r="-86857"/>
              </a:stretch>
            </a:blipFill>
          </p:spPr>
        </p:sp>
        <p:sp>
          <p:nvSpPr>
            <p:cNvPr id="18" name="TextBox 18"/>
            <p:cNvSpPr txBox="1"/>
            <p:nvPr/>
          </p:nvSpPr>
          <p:spPr>
            <a:xfrm>
              <a:off x="0" y="-66675"/>
              <a:ext cx="731520" cy="846963"/>
            </a:xfrm>
            <a:prstGeom prst="rect">
              <a:avLst/>
            </a:prstGeom>
          </p:spPr>
          <p:txBody>
            <a:bodyPr lIns="0" tIns="0" rIns="0" bIns="0" rtlCol="0" anchor="ctr"/>
            <a:lstStyle/>
            <a:p>
              <a:pPr algn="ctr">
                <a:lnSpc>
                  <a:spcPts val="3600"/>
                </a:lnSpc>
              </a:pPr>
              <a:r>
                <a:rPr lang="en-US" sz="3000">
                  <a:solidFill>
                    <a:srgbClr val="5B6B82"/>
                  </a:solidFill>
                  <a:latin typeface="Times New Roman" panose="02020603050405020304"/>
                  <a:ea typeface="Times New Roman" panose="02020603050405020304"/>
                  <a:cs typeface="Times New Roman" panose="02020603050405020304"/>
                  <a:sym typeface="Times New Roman" panose="02020603050405020304"/>
                </a:rPr>
                <a:t>○</a:t>
              </a:r>
              <a:endParaRPr lang="en-US" sz="3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9" name="Group 19"/>
          <p:cNvGrpSpPr/>
          <p:nvPr/>
        </p:nvGrpSpPr>
        <p:grpSpPr>
          <a:xfrm rot="0">
            <a:off x="1737360" y="4151376"/>
            <a:ext cx="7772400" cy="585216"/>
            <a:chOff x="0" y="0"/>
            <a:chExt cx="10363200" cy="780288"/>
          </a:xfrm>
        </p:grpSpPr>
        <p:sp>
          <p:nvSpPr>
            <p:cNvPr id="20" name="Freeform 20"/>
            <p:cNvSpPr/>
            <p:nvPr/>
          </p:nvSpPr>
          <p:spPr>
            <a:xfrm>
              <a:off x="0" y="0"/>
              <a:ext cx="10363200" cy="780288"/>
            </a:xfrm>
            <a:custGeom>
              <a:avLst/>
              <a:gdLst/>
              <a:ahLst/>
              <a:cxnLst/>
              <a:rect l="l" t="t" r="r" b="b"/>
              <a:pathLst>
                <a:path w="10363200" h="780288">
                  <a:moveTo>
                    <a:pt x="0" y="0"/>
                  </a:moveTo>
                  <a:lnTo>
                    <a:pt x="10363200" y="0"/>
                  </a:lnTo>
                  <a:lnTo>
                    <a:pt x="10363200" y="780288"/>
                  </a:lnTo>
                  <a:lnTo>
                    <a:pt x="0" y="780288"/>
                  </a:lnTo>
                  <a:close/>
                </a:path>
              </a:pathLst>
            </a:custGeom>
            <a:blipFill>
              <a:blip r:embed="rId1">
                <a:alphaModFix amt="0"/>
              </a:blip>
              <a:stretch>
                <a:fillRect t="-208785" b="-208785"/>
              </a:stretch>
            </a:blipFill>
          </p:spPr>
        </p:sp>
        <p:sp>
          <p:nvSpPr>
            <p:cNvPr id="21" name="TextBox 21"/>
            <p:cNvSpPr txBox="1"/>
            <p:nvPr/>
          </p:nvSpPr>
          <p:spPr>
            <a:xfrm>
              <a:off x="0" y="-66675"/>
              <a:ext cx="10363200" cy="846963"/>
            </a:xfrm>
            <a:prstGeom prst="rect">
              <a:avLst/>
            </a:prstGeom>
          </p:spPr>
          <p:txBody>
            <a:bodyPr lIns="0" tIns="0" rIns="0" bIns="0" rtlCol="0" anchor="ctr"/>
            <a:lstStyle/>
            <a:p>
              <a:pPr algn="l">
                <a:lnSpc>
                  <a:spcPts val="3360"/>
                </a:lnSpc>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Vẽ ảnh mới nhất: giật</a:t>
              </a:r>
              <a:endPar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2" name="Group 22"/>
          <p:cNvGrpSpPr/>
          <p:nvPr/>
        </p:nvGrpSpPr>
        <p:grpSpPr>
          <a:xfrm rot="0">
            <a:off x="1097280" y="4809744"/>
            <a:ext cx="548640" cy="585216"/>
            <a:chOff x="0" y="0"/>
            <a:chExt cx="731520" cy="780288"/>
          </a:xfrm>
        </p:grpSpPr>
        <p:sp>
          <p:nvSpPr>
            <p:cNvPr id="23" name="Freeform 23"/>
            <p:cNvSpPr/>
            <p:nvPr/>
          </p:nvSpPr>
          <p:spPr>
            <a:xfrm>
              <a:off x="0" y="0"/>
              <a:ext cx="731520" cy="780288"/>
            </a:xfrm>
            <a:custGeom>
              <a:avLst/>
              <a:gdLst/>
              <a:ahLst/>
              <a:cxnLst/>
              <a:rect l="l" t="t" r="r" b="b"/>
              <a:pathLst>
                <a:path w="731520" h="780288">
                  <a:moveTo>
                    <a:pt x="0" y="0"/>
                  </a:moveTo>
                  <a:lnTo>
                    <a:pt x="731520" y="0"/>
                  </a:lnTo>
                  <a:lnTo>
                    <a:pt x="731520" y="780288"/>
                  </a:lnTo>
                  <a:lnTo>
                    <a:pt x="0" y="780288"/>
                  </a:lnTo>
                  <a:close/>
                </a:path>
              </a:pathLst>
            </a:custGeom>
            <a:blipFill>
              <a:blip r:embed="rId1">
                <a:alphaModFix amt="0"/>
              </a:blip>
              <a:stretch>
                <a:fillRect l="-86857" r="-86857"/>
              </a:stretch>
            </a:blipFill>
          </p:spPr>
        </p:sp>
        <p:sp>
          <p:nvSpPr>
            <p:cNvPr id="24" name="TextBox 24"/>
            <p:cNvSpPr txBox="1"/>
            <p:nvPr/>
          </p:nvSpPr>
          <p:spPr>
            <a:xfrm>
              <a:off x="0" y="-66675"/>
              <a:ext cx="731520" cy="846963"/>
            </a:xfrm>
            <a:prstGeom prst="rect">
              <a:avLst/>
            </a:prstGeom>
          </p:spPr>
          <p:txBody>
            <a:bodyPr lIns="0" tIns="0" rIns="0" bIns="0" rtlCol="0" anchor="ctr"/>
            <a:lstStyle/>
            <a:p>
              <a:pPr algn="ctr">
                <a:lnSpc>
                  <a:spcPts val="3600"/>
                </a:lnSpc>
              </a:pPr>
              <a:r>
                <a:rPr lang="en-US" sz="3000">
                  <a:solidFill>
                    <a:srgbClr val="5B6B82"/>
                  </a:solidFill>
                  <a:latin typeface="Times New Roman" panose="02020603050405020304"/>
                  <a:ea typeface="Times New Roman" panose="02020603050405020304"/>
                  <a:cs typeface="Times New Roman" panose="02020603050405020304"/>
                  <a:sym typeface="Times New Roman" panose="02020603050405020304"/>
                </a:rPr>
                <a:t>○</a:t>
              </a:r>
              <a:endParaRPr lang="en-US" sz="3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5" name="Group 25"/>
          <p:cNvGrpSpPr/>
          <p:nvPr/>
        </p:nvGrpSpPr>
        <p:grpSpPr>
          <a:xfrm rot="0">
            <a:off x="1737360" y="4809744"/>
            <a:ext cx="7772400" cy="585216"/>
            <a:chOff x="0" y="0"/>
            <a:chExt cx="10363200" cy="780288"/>
          </a:xfrm>
        </p:grpSpPr>
        <p:sp>
          <p:nvSpPr>
            <p:cNvPr id="26" name="Freeform 26"/>
            <p:cNvSpPr/>
            <p:nvPr/>
          </p:nvSpPr>
          <p:spPr>
            <a:xfrm>
              <a:off x="0" y="0"/>
              <a:ext cx="10363200" cy="780288"/>
            </a:xfrm>
            <a:custGeom>
              <a:avLst/>
              <a:gdLst/>
              <a:ahLst/>
              <a:cxnLst/>
              <a:rect l="l" t="t" r="r" b="b"/>
              <a:pathLst>
                <a:path w="10363200" h="780288">
                  <a:moveTo>
                    <a:pt x="0" y="0"/>
                  </a:moveTo>
                  <a:lnTo>
                    <a:pt x="10363200" y="0"/>
                  </a:lnTo>
                  <a:lnTo>
                    <a:pt x="10363200" y="780288"/>
                  </a:lnTo>
                  <a:lnTo>
                    <a:pt x="0" y="780288"/>
                  </a:lnTo>
                  <a:close/>
                </a:path>
              </a:pathLst>
            </a:custGeom>
            <a:blipFill>
              <a:blip r:embed="rId1">
                <a:alphaModFix amt="0"/>
              </a:blip>
              <a:stretch>
                <a:fillRect t="-208785" b="-208785"/>
              </a:stretch>
            </a:blipFill>
          </p:spPr>
        </p:sp>
        <p:sp>
          <p:nvSpPr>
            <p:cNvPr id="27" name="TextBox 27"/>
            <p:cNvSpPr txBox="1"/>
            <p:nvPr/>
          </p:nvSpPr>
          <p:spPr>
            <a:xfrm>
              <a:off x="0" y="-66675"/>
              <a:ext cx="10363200" cy="846963"/>
            </a:xfrm>
            <a:prstGeom prst="rect">
              <a:avLst/>
            </a:prstGeom>
          </p:spPr>
          <p:txBody>
            <a:bodyPr lIns="0" tIns="0" rIns="0" bIns="0" rtlCol="0" anchor="ctr"/>
            <a:lstStyle/>
            <a:p>
              <a:pPr algn="l">
                <a:lnSpc>
                  <a:spcPts val="3360"/>
                </a:lnSpc>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Ngoại suy: sai khi đổi hướng</a:t>
              </a:r>
              <a:endPar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8" name="Group 28"/>
          <p:cNvGrpSpPr/>
          <p:nvPr/>
        </p:nvGrpSpPr>
        <p:grpSpPr>
          <a:xfrm rot="0">
            <a:off x="901703" y="5455415"/>
            <a:ext cx="10449563" cy="610619"/>
            <a:chOff x="0" y="0"/>
            <a:chExt cx="13932751" cy="814159"/>
          </a:xfrm>
        </p:grpSpPr>
        <p:sp>
          <p:nvSpPr>
            <p:cNvPr id="29" name="Freeform 29"/>
            <p:cNvSpPr/>
            <p:nvPr/>
          </p:nvSpPr>
          <p:spPr>
            <a:xfrm>
              <a:off x="0" y="0"/>
              <a:ext cx="13932790" cy="814197"/>
            </a:xfrm>
            <a:custGeom>
              <a:avLst/>
              <a:gdLst/>
              <a:ahLst/>
              <a:cxnLst/>
              <a:rect l="l" t="t" r="r" b="b"/>
              <a:pathLst>
                <a:path w="13932790" h="814197">
                  <a:moveTo>
                    <a:pt x="0" y="203581"/>
                  </a:moveTo>
                  <a:cubicBezTo>
                    <a:pt x="0" y="91186"/>
                    <a:pt x="91186" y="0"/>
                    <a:pt x="203581" y="0"/>
                  </a:cubicBezTo>
                  <a:lnTo>
                    <a:pt x="13729208" y="0"/>
                  </a:lnTo>
                  <a:cubicBezTo>
                    <a:pt x="13841603" y="0"/>
                    <a:pt x="13932790" y="91186"/>
                    <a:pt x="13932790" y="203581"/>
                  </a:cubicBezTo>
                  <a:lnTo>
                    <a:pt x="13932790" y="610616"/>
                  </a:lnTo>
                  <a:cubicBezTo>
                    <a:pt x="13932790" y="723011"/>
                    <a:pt x="13841603" y="814197"/>
                    <a:pt x="13729208" y="814197"/>
                  </a:cubicBezTo>
                  <a:lnTo>
                    <a:pt x="203581" y="814197"/>
                  </a:lnTo>
                  <a:cubicBezTo>
                    <a:pt x="91186" y="814197"/>
                    <a:pt x="0" y="723011"/>
                    <a:pt x="0" y="610616"/>
                  </a:cubicBezTo>
                  <a:close/>
                </a:path>
              </a:pathLst>
            </a:custGeom>
            <a:solidFill>
              <a:srgbClr val="BFE8E3"/>
            </a:solidFill>
            <a:ln w="25400" cap="sq">
              <a:solidFill>
                <a:srgbClr val="BFE8E3"/>
              </a:solidFill>
              <a:prstDash val="solid"/>
              <a:miter/>
            </a:ln>
          </p:spPr>
        </p:sp>
      </p:grpSp>
      <p:grpSp>
        <p:nvGrpSpPr>
          <p:cNvPr id="30" name="Group 30"/>
          <p:cNvGrpSpPr/>
          <p:nvPr/>
        </p:nvGrpSpPr>
        <p:grpSpPr>
          <a:xfrm rot="0">
            <a:off x="9601200" y="5468112"/>
            <a:ext cx="1554480" cy="585216"/>
            <a:chOff x="0" y="0"/>
            <a:chExt cx="2072640" cy="780288"/>
          </a:xfrm>
        </p:grpSpPr>
        <p:sp>
          <p:nvSpPr>
            <p:cNvPr id="31" name="Freeform 31"/>
            <p:cNvSpPr/>
            <p:nvPr/>
          </p:nvSpPr>
          <p:spPr>
            <a:xfrm>
              <a:off x="0" y="0"/>
              <a:ext cx="2072640" cy="780288"/>
            </a:xfrm>
            <a:custGeom>
              <a:avLst/>
              <a:gdLst/>
              <a:ahLst/>
              <a:cxnLst/>
              <a:rect l="l" t="t" r="r" b="b"/>
              <a:pathLst>
                <a:path w="2072640" h="780288">
                  <a:moveTo>
                    <a:pt x="0" y="0"/>
                  </a:moveTo>
                  <a:lnTo>
                    <a:pt x="2072640" y="0"/>
                  </a:lnTo>
                  <a:lnTo>
                    <a:pt x="2072640" y="780288"/>
                  </a:lnTo>
                  <a:lnTo>
                    <a:pt x="0" y="780288"/>
                  </a:lnTo>
                  <a:close/>
                </a:path>
              </a:pathLst>
            </a:custGeom>
            <a:blipFill>
              <a:blip r:embed="rId1">
                <a:alphaModFix amt="0"/>
              </a:blip>
              <a:stretch>
                <a:fillRect t="-1757" b="-1757"/>
              </a:stretch>
            </a:blipFill>
          </p:spPr>
        </p:sp>
        <p:sp>
          <p:nvSpPr>
            <p:cNvPr id="32" name="TextBox 32"/>
            <p:cNvSpPr txBox="1"/>
            <p:nvPr/>
          </p:nvSpPr>
          <p:spPr>
            <a:xfrm>
              <a:off x="0" y="-38100"/>
              <a:ext cx="2072640" cy="818388"/>
            </a:xfrm>
            <a:prstGeom prst="rect">
              <a:avLst/>
            </a:prstGeom>
          </p:spPr>
          <p:txBody>
            <a:bodyPr lIns="0" tIns="0" rIns="0" bIns="0" rtlCol="0" anchor="ctr"/>
            <a:lstStyle/>
            <a:p>
              <a:pPr algn="r">
                <a:lnSpc>
                  <a:spcPts val="2400"/>
                </a:lnSpc>
              </a:pPr>
              <a:r>
                <a:rPr lang="en-US" sz="2000" b="1">
                  <a:solidFill>
                    <a:srgbClr val="00897B"/>
                  </a:solidFill>
                  <a:latin typeface="Times New Roman" panose="02020603050405020304"/>
                  <a:ea typeface="Times New Roman" panose="02020603050405020304"/>
                  <a:cs typeface="Times New Roman" panose="02020603050405020304"/>
                  <a:sym typeface="Times New Roman" panose="02020603050405020304"/>
                </a:rPr>
                <a:t>ĐÃ CHỌN</a:t>
              </a:r>
              <a:endParaRPr lang="en-US" sz="2000" b="1">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33" name="Group 33"/>
          <p:cNvGrpSpPr/>
          <p:nvPr/>
        </p:nvGrpSpPr>
        <p:grpSpPr>
          <a:xfrm rot="0">
            <a:off x="1097280" y="5468112"/>
            <a:ext cx="548640" cy="585216"/>
            <a:chOff x="0" y="0"/>
            <a:chExt cx="731520" cy="780288"/>
          </a:xfrm>
        </p:grpSpPr>
        <p:sp>
          <p:nvSpPr>
            <p:cNvPr id="34" name="Freeform 34"/>
            <p:cNvSpPr/>
            <p:nvPr/>
          </p:nvSpPr>
          <p:spPr>
            <a:xfrm>
              <a:off x="0" y="0"/>
              <a:ext cx="731520" cy="780288"/>
            </a:xfrm>
            <a:custGeom>
              <a:avLst/>
              <a:gdLst/>
              <a:ahLst/>
              <a:cxnLst/>
              <a:rect l="l" t="t" r="r" b="b"/>
              <a:pathLst>
                <a:path w="731520" h="780288">
                  <a:moveTo>
                    <a:pt x="0" y="0"/>
                  </a:moveTo>
                  <a:lnTo>
                    <a:pt x="731520" y="0"/>
                  </a:lnTo>
                  <a:lnTo>
                    <a:pt x="731520" y="780288"/>
                  </a:lnTo>
                  <a:lnTo>
                    <a:pt x="0" y="780288"/>
                  </a:lnTo>
                  <a:close/>
                </a:path>
              </a:pathLst>
            </a:custGeom>
            <a:blipFill>
              <a:blip r:embed="rId1">
                <a:alphaModFix amt="0"/>
              </a:blip>
              <a:stretch>
                <a:fillRect l="-86857" r="-86857"/>
              </a:stretch>
            </a:blipFill>
          </p:spPr>
        </p:sp>
        <p:sp>
          <p:nvSpPr>
            <p:cNvPr id="35" name="TextBox 35"/>
            <p:cNvSpPr txBox="1"/>
            <p:nvPr/>
          </p:nvSpPr>
          <p:spPr>
            <a:xfrm>
              <a:off x="0" y="-66675"/>
              <a:ext cx="731520" cy="846963"/>
            </a:xfrm>
            <a:prstGeom prst="rect">
              <a:avLst/>
            </a:prstGeom>
          </p:spPr>
          <p:txBody>
            <a:bodyPr lIns="0" tIns="0" rIns="0" bIns="0" rtlCol="0" anchor="ctr"/>
            <a:lstStyle/>
            <a:p>
              <a:pPr algn="ctr">
                <a:lnSpc>
                  <a:spcPts val="3600"/>
                </a:lnSpc>
              </a:pPr>
              <a:r>
                <a:rPr lang="en-US" sz="3000">
                  <a:solidFill>
                    <a:srgbClr val="00897B"/>
                  </a:solidFill>
                  <a:latin typeface="Times New Roman" panose="02020603050405020304"/>
                  <a:ea typeface="Times New Roman" panose="02020603050405020304"/>
                  <a:cs typeface="Times New Roman" panose="02020603050405020304"/>
                  <a:sym typeface="Times New Roman" panose="02020603050405020304"/>
                </a:rPr>
                <a:t>●</a:t>
              </a:r>
              <a:endParaRPr lang="en-US" sz="3000">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36" name="Group 36"/>
          <p:cNvGrpSpPr/>
          <p:nvPr/>
        </p:nvGrpSpPr>
        <p:grpSpPr>
          <a:xfrm rot="0">
            <a:off x="1737360" y="5468112"/>
            <a:ext cx="7772400" cy="585216"/>
            <a:chOff x="0" y="0"/>
            <a:chExt cx="10363200" cy="780288"/>
          </a:xfrm>
        </p:grpSpPr>
        <p:sp>
          <p:nvSpPr>
            <p:cNvPr id="37" name="Freeform 37"/>
            <p:cNvSpPr/>
            <p:nvPr/>
          </p:nvSpPr>
          <p:spPr>
            <a:xfrm>
              <a:off x="0" y="0"/>
              <a:ext cx="10363200" cy="780288"/>
            </a:xfrm>
            <a:custGeom>
              <a:avLst/>
              <a:gdLst/>
              <a:ahLst/>
              <a:cxnLst/>
              <a:rect l="l" t="t" r="r" b="b"/>
              <a:pathLst>
                <a:path w="10363200" h="780288">
                  <a:moveTo>
                    <a:pt x="0" y="0"/>
                  </a:moveTo>
                  <a:lnTo>
                    <a:pt x="10363200" y="0"/>
                  </a:lnTo>
                  <a:lnTo>
                    <a:pt x="10363200" y="780288"/>
                  </a:lnTo>
                  <a:lnTo>
                    <a:pt x="0" y="780288"/>
                  </a:lnTo>
                  <a:close/>
                </a:path>
              </a:pathLst>
            </a:custGeom>
            <a:blipFill>
              <a:blip r:embed="rId1">
                <a:alphaModFix amt="0"/>
              </a:blip>
              <a:stretch>
                <a:fillRect t="-208785" b="-208785"/>
              </a:stretch>
            </a:blipFill>
          </p:spPr>
        </p:sp>
        <p:sp>
          <p:nvSpPr>
            <p:cNvPr id="38" name="TextBox 38"/>
            <p:cNvSpPr txBox="1"/>
            <p:nvPr/>
          </p:nvSpPr>
          <p:spPr>
            <a:xfrm>
              <a:off x="0" y="-66675"/>
              <a:ext cx="10363200" cy="846963"/>
            </a:xfrm>
            <a:prstGeom prst="rect">
              <a:avLst/>
            </a:prstGeom>
          </p:spPr>
          <p:txBody>
            <a:bodyPr lIns="0" tIns="0" rIns="0" bIns="0" rtlCol="0" anchor="ctr"/>
            <a:lstStyle/>
            <a:p>
              <a:pPr algn="l">
                <a:lnSpc>
                  <a:spcPts val="3360"/>
                </a:lnSpc>
              </a:pP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Nội suy</a:t>
              </a:r>
              <a:endPar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39" name="Group 39"/>
          <p:cNvGrpSpPr/>
          <p:nvPr/>
        </p:nvGrpSpPr>
        <p:grpSpPr>
          <a:xfrm rot="0">
            <a:off x="11779882" y="2453002"/>
            <a:ext cx="5609587" cy="6706867"/>
            <a:chOff x="0" y="0"/>
            <a:chExt cx="7479449" cy="8942489"/>
          </a:xfrm>
        </p:grpSpPr>
        <p:sp>
          <p:nvSpPr>
            <p:cNvPr id="40" name="Freeform 40"/>
            <p:cNvSpPr/>
            <p:nvPr/>
          </p:nvSpPr>
          <p:spPr>
            <a:xfrm>
              <a:off x="0" y="0"/>
              <a:ext cx="7479538" cy="8942578"/>
            </a:xfrm>
            <a:custGeom>
              <a:avLst/>
              <a:gdLst/>
              <a:ahLst/>
              <a:cxnLst/>
              <a:rect l="l" t="t" r="r" b="b"/>
              <a:pathLst>
                <a:path w="7479538" h="8942578">
                  <a:moveTo>
                    <a:pt x="0" y="196215"/>
                  </a:moveTo>
                  <a:cubicBezTo>
                    <a:pt x="0" y="87884"/>
                    <a:pt x="87884" y="0"/>
                    <a:pt x="196215" y="0"/>
                  </a:cubicBezTo>
                  <a:lnTo>
                    <a:pt x="7283323" y="0"/>
                  </a:lnTo>
                  <a:cubicBezTo>
                    <a:pt x="7391654" y="0"/>
                    <a:pt x="7479538" y="87884"/>
                    <a:pt x="7479538" y="196215"/>
                  </a:cubicBezTo>
                  <a:lnTo>
                    <a:pt x="7479538" y="8746363"/>
                  </a:lnTo>
                  <a:cubicBezTo>
                    <a:pt x="7479538" y="8854694"/>
                    <a:pt x="7391654" y="8942578"/>
                    <a:pt x="7283323" y="8942578"/>
                  </a:cubicBezTo>
                  <a:lnTo>
                    <a:pt x="196215" y="8942578"/>
                  </a:lnTo>
                  <a:cubicBezTo>
                    <a:pt x="87884" y="8942451"/>
                    <a:pt x="0" y="8854694"/>
                    <a:pt x="0" y="8746363"/>
                  </a:cubicBezTo>
                  <a:close/>
                </a:path>
              </a:pathLst>
            </a:custGeom>
            <a:blipFill>
              <a:blip r:embed="rId2"/>
              <a:stretch>
                <a:fillRect t="-183" b="-183"/>
              </a:stretch>
            </a:blipFill>
            <a:ln w="31750" cap="sq">
              <a:solidFill>
                <a:srgbClr val="00897B"/>
              </a:solidFill>
              <a:prstDash val="dash"/>
              <a:miter/>
            </a:ln>
          </p:spPr>
        </p:sp>
      </p:grpSp>
      <p:sp>
        <p:nvSpPr>
          <p:cNvPr id="41" name="TextBox 41"/>
          <p:cNvSpPr txBox="1"/>
          <p:nvPr/>
        </p:nvSpPr>
        <p:spPr>
          <a:xfrm>
            <a:off x="914400" y="384048"/>
            <a:ext cx="13898880" cy="559689"/>
          </a:xfrm>
          <a:prstGeom prst="rect">
            <a:avLst/>
          </a:prstGeom>
        </p:spPr>
        <p:txBody>
          <a:bodyPr lIns="0" tIns="0" rIns="0" bIns="0" rtlCol="0" anchor="t">
            <a:spAutoFit/>
          </a:bodyPr>
          <a:lstStyle/>
          <a:p>
            <a:pPr algn="l">
              <a:lnSpc>
                <a:spcPts val="2640"/>
              </a:lnSpc>
            </a:pPr>
            <a:r>
              <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VẤN ĐỀ 3</a:t>
            </a:r>
            <a:endPar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2" name="TextBox 42"/>
          <p:cNvSpPr txBox="1"/>
          <p:nvPr/>
        </p:nvSpPr>
        <p:spPr>
          <a:xfrm>
            <a:off x="914400" y="2402205"/>
            <a:ext cx="10424160" cy="1163955"/>
          </a:xfrm>
          <a:prstGeom prst="rect">
            <a:avLst/>
          </a:prstGeom>
        </p:spPr>
        <p:txBody>
          <a:bodyPr lIns="0" tIns="0" rIns="0" bIns="0" rtlCol="0" anchor="t">
            <a:spAutoFit/>
          </a:bodyPr>
          <a:lstStyle/>
          <a:p>
            <a:pPr marL="675640" lvl="1" indent="-337820" algn="l">
              <a:lnSpc>
                <a:spcPts val="3360"/>
              </a:lnSpc>
              <a:buFont typeface="Times New Roman" panose="02020603050405020304"/>
              <a:buChar char="•"/>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Đối thủ thì </a:t>
            </a: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không đoán được</a:t>
            </a: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 Ảnh trạng thái thưa (10–20 lần/giây), không đều, có thể mất</a:t>
            </a:r>
            <a:endPar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3" name="TextBox 43"/>
          <p:cNvSpPr txBox="1"/>
          <p:nvPr/>
        </p:nvSpPr>
        <p:spPr>
          <a:xfrm>
            <a:off x="914400" y="6279261"/>
            <a:ext cx="10424160" cy="2956179"/>
          </a:xfrm>
          <a:prstGeom prst="rect">
            <a:avLst/>
          </a:prstGeom>
        </p:spPr>
        <p:txBody>
          <a:bodyPr lIns="0" tIns="0" rIns="0" bIns="0" rtlCol="0" anchor="t">
            <a:spAutoFit/>
          </a:bodyPr>
          <a:lstStyle/>
          <a:p>
            <a:pPr marL="675640" lvl="1" indent="-337820" algn="l">
              <a:lnSpc>
                <a:spcPts val="3360"/>
              </a:lnSpc>
              <a:buFont typeface="Times New Roman" panose="02020603050405020304"/>
              <a:buChar char="•"/>
            </a:pP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Vẽ đối thủ lùi lại</a:t>
            </a: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 một khoảng, nội suy giữa 2 ảnh trạng thái bao quanh</a:t>
            </a:r>
            <a:endPar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a:p>
            <a:pPr marL="675640" lvl="1" indent="-337820" algn="l">
              <a:lnSpc>
                <a:spcPts val="3360"/>
              </a:lnSpc>
              <a:buFont typeface="Times New Roman" panose="02020603050405020304"/>
              <a:buChar char="•"/>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Độ trễ nội suy ≥ </a:t>
            </a: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2 × chu kỳ gửi ảnh + dao động độ trễ</a:t>
            </a: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 (20 lần/giây thì ~100 ms)</a:t>
            </a:r>
            <a:endPar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a:p>
            <a:pPr marL="675640" lvl="1" indent="-337820" algn="l">
              <a:lnSpc>
                <a:spcPts val="3360"/>
              </a:lnSpc>
              <a:buFont typeface="Times New Roman" panose="02020603050405020304"/>
              <a:buChar char="•"/>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Đánh đổi: </a:t>
            </a: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mình ở hiện tại, đối thủ ở quá khứ</a:t>
            </a:r>
            <a:endPar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4" name="TextBox 44"/>
          <p:cNvSpPr txBox="1"/>
          <p:nvPr/>
        </p:nvSpPr>
        <p:spPr>
          <a:xfrm>
            <a:off x="16550640" y="9517380"/>
            <a:ext cx="731520" cy="495300"/>
          </a:xfrm>
          <a:prstGeom prst="rect">
            <a:avLst/>
          </a:prstGeom>
        </p:spPr>
        <p:txBody>
          <a:bodyPr lIns="0" tIns="0" rIns="0" bIns="0" rtlCol="0" anchor="t">
            <a:spAutoFit/>
          </a:bodyPr>
          <a:lstStyle/>
          <a:p>
            <a:pPr algn="r">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13</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Header band"/>
          <p:cNvSpPr/>
          <p:nvPr/>
        </p:nvSpPr>
        <p:spPr>
          <a:xfrm>
            <a:off x="0" y="0"/>
            <a:ext cx="18288000" cy="2103120"/>
          </a:xfrm>
          <a:prstGeom prst="rect">
            <a:avLst/>
          </a:prstGeom>
          <a:solidFill>
            <a:srgbClr val="14213D"/>
          </a:solidFill>
          <a:ln>
            <a:noFill/>
          </a:ln>
        </p:spPr>
      </p:sp>
      <p:sp>
        <p:nvSpPr>
          <p:cNvPr id="9001" name="Header rule"/>
          <p:cNvSpPr/>
          <p:nvPr/>
        </p:nvSpPr>
        <p:spPr>
          <a:xfrm>
            <a:off x="0" y="2103120"/>
            <a:ext cx="18288000" cy="64008"/>
          </a:xfrm>
          <a:prstGeom prst="rect">
            <a:avLst/>
          </a:prstGeom>
          <a:solidFill>
            <a:srgbClr val="00897B"/>
          </a:solidFill>
          <a:ln>
            <a:noFill/>
          </a:ln>
        </p:spPr>
      </p:sp>
      <p:grpSp>
        <p:nvGrpSpPr>
          <p:cNvPr id="2" name="Group 2"/>
          <p:cNvGrpSpPr/>
          <p:nvPr/>
        </p:nvGrpSpPr>
        <p:grpSpPr>
          <a:xfrm rot="0">
            <a:off x="914400" y="9509760"/>
            <a:ext cx="12801600" cy="548640"/>
            <a:chOff x="0" y="0"/>
            <a:chExt cx="17068800" cy="731520"/>
          </a:xfrm>
        </p:grpSpPr>
        <p:sp>
          <p:nvSpPr>
            <p:cNvPr id="3" name="Freeform 3"/>
            <p:cNvSpPr/>
            <p:nvPr/>
          </p:nvSpPr>
          <p:spPr>
            <a:xfrm>
              <a:off x="0" y="0"/>
              <a:ext cx="17068800" cy="731520"/>
            </a:xfrm>
            <a:custGeom>
              <a:avLst/>
              <a:gdLst/>
              <a:ahLst/>
              <a:cxnLst/>
              <a:rect l="l" t="t" r="r" b="b"/>
              <a:pathLst>
                <a:path w="17068800" h="731520">
                  <a:moveTo>
                    <a:pt x="0" y="0"/>
                  </a:moveTo>
                  <a:lnTo>
                    <a:pt x="17068800" y="0"/>
                  </a:lnTo>
                  <a:lnTo>
                    <a:pt x="17068800" y="731520"/>
                  </a:lnTo>
                  <a:lnTo>
                    <a:pt x="0" y="731520"/>
                  </a:lnTo>
                  <a:close/>
                </a:path>
              </a:pathLst>
            </a:custGeom>
            <a:blipFill>
              <a:blip r:embed="rId1">
                <a:alphaModFix amt="0"/>
              </a:blip>
              <a:stretch>
                <a:fillRect t="-404650" b="-404650"/>
              </a:stretch>
            </a:blipFill>
          </p:spPr>
        </p:sp>
        <p:sp>
          <p:nvSpPr>
            <p:cNvPr id="4" name="TextBox 4"/>
            <p:cNvSpPr txBox="1"/>
            <p:nvPr/>
          </p:nvSpPr>
          <p:spPr>
            <a:xfrm>
              <a:off x="0" y="-38100"/>
              <a:ext cx="17068800" cy="769620"/>
            </a:xfrm>
            <a:prstGeom prst="rect">
              <a:avLst/>
            </a:prstGeom>
          </p:spPr>
          <p:txBody>
            <a:bodyPr lIns="0" tIns="0" rIns="0" bIns="0" rtlCol="0" anchor="ctr"/>
            <a:lstStyle/>
            <a:p>
              <a:pPr algn="l">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T47 · Kỹ thuật mạng cho game thời gian thực · Lập trình mạng</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5" name="Group 5"/>
          <p:cNvGrpSpPr/>
          <p:nvPr/>
        </p:nvGrpSpPr>
        <p:grpSpPr>
          <a:xfrm rot="0">
            <a:off x="914400" y="768096"/>
            <a:ext cx="14081760" cy="1097280"/>
            <a:chOff x="0" y="0"/>
            <a:chExt cx="18775680" cy="1463040"/>
          </a:xfrm>
        </p:grpSpPr>
        <p:sp>
          <p:nvSpPr>
            <p:cNvPr id="6" name="Freeform 6"/>
            <p:cNvSpPr/>
            <p:nvPr/>
          </p:nvSpPr>
          <p:spPr>
            <a:xfrm>
              <a:off x="0" y="0"/>
              <a:ext cx="18775680" cy="1463040"/>
            </a:xfrm>
            <a:custGeom>
              <a:avLst/>
              <a:gdLst/>
              <a:ahLst/>
              <a:cxnLst/>
              <a:rect l="l" t="t" r="r" b="b"/>
              <a:pathLst>
                <a:path w="18775680" h="1463040">
                  <a:moveTo>
                    <a:pt x="0" y="0"/>
                  </a:moveTo>
                  <a:lnTo>
                    <a:pt x="18775680" y="0"/>
                  </a:lnTo>
                  <a:lnTo>
                    <a:pt x="18775680" y="1463040"/>
                  </a:lnTo>
                  <a:lnTo>
                    <a:pt x="0" y="1463040"/>
                  </a:lnTo>
                  <a:close/>
                </a:path>
              </a:pathLst>
            </a:custGeom>
            <a:blipFill>
              <a:blip r:embed="rId1">
                <a:alphaModFix amt="0"/>
              </a:blip>
              <a:stretch>
                <a:fillRect t="-200057" b="-200057"/>
              </a:stretch>
            </a:blipFill>
          </p:spPr>
        </p:sp>
        <p:sp>
          <p:nvSpPr>
            <p:cNvPr id="7" name="TextBox 7"/>
            <p:cNvSpPr txBox="1"/>
            <p:nvPr/>
          </p:nvSpPr>
          <p:spPr>
            <a:xfrm>
              <a:off x="0" y="-9525"/>
              <a:ext cx="18775680" cy="1472565"/>
            </a:xfrm>
            <a:prstGeom prst="rect">
              <a:avLst/>
            </a:prstGeom>
          </p:spPr>
          <p:txBody>
            <a:bodyPr lIns="0" tIns="0" rIns="0" bIns="0" rtlCol="0" anchor="ctr"/>
            <a:lstStyle/>
            <a:p>
              <a:pPr algn="l">
                <a:lnSpc>
                  <a:spcPts val="6900"/>
                </a:lnSpc>
              </a:pPr>
              <a:r>
                <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rPr>
                <a:t>Tương tác không công bằng → bù trễ</a:t>
              </a:r>
              <a:endPar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8" name="Group 8"/>
          <p:cNvGrpSpPr/>
          <p:nvPr/>
        </p:nvGrpSpPr>
        <p:grpSpPr>
          <a:xfrm rot="0">
            <a:off x="15257783" y="682247"/>
            <a:ext cx="2128523" cy="647195"/>
            <a:chOff x="0" y="0"/>
            <a:chExt cx="2838031" cy="862927"/>
          </a:xfrm>
        </p:grpSpPr>
        <p:sp>
          <p:nvSpPr>
            <p:cNvPr id="9" name="Freeform 9"/>
            <p:cNvSpPr/>
            <p:nvPr/>
          </p:nvSpPr>
          <p:spPr>
            <a:xfrm>
              <a:off x="0" y="0"/>
              <a:ext cx="2837942" cy="862838"/>
            </a:xfrm>
            <a:custGeom>
              <a:avLst/>
              <a:gdLst/>
              <a:ahLst/>
              <a:cxnLst/>
              <a:rect l="l" t="t" r="r" b="b"/>
              <a:pathLst>
                <a:path w="2837942" h="862838">
                  <a:moveTo>
                    <a:pt x="0" y="431419"/>
                  </a:moveTo>
                  <a:cubicBezTo>
                    <a:pt x="0" y="193167"/>
                    <a:pt x="193167" y="0"/>
                    <a:pt x="431419" y="0"/>
                  </a:cubicBezTo>
                  <a:lnTo>
                    <a:pt x="2406523" y="0"/>
                  </a:lnTo>
                  <a:cubicBezTo>
                    <a:pt x="2644775" y="0"/>
                    <a:pt x="2837942" y="193167"/>
                    <a:pt x="2837942" y="431419"/>
                  </a:cubicBezTo>
                  <a:cubicBezTo>
                    <a:pt x="2837942" y="669671"/>
                    <a:pt x="2644775" y="862838"/>
                    <a:pt x="2406523" y="862838"/>
                  </a:cubicBezTo>
                  <a:lnTo>
                    <a:pt x="431419" y="862838"/>
                  </a:lnTo>
                  <a:cubicBezTo>
                    <a:pt x="193167" y="862965"/>
                    <a:pt x="0" y="669798"/>
                    <a:pt x="0" y="431419"/>
                  </a:cubicBezTo>
                  <a:close/>
                </a:path>
              </a:pathLst>
            </a:custGeom>
            <a:solidFill>
              <a:srgbClr val="F4A259"/>
            </a:solidFill>
            <a:ln w="25400" cap="sq">
              <a:solidFill>
                <a:srgbClr val="F4A259"/>
              </a:solidFill>
              <a:prstDash val="solid"/>
              <a:miter/>
            </a:ln>
          </p:spPr>
        </p:sp>
      </p:grpSp>
      <p:grpSp>
        <p:nvGrpSpPr>
          <p:cNvPr id="10" name="Group 10"/>
          <p:cNvGrpSpPr/>
          <p:nvPr/>
        </p:nvGrpSpPr>
        <p:grpSpPr>
          <a:xfrm rot="0">
            <a:off x="15270480" y="694944"/>
            <a:ext cx="2103120" cy="621792"/>
            <a:chOff x="0" y="0"/>
            <a:chExt cx="2804160" cy="829056"/>
          </a:xfrm>
        </p:grpSpPr>
        <p:sp>
          <p:nvSpPr>
            <p:cNvPr id="11" name="Freeform 11"/>
            <p:cNvSpPr/>
            <p:nvPr/>
          </p:nvSpPr>
          <p:spPr>
            <a:xfrm>
              <a:off x="0" y="0"/>
              <a:ext cx="2804160" cy="829056"/>
            </a:xfrm>
            <a:custGeom>
              <a:avLst/>
              <a:gdLst/>
              <a:ahLst/>
              <a:cxnLst/>
              <a:rect l="l" t="t" r="r" b="b"/>
              <a:pathLst>
                <a:path w="2804160" h="829056">
                  <a:moveTo>
                    <a:pt x="0" y="0"/>
                  </a:moveTo>
                  <a:lnTo>
                    <a:pt x="2804160" y="0"/>
                  </a:lnTo>
                  <a:lnTo>
                    <a:pt x="2804160" y="829056"/>
                  </a:lnTo>
                  <a:lnTo>
                    <a:pt x="0" y="829056"/>
                  </a:lnTo>
                  <a:close/>
                </a:path>
              </a:pathLst>
            </a:custGeom>
            <a:blipFill>
              <a:blip r:embed="rId1">
                <a:alphaModFix amt="0"/>
              </a:blip>
              <a:stretch>
                <a:fillRect t="-15905" b="-15905"/>
              </a:stretch>
            </a:blipFill>
          </p:spPr>
        </p:sp>
        <p:sp>
          <p:nvSpPr>
            <p:cNvPr id="12" name="TextBox 12"/>
            <p:cNvSpPr txBox="1"/>
            <p:nvPr/>
          </p:nvSpPr>
          <p:spPr>
            <a:xfrm>
              <a:off x="0" y="-47625"/>
              <a:ext cx="2804160" cy="876681"/>
            </a:xfrm>
            <a:prstGeom prst="rect">
              <a:avLst/>
            </a:prstGeom>
          </p:spPr>
          <p:txBody>
            <a:bodyPr lIns="0" tIns="0" rIns="0" bIns="0" rtlCol="0" anchor="ctr"/>
            <a:lstStyle/>
            <a:p>
              <a:pPr algn="ctr">
                <a:lnSpc>
                  <a:spcPts val="2640"/>
                </a:lnSpc>
              </a:pPr>
              <a:r>
                <a:rPr lang="en-US" sz="2200" b="1">
                  <a:solidFill>
                    <a:srgbClr val="14213D"/>
                  </a:solidFill>
                  <a:latin typeface="Times New Roman" panose="02020603050405020304"/>
                  <a:ea typeface="Times New Roman" panose="02020603050405020304"/>
                  <a:cs typeface="Times New Roman" panose="02020603050405020304"/>
                  <a:sym typeface="Times New Roman" panose="02020603050405020304"/>
                </a:rPr>
                <a:t>#3</a:t>
              </a:r>
              <a:endParaRPr lang="en-US" sz="2200" b="1">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3" name="Group 13"/>
          <p:cNvGrpSpPr/>
          <p:nvPr/>
        </p:nvGrpSpPr>
        <p:grpSpPr>
          <a:xfrm rot="0">
            <a:off x="914400" y="4572000"/>
            <a:ext cx="10424160" cy="402336"/>
            <a:chOff x="0" y="0"/>
            <a:chExt cx="13898880" cy="536448"/>
          </a:xfrm>
        </p:grpSpPr>
        <p:sp>
          <p:nvSpPr>
            <p:cNvPr id="14" name="Freeform 14"/>
            <p:cNvSpPr/>
            <p:nvPr/>
          </p:nvSpPr>
          <p:spPr>
            <a:xfrm>
              <a:off x="0" y="0"/>
              <a:ext cx="13898880" cy="536448"/>
            </a:xfrm>
            <a:custGeom>
              <a:avLst/>
              <a:gdLst/>
              <a:ahLst/>
              <a:cxnLst/>
              <a:rect l="l" t="t" r="r" b="b"/>
              <a:pathLst>
                <a:path w="13898880" h="536448">
                  <a:moveTo>
                    <a:pt x="0" y="0"/>
                  </a:moveTo>
                  <a:lnTo>
                    <a:pt x="13898880" y="0"/>
                  </a:lnTo>
                  <a:lnTo>
                    <a:pt x="13898880" y="536448"/>
                  </a:lnTo>
                  <a:lnTo>
                    <a:pt x="0" y="536448"/>
                  </a:lnTo>
                  <a:close/>
                </a:path>
              </a:pathLst>
            </a:custGeom>
            <a:blipFill>
              <a:blip r:embed="rId1">
                <a:alphaModFix amt="0"/>
              </a:blip>
              <a:stretch>
                <a:fillRect t="-454839" b="-454839"/>
              </a:stretch>
            </a:blipFill>
          </p:spPr>
        </p:sp>
        <p:sp>
          <p:nvSpPr>
            <p:cNvPr id="15" name="TextBox 15"/>
            <p:cNvSpPr txBox="1"/>
            <p:nvPr/>
          </p:nvSpPr>
          <p:spPr>
            <a:xfrm>
              <a:off x="0" y="-38100"/>
              <a:ext cx="13898880" cy="574548"/>
            </a:xfrm>
            <a:prstGeom prst="rect">
              <a:avLst/>
            </a:prstGeom>
          </p:spPr>
          <p:txBody>
            <a:bodyPr lIns="0" tIns="0" rIns="0" bIns="0" rtlCol="0" anchor="ctr"/>
            <a:lstStyle/>
            <a:p>
              <a:pPr algn="l">
                <a:lnSpc>
                  <a:spcPts val="2400"/>
                </a:lnSpc>
              </a:pPr>
              <a:r>
                <a:rPr lang="en-US" sz="2000" b="1" spc="300">
                  <a:solidFill>
                    <a:srgbClr val="5B6B82"/>
                  </a:solidFill>
                  <a:latin typeface="Times New Roman" panose="02020603050405020304"/>
                  <a:ea typeface="Times New Roman" panose="02020603050405020304"/>
                  <a:cs typeface="Times New Roman" panose="02020603050405020304"/>
                  <a:sym typeface="Times New Roman" panose="02020603050405020304"/>
                </a:rPr>
                <a:t>CÁC HƯỚNG</a:t>
              </a:r>
              <a:endParaRPr lang="en-US" sz="2000" b="1" spc="3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6" name="Group 16"/>
          <p:cNvGrpSpPr/>
          <p:nvPr/>
        </p:nvGrpSpPr>
        <p:grpSpPr>
          <a:xfrm rot="0">
            <a:off x="1097280" y="5065776"/>
            <a:ext cx="548640" cy="585216"/>
            <a:chOff x="0" y="0"/>
            <a:chExt cx="731520" cy="780288"/>
          </a:xfrm>
        </p:grpSpPr>
        <p:sp>
          <p:nvSpPr>
            <p:cNvPr id="17" name="Freeform 17"/>
            <p:cNvSpPr/>
            <p:nvPr/>
          </p:nvSpPr>
          <p:spPr>
            <a:xfrm>
              <a:off x="0" y="0"/>
              <a:ext cx="731520" cy="780288"/>
            </a:xfrm>
            <a:custGeom>
              <a:avLst/>
              <a:gdLst/>
              <a:ahLst/>
              <a:cxnLst/>
              <a:rect l="l" t="t" r="r" b="b"/>
              <a:pathLst>
                <a:path w="731520" h="780288">
                  <a:moveTo>
                    <a:pt x="0" y="0"/>
                  </a:moveTo>
                  <a:lnTo>
                    <a:pt x="731520" y="0"/>
                  </a:lnTo>
                  <a:lnTo>
                    <a:pt x="731520" y="780288"/>
                  </a:lnTo>
                  <a:lnTo>
                    <a:pt x="0" y="780288"/>
                  </a:lnTo>
                  <a:close/>
                </a:path>
              </a:pathLst>
            </a:custGeom>
            <a:blipFill>
              <a:blip r:embed="rId1">
                <a:alphaModFix amt="0"/>
              </a:blip>
              <a:stretch>
                <a:fillRect l="-86857" r="-86857"/>
              </a:stretch>
            </a:blipFill>
          </p:spPr>
        </p:sp>
        <p:sp>
          <p:nvSpPr>
            <p:cNvPr id="18" name="TextBox 18"/>
            <p:cNvSpPr txBox="1"/>
            <p:nvPr/>
          </p:nvSpPr>
          <p:spPr>
            <a:xfrm>
              <a:off x="0" y="-66675"/>
              <a:ext cx="731520" cy="846963"/>
            </a:xfrm>
            <a:prstGeom prst="rect">
              <a:avLst/>
            </a:prstGeom>
          </p:spPr>
          <p:txBody>
            <a:bodyPr lIns="0" tIns="0" rIns="0" bIns="0" rtlCol="0" anchor="ctr"/>
            <a:lstStyle/>
            <a:p>
              <a:pPr algn="ctr">
                <a:lnSpc>
                  <a:spcPts val="3600"/>
                </a:lnSpc>
              </a:pPr>
              <a:r>
                <a:rPr lang="en-US" sz="3000">
                  <a:solidFill>
                    <a:srgbClr val="5B6B82"/>
                  </a:solidFill>
                  <a:latin typeface="Times New Roman" panose="02020603050405020304"/>
                  <a:ea typeface="Times New Roman" panose="02020603050405020304"/>
                  <a:cs typeface="Times New Roman" panose="02020603050405020304"/>
                  <a:sym typeface="Times New Roman" panose="02020603050405020304"/>
                </a:rPr>
                <a:t>○</a:t>
              </a:r>
              <a:endParaRPr lang="en-US" sz="3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9" name="Group 19"/>
          <p:cNvGrpSpPr/>
          <p:nvPr/>
        </p:nvGrpSpPr>
        <p:grpSpPr>
          <a:xfrm rot="0">
            <a:off x="1737360" y="5065776"/>
            <a:ext cx="7772400" cy="585216"/>
            <a:chOff x="0" y="0"/>
            <a:chExt cx="10363200" cy="780288"/>
          </a:xfrm>
        </p:grpSpPr>
        <p:sp>
          <p:nvSpPr>
            <p:cNvPr id="20" name="Freeform 20"/>
            <p:cNvSpPr/>
            <p:nvPr/>
          </p:nvSpPr>
          <p:spPr>
            <a:xfrm>
              <a:off x="0" y="0"/>
              <a:ext cx="10363200" cy="780288"/>
            </a:xfrm>
            <a:custGeom>
              <a:avLst/>
              <a:gdLst/>
              <a:ahLst/>
              <a:cxnLst/>
              <a:rect l="l" t="t" r="r" b="b"/>
              <a:pathLst>
                <a:path w="10363200" h="780288">
                  <a:moveTo>
                    <a:pt x="0" y="0"/>
                  </a:moveTo>
                  <a:lnTo>
                    <a:pt x="10363200" y="0"/>
                  </a:lnTo>
                  <a:lnTo>
                    <a:pt x="10363200" y="780288"/>
                  </a:lnTo>
                  <a:lnTo>
                    <a:pt x="0" y="780288"/>
                  </a:lnTo>
                  <a:close/>
                </a:path>
              </a:pathLst>
            </a:custGeom>
            <a:blipFill>
              <a:blip r:embed="rId1">
                <a:alphaModFix amt="0"/>
              </a:blip>
              <a:stretch>
                <a:fillRect t="-208785" b="-208785"/>
              </a:stretch>
            </a:blipFill>
          </p:spPr>
        </p:sp>
        <p:sp>
          <p:nvSpPr>
            <p:cNvPr id="21" name="TextBox 21"/>
            <p:cNvSpPr txBox="1"/>
            <p:nvPr/>
          </p:nvSpPr>
          <p:spPr>
            <a:xfrm>
              <a:off x="0" y="-66675"/>
              <a:ext cx="10363200" cy="846963"/>
            </a:xfrm>
            <a:prstGeom prst="rect">
              <a:avLst/>
            </a:prstGeom>
          </p:spPr>
          <p:txBody>
            <a:bodyPr lIns="0" tIns="0" rIns="0" bIns="0" rtlCol="0" anchor="ctr"/>
            <a:lstStyle/>
            <a:p>
              <a:pPr algn="l">
                <a:lnSpc>
                  <a:spcPts val="3360"/>
                </a:lnSpc>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Thứ tự gói đến</a:t>
              </a:r>
              <a:endPar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2" name="Group 22"/>
          <p:cNvGrpSpPr/>
          <p:nvPr/>
        </p:nvGrpSpPr>
        <p:grpSpPr>
          <a:xfrm rot="0">
            <a:off x="1097280" y="5724144"/>
            <a:ext cx="548640" cy="585216"/>
            <a:chOff x="0" y="0"/>
            <a:chExt cx="731520" cy="780288"/>
          </a:xfrm>
        </p:grpSpPr>
        <p:sp>
          <p:nvSpPr>
            <p:cNvPr id="23" name="Freeform 23"/>
            <p:cNvSpPr/>
            <p:nvPr/>
          </p:nvSpPr>
          <p:spPr>
            <a:xfrm>
              <a:off x="0" y="0"/>
              <a:ext cx="731520" cy="780288"/>
            </a:xfrm>
            <a:custGeom>
              <a:avLst/>
              <a:gdLst/>
              <a:ahLst/>
              <a:cxnLst/>
              <a:rect l="l" t="t" r="r" b="b"/>
              <a:pathLst>
                <a:path w="731520" h="780288">
                  <a:moveTo>
                    <a:pt x="0" y="0"/>
                  </a:moveTo>
                  <a:lnTo>
                    <a:pt x="731520" y="0"/>
                  </a:lnTo>
                  <a:lnTo>
                    <a:pt x="731520" y="780288"/>
                  </a:lnTo>
                  <a:lnTo>
                    <a:pt x="0" y="780288"/>
                  </a:lnTo>
                  <a:close/>
                </a:path>
              </a:pathLst>
            </a:custGeom>
            <a:blipFill>
              <a:blip r:embed="rId1">
                <a:alphaModFix amt="0"/>
              </a:blip>
              <a:stretch>
                <a:fillRect l="-86857" r="-86857"/>
              </a:stretch>
            </a:blipFill>
          </p:spPr>
        </p:sp>
        <p:sp>
          <p:nvSpPr>
            <p:cNvPr id="24" name="TextBox 24"/>
            <p:cNvSpPr txBox="1"/>
            <p:nvPr/>
          </p:nvSpPr>
          <p:spPr>
            <a:xfrm>
              <a:off x="0" y="-66675"/>
              <a:ext cx="731520" cy="846963"/>
            </a:xfrm>
            <a:prstGeom prst="rect">
              <a:avLst/>
            </a:prstGeom>
          </p:spPr>
          <p:txBody>
            <a:bodyPr lIns="0" tIns="0" rIns="0" bIns="0" rtlCol="0" anchor="ctr"/>
            <a:lstStyle/>
            <a:p>
              <a:pPr algn="ctr">
                <a:lnSpc>
                  <a:spcPts val="3600"/>
                </a:lnSpc>
              </a:pPr>
              <a:r>
                <a:rPr lang="en-US" sz="3000">
                  <a:solidFill>
                    <a:srgbClr val="5B6B82"/>
                  </a:solidFill>
                  <a:latin typeface="Times New Roman" panose="02020603050405020304"/>
                  <a:ea typeface="Times New Roman" panose="02020603050405020304"/>
                  <a:cs typeface="Times New Roman" panose="02020603050405020304"/>
                  <a:sym typeface="Times New Roman" panose="02020603050405020304"/>
                </a:rPr>
                <a:t>○</a:t>
              </a:r>
              <a:endParaRPr lang="en-US" sz="3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5" name="Group 25"/>
          <p:cNvGrpSpPr/>
          <p:nvPr/>
        </p:nvGrpSpPr>
        <p:grpSpPr>
          <a:xfrm rot="0">
            <a:off x="1737360" y="5724144"/>
            <a:ext cx="7772400" cy="585216"/>
            <a:chOff x="0" y="0"/>
            <a:chExt cx="10363200" cy="780288"/>
          </a:xfrm>
        </p:grpSpPr>
        <p:sp>
          <p:nvSpPr>
            <p:cNvPr id="26" name="Freeform 26"/>
            <p:cNvSpPr/>
            <p:nvPr/>
          </p:nvSpPr>
          <p:spPr>
            <a:xfrm>
              <a:off x="0" y="0"/>
              <a:ext cx="10363200" cy="780288"/>
            </a:xfrm>
            <a:custGeom>
              <a:avLst/>
              <a:gdLst/>
              <a:ahLst/>
              <a:cxnLst/>
              <a:rect l="l" t="t" r="r" b="b"/>
              <a:pathLst>
                <a:path w="10363200" h="780288">
                  <a:moveTo>
                    <a:pt x="0" y="0"/>
                  </a:moveTo>
                  <a:lnTo>
                    <a:pt x="10363200" y="0"/>
                  </a:lnTo>
                  <a:lnTo>
                    <a:pt x="10363200" y="780288"/>
                  </a:lnTo>
                  <a:lnTo>
                    <a:pt x="0" y="780288"/>
                  </a:lnTo>
                  <a:close/>
                </a:path>
              </a:pathLst>
            </a:custGeom>
            <a:blipFill>
              <a:blip r:embed="rId1">
                <a:alphaModFix amt="0"/>
              </a:blip>
              <a:stretch>
                <a:fillRect t="-208785" b="-208785"/>
              </a:stretch>
            </a:blipFill>
          </p:spPr>
        </p:sp>
        <p:sp>
          <p:nvSpPr>
            <p:cNvPr id="27" name="TextBox 27"/>
            <p:cNvSpPr txBox="1"/>
            <p:nvPr/>
          </p:nvSpPr>
          <p:spPr>
            <a:xfrm>
              <a:off x="0" y="-66675"/>
              <a:ext cx="10363200" cy="846963"/>
            </a:xfrm>
            <a:prstGeom prst="rect">
              <a:avLst/>
            </a:prstGeom>
          </p:spPr>
          <p:txBody>
            <a:bodyPr lIns="0" tIns="0" rIns="0" bIns="0" rtlCol="0" anchor="ctr"/>
            <a:lstStyle/>
            <a:p>
              <a:pPr algn="l">
                <a:lnSpc>
                  <a:spcPts val="3360"/>
                </a:lnSpc>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Client tự quyết (gian lận)</a:t>
              </a:r>
              <a:endPar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8" name="Group 28"/>
          <p:cNvGrpSpPr/>
          <p:nvPr/>
        </p:nvGrpSpPr>
        <p:grpSpPr>
          <a:xfrm rot="0">
            <a:off x="901703" y="6369815"/>
            <a:ext cx="10449563" cy="610619"/>
            <a:chOff x="0" y="0"/>
            <a:chExt cx="13932751" cy="814159"/>
          </a:xfrm>
        </p:grpSpPr>
        <p:sp>
          <p:nvSpPr>
            <p:cNvPr id="29" name="Freeform 29"/>
            <p:cNvSpPr/>
            <p:nvPr/>
          </p:nvSpPr>
          <p:spPr>
            <a:xfrm>
              <a:off x="0" y="0"/>
              <a:ext cx="13932790" cy="814197"/>
            </a:xfrm>
            <a:custGeom>
              <a:avLst/>
              <a:gdLst/>
              <a:ahLst/>
              <a:cxnLst/>
              <a:rect l="l" t="t" r="r" b="b"/>
              <a:pathLst>
                <a:path w="13932790" h="814197">
                  <a:moveTo>
                    <a:pt x="0" y="203581"/>
                  </a:moveTo>
                  <a:cubicBezTo>
                    <a:pt x="0" y="91186"/>
                    <a:pt x="91186" y="0"/>
                    <a:pt x="203581" y="0"/>
                  </a:cubicBezTo>
                  <a:lnTo>
                    <a:pt x="13729208" y="0"/>
                  </a:lnTo>
                  <a:cubicBezTo>
                    <a:pt x="13841603" y="0"/>
                    <a:pt x="13932790" y="91186"/>
                    <a:pt x="13932790" y="203581"/>
                  </a:cubicBezTo>
                  <a:lnTo>
                    <a:pt x="13932790" y="610616"/>
                  </a:lnTo>
                  <a:cubicBezTo>
                    <a:pt x="13932790" y="723011"/>
                    <a:pt x="13841603" y="814197"/>
                    <a:pt x="13729208" y="814197"/>
                  </a:cubicBezTo>
                  <a:lnTo>
                    <a:pt x="203581" y="814197"/>
                  </a:lnTo>
                  <a:cubicBezTo>
                    <a:pt x="91186" y="814197"/>
                    <a:pt x="0" y="723011"/>
                    <a:pt x="0" y="610616"/>
                  </a:cubicBezTo>
                  <a:close/>
                </a:path>
              </a:pathLst>
            </a:custGeom>
            <a:solidFill>
              <a:srgbClr val="BFE8E3"/>
            </a:solidFill>
            <a:ln w="25400" cap="sq">
              <a:solidFill>
                <a:srgbClr val="BFE8E3"/>
              </a:solidFill>
              <a:prstDash val="solid"/>
              <a:miter/>
            </a:ln>
          </p:spPr>
        </p:sp>
      </p:grpSp>
      <p:grpSp>
        <p:nvGrpSpPr>
          <p:cNvPr id="30" name="Group 30"/>
          <p:cNvGrpSpPr/>
          <p:nvPr/>
        </p:nvGrpSpPr>
        <p:grpSpPr>
          <a:xfrm rot="0">
            <a:off x="9601200" y="6382512"/>
            <a:ext cx="1554480" cy="585216"/>
            <a:chOff x="0" y="0"/>
            <a:chExt cx="2072640" cy="780288"/>
          </a:xfrm>
        </p:grpSpPr>
        <p:sp>
          <p:nvSpPr>
            <p:cNvPr id="31" name="Freeform 31"/>
            <p:cNvSpPr/>
            <p:nvPr/>
          </p:nvSpPr>
          <p:spPr>
            <a:xfrm>
              <a:off x="0" y="0"/>
              <a:ext cx="2072640" cy="780288"/>
            </a:xfrm>
            <a:custGeom>
              <a:avLst/>
              <a:gdLst/>
              <a:ahLst/>
              <a:cxnLst/>
              <a:rect l="l" t="t" r="r" b="b"/>
              <a:pathLst>
                <a:path w="2072640" h="780288">
                  <a:moveTo>
                    <a:pt x="0" y="0"/>
                  </a:moveTo>
                  <a:lnTo>
                    <a:pt x="2072640" y="0"/>
                  </a:lnTo>
                  <a:lnTo>
                    <a:pt x="2072640" y="780288"/>
                  </a:lnTo>
                  <a:lnTo>
                    <a:pt x="0" y="780288"/>
                  </a:lnTo>
                  <a:close/>
                </a:path>
              </a:pathLst>
            </a:custGeom>
            <a:blipFill>
              <a:blip r:embed="rId1">
                <a:alphaModFix amt="0"/>
              </a:blip>
              <a:stretch>
                <a:fillRect t="-1757" b="-1757"/>
              </a:stretch>
            </a:blipFill>
          </p:spPr>
        </p:sp>
        <p:sp>
          <p:nvSpPr>
            <p:cNvPr id="32" name="TextBox 32"/>
            <p:cNvSpPr txBox="1"/>
            <p:nvPr/>
          </p:nvSpPr>
          <p:spPr>
            <a:xfrm>
              <a:off x="0" y="-38100"/>
              <a:ext cx="2072640" cy="818388"/>
            </a:xfrm>
            <a:prstGeom prst="rect">
              <a:avLst/>
            </a:prstGeom>
          </p:spPr>
          <p:txBody>
            <a:bodyPr lIns="0" tIns="0" rIns="0" bIns="0" rtlCol="0" anchor="ctr"/>
            <a:lstStyle/>
            <a:p>
              <a:pPr algn="r">
                <a:lnSpc>
                  <a:spcPts val="2400"/>
                </a:lnSpc>
              </a:pPr>
              <a:r>
                <a:rPr lang="en-US" sz="2000" b="1">
                  <a:solidFill>
                    <a:srgbClr val="00897B"/>
                  </a:solidFill>
                  <a:latin typeface="Times New Roman" panose="02020603050405020304"/>
                  <a:ea typeface="Times New Roman" panose="02020603050405020304"/>
                  <a:cs typeface="Times New Roman" panose="02020603050405020304"/>
                  <a:sym typeface="Times New Roman" panose="02020603050405020304"/>
                </a:rPr>
                <a:t>ĐÃ CHỌN</a:t>
              </a:r>
              <a:endParaRPr lang="en-US" sz="2000" b="1">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33" name="Group 33"/>
          <p:cNvGrpSpPr/>
          <p:nvPr/>
        </p:nvGrpSpPr>
        <p:grpSpPr>
          <a:xfrm rot="0">
            <a:off x="1097280" y="6382512"/>
            <a:ext cx="548640" cy="585216"/>
            <a:chOff x="0" y="0"/>
            <a:chExt cx="731520" cy="780288"/>
          </a:xfrm>
        </p:grpSpPr>
        <p:sp>
          <p:nvSpPr>
            <p:cNvPr id="34" name="Freeform 34"/>
            <p:cNvSpPr/>
            <p:nvPr/>
          </p:nvSpPr>
          <p:spPr>
            <a:xfrm>
              <a:off x="0" y="0"/>
              <a:ext cx="731520" cy="780288"/>
            </a:xfrm>
            <a:custGeom>
              <a:avLst/>
              <a:gdLst/>
              <a:ahLst/>
              <a:cxnLst/>
              <a:rect l="l" t="t" r="r" b="b"/>
              <a:pathLst>
                <a:path w="731520" h="780288">
                  <a:moveTo>
                    <a:pt x="0" y="0"/>
                  </a:moveTo>
                  <a:lnTo>
                    <a:pt x="731520" y="0"/>
                  </a:lnTo>
                  <a:lnTo>
                    <a:pt x="731520" y="780288"/>
                  </a:lnTo>
                  <a:lnTo>
                    <a:pt x="0" y="780288"/>
                  </a:lnTo>
                  <a:close/>
                </a:path>
              </a:pathLst>
            </a:custGeom>
            <a:blipFill>
              <a:blip r:embed="rId1">
                <a:alphaModFix amt="0"/>
              </a:blip>
              <a:stretch>
                <a:fillRect l="-86857" r="-86857"/>
              </a:stretch>
            </a:blipFill>
          </p:spPr>
        </p:sp>
        <p:sp>
          <p:nvSpPr>
            <p:cNvPr id="35" name="TextBox 35"/>
            <p:cNvSpPr txBox="1"/>
            <p:nvPr/>
          </p:nvSpPr>
          <p:spPr>
            <a:xfrm>
              <a:off x="0" y="-66675"/>
              <a:ext cx="731520" cy="846963"/>
            </a:xfrm>
            <a:prstGeom prst="rect">
              <a:avLst/>
            </a:prstGeom>
          </p:spPr>
          <p:txBody>
            <a:bodyPr lIns="0" tIns="0" rIns="0" bIns="0" rtlCol="0" anchor="ctr"/>
            <a:lstStyle/>
            <a:p>
              <a:pPr algn="ctr">
                <a:lnSpc>
                  <a:spcPts val="3600"/>
                </a:lnSpc>
              </a:pPr>
              <a:r>
                <a:rPr lang="en-US" sz="3000">
                  <a:solidFill>
                    <a:srgbClr val="00897B"/>
                  </a:solidFill>
                  <a:latin typeface="Times New Roman" panose="02020603050405020304"/>
                  <a:ea typeface="Times New Roman" panose="02020603050405020304"/>
                  <a:cs typeface="Times New Roman" panose="02020603050405020304"/>
                  <a:sym typeface="Times New Roman" panose="02020603050405020304"/>
                </a:rPr>
                <a:t>●</a:t>
              </a:r>
              <a:endParaRPr lang="en-US" sz="3000">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36" name="Group 36"/>
          <p:cNvGrpSpPr/>
          <p:nvPr/>
        </p:nvGrpSpPr>
        <p:grpSpPr>
          <a:xfrm rot="0">
            <a:off x="1737360" y="6382512"/>
            <a:ext cx="7772400" cy="585216"/>
            <a:chOff x="0" y="0"/>
            <a:chExt cx="10363200" cy="780288"/>
          </a:xfrm>
        </p:grpSpPr>
        <p:sp>
          <p:nvSpPr>
            <p:cNvPr id="37" name="Freeform 37"/>
            <p:cNvSpPr/>
            <p:nvPr/>
          </p:nvSpPr>
          <p:spPr>
            <a:xfrm>
              <a:off x="0" y="0"/>
              <a:ext cx="10363200" cy="780288"/>
            </a:xfrm>
            <a:custGeom>
              <a:avLst/>
              <a:gdLst/>
              <a:ahLst/>
              <a:cxnLst/>
              <a:rect l="l" t="t" r="r" b="b"/>
              <a:pathLst>
                <a:path w="10363200" h="780288">
                  <a:moveTo>
                    <a:pt x="0" y="0"/>
                  </a:moveTo>
                  <a:lnTo>
                    <a:pt x="10363200" y="0"/>
                  </a:lnTo>
                  <a:lnTo>
                    <a:pt x="10363200" y="780288"/>
                  </a:lnTo>
                  <a:lnTo>
                    <a:pt x="0" y="780288"/>
                  </a:lnTo>
                  <a:close/>
                </a:path>
              </a:pathLst>
            </a:custGeom>
            <a:blipFill>
              <a:blip r:embed="rId1">
                <a:alphaModFix amt="0"/>
              </a:blip>
              <a:stretch>
                <a:fillRect t="-208785" b="-208785"/>
              </a:stretch>
            </a:blipFill>
          </p:spPr>
        </p:sp>
        <p:sp>
          <p:nvSpPr>
            <p:cNvPr id="38" name="TextBox 38"/>
            <p:cNvSpPr txBox="1"/>
            <p:nvPr/>
          </p:nvSpPr>
          <p:spPr>
            <a:xfrm>
              <a:off x="0" y="-66675"/>
              <a:ext cx="10363200" cy="846963"/>
            </a:xfrm>
            <a:prstGeom prst="rect">
              <a:avLst/>
            </a:prstGeom>
          </p:spPr>
          <p:txBody>
            <a:bodyPr lIns="0" tIns="0" rIns="0" bIns="0" rtlCol="0" anchor="ctr"/>
            <a:lstStyle/>
            <a:p>
              <a:pPr algn="l">
                <a:lnSpc>
                  <a:spcPts val="3360"/>
                </a:lnSpc>
              </a:pP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Bù trễ</a:t>
              </a:r>
              <a:endPar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39" name="Group 39"/>
          <p:cNvGrpSpPr/>
          <p:nvPr/>
        </p:nvGrpSpPr>
        <p:grpSpPr>
          <a:xfrm rot="0">
            <a:off x="11642376" y="2395728"/>
            <a:ext cx="5747093" cy="6839712"/>
            <a:chOff x="0" y="0"/>
            <a:chExt cx="8677491" cy="10327228"/>
          </a:xfrm>
        </p:grpSpPr>
        <p:sp>
          <p:nvSpPr>
            <p:cNvPr id="40" name="Freeform 40"/>
            <p:cNvSpPr/>
            <p:nvPr/>
          </p:nvSpPr>
          <p:spPr>
            <a:xfrm>
              <a:off x="0" y="0"/>
              <a:ext cx="8677580" cy="10327318"/>
            </a:xfrm>
            <a:custGeom>
              <a:avLst/>
              <a:gdLst/>
              <a:ahLst/>
              <a:cxnLst/>
              <a:rect l="l" t="t" r="r" b="b"/>
              <a:pathLst>
                <a:path w="8677580" h="10327318">
                  <a:moveTo>
                    <a:pt x="0" y="226599"/>
                  </a:moveTo>
                  <a:cubicBezTo>
                    <a:pt x="0" y="101493"/>
                    <a:pt x="101961" y="0"/>
                    <a:pt x="227644" y="0"/>
                  </a:cubicBezTo>
                  <a:lnTo>
                    <a:pt x="8449949" y="0"/>
                  </a:lnTo>
                  <a:cubicBezTo>
                    <a:pt x="8575633" y="0"/>
                    <a:pt x="8677580" y="101493"/>
                    <a:pt x="8677580" y="226599"/>
                  </a:cubicBezTo>
                  <a:lnTo>
                    <a:pt x="8677580" y="10100732"/>
                  </a:lnTo>
                  <a:cubicBezTo>
                    <a:pt x="8677580" y="10225839"/>
                    <a:pt x="8575633" y="10327318"/>
                    <a:pt x="8449949" y="10327318"/>
                  </a:cubicBezTo>
                  <a:lnTo>
                    <a:pt x="227644" y="10327318"/>
                  </a:lnTo>
                  <a:cubicBezTo>
                    <a:pt x="101961" y="10327184"/>
                    <a:pt x="0" y="10225838"/>
                    <a:pt x="0" y="10100732"/>
                  </a:cubicBezTo>
                  <a:close/>
                </a:path>
              </a:pathLst>
            </a:custGeom>
            <a:blipFill>
              <a:blip r:embed="rId2"/>
              <a:stretch>
                <a:fillRect t="-415" b="-415"/>
              </a:stretch>
            </a:blipFill>
            <a:ln w="31750" cap="sq">
              <a:solidFill>
                <a:srgbClr val="00897B"/>
              </a:solidFill>
              <a:prstDash val="dash"/>
              <a:miter/>
            </a:ln>
          </p:spPr>
        </p:sp>
      </p:grpSp>
      <p:sp>
        <p:nvSpPr>
          <p:cNvPr id="41" name="TextBox 41"/>
          <p:cNvSpPr txBox="1"/>
          <p:nvPr/>
        </p:nvSpPr>
        <p:spPr>
          <a:xfrm>
            <a:off x="914400" y="384048"/>
            <a:ext cx="13898880" cy="559689"/>
          </a:xfrm>
          <a:prstGeom prst="rect">
            <a:avLst/>
          </a:prstGeom>
        </p:spPr>
        <p:txBody>
          <a:bodyPr lIns="0" tIns="0" rIns="0" bIns="0" rtlCol="0" anchor="t">
            <a:spAutoFit/>
          </a:bodyPr>
          <a:lstStyle/>
          <a:p>
            <a:pPr algn="l">
              <a:lnSpc>
                <a:spcPts val="2640"/>
              </a:lnSpc>
            </a:pPr>
            <a:r>
              <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VẤN ĐỀ 4</a:t>
            </a:r>
            <a:endPar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2" name="TextBox 42"/>
          <p:cNvSpPr txBox="1"/>
          <p:nvPr/>
        </p:nvSpPr>
        <p:spPr>
          <a:xfrm>
            <a:off x="914400" y="2402205"/>
            <a:ext cx="10424160" cy="2078355"/>
          </a:xfrm>
          <a:prstGeom prst="rect">
            <a:avLst/>
          </a:prstGeom>
        </p:spPr>
        <p:txBody>
          <a:bodyPr lIns="0" tIns="0" rIns="0" bIns="0" rtlCol="0" anchor="t">
            <a:spAutoFit/>
          </a:bodyPr>
          <a:lstStyle/>
          <a:p>
            <a:pPr marL="675640" lvl="1" indent="-337820" algn="l">
              <a:lnSpc>
                <a:spcPts val="3360"/>
              </a:lnSpc>
              <a:buFont typeface="Times New Roman" panose="02020603050405020304"/>
              <a:buChar char="•"/>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A (RTT 40 ms) và B (RTT 200 ms) cùng nhặt một vật; trên màn hình, </a:t>
            </a: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B chạm trước</a:t>
            </a:r>
            <a:endPar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a:p>
            <a:pPr marL="675640" lvl="1" indent="-337820" algn="l">
              <a:lnSpc>
                <a:spcPts val="3360"/>
              </a:lnSpc>
              <a:buFont typeface="Times New Roman" panose="02020603050405020304"/>
              <a:buChar char="•"/>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Phân xử theo thứ tự gói đến thì </a:t>
            </a: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A luôn thắng</a:t>
            </a: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 người trễ thấp luôn được lợi</a:t>
            </a:r>
            <a:endPar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3" name="TextBox 43"/>
          <p:cNvSpPr txBox="1"/>
          <p:nvPr/>
        </p:nvSpPr>
        <p:spPr>
          <a:xfrm>
            <a:off x="914400" y="7193661"/>
            <a:ext cx="10424160" cy="2041779"/>
          </a:xfrm>
          <a:prstGeom prst="rect">
            <a:avLst/>
          </a:prstGeom>
        </p:spPr>
        <p:txBody>
          <a:bodyPr lIns="0" tIns="0" rIns="0" bIns="0" rtlCol="0" anchor="t">
            <a:spAutoFit/>
          </a:bodyPr>
          <a:lstStyle/>
          <a:p>
            <a:pPr marL="675640" lvl="1" indent="-337820" algn="l">
              <a:lnSpc>
                <a:spcPts val="3360"/>
              </a:lnSpc>
              <a:buFont typeface="Times New Roman" panose="02020603050405020304"/>
              <a:buChar char="•"/>
            </a:pP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Bù trễ:</a:t>
            </a: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 server lưu lịch sử 1 giây, </a:t>
            </a: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tua lại</a:t>
            </a: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 về thời điểm người chơi nhìn thấy rồi mới phân xử</a:t>
            </a:r>
            <a:endPar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a:p>
            <a:pPr marL="675640" lvl="1" indent="-337820" algn="l">
              <a:lnSpc>
                <a:spcPts val="3360"/>
              </a:lnSpc>
              <a:buFont typeface="Times New Roman" panose="02020603050405020304"/>
              <a:buChar char="•"/>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Tua tối đa ~200–250 ms · Đánh đổi: </a:t>
            </a: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“đã chạy đi rồi vẫn bị bắt”</a:t>
            </a:r>
            <a:endPar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4" name="TextBox 44"/>
          <p:cNvSpPr txBox="1"/>
          <p:nvPr/>
        </p:nvSpPr>
        <p:spPr>
          <a:xfrm>
            <a:off x="16550640" y="9517380"/>
            <a:ext cx="731520" cy="495300"/>
          </a:xfrm>
          <a:prstGeom prst="rect">
            <a:avLst/>
          </a:prstGeom>
        </p:spPr>
        <p:txBody>
          <a:bodyPr lIns="0" tIns="0" rIns="0" bIns="0" rtlCol="0" anchor="t">
            <a:spAutoFit/>
          </a:bodyPr>
          <a:lstStyle/>
          <a:p>
            <a:pPr algn="r">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14</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2" name="Header band"/>
          <p:cNvSpPr/>
          <p:nvPr/>
        </p:nvSpPr>
        <p:spPr>
          <a:xfrm>
            <a:off x="0" y="0"/>
            <a:ext cx="18288000" cy="2103120"/>
          </a:xfrm>
          <a:prstGeom prst="rect">
            <a:avLst/>
          </a:prstGeom>
          <a:solidFill>
            <a:srgbClr val="14213D"/>
          </a:solidFill>
          <a:ln>
            <a:noFill/>
          </a:ln>
        </p:spPr>
      </p:sp>
      <p:sp>
        <p:nvSpPr>
          <p:cNvPr id="9003" name="Header rule"/>
          <p:cNvSpPr/>
          <p:nvPr/>
        </p:nvSpPr>
        <p:spPr>
          <a:xfrm>
            <a:off x="0" y="2103120"/>
            <a:ext cx="18288000" cy="64008"/>
          </a:xfrm>
          <a:prstGeom prst="rect">
            <a:avLst/>
          </a:prstGeom>
          <a:solidFill>
            <a:srgbClr val="00897B"/>
          </a:solidFill>
          <a:ln>
            <a:noFill/>
          </a:ln>
        </p:spPr>
      </p:sp>
      <p:grpSp>
        <p:nvGrpSpPr>
          <p:cNvPr id="2" name="Group 2"/>
          <p:cNvGrpSpPr/>
          <p:nvPr/>
        </p:nvGrpSpPr>
        <p:grpSpPr>
          <a:xfrm rot="0">
            <a:off x="914400" y="9509760"/>
            <a:ext cx="12801600" cy="548640"/>
            <a:chOff x="0" y="0"/>
            <a:chExt cx="17068800" cy="731520"/>
          </a:xfrm>
        </p:grpSpPr>
        <p:sp>
          <p:nvSpPr>
            <p:cNvPr id="3" name="Freeform 3"/>
            <p:cNvSpPr/>
            <p:nvPr/>
          </p:nvSpPr>
          <p:spPr>
            <a:xfrm>
              <a:off x="0" y="0"/>
              <a:ext cx="17068800" cy="731520"/>
            </a:xfrm>
            <a:custGeom>
              <a:avLst/>
              <a:gdLst/>
              <a:ahLst/>
              <a:cxnLst/>
              <a:rect l="l" t="t" r="r" b="b"/>
              <a:pathLst>
                <a:path w="17068800" h="731520">
                  <a:moveTo>
                    <a:pt x="0" y="0"/>
                  </a:moveTo>
                  <a:lnTo>
                    <a:pt x="17068800" y="0"/>
                  </a:lnTo>
                  <a:lnTo>
                    <a:pt x="17068800" y="731520"/>
                  </a:lnTo>
                  <a:lnTo>
                    <a:pt x="0" y="731520"/>
                  </a:lnTo>
                  <a:close/>
                </a:path>
              </a:pathLst>
            </a:custGeom>
            <a:blipFill>
              <a:blip r:embed="rId1">
                <a:alphaModFix amt="0"/>
              </a:blip>
              <a:stretch>
                <a:fillRect t="-404650" b="-404650"/>
              </a:stretch>
            </a:blipFill>
          </p:spPr>
        </p:sp>
        <p:sp>
          <p:nvSpPr>
            <p:cNvPr id="4" name="TextBox 4"/>
            <p:cNvSpPr txBox="1"/>
            <p:nvPr/>
          </p:nvSpPr>
          <p:spPr>
            <a:xfrm>
              <a:off x="0" y="-38100"/>
              <a:ext cx="17068800" cy="769620"/>
            </a:xfrm>
            <a:prstGeom prst="rect">
              <a:avLst/>
            </a:prstGeom>
          </p:spPr>
          <p:txBody>
            <a:bodyPr lIns="0" tIns="0" rIns="0" bIns="0" rtlCol="0" anchor="ctr"/>
            <a:lstStyle/>
            <a:p>
              <a:pPr algn="l">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T47 · Kỹ thuật mạng cho game thời gian thực · Lập trình mạng</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5" name="Group 5"/>
          <p:cNvGrpSpPr/>
          <p:nvPr/>
        </p:nvGrpSpPr>
        <p:grpSpPr>
          <a:xfrm rot="0">
            <a:off x="914400" y="768096"/>
            <a:ext cx="14081760" cy="1097280"/>
            <a:chOff x="0" y="0"/>
            <a:chExt cx="18775680" cy="1463040"/>
          </a:xfrm>
        </p:grpSpPr>
        <p:sp>
          <p:nvSpPr>
            <p:cNvPr id="6" name="Freeform 6"/>
            <p:cNvSpPr/>
            <p:nvPr/>
          </p:nvSpPr>
          <p:spPr>
            <a:xfrm>
              <a:off x="0" y="0"/>
              <a:ext cx="18775680" cy="1463040"/>
            </a:xfrm>
            <a:custGeom>
              <a:avLst/>
              <a:gdLst/>
              <a:ahLst/>
              <a:cxnLst/>
              <a:rect l="l" t="t" r="r" b="b"/>
              <a:pathLst>
                <a:path w="18775680" h="1463040">
                  <a:moveTo>
                    <a:pt x="0" y="0"/>
                  </a:moveTo>
                  <a:lnTo>
                    <a:pt x="18775680" y="0"/>
                  </a:lnTo>
                  <a:lnTo>
                    <a:pt x="18775680" y="1463040"/>
                  </a:lnTo>
                  <a:lnTo>
                    <a:pt x="0" y="1463040"/>
                  </a:lnTo>
                  <a:close/>
                </a:path>
              </a:pathLst>
            </a:custGeom>
            <a:blipFill>
              <a:blip r:embed="rId1">
                <a:alphaModFix amt="0"/>
              </a:blip>
              <a:stretch>
                <a:fillRect t="-200057" b="-200057"/>
              </a:stretch>
            </a:blipFill>
          </p:spPr>
        </p:sp>
        <p:sp>
          <p:nvSpPr>
            <p:cNvPr id="7" name="TextBox 7"/>
            <p:cNvSpPr txBox="1"/>
            <p:nvPr/>
          </p:nvSpPr>
          <p:spPr>
            <a:xfrm>
              <a:off x="0" y="-9525"/>
              <a:ext cx="18775680" cy="1472565"/>
            </a:xfrm>
            <a:prstGeom prst="rect">
              <a:avLst/>
            </a:prstGeom>
          </p:spPr>
          <p:txBody>
            <a:bodyPr lIns="0" tIns="0" rIns="0" bIns="0" rtlCol="0" anchor="ctr"/>
            <a:lstStyle/>
            <a:p>
              <a:pPr algn="l">
                <a:lnSpc>
                  <a:spcPts val="6900"/>
                </a:lnSpc>
              </a:pPr>
              <a:r>
                <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rPr>
                <a:t>Dự đoán hành động bị sai → quay lui</a:t>
              </a:r>
              <a:endPar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8" name="Group 8"/>
          <p:cNvGrpSpPr/>
          <p:nvPr/>
        </p:nvGrpSpPr>
        <p:grpSpPr>
          <a:xfrm rot="0">
            <a:off x="15257783" y="682247"/>
            <a:ext cx="2128523" cy="647195"/>
            <a:chOff x="0" y="0"/>
            <a:chExt cx="2838031" cy="862927"/>
          </a:xfrm>
        </p:grpSpPr>
        <p:sp>
          <p:nvSpPr>
            <p:cNvPr id="9" name="Freeform 9"/>
            <p:cNvSpPr/>
            <p:nvPr/>
          </p:nvSpPr>
          <p:spPr>
            <a:xfrm>
              <a:off x="0" y="0"/>
              <a:ext cx="2837942" cy="862838"/>
            </a:xfrm>
            <a:custGeom>
              <a:avLst/>
              <a:gdLst/>
              <a:ahLst/>
              <a:cxnLst/>
              <a:rect l="l" t="t" r="r" b="b"/>
              <a:pathLst>
                <a:path w="2837942" h="862838">
                  <a:moveTo>
                    <a:pt x="0" y="431419"/>
                  </a:moveTo>
                  <a:cubicBezTo>
                    <a:pt x="0" y="193167"/>
                    <a:pt x="193167" y="0"/>
                    <a:pt x="431419" y="0"/>
                  </a:cubicBezTo>
                  <a:lnTo>
                    <a:pt x="2406523" y="0"/>
                  </a:lnTo>
                  <a:cubicBezTo>
                    <a:pt x="2644775" y="0"/>
                    <a:pt x="2837942" y="193167"/>
                    <a:pt x="2837942" y="431419"/>
                  </a:cubicBezTo>
                  <a:cubicBezTo>
                    <a:pt x="2837942" y="669671"/>
                    <a:pt x="2644775" y="862838"/>
                    <a:pt x="2406523" y="862838"/>
                  </a:cubicBezTo>
                  <a:lnTo>
                    <a:pt x="431419" y="862838"/>
                  </a:lnTo>
                  <a:cubicBezTo>
                    <a:pt x="193167" y="862965"/>
                    <a:pt x="0" y="669798"/>
                    <a:pt x="0" y="431419"/>
                  </a:cubicBezTo>
                  <a:close/>
                </a:path>
              </a:pathLst>
            </a:custGeom>
            <a:solidFill>
              <a:srgbClr val="F4A259"/>
            </a:solidFill>
            <a:ln w="25400" cap="sq">
              <a:solidFill>
                <a:srgbClr val="F4A259"/>
              </a:solidFill>
              <a:prstDash val="solid"/>
              <a:miter/>
            </a:ln>
          </p:spPr>
        </p:sp>
      </p:grpSp>
      <p:grpSp>
        <p:nvGrpSpPr>
          <p:cNvPr id="10" name="Group 10"/>
          <p:cNvGrpSpPr/>
          <p:nvPr/>
        </p:nvGrpSpPr>
        <p:grpSpPr>
          <a:xfrm rot="0">
            <a:off x="15270480" y="694944"/>
            <a:ext cx="2103120" cy="621792"/>
            <a:chOff x="0" y="0"/>
            <a:chExt cx="2804160" cy="829056"/>
          </a:xfrm>
        </p:grpSpPr>
        <p:sp>
          <p:nvSpPr>
            <p:cNvPr id="11" name="Freeform 11"/>
            <p:cNvSpPr/>
            <p:nvPr/>
          </p:nvSpPr>
          <p:spPr>
            <a:xfrm>
              <a:off x="0" y="0"/>
              <a:ext cx="2804160" cy="829056"/>
            </a:xfrm>
            <a:custGeom>
              <a:avLst/>
              <a:gdLst/>
              <a:ahLst/>
              <a:cxnLst/>
              <a:rect l="l" t="t" r="r" b="b"/>
              <a:pathLst>
                <a:path w="2804160" h="829056">
                  <a:moveTo>
                    <a:pt x="0" y="0"/>
                  </a:moveTo>
                  <a:lnTo>
                    <a:pt x="2804160" y="0"/>
                  </a:lnTo>
                  <a:lnTo>
                    <a:pt x="2804160" y="829056"/>
                  </a:lnTo>
                  <a:lnTo>
                    <a:pt x="0" y="829056"/>
                  </a:lnTo>
                  <a:close/>
                </a:path>
              </a:pathLst>
            </a:custGeom>
            <a:blipFill>
              <a:blip r:embed="rId1">
                <a:alphaModFix amt="0"/>
              </a:blip>
              <a:stretch>
                <a:fillRect t="-15905" b="-15905"/>
              </a:stretch>
            </a:blipFill>
          </p:spPr>
        </p:sp>
        <p:sp>
          <p:nvSpPr>
            <p:cNvPr id="12" name="TextBox 12"/>
            <p:cNvSpPr txBox="1"/>
            <p:nvPr/>
          </p:nvSpPr>
          <p:spPr>
            <a:xfrm>
              <a:off x="0" y="-47625"/>
              <a:ext cx="2804160" cy="876681"/>
            </a:xfrm>
            <a:prstGeom prst="rect">
              <a:avLst/>
            </a:prstGeom>
          </p:spPr>
          <p:txBody>
            <a:bodyPr lIns="0" tIns="0" rIns="0" bIns="0" rtlCol="0" anchor="ctr"/>
            <a:lstStyle/>
            <a:p>
              <a:pPr algn="ctr">
                <a:lnSpc>
                  <a:spcPts val="2640"/>
                </a:lnSpc>
              </a:pPr>
              <a:r>
                <a:rPr lang="en-US" sz="2200" b="1">
                  <a:solidFill>
                    <a:srgbClr val="14213D"/>
                  </a:solidFill>
                  <a:latin typeface="Times New Roman" panose="02020603050405020304"/>
                  <a:ea typeface="Times New Roman" panose="02020603050405020304"/>
                  <a:cs typeface="Times New Roman" panose="02020603050405020304"/>
                  <a:sym typeface="Times New Roman" panose="02020603050405020304"/>
                </a:rPr>
                <a:t>#3</a:t>
              </a:r>
              <a:endParaRPr lang="en-US" sz="2200" b="1">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3" name="Group 13"/>
          <p:cNvGrpSpPr/>
          <p:nvPr/>
        </p:nvGrpSpPr>
        <p:grpSpPr>
          <a:xfrm rot="0">
            <a:off x="914400" y="3200400"/>
            <a:ext cx="10424160" cy="402336"/>
            <a:chOff x="0" y="0"/>
            <a:chExt cx="13898880" cy="536448"/>
          </a:xfrm>
        </p:grpSpPr>
        <p:sp>
          <p:nvSpPr>
            <p:cNvPr id="14" name="Freeform 14"/>
            <p:cNvSpPr/>
            <p:nvPr/>
          </p:nvSpPr>
          <p:spPr>
            <a:xfrm>
              <a:off x="0" y="0"/>
              <a:ext cx="13898880" cy="536448"/>
            </a:xfrm>
            <a:custGeom>
              <a:avLst/>
              <a:gdLst/>
              <a:ahLst/>
              <a:cxnLst/>
              <a:rect l="l" t="t" r="r" b="b"/>
              <a:pathLst>
                <a:path w="13898880" h="536448">
                  <a:moveTo>
                    <a:pt x="0" y="0"/>
                  </a:moveTo>
                  <a:lnTo>
                    <a:pt x="13898880" y="0"/>
                  </a:lnTo>
                  <a:lnTo>
                    <a:pt x="13898880" y="536448"/>
                  </a:lnTo>
                  <a:lnTo>
                    <a:pt x="0" y="536448"/>
                  </a:lnTo>
                  <a:close/>
                </a:path>
              </a:pathLst>
            </a:custGeom>
            <a:blipFill>
              <a:blip r:embed="rId1">
                <a:alphaModFix amt="0"/>
              </a:blip>
              <a:stretch>
                <a:fillRect t="-454839" b="-454839"/>
              </a:stretch>
            </a:blipFill>
          </p:spPr>
        </p:sp>
        <p:sp>
          <p:nvSpPr>
            <p:cNvPr id="15" name="TextBox 15"/>
            <p:cNvSpPr txBox="1"/>
            <p:nvPr/>
          </p:nvSpPr>
          <p:spPr>
            <a:xfrm>
              <a:off x="0" y="-38100"/>
              <a:ext cx="13898880" cy="574548"/>
            </a:xfrm>
            <a:prstGeom prst="rect">
              <a:avLst/>
            </a:prstGeom>
          </p:spPr>
          <p:txBody>
            <a:bodyPr lIns="0" tIns="0" rIns="0" bIns="0" rtlCol="0" anchor="ctr"/>
            <a:lstStyle/>
            <a:p>
              <a:pPr algn="l">
                <a:lnSpc>
                  <a:spcPts val="2400"/>
                </a:lnSpc>
              </a:pPr>
              <a:r>
                <a:rPr lang="en-US" sz="2000" b="1" spc="300">
                  <a:solidFill>
                    <a:srgbClr val="5B6B82"/>
                  </a:solidFill>
                  <a:latin typeface="Times New Roman" panose="02020603050405020304"/>
                  <a:ea typeface="Times New Roman" panose="02020603050405020304"/>
                  <a:cs typeface="Times New Roman" panose="02020603050405020304"/>
                  <a:sym typeface="Times New Roman" panose="02020603050405020304"/>
                </a:rPr>
                <a:t>CÁC HƯỚNG</a:t>
              </a:r>
              <a:endParaRPr lang="en-US" sz="2000" b="1" spc="3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6" name="Group 16"/>
          <p:cNvGrpSpPr/>
          <p:nvPr/>
        </p:nvGrpSpPr>
        <p:grpSpPr>
          <a:xfrm rot="0">
            <a:off x="1097280" y="3694176"/>
            <a:ext cx="548640" cy="585216"/>
            <a:chOff x="0" y="0"/>
            <a:chExt cx="731520" cy="780288"/>
          </a:xfrm>
        </p:grpSpPr>
        <p:sp>
          <p:nvSpPr>
            <p:cNvPr id="17" name="Freeform 17"/>
            <p:cNvSpPr/>
            <p:nvPr/>
          </p:nvSpPr>
          <p:spPr>
            <a:xfrm>
              <a:off x="0" y="0"/>
              <a:ext cx="731520" cy="780288"/>
            </a:xfrm>
            <a:custGeom>
              <a:avLst/>
              <a:gdLst/>
              <a:ahLst/>
              <a:cxnLst/>
              <a:rect l="l" t="t" r="r" b="b"/>
              <a:pathLst>
                <a:path w="731520" h="780288">
                  <a:moveTo>
                    <a:pt x="0" y="0"/>
                  </a:moveTo>
                  <a:lnTo>
                    <a:pt x="731520" y="0"/>
                  </a:lnTo>
                  <a:lnTo>
                    <a:pt x="731520" y="780288"/>
                  </a:lnTo>
                  <a:lnTo>
                    <a:pt x="0" y="780288"/>
                  </a:lnTo>
                  <a:close/>
                </a:path>
              </a:pathLst>
            </a:custGeom>
            <a:blipFill>
              <a:blip r:embed="rId1">
                <a:alphaModFix amt="0"/>
              </a:blip>
              <a:stretch>
                <a:fillRect l="-86857" r="-86857"/>
              </a:stretch>
            </a:blipFill>
          </p:spPr>
        </p:sp>
        <p:sp>
          <p:nvSpPr>
            <p:cNvPr id="18" name="TextBox 18"/>
            <p:cNvSpPr txBox="1"/>
            <p:nvPr/>
          </p:nvSpPr>
          <p:spPr>
            <a:xfrm>
              <a:off x="0" y="-66675"/>
              <a:ext cx="731520" cy="846963"/>
            </a:xfrm>
            <a:prstGeom prst="rect">
              <a:avLst/>
            </a:prstGeom>
          </p:spPr>
          <p:txBody>
            <a:bodyPr lIns="0" tIns="0" rIns="0" bIns="0" rtlCol="0" anchor="ctr"/>
            <a:lstStyle/>
            <a:p>
              <a:pPr algn="ctr">
                <a:lnSpc>
                  <a:spcPts val="3600"/>
                </a:lnSpc>
              </a:pPr>
              <a:r>
                <a:rPr lang="en-US" sz="3000">
                  <a:solidFill>
                    <a:srgbClr val="5B6B82"/>
                  </a:solidFill>
                  <a:latin typeface="Times New Roman" panose="02020603050405020304"/>
                  <a:ea typeface="Times New Roman" panose="02020603050405020304"/>
                  <a:cs typeface="Times New Roman" panose="02020603050405020304"/>
                  <a:sym typeface="Times New Roman" panose="02020603050405020304"/>
                </a:rPr>
                <a:t>○</a:t>
              </a:r>
              <a:endParaRPr lang="en-US" sz="3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9" name="Group 19"/>
          <p:cNvGrpSpPr/>
          <p:nvPr/>
        </p:nvGrpSpPr>
        <p:grpSpPr>
          <a:xfrm rot="0">
            <a:off x="1737360" y="3694176"/>
            <a:ext cx="7772400" cy="585216"/>
            <a:chOff x="0" y="0"/>
            <a:chExt cx="10363200" cy="780288"/>
          </a:xfrm>
        </p:grpSpPr>
        <p:sp>
          <p:nvSpPr>
            <p:cNvPr id="20" name="Freeform 20"/>
            <p:cNvSpPr/>
            <p:nvPr/>
          </p:nvSpPr>
          <p:spPr>
            <a:xfrm>
              <a:off x="0" y="0"/>
              <a:ext cx="10363200" cy="780288"/>
            </a:xfrm>
            <a:custGeom>
              <a:avLst/>
              <a:gdLst/>
              <a:ahLst/>
              <a:cxnLst/>
              <a:rect l="l" t="t" r="r" b="b"/>
              <a:pathLst>
                <a:path w="10363200" h="780288">
                  <a:moveTo>
                    <a:pt x="0" y="0"/>
                  </a:moveTo>
                  <a:lnTo>
                    <a:pt x="10363200" y="0"/>
                  </a:lnTo>
                  <a:lnTo>
                    <a:pt x="10363200" y="780288"/>
                  </a:lnTo>
                  <a:lnTo>
                    <a:pt x="0" y="780288"/>
                  </a:lnTo>
                  <a:close/>
                </a:path>
              </a:pathLst>
            </a:custGeom>
            <a:blipFill>
              <a:blip r:embed="rId1">
                <a:alphaModFix amt="0"/>
              </a:blip>
              <a:stretch>
                <a:fillRect t="-208785" b="-208785"/>
              </a:stretch>
            </a:blipFill>
          </p:spPr>
        </p:sp>
        <p:sp>
          <p:nvSpPr>
            <p:cNvPr id="21" name="TextBox 21"/>
            <p:cNvSpPr txBox="1"/>
            <p:nvPr/>
          </p:nvSpPr>
          <p:spPr>
            <a:xfrm>
              <a:off x="0" y="-66675"/>
              <a:ext cx="10363200" cy="846963"/>
            </a:xfrm>
            <a:prstGeom prst="rect">
              <a:avLst/>
            </a:prstGeom>
          </p:spPr>
          <p:txBody>
            <a:bodyPr lIns="0" tIns="0" rIns="0" bIns="0" rtlCol="0" anchor="ctr"/>
            <a:lstStyle/>
            <a:p>
              <a:pPr algn="l">
                <a:lnSpc>
                  <a:spcPts val="3360"/>
                </a:lnSpc>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Không dự đoán: chờ 1 RTT</a:t>
              </a:r>
              <a:endPar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2" name="Group 22"/>
          <p:cNvGrpSpPr/>
          <p:nvPr/>
        </p:nvGrpSpPr>
        <p:grpSpPr>
          <a:xfrm rot="0">
            <a:off x="901703" y="4339847"/>
            <a:ext cx="10449563" cy="610619"/>
            <a:chOff x="0" y="0"/>
            <a:chExt cx="13932751" cy="814159"/>
          </a:xfrm>
        </p:grpSpPr>
        <p:sp>
          <p:nvSpPr>
            <p:cNvPr id="23" name="Freeform 23"/>
            <p:cNvSpPr/>
            <p:nvPr/>
          </p:nvSpPr>
          <p:spPr>
            <a:xfrm>
              <a:off x="0" y="0"/>
              <a:ext cx="13932790" cy="814197"/>
            </a:xfrm>
            <a:custGeom>
              <a:avLst/>
              <a:gdLst/>
              <a:ahLst/>
              <a:cxnLst/>
              <a:rect l="l" t="t" r="r" b="b"/>
              <a:pathLst>
                <a:path w="13932790" h="814197">
                  <a:moveTo>
                    <a:pt x="0" y="203581"/>
                  </a:moveTo>
                  <a:cubicBezTo>
                    <a:pt x="0" y="91186"/>
                    <a:pt x="91186" y="0"/>
                    <a:pt x="203581" y="0"/>
                  </a:cubicBezTo>
                  <a:lnTo>
                    <a:pt x="13729208" y="0"/>
                  </a:lnTo>
                  <a:cubicBezTo>
                    <a:pt x="13841603" y="0"/>
                    <a:pt x="13932790" y="91186"/>
                    <a:pt x="13932790" y="203581"/>
                  </a:cubicBezTo>
                  <a:lnTo>
                    <a:pt x="13932790" y="610616"/>
                  </a:lnTo>
                  <a:cubicBezTo>
                    <a:pt x="13932790" y="723011"/>
                    <a:pt x="13841603" y="814197"/>
                    <a:pt x="13729208" y="814197"/>
                  </a:cubicBezTo>
                  <a:lnTo>
                    <a:pt x="203581" y="814197"/>
                  </a:lnTo>
                  <a:cubicBezTo>
                    <a:pt x="91186" y="814197"/>
                    <a:pt x="0" y="723011"/>
                    <a:pt x="0" y="610616"/>
                  </a:cubicBezTo>
                  <a:close/>
                </a:path>
              </a:pathLst>
            </a:custGeom>
            <a:solidFill>
              <a:srgbClr val="BFE8E3"/>
            </a:solidFill>
            <a:ln w="25400" cap="sq">
              <a:solidFill>
                <a:srgbClr val="BFE8E3"/>
              </a:solidFill>
              <a:prstDash val="solid"/>
              <a:miter/>
            </a:ln>
          </p:spPr>
        </p:sp>
      </p:grpSp>
      <p:grpSp>
        <p:nvGrpSpPr>
          <p:cNvPr id="24" name="Group 24"/>
          <p:cNvGrpSpPr/>
          <p:nvPr/>
        </p:nvGrpSpPr>
        <p:grpSpPr>
          <a:xfrm rot="0">
            <a:off x="9601200" y="4352544"/>
            <a:ext cx="1554480" cy="585216"/>
            <a:chOff x="0" y="0"/>
            <a:chExt cx="2072640" cy="780288"/>
          </a:xfrm>
        </p:grpSpPr>
        <p:sp>
          <p:nvSpPr>
            <p:cNvPr id="25" name="Freeform 25"/>
            <p:cNvSpPr/>
            <p:nvPr/>
          </p:nvSpPr>
          <p:spPr>
            <a:xfrm>
              <a:off x="0" y="0"/>
              <a:ext cx="2072640" cy="780288"/>
            </a:xfrm>
            <a:custGeom>
              <a:avLst/>
              <a:gdLst/>
              <a:ahLst/>
              <a:cxnLst/>
              <a:rect l="l" t="t" r="r" b="b"/>
              <a:pathLst>
                <a:path w="2072640" h="780288">
                  <a:moveTo>
                    <a:pt x="0" y="0"/>
                  </a:moveTo>
                  <a:lnTo>
                    <a:pt x="2072640" y="0"/>
                  </a:lnTo>
                  <a:lnTo>
                    <a:pt x="2072640" y="780288"/>
                  </a:lnTo>
                  <a:lnTo>
                    <a:pt x="0" y="780288"/>
                  </a:lnTo>
                  <a:close/>
                </a:path>
              </a:pathLst>
            </a:custGeom>
            <a:blipFill>
              <a:blip r:embed="rId1">
                <a:alphaModFix amt="0"/>
              </a:blip>
              <a:stretch>
                <a:fillRect t="-1757" b="-1757"/>
              </a:stretch>
            </a:blipFill>
          </p:spPr>
        </p:sp>
        <p:sp>
          <p:nvSpPr>
            <p:cNvPr id="26" name="TextBox 26"/>
            <p:cNvSpPr txBox="1"/>
            <p:nvPr/>
          </p:nvSpPr>
          <p:spPr>
            <a:xfrm>
              <a:off x="0" y="-38100"/>
              <a:ext cx="2072640" cy="818388"/>
            </a:xfrm>
            <a:prstGeom prst="rect">
              <a:avLst/>
            </a:prstGeom>
          </p:spPr>
          <p:txBody>
            <a:bodyPr lIns="0" tIns="0" rIns="0" bIns="0" rtlCol="0" anchor="ctr"/>
            <a:lstStyle/>
            <a:p>
              <a:pPr algn="r">
                <a:lnSpc>
                  <a:spcPts val="2400"/>
                </a:lnSpc>
              </a:pPr>
              <a:r>
                <a:rPr lang="en-US" sz="2000" b="1">
                  <a:solidFill>
                    <a:srgbClr val="00897B"/>
                  </a:solidFill>
                  <a:latin typeface="Times New Roman" panose="02020603050405020304"/>
                  <a:ea typeface="Times New Roman" panose="02020603050405020304"/>
                  <a:cs typeface="Times New Roman" panose="02020603050405020304"/>
                  <a:sym typeface="Times New Roman" panose="02020603050405020304"/>
                </a:rPr>
                <a:t>ĐÃ CHỌN</a:t>
              </a:r>
              <a:endParaRPr lang="en-US" sz="2000" b="1">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7" name="Group 27"/>
          <p:cNvGrpSpPr/>
          <p:nvPr/>
        </p:nvGrpSpPr>
        <p:grpSpPr>
          <a:xfrm rot="0">
            <a:off x="1097280" y="4352544"/>
            <a:ext cx="548640" cy="585216"/>
            <a:chOff x="0" y="0"/>
            <a:chExt cx="731520" cy="780288"/>
          </a:xfrm>
        </p:grpSpPr>
        <p:sp>
          <p:nvSpPr>
            <p:cNvPr id="28" name="Freeform 28"/>
            <p:cNvSpPr/>
            <p:nvPr/>
          </p:nvSpPr>
          <p:spPr>
            <a:xfrm>
              <a:off x="0" y="0"/>
              <a:ext cx="731520" cy="780288"/>
            </a:xfrm>
            <a:custGeom>
              <a:avLst/>
              <a:gdLst/>
              <a:ahLst/>
              <a:cxnLst/>
              <a:rect l="l" t="t" r="r" b="b"/>
              <a:pathLst>
                <a:path w="731520" h="780288">
                  <a:moveTo>
                    <a:pt x="0" y="0"/>
                  </a:moveTo>
                  <a:lnTo>
                    <a:pt x="731520" y="0"/>
                  </a:lnTo>
                  <a:lnTo>
                    <a:pt x="731520" y="780288"/>
                  </a:lnTo>
                  <a:lnTo>
                    <a:pt x="0" y="780288"/>
                  </a:lnTo>
                  <a:close/>
                </a:path>
              </a:pathLst>
            </a:custGeom>
            <a:blipFill>
              <a:blip r:embed="rId1">
                <a:alphaModFix amt="0"/>
              </a:blip>
              <a:stretch>
                <a:fillRect l="-86857" r="-86857"/>
              </a:stretch>
            </a:blipFill>
          </p:spPr>
        </p:sp>
        <p:sp>
          <p:nvSpPr>
            <p:cNvPr id="29" name="TextBox 29"/>
            <p:cNvSpPr txBox="1"/>
            <p:nvPr/>
          </p:nvSpPr>
          <p:spPr>
            <a:xfrm>
              <a:off x="0" y="-66675"/>
              <a:ext cx="731520" cy="846963"/>
            </a:xfrm>
            <a:prstGeom prst="rect">
              <a:avLst/>
            </a:prstGeom>
          </p:spPr>
          <p:txBody>
            <a:bodyPr lIns="0" tIns="0" rIns="0" bIns="0" rtlCol="0" anchor="ctr"/>
            <a:lstStyle/>
            <a:p>
              <a:pPr algn="ctr">
                <a:lnSpc>
                  <a:spcPts val="3600"/>
                </a:lnSpc>
              </a:pPr>
              <a:r>
                <a:rPr lang="en-US" sz="3000">
                  <a:solidFill>
                    <a:srgbClr val="00897B"/>
                  </a:solidFill>
                  <a:latin typeface="Times New Roman" panose="02020603050405020304"/>
                  <a:ea typeface="Times New Roman" panose="02020603050405020304"/>
                  <a:cs typeface="Times New Roman" panose="02020603050405020304"/>
                  <a:sym typeface="Times New Roman" panose="02020603050405020304"/>
                </a:rPr>
                <a:t>●</a:t>
              </a:r>
              <a:endParaRPr lang="en-US" sz="3000">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30" name="Group 30"/>
          <p:cNvGrpSpPr/>
          <p:nvPr/>
        </p:nvGrpSpPr>
        <p:grpSpPr>
          <a:xfrm rot="0">
            <a:off x="1737360" y="4352544"/>
            <a:ext cx="7772400" cy="585216"/>
            <a:chOff x="0" y="0"/>
            <a:chExt cx="10363200" cy="780288"/>
          </a:xfrm>
        </p:grpSpPr>
        <p:sp>
          <p:nvSpPr>
            <p:cNvPr id="31" name="Freeform 31"/>
            <p:cNvSpPr/>
            <p:nvPr/>
          </p:nvSpPr>
          <p:spPr>
            <a:xfrm>
              <a:off x="0" y="0"/>
              <a:ext cx="10363200" cy="780288"/>
            </a:xfrm>
            <a:custGeom>
              <a:avLst/>
              <a:gdLst/>
              <a:ahLst/>
              <a:cxnLst/>
              <a:rect l="l" t="t" r="r" b="b"/>
              <a:pathLst>
                <a:path w="10363200" h="780288">
                  <a:moveTo>
                    <a:pt x="0" y="0"/>
                  </a:moveTo>
                  <a:lnTo>
                    <a:pt x="10363200" y="0"/>
                  </a:lnTo>
                  <a:lnTo>
                    <a:pt x="10363200" y="780288"/>
                  </a:lnTo>
                  <a:lnTo>
                    <a:pt x="0" y="780288"/>
                  </a:lnTo>
                  <a:close/>
                </a:path>
              </a:pathLst>
            </a:custGeom>
            <a:blipFill>
              <a:blip r:embed="rId1">
                <a:alphaModFix amt="0"/>
              </a:blip>
              <a:stretch>
                <a:fillRect t="-208785" b="-208785"/>
              </a:stretch>
            </a:blipFill>
          </p:spPr>
        </p:sp>
        <p:sp>
          <p:nvSpPr>
            <p:cNvPr id="32" name="TextBox 32"/>
            <p:cNvSpPr txBox="1"/>
            <p:nvPr/>
          </p:nvSpPr>
          <p:spPr>
            <a:xfrm>
              <a:off x="0" y="-66675"/>
              <a:ext cx="10363200" cy="846963"/>
            </a:xfrm>
            <a:prstGeom prst="rect">
              <a:avLst/>
            </a:prstGeom>
          </p:spPr>
          <p:txBody>
            <a:bodyPr lIns="0" tIns="0" rIns="0" bIns="0" rtlCol="0" anchor="ctr"/>
            <a:lstStyle/>
            <a:p>
              <a:pPr algn="l">
                <a:lnSpc>
                  <a:spcPts val="3360"/>
                </a:lnSpc>
              </a:pP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Dự đoán + quay lui cục bộ</a:t>
              </a:r>
              <a:endPar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33" name="Group 33"/>
          <p:cNvGrpSpPr/>
          <p:nvPr/>
        </p:nvGrpSpPr>
        <p:grpSpPr>
          <a:xfrm rot="0">
            <a:off x="1097280" y="5010912"/>
            <a:ext cx="548640" cy="585216"/>
            <a:chOff x="0" y="0"/>
            <a:chExt cx="731520" cy="780288"/>
          </a:xfrm>
        </p:grpSpPr>
        <p:sp>
          <p:nvSpPr>
            <p:cNvPr id="34" name="Freeform 34"/>
            <p:cNvSpPr/>
            <p:nvPr/>
          </p:nvSpPr>
          <p:spPr>
            <a:xfrm>
              <a:off x="0" y="0"/>
              <a:ext cx="731520" cy="780288"/>
            </a:xfrm>
            <a:custGeom>
              <a:avLst/>
              <a:gdLst/>
              <a:ahLst/>
              <a:cxnLst/>
              <a:rect l="l" t="t" r="r" b="b"/>
              <a:pathLst>
                <a:path w="731520" h="780288">
                  <a:moveTo>
                    <a:pt x="0" y="0"/>
                  </a:moveTo>
                  <a:lnTo>
                    <a:pt x="731520" y="0"/>
                  </a:lnTo>
                  <a:lnTo>
                    <a:pt x="731520" y="780288"/>
                  </a:lnTo>
                  <a:lnTo>
                    <a:pt x="0" y="780288"/>
                  </a:lnTo>
                  <a:close/>
                </a:path>
              </a:pathLst>
            </a:custGeom>
            <a:blipFill>
              <a:blip r:embed="rId1">
                <a:alphaModFix amt="0"/>
              </a:blip>
              <a:stretch>
                <a:fillRect l="-86857" r="-86857"/>
              </a:stretch>
            </a:blipFill>
          </p:spPr>
        </p:sp>
        <p:sp>
          <p:nvSpPr>
            <p:cNvPr id="35" name="TextBox 35"/>
            <p:cNvSpPr txBox="1"/>
            <p:nvPr/>
          </p:nvSpPr>
          <p:spPr>
            <a:xfrm>
              <a:off x="0" y="-66675"/>
              <a:ext cx="731520" cy="846963"/>
            </a:xfrm>
            <a:prstGeom prst="rect">
              <a:avLst/>
            </a:prstGeom>
          </p:spPr>
          <p:txBody>
            <a:bodyPr lIns="0" tIns="0" rIns="0" bIns="0" rtlCol="0" anchor="ctr"/>
            <a:lstStyle/>
            <a:p>
              <a:pPr algn="ctr">
                <a:lnSpc>
                  <a:spcPts val="3600"/>
                </a:lnSpc>
              </a:pPr>
              <a:r>
                <a:rPr lang="en-US" sz="3000">
                  <a:solidFill>
                    <a:srgbClr val="5B6B82"/>
                  </a:solidFill>
                  <a:latin typeface="Times New Roman" panose="02020603050405020304"/>
                  <a:ea typeface="Times New Roman" panose="02020603050405020304"/>
                  <a:cs typeface="Times New Roman" panose="02020603050405020304"/>
                  <a:sym typeface="Times New Roman" panose="02020603050405020304"/>
                </a:rPr>
                <a:t>○</a:t>
              </a:r>
              <a:endParaRPr lang="en-US" sz="3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36" name="Group 36"/>
          <p:cNvGrpSpPr/>
          <p:nvPr/>
        </p:nvGrpSpPr>
        <p:grpSpPr>
          <a:xfrm rot="0">
            <a:off x="1737360" y="5010912"/>
            <a:ext cx="7772400" cy="585216"/>
            <a:chOff x="0" y="0"/>
            <a:chExt cx="10363200" cy="780288"/>
          </a:xfrm>
        </p:grpSpPr>
        <p:sp>
          <p:nvSpPr>
            <p:cNvPr id="37" name="Freeform 37"/>
            <p:cNvSpPr/>
            <p:nvPr/>
          </p:nvSpPr>
          <p:spPr>
            <a:xfrm>
              <a:off x="0" y="0"/>
              <a:ext cx="10363200" cy="780288"/>
            </a:xfrm>
            <a:custGeom>
              <a:avLst/>
              <a:gdLst/>
              <a:ahLst/>
              <a:cxnLst/>
              <a:rect l="l" t="t" r="r" b="b"/>
              <a:pathLst>
                <a:path w="10363200" h="780288">
                  <a:moveTo>
                    <a:pt x="0" y="0"/>
                  </a:moveTo>
                  <a:lnTo>
                    <a:pt x="10363200" y="0"/>
                  </a:lnTo>
                  <a:lnTo>
                    <a:pt x="10363200" y="780288"/>
                  </a:lnTo>
                  <a:lnTo>
                    <a:pt x="0" y="780288"/>
                  </a:lnTo>
                  <a:close/>
                </a:path>
              </a:pathLst>
            </a:custGeom>
            <a:blipFill>
              <a:blip r:embed="rId1">
                <a:alphaModFix amt="0"/>
              </a:blip>
              <a:stretch>
                <a:fillRect t="-208785" b="-208785"/>
              </a:stretch>
            </a:blipFill>
          </p:spPr>
        </p:sp>
        <p:sp>
          <p:nvSpPr>
            <p:cNvPr id="38" name="TextBox 38"/>
            <p:cNvSpPr txBox="1"/>
            <p:nvPr/>
          </p:nvSpPr>
          <p:spPr>
            <a:xfrm>
              <a:off x="0" y="-66675"/>
              <a:ext cx="10363200" cy="846963"/>
            </a:xfrm>
            <a:prstGeom prst="rect">
              <a:avLst/>
            </a:prstGeom>
          </p:spPr>
          <p:txBody>
            <a:bodyPr lIns="0" tIns="0" rIns="0" bIns="0" rtlCol="0" anchor="ctr"/>
            <a:lstStyle/>
            <a:p>
              <a:pPr algn="l">
                <a:lnSpc>
                  <a:spcPts val="3360"/>
                </a:lnSpc>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Quay lui toàn phần kiểu GGPO (ngang hàng)</a:t>
              </a:r>
              <a:endPar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39" name="Group 39"/>
          <p:cNvGrpSpPr/>
          <p:nvPr/>
        </p:nvGrpSpPr>
        <p:grpSpPr>
          <a:xfrm rot="0">
            <a:off x="11779882" y="2453002"/>
            <a:ext cx="5609587" cy="6706867"/>
            <a:chOff x="0" y="0"/>
            <a:chExt cx="7479449" cy="8942489"/>
          </a:xfrm>
        </p:grpSpPr>
        <p:sp>
          <p:nvSpPr>
            <p:cNvPr id="40" name="Freeform 40"/>
            <p:cNvSpPr/>
            <p:nvPr/>
          </p:nvSpPr>
          <p:spPr>
            <a:xfrm>
              <a:off x="0" y="0"/>
              <a:ext cx="7479538" cy="8942578"/>
            </a:xfrm>
            <a:custGeom>
              <a:avLst/>
              <a:gdLst/>
              <a:ahLst/>
              <a:cxnLst/>
              <a:rect l="l" t="t" r="r" b="b"/>
              <a:pathLst>
                <a:path w="7479538" h="8942578">
                  <a:moveTo>
                    <a:pt x="0" y="196215"/>
                  </a:moveTo>
                  <a:cubicBezTo>
                    <a:pt x="0" y="87884"/>
                    <a:pt x="87884" y="0"/>
                    <a:pt x="196215" y="0"/>
                  </a:cubicBezTo>
                  <a:lnTo>
                    <a:pt x="7283323" y="0"/>
                  </a:lnTo>
                  <a:cubicBezTo>
                    <a:pt x="7391654" y="0"/>
                    <a:pt x="7479538" y="87884"/>
                    <a:pt x="7479538" y="196215"/>
                  </a:cubicBezTo>
                  <a:lnTo>
                    <a:pt x="7479538" y="8746363"/>
                  </a:lnTo>
                  <a:cubicBezTo>
                    <a:pt x="7479538" y="8854694"/>
                    <a:pt x="7391654" y="8942578"/>
                    <a:pt x="7283323" y="8942578"/>
                  </a:cubicBezTo>
                  <a:lnTo>
                    <a:pt x="196215" y="8942578"/>
                  </a:lnTo>
                  <a:cubicBezTo>
                    <a:pt x="87884" y="8942451"/>
                    <a:pt x="0" y="8854694"/>
                    <a:pt x="0" y="8746363"/>
                  </a:cubicBezTo>
                  <a:close/>
                </a:path>
              </a:pathLst>
            </a:custGeom>
            <a:blipFill>
              <a:blip r:embed="rId2"/>
              <a:stretch>
                <a:fillRect t="-183" b="-183"/>
              </a:stretch>
            </a:blipFill>
            <a:ln w="31750" cap="sq">
              <a:solidFill>
                <a:srgbClr val="00897B"/>
              </a:solidFill>
              <a:prstDash val="dash"/>
              <a:miter/>
            </a:ln>
          </p:spPr>
        </p:sp>
      </p:grpSp>
      <p:sp>
        <p:nvSpPr>
          <p:cNvPr id="41" name="TextBox 41"/>
          <p:cNvSpPr txBox="1"/>
          <p:nvPr/>
        </p:nvSpPr>
        <p:spPr>
          <a:xfrm>
            <a:off x="914400" y="384048"/>
            <a:ext cx="13898880" cy="559689"/>
          </a:xfrm>
          <a:prstGeom prst="rect">
            <a:avLst/>
          </a:prstGeom>
        </p:spPr>
        <p:txBody>
          <a:bodyPr lIns="0" tIns="0" rIns="0" bIns="0" rtlCol="0" anchor="t">
            <a:spAutoFit/>
          </a:bodyPr>
          <a:lstStyle/>
          <a:p>
            <a:pPr algn="l">
              <a:lnSpc>
                <a:spcPts val="2640"/>
              </a:lnSpc>
            </a:pPr>
            <a:r>
              <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VẤN ĐỀ 5</a:t>
            </a:r>
            <a:endPar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2" name="TextBox 42"/>
          <p:cNvSpPr txBox="1"/>
          <p:nvPr/>
        </p:nvSpPr>
        <p:spPr>
          <a:xfrm>
            <a:off x="914400" y="2402205"/>
            <a:ext cx="10424160" cy="706755"/>
          </a:xfrm>
          <a:prstGeom prst="rect">
            <a:avLst/>
          </a:prstGeom>
        </p:spPr>
        <p:txBody>
          <a:bodyPr lIns="0" tIns="0" rIns="0" bIns="0" rtlCol="0" anchor="t">
            <a:spAutoFit/>
          </a:bodyPr>
          <a:lstStyle/>
          <a:p>
            <a:pPr marL="675640" lvl="1" indent="-337820" algn="l">
              <a:lnSpc>
                <a:spcPts val="3360"/>
              </a:lnSpc>
              <a:buFont typeface="Times New Roman" panose="02020603050405020304"/>
              <a:buChar char="•"/>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Client đã hiển thị “nhặt được”, server báo </a:t>
            </a: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từ chối</a:t>
            </a:r>
            <a:endPar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3" name="TextBox 43"/>
          <p:cNvSpPr txBox="1"/>
          <p:nvPr/>
        </p:nvSpPr>
        <p:spPr>
          <a:xfrm>
            <a:off x="914400" y="5822061"/>
            <a:ext cx="10424160" cy="3413379"/>
          </a:xfrm>
          <a:prstGeom prst="rect">
            <a:avLst/>
          </a:prstGeom>
        </p:spPr>
        <p:txBody>
          <a:bodyPr lIns="0" tIns="0" rIns="0" bIns="0" rtlCol="0" anchor="t">
            <a:spAutoFit/>
          </a:bodyPr>
          <a:lstStyle/>
          <a:p>
            <a:pPr marL="675640" lvl="1" indent="-337820" algn="l">
              <a:lnSpc>
                <a:spcPts val="3360"/>
              </a:lnSpc>
              <a:buFont typeface="Times New Roman" panose="02020603050405020304"/>
              <a:buChar char="•"/>
            </a:pP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Quay lui:</a:t>
            </a: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 về trạng thái đã xác nhận → mô phỏng lại → vật “bật ra khỏi tay”</a:t>
            </a:r>
            <a:endPar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a:p>
            <a:pPr marL="675640" lvl="1" indent="-337820" algn="l">
              <a:lnSpc>
                <a:spcPts val="3360"/>
              </a:lnSpc>
              <a:buFont typeface="Times New Roman" panose="02020603050405020304"/>
              <a:buChar char="•"/>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Đối chiếu (VĐ2) là </a:t>
            </a: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trường hợp riêng</a:t>
            </a: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 của quay lui</a:t>
            </a:r>
            <a:endPar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4" name="TextBox 44"/>
          <p:cNvSpPr txBox="1"/>
          <p:nvPr/>
        </p:nvSpPr>
        <p:spPr>
          <a:xfrm>
            <a:off x="16550640" y="9517380"/>
            <a:ext cx="731520" cy="495300"/>
          </a:xfrm>
          <a:prstGeom prst="rect">
            <a:avLst/>
          </a:prstGeom>
        </p:spPr>
        <p:txBody>
          <a:bodyPr lIns="0" tIns="0" rIns="0" bIns="0" rtlCol="0" anchor="t">
            <a:spAutoFit/>
          </a:bodyPr>
          <a:lstStyle/>
          <a:p>
            <a:pPr algn="r">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15</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4" name="Header band"/>
          <p:cNvSpPr/>
          <p:nvPr/>
        </p:nvSpPr>
        <p:spPr>
          <a:xfrm>
            <a:off x="0" y="0"/>
            <a:ext cx="18288000" cy="2103120"/>
          </a:xfrm>
          <a:prstGeom prst="rect">
            <a:avLst/>
          </a:prstGeom>
          <a:solidFill>
            <a:srgbClr val="14213D"/>
          </a:solidFill>
          <a:ln>
            <a:noFill/>
          </a:ln>
        </p:spPr>
        <p:txBody>
          <a:bodyPr/>
          <a:p/>
        </p:txBody>
      </p:sp>
      <p:sp>
        <p:nvSpPr>
          <p:cNvPr id="9005" name="Header rule"/>
          <p:cNvSpPr/>
          <p:nvPr/>
        </p:nvSpPr>
        <p:spPr>
          <a:xfrm>
            <a:off x="0" y="2103120"/>
            <a:ext cx="18288000" cy="64008"/>
          </a:xfrm>
          <a:prstGeom prst="rect">
            <a:avLst/>
          </a:prstGeom>
          <a:solidFill>
            <a:srgbClr val="00897B"/>
          </a:solidFill>
          <a:ln>
            <a:noFill/>
          </a:ln>
        </p:spPr>
        <p:txBody>
          <a:bodyPr/>
          <a:p/>
        </p:txBody>
      </p:sp>
      <p:grpSp>
        <p:nvGrpSpPr>
          <p:cNvPr id="2" name="Group 2"/>
          <p:cNvGrpSpPr/>
          <p:nvPr/>
        </p:nvGrpSpPr>
        <p:grpSpPr>
          <a:xfrm rot="0">
            <a:off x="914400" y="9509760"/>
            <a:ext cx="12801600" cy="548640"/>
            <a:chOff x="0" y="0"/>
            <a:chExt cx="17068800" cy="731520"/>
          </a:xfrm>
        </p:grpSpPr>
        <p:sp>
          <p:nvSpPr>
            <p:cNvPr id="3" name="Freeform 3"/>
            <p:cNvSpPr/>
            <p:nvPr/>
          </p:nvSpPr>
          <p:spPr>
            <a:xfrm>
              <a:off x="0" y="0"/>
              <a:ext cx="17068800" cy="731520"/>
            </a:xfrm>
            <a:custGeom>
              <a:avLst/>
              <a:gdLst/>
              <a:ahLst/>
              <a:cxnLst/>
              <a:rect l="l" t="t" r="r" b="b"/>
              <a:pathLst>
                <a:path w="17068800" h="731520">
                  <a:moveTo>
                    <a:pt x="0" y="0"/>
                  </a:moveTo>
                  <a:lnTo>
                    <a:pt x="17068800" y="0"/>
                  </a:lnTo>
                  <a:lnTo>
                    <a:pt x="17068800" y="731520"/>
                  </a:lnTo>
                  <a:lnTo>
                    <a:pt x="0" y="731520"/>
                  </a:lnTo>
                  <a:close/>
                </a:path>
              </a:pathLst>
            </a:custGeom>
            <a:blipFill>
              <a:blip r:embed="rId1">
                <a:alphaModFix amt="0"/>
              </a:blip>
              <a:stretch>
                <a:fillRect t="-404650" b="-404650"/>
              </a:stretch>
            </a:blipFill>
          </p:spPr>
          <p:txBody>
            <a:bodyPr/>
            <a:p/>
          </p:txBody>
        </p:sp>
        <p:sp>
          <p:nvSpPr>
            <p:cNvPr id="4" name="TextBox 4"/>
            <p:cNvSpPr txBox="1"/>
            <p:nvPr/>
          </p:nvSpPr>
          <p:spPr>
            <a:xfrm>
              <a:off x="0" y="-38100"/>
              <a:ext cx="17068800" cy="769620"/>
            </a:xfrm>
            <a:prstGeom prst="rect">
              <a:avLst/>
            </a:prstGeom>
          </p:spPr>
          <p:txBody>
            <a:bodyPr lIns="0" tIns="0" rIns="0" bIns="0" rtlCol="0" anchor="ctr"/>
            <a:lstStyle/>
            <a:p>
              <a:pPr algn="l">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T47 · Kỹ thuật mạng cho game thời gian thực · Lập trình mạng</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5" name="TextBox 5"/>
          <p:cNvSpPr txBox="1"/>
          <p:nvPr/>
        </p:nvSpPr>
        <p:spPr>
          <a:xfrm>
            <a:off x="914400" y="384048"/>
            <a:ext cx="13898880" cy="559689"/>
          </a:xfrm>
          <a:prstGeom prst="rect">
            <a:avLst/>
          </a:prstGeom>
        </p:spPr>
        <p:txBody>
          <a:bodyPr lIns="0" tIns="0" rIns="0" bIns="0" rtlCol="0" anchor="t">
            <a:spAutoFit/>
          </a:bodyPr>
          <a:lstStyle/>
          <a:p>
            <a:pPr algn="l">
              <a:lnSpc>
                <a:spcPts val="2640"/>
              </a:lnSpc>
            </a:pPr>
            <a:r>
              <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TỔNG KẾT PHẦN 2</a:t>
            </a:r>
            <a:endPar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6" name="Group 6"/>
          <p:cNvGrpSpPr/>
          <p:nvPr/>
        </p:nvGrpSpPr>
        <p:grpSpPr>
          <a:xfrm rot="0">
            <a:off x="914400" y="768096"/>
            <a:ext cx="14081760" cy="1097280"/>
            <a:chOff x="0" y="0"/>
            <a:chExt cx="18775680" cy="1463040"/>
          </a:xfrm>
        </p:grpSpPr>
        <p:sp>
          <p:nvSpPr>
            <p:cNvPr id="7" name="Freeform 7"/>
            <p:cNvSpPr/>
            <p:nvPr/>
          </p:nvSpPr>
          <p:spPr>
            <a:xfrm>
              <a:off x="0" y="0"/>
              <a:ext cx="18775680" cy="1463040"/>
            </a:xfrm>
            <a:custGeom>
              <a:avLst/>
              <a:gdLst/>
              <a:ahLst/>
              <a:cxnLst/>
              <a:rect l="l" t="t" r="r" b="b"/>
              <a:pathLst>
                <a:path w="18775680" h="1463040">
                  <a:moveTo>
                    <a:pt x="0" y="0"/>
                  </a:moveTo>
                  <a:lnTo>
                    <a:pt x="18775680" y="0"/>
                  </a:lnTo>
                  <a:lnTo>
                    <a:pt x="18775680" y="1463040"/>
                  </a:lnTo>
                  <a:lnTo>
                    <a:pt x="0" y="1463040"/>
                  </a:lnTo>
                  <a:close/>
                </a:path>
              </a:pathLst>
            </a:custGeom>
            <a:blipFill>
              <a:blip r:embed="rId1">
                <a:alphaModFix amt="0"/>
              </a:blip>
              <a:stretch>
                <a:fillRect t="-200057" b="-200057"/>
              </a:stretch>
            </a:blipFill>
          </p:spPr>
          <p:txBody>
            <a:bodyPr/>
            <a:p/>
          </p:txBody>
        </p:sp>
        <p:sp>
          <p:nvSpPr>
            <p:cNvPr id="8" name="TextBox 8"/>
            <p:cNvSpPr txBox="1"/>
            <p:nvPr/>
          </p:nvSpPr>
          <p:spPr>
            <a:xfrm>
              <a:off x="0" y="-9525"/>
              <a:ext cx="18775680" cy="1472565"/>
            </a:xfrm>
            <a:prstGeom prst="rect">
              <a:avLst/>
            </a:prstGeom>
          </p:spPr>
          <p:txBody>
            <a:bodyPr lIns="0" tIns="0" rIns="0" bIns="0" rtlCol="0" anchor="ctr"/>
            <a:lstStyle/>
            <a:p>
              <a:pPr algn="l">
                <a:lnSpc>
                  <a:spcPts val="6900"/>
                </a:lnSpc>
              </a:pPr>
              <a:r>
                <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rPr>
                <a:t>Năm vấn đề, năm đánh đổi</a:t>
              </a:r>
              <a:endPar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9" name="Group 9"/>
          <p:cNvGrpSpPr/>
          <p:nvPr/>
        </p:nvGrpSpPr>
        <p:grpSpPr>
          <a:xfrm rot="0">
            <a:off x="15257783" y="682247"/>
            <a:ext cx="2128523" cy="647195"/>
            <a:chOff x="0" y="0"/>
            <a:chExt cx="2838031" cy="862927"/>
          </a:xfrm>
        </p:grpSpPr>
        <p:sp>
          <p:nvSpPr>
            <p:cNvPr id="10" name="Freeform 10"/>
            <p:cNvSpPr/>
            <p:nvPr/>
          </p:nvSpPr>
          <p:spPr>
            <a:xfrm>
              <a:off x="0" y="0"/>
              <a:ext cx="2837942" cy="862838"/>
            </a:xfrm>
            <a:custGeom>
              <a:avLst/>
              <a:gdLst/>
              <a:ahLst/>
              <a:cxnLst/>
              <a:rect l="l" t="t" r="r" b="b"/>
              <a:pathLst>
                <a:path w="2837942" h="862838">
                  <a:moveTo>
                    <a:pt x="0" y="431419"/>
                  </a:moveTo>
                  <a:cubicBezTo>
                    <a:pt x="0" y="193167"/>
                    <a:pt x="193167" y="0"/>
                    <a:pt x="431419" y="0"/>
                  </a:cubicBezTo>
                  <a:lnTo>
                    <a:pt x="2406523" y="0"/>
                  </a:lnTo>
                  <a:cubicBezTo>
                    <a:pt x="2644775" y="0"/>
                    <a:pt x="2837942" y="193167"/>
                    <a:pt x="2837942" y="431419"/>
                  </a:cubicBezTo>
                  <a:cubicBezTo>
                    <a:pt x="2837942" y="669671"/>
                    <a:pt x="2644775" y="862838"/>
                    <a:pt x="2406523" y="862838"/>
                  </a:cubicBezTo>
                  <a:lnTo>
                    <a:pt x="431419" y="862838"/>
                  </a:lnTo>
                  <a:cubicBezTo>
                    <a:pt x="193167" y="862965"/>
                    <a:pt x="0" y="669798"/>
                    <a:pt x="0" y="431419"/>
                  </a:cubicBezTo>
                  <a:close/>
                </a:path>
              </a:pathLst>
            </a:custGeom>
            <a:solidFill>
              <a:srgbClr val="F4A259"/>
            </a:solidFill>
            <a:ln w="25400" cap="sq">
              <a:solidFill>
                <a:srgbClr val="F4A259"/>
              </a:solidFill>
              <a:prstDash val="solid"/>
              <a:miter/>
            </a:ln>
          </p:spPr>
          <p:txBody>
            <a:bodyPr/>
            <a:p/>
          </p:txBody>
        </p:sp>
      </p:grpSp>
      <p:grpSp>
        <p:nvGrpSpPr>
          <p:cNvPr id="11" name="Group 11"/>
          <p:cNvGrpSpPr/>
          <p:nvPr/>
        </p:nvGrpSpPr>
        <p:grpSpPr>
          <a:xfrm rot="0">
            <a:off x="15270480" y="694944"/>
            <a:ext cx="2103120" cy="621792"/>
            <a:chOff x="0" y="0"/>
            <a:chExt cx="2804160" cy="829056"/>
          </a:xfrm>
        </p:grpSpPr>
        <p:sp>
          <p:nvSpPr>
            <p:cNvPr id="12" name="Freeform 12"/>
            <p:cNvSpPr/>
            <p:nvPr/>
          </p:nvSpPr>
          <p:spPr>
            <a:xfrm>
              <a:off x="0" y="0"/>
              <a:ext cx="2804160" cy="829056"/>
            </a:xfrm>
            <a:custGeom>
              <a:avLst/>
              <a:gdLst/>
              <a:ahLst/>
              <a:cxnLst/>
              <a:rect l="l" t="t" r="r" b="b"/>
              <a:pathLst>
                <a:path w="2804160" h="829056">
                  <a:moveTo>
                    <a:pt x="0" y="0"/>
                  </a:moveTo>
                  <a:lnTo>
                    <a:pt x="2804160" y="0"/>
                  </a:lnTo>
                  <a:lnTo>
                    <a:pt x="2804160" y="829056"/>
                  </a:lnTo>
                  <a:lnTo>
                    <a:pt x="0" y="829056"/>
                  </a:lnTo>
                  <a:close/>
                </a:path>
              </a:pathLst>
            </a:custGeom>
            <a:blipFill>
              <a:blip r:embed="rId1">
                <a:alphaModFix amt="0"/>
              </a:blip>
              <a:stretch>
                <a:fillRect t="-15905" b="-15905"/>
              </a:stretch>
            </a:blipFill>
          </p:spPr>
        </p:sp>
        <p:sp>
          <p:nvSpPr>
            <p:cNvPr id="13" name="TextBox 13"/>
            <p:cNvSpPr txBox="1"/>
            <p:nvPr/>
          </p:nvSpPr>
          <p:spPr>
            <a:xfrm>
              <a:off x="0" y="-47625"/>
              <a:ext cx="2804160" cy="876681"/>
            </a:xfrm>
            <a:prstGeom prst="rect">
              <a:avLst/>
            </a:prstGeom>
          </p:spPr>
          <p:txBody>
            <a:bodyPr lIns="0" tIns="0" rIns="0" bIns="0" rtlCol="0" anchor="ctr"/>
            <a:lstStyle/>
            <a:p>
              <a:pPr algn="ctr">
                <a:lnSpc>
                  <a:spcPts val="2640"/>
                </a:lnSpc>
              </a:pPr>
              <a:r>
                <a:rPr lang="en-US" sz="2200" b="1">
                  <a:solidFill>
                    <a:srgbClr val="14213D"/>
                  </a:solidFill>
                  <a:latin typeface="Times New Roman" panose="02020603050405020304"/>
                  <a:ea typeface="Times New Roman" panose="02020603050405020304"/>
                  <a:cs typeface="Times New Roman" panose="02020603050405020304"/>
                  <a:sym typeface="Times New Roman" panose="02020603050405020304"/>
                </a:rPr>
                <a:t>#3</a:t>
              </a:r>
              <a:endParaRPr lang="en-US" sz="2200" b="1">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grpSp>
      <p:graphicFrame>
        <p:nvGraphicFramePr>
          <p:cNvPr id="14" name="Table 14"/>
          <p:cNvGraphicFramePr>
            <a:graphicFrameLocks noGrp="1"/>
          </p:cNvGraphicFramePr>
          <p:nvPr/>
        </p:nvGraphicFramePr>
        <p:xfrm>
          <a:off x="914400" y="2468880"/>
          <a:ext cx="16433800" cy="3566160"/>
        </p:xfrm>
        <a:graphic>
          <a:graphicData uri="http://schemas.openxmlformats.org/drawingml/2006/table">
            <a:tbl>
              <a:tblPr/>
              <a:tblGrid>
                <a:gridCol w="5296595"/>
                <a:gridCol w="4752579"/>
                <a:gridCol w="6384626"/>
              </a:tblGrid>
              <a:tr h="594360">
                <a:tc>
                  <a:txBody>
                    <a:bodyPr rtlCol="0"/>
                    <a:lstStyle/>
                    <a:p>
                      <a:pPr algn="l">
                        <a:lnSpc>
                          <a:spcPts val="3120"/>
                        </a:lnSpc>
                        <a:defRPr/>
                      </a:pPr>
                      <a:r>
                        <a:rPr lang="en-US" sz="2600" b="1">
                          <a:solidFill>
                            <a:srgbClr val="FFFFFF"/>
                          </a:solidFill>
                          <a:latin typeface="Times New Roman" panose="02020603050405020304"/>
                          <a:ea typeface="Times New Roman" panose="02020603050405020304"/>
                          <a:cs typeface="Times New Roman" panose="02020603050405020304"/>
                          <a:sym typeface="Times New Roman" panose="02020603050405020304"/>
                        </a:rPr>
                        <a:t>Vấn đề</a:t>
                      </a:r>
                      <a:endParaRPr lang="en-US" sz="1100"/>
                    </a:p>
                  </a:txBody>
                  <a:tcPr marT="91440" marB="91440" anchor="t">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rgbClr val="14213D"/>
                    </a:solidFill>
                  </a:tcPr>
                </a:tc>
                <a:tc>
                  <a:txBody>
                    <a:bodyPr rtlCol="0"/>
                    <a:lstStyle/>
                    <a:p>
                      <a:pPr algn="l">
                        <a:lnSpc>
                          <a:spcPts val="3120"/>
                        </a:lnSpc>
                        <a:defRPr/>
                      </a:pPr>
                      <a:r>
                        <a:rPr lang="en-US" sz="2600" b="1">
                          <a:solidFill>
                            <a:srgbClr val="FFFFFF"/>
                          </a:solidFill>
                          <a:latin typeface="Times New Roman" panose="02020603050405020304"/>
                          <a:ea typeface="Times New Roman" panose="02020603050405020304"/>
                          <a:cs typeface="Times New Roman" panose="02020603050405020304"/>
                          <a:sym typeface="Times New Roman" panose="02020603050405020304"/>
                        </a:rPr>
                        <a:t>Giải pháp</a:t>
                      </a:r>
                      <a:endParaRPr lang="en-US" sz="1100"/>
                    </a:p>
                  </a:txBody>
                  <a:tcPr marT="91440" marB="91440" anchor="t">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rgbClr val="14213D"/>
                    </a:solidFill>
                  </a:tcPr>
                </a:tc>
                <a:tc>
                  <a:txBody>
                    <a:bodyPr rtlCol="0"/>
                    <a:lstStyle/>
                    <a:p>
                      <a:pPr algn="l">
                        <a:lnSpc>
                          <a:spcPts val="3120"/>
                        </a:lnSpc>
                        <a:defRPr/>
                      </a:pPr>
                      <a:r>
                        <a:rPr lang="en-US" sz="2600" b="1">
                          <a:solidFill>
                            <a:srgbClr val="FFFFFF"/>
                          </a:solidFill>
                          <a:latin typeface="Times New Roman" panose="02020603050405020304"/>
                          <a:ea typeface="Times New Roman" panose="02020603050405020304"/>
                          <a:cs typeface="Times New Roman" panose="02020603050405020304"/>
                          <a:sym typeface="Times New Roman" panose="02020603050405020304"/>
                        </a:rPr>
                        <a:t>Đánh đổi</a:t>
                      </a:r>
                      <a:endParaRPr lang="en-US" sz="1100"/>
                    </a:p>
                  </a:txBody>
                  <a:tcPr marT="91440" marB="91440" anchor="t">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rgbClr val="14213D"/>
                    </a:solidFill>
                  </a:tcPr>
                </a:tc>
              </a:tr>
              <a:tr h="594360">
                <a:tc>
                  <a:txBody>
                    <a:bodyPr rtlCol="0"/>
                    <a:lstStyle/>
                    <a:p>
                      <a:pPr algn="l">
                        <a:lnSpc>
                          <a:spcPts val="3360"/>
                        </a:lnSpc>
                        <a:defRPr/>
                      </a:pPr>
                      <a:r>
                        <a:rPr lang="en-US" sz="2800" b="1">
                          <a:solidFill>
                            <a:srgbClr val="00897B"/>
                          </a:solidFill>
                          <a:latin typeface="Times New Roman" panose="02020603050405020304"/>
                          <a:ea typeface="Times New Roman" panose="02020603050405020304"/>
                          <a:cs typeface="Times New Roman" panose="02020603050405020304"/>
                          <a:sym typeface="Times New Roman" panose="02020603050405020304"/>
                        </a:rPr>
                        <a:t>VĐ1  </a:t>
                      </a: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Ai quyết định</a:t>
                      </a:r>
                      <a:endParaRPr lang="en-US" sz="1100"/>
                    </a:p>
                  </a:txBody>
                  <a:tcPr marT="91440" marB="91440" anchor="t">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rgbClr val="FFFFFF"/>
                    </a:solidFill>
                  </a:tcPr>
                </a:tc>
                <a:tc>
                  <a:txBody>
                    <a:bodyPr rtlCol="0"/>
                    <a:lstStyle/>
                    <a:p>
                      <a:pPr algn="l">
                        <a:lnSpc>
                          <a:spcPts val="3360"/>
                        </a:lnSpc>
                        <a:defRPr/>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Server quyết định</a:t>
                      </a:r>
                      <a:endParaRPr lang="en-US" sz="1100"/>
                    </a:p>
                  </a:txBody>
                  <a:tcPr marT="91440" marB="91440" anchor="t">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rgbClr val="FFFFFF"/>
                    </a:solidFill>
                  </a:tcPr>
                </a:tc>
                <a:tc>
                  <a:txBody>
                    <a:bodyPr rtlCol="0"/>
                    <a:lstStyle/>
                    <a:p>
                      <a:pPr algn="l">
                        <a:lnSpc>
                          <a:spcPts val="3360"/>
                        </a:lnSpc>
                        <a:defRPr/>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Trễ 1 RTT</a:t>
                      </a:r>
                      <a:endParaRPr lang="en-US" sz="1100"/>
                    </a:p>
                  </a:txBody>
                  <a:tcPr marT="91440" marB="91440" anchor="t">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rgbClr val="FFFFFF"/>
                    </a:solidFill>
                  </a:tcPr>
                </a:tc>
              </a:tr>
              <a:tr h="594360">
                <a:tc>
                  <a:txBody>
                    <a:bodyPr rtlCol="0"/>
                    <a:lstStyle/>
                    <a:p>
                      <a:pPr algn="l">
                        <a:lnSpc>
                          <a:spcPts val="3360"/>
                        </a:lnSpc>
                        <a:defRPr/>
                      </a:pPr>
                      <a:r>
                        <a:rPr lang="en-US" sz="2800" b="1">
                          <a:solidFill>
                            <a:srgbClr val="00897B"/>
                          </a:solidFill>
                          <a:latin typeface="Times New Roman" panose="02020603050405020304"/>
                          <a:ea typeface="Times New Roman" panose="02020603050405020304"/>
                          <a:cs typeface="Times New Roman" panose="02020603050405020304"/>
                          <a:sym typeface="Times New Roman" panose="02020603050405020304"/>
                        </a:rPr>
                        <a:t>VĐ2  </a:t>
                      </a: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Điều khiển ì</a:t>
                      </a:r>
                      <a:endParaRPr lang="en-US" sz="1100"/>
                    </a:p>
                  </a:txBody>
                  <a:tcPr marT="91440" marB="91440" anchor="t">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rgbClr val="EEF3F8"/>
                    </a:solidFill>
                  </a:tcPr>
                </a:tc>
                <a:tc>
                  <a:txBody>
                    <a:bodyPr rtlCol="0"/>
                    <a:lstStyle/>
                    <a:p>
                      <a:pPr algn="l">
                        <a:lnSpc>
                          <a:spcPts val="3360"/>
                        </a:lnSpc>
                        <a:defRPr/>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Dự đoán + đối chiếu</a:t>
                      </a:r>
                      <a:endParaRPr lang="en-US" sz="1100"/>
                    </a:p>
                  </a:txBody>
                  <a:tcPr marT="91440" marB="91440" anchor="t">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rgbClr val="EEF3F8"/>
                    </a:solidFill>
                  </a:tcPr>
                </a:tc>
                <a:tc>
                  <a:txBody>
                    <a:bodyPr rtlCol="0"/>
                    <a:lstStyle/>
                    <a:p>
                      <a:pPr algn="l">
                        <a:lnSpc>
                          <a:spcPts val="3360"/>
                        </a:lnSpc>
                        <a:defRPr/>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Cần mô phỏng chung</a:t>
                      </a:r>
                      <a:endParaRPr lang="en-US" sz="1100"/>
                    </a:p>
                  </a:txBody>
                  <a:tcPr marT="91440" marB="91440" anchor="t">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rgbClr val="EEF3F8"/>
                    </a:solidFill>
                  </a:tcPr>
                </a:tc>
              </a:tr>
              <a:tr h="594360">
                <a:tc>
                  <a:txBody>
                    <a:bodyPr rtlCol="0"/>
                    <a:lstStyle/>
                    <a:p>
                      <a:pPr algn="l">
                        <a:lnSpc>
                          <a:spcPts val="3360"/>
                        </a:lnSpc>
                        <a:defRPr/>
                      </a:pPr>
                      <a:r>
                        <a:rPr lang="en-US" sz="2800" b="1">
                          <a:solidFill>
                            <a:srgbClr val="00897B"/>
                          </a:solidFill>
                          <a:latin typeface="Times New Roman" panose="02020603050405020304"/>
                          <a:ea typeface="Times New Roman" panose="02020603050405020304"/>
                          <a:cs typeface="Times New Roman" panose="02020603050405020304"/>
                          <a:sym typeface="Times New Roman" panose="02020603050405020304"/>
                        </a:rPr>
                        <a:t>VĐ3  </a:t>
                      </a: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Đối thủ giật</a:t>
                      </a:r>
                      <a:endParaRPr lang="en-US" sz="1100"/>
                    </a:p>
                  </a:txBody>
                  <a:tcPr marT="91440" marB="91440" anchor="t">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rgbClr val="FFFFFF"/>
                    </a:solidFill>
                  </a:tcPr>
                </a:tc>
                <a:tc>
                  <a:txBody>
                    <a:bodyPr rtlCol="0"/>
                    <a:lstStyle/>
                    <a:p>
                      <a:pPr algn="l">
                        <a:lnSpc>
                          <a:spcPts val="3360"/>
                        </a:lnSpc>
                        <a:defRPr/>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Nội suy</a:t>
                      </a:r>
                      <a:endParaRPr lang="en-US" sz="1100"/>
                    </a:p>
                  </a:txBody>
                  <a:tcPr marT="91440" marB="91440" anchor="t">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rgbClr val="FFFFFF"/>
                    </a:solidFill>
                  </a:tcPr>
                </a:tc>
                <a:tc>
                  <a:txBody>
                    <a:bodyPr rtlCol="0"/>
                    <a:lstStyle/>
                    <a:p>
                      <a:pPr algn="l">
                        <a:lnSpc>
                          <a:spcPts val="3360"/>
                        </a:lnSpc>
                        <a:defRPr/>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Thấy đối thủ ở quá khứ</a:t>
                      </a:r>
                      <a:endParaRPr lang="en-US" sz="1100"/>
                    </a:p>
                  </a:txBody>
                  <a:tcPr marT="91440" marB="91440" anchor="t">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rgbClr val="FFFFFF"/>
                    </a:solidFill>
                  </a:tcPr>
                </a:tc>
              </a:tr>
              <a:tr h="594360">
                <a:tc>
                  <a:txBody>
                    <a:bodyPr rtlCol="0"/>
                    <a:lstStyle/>
                    <a:p>
                      <a:pPr algn="l">
                        <a:lnSpc>
                          <a:spcPts val="3360"/>
                        </a:lnSpc>
                        <a:defRPr/>
                      </a:pPr>
                      <a:r>
                        <a:rPr lang="en-US" sz="2800" b="1">
                          <a:solidFill>
                            <a:srgbClr val="00897B"/>
                          </a:solidFill>
                          <a:latin typeface="Times New Roman" panose="02020603050405020304"/>
                          <a:ea typeface="Times New Roman" panose="02020603050405020304"/>
                          <a:cs typeface="Times New Roman" panose="02020603050405020304"/>
                          <a:sym typeface="Times New Roman" panose="02020603050405020304"/>
                        </a:rPr>
                        <a:t>VĐ4  </a:t>
                      </a: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Tranh chấp không công bằng</a:t>
                      </a:r>
                      <a:endParaRPr lang="en-US" sz="1100"/>
                    </a:p>
                  </a:txBody>
                  <a:tcPr marT="91440" marB="91440" anchor="t">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rgbClr val="EEF3F8"/>
                    </a:solidFill>
                  </a:tcPr>
                </a:tc>
                <a:tc>
                  <a:txBody>
                    <a:bodyPr rtlCol="0"/>
                    <a:lstStyle/>
                    <a:p>
                      <a:pPr algn="l">
                        <a:lnSpc>
                          <a:spcPts val="3360"/>
                        </a:lnSpc>
                        <a:defRPr/>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Bù trễ</a:t>
                      </a:r>
                      <a:endParaRPr lang="en-US" sz="1100"/>
                    </a:p>
                  </a:txBody>
                  <a:tcPr marT="91440" marB="91440" anchor="t">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rgbClr val="EEF3F8"/>
                    </a:solidFill>
                  </a:tcPr>
                </a:tc>
                <a:tc>
                  <a:txBody>
                    <a:bodyPr rtlCol="0"/>
                    <a:lstStyle/>
                    <a:p>
                      <a:pPr algn="l">
                        <a:lnSpc>
                          <a:spcPts val="3360"/>
                        </a:lnSpc>
                        <a:defRPr/>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“Chạy rồi vẫn bị bắt”</a:t>
                      </a:r>
                      <a:endParaRPr lang="en-US" sz="1100"/>
                    </a:p>
                  </a:txBody>
                  <a:tcPr marT="91440" marB="91440" anchor="t">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rgbClr val="EEF3F8"/>
                    </a:solidFill>
                  </a:tcPr>
                </a:tc>
              </a:tr>
              <a:tr h="594360">
                <a:tc>
                  <a:txBody>
                    <a:bodyPr rtlCol="0"/>
                    <a:lstStyle/>
                    <a:p>
                      <a:pPr algn="l">
                        <a:lnSpc>
                          <a:spcPts val="3360"/>
                        </a:lnSpc>
                        <a:defRPr/>
                      </a:pPr>
                      <a:r>
                        <a:rPr lang="en-US" sz="2800" b="1">
                          <a:solidFill>
                            <a:srgbClr val="00897B"/>
                          </a:solidFill>
                          <a:latin typeface="Times New Roman" panose="02020603050405020304"/>
                          <a:ea typeface="Times New Roman" panose="02020603050405020304"/>
                          <a:cs typeface="Times New Roman" panose="02020603050405020304"/>
                          <a:sym typeface="Times New Roman" panose="02020603050405020304"/>
                        </a:rPr>
                        <a:t>VĐ5  </a:t>
                      </a: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Dự đoán sai</a:t>
                      </a:r>
                      <a:endParaRPr lang="en-US" sz="1100"/>
                    </a:p>
                  </a:txBody>
                  <a:tcPr marT="91440" marB="91440" anchor="t">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rgbClr val="FFFFFF"/>
                    </a:solidFill>
                  </a:tcPr>
                </a:tc>
                <a:tc>
                  <a:txBody>
                    <a:bodyPr rtlCol="0"/>
                    <a:lstStyle/>
                    <a:p>
                      <a:pPr algn="l">
                        <a:lnSpc>
                          <a:spcPts val="3360"/>
                        </a:lnSpc>
                        <a:defRPr/>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Quay lui</a:t>
                      </a:r>
                      <a:endParaRPr lang="en-US" sz="1100"/>
                    </a:p>
                  </a:txBody>
                  <a:tcPr marT="91440" marB="91440" anchor="t">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rgbClr val="FFFFFF"/>
                    </a:solidFill>
                  </a:tcPr>
                </a:tc>
                <a:tc>
                  <a:txBody>
                    <a:bodyPr rtlCol="0"/>
                    <a:lstStyle/>
                    <a:p>
                      <a:pPr algn="l">
                        <a:lnSpc>
                          <a:spcPts val="3360"/>
                        </a:lnSpc>
                        <a:defRPr/>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Thỉnh thoảng thấy hành động bị huỷ</a:t>
                      </a:r>
                      <a:endParaRPr lang="en-US" sz="1100"/>
                    </a:p>
                  </a:txBody>
                  <a:tcPr marT="91440" marB="91440" anchor="t">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rgbClr val="FFFFFF"/>
                    </a:solidFill>
                  </a:tcPr>
                </a:tc>
              </a:tr>
            </a:tbl>
          </a:graphicData>
        </a:graphic>
      </p:graphicFrame>
      <p:sp>
        <p:nvSpPr>
          <p:cNvPr id="20" name="TextBox 20"/>
          <p:cNvSpPr txBox="1"/>
          <p:nvPr/>
        </p:nvSpPr>
        <p:spPr>
          <a:xfrm>
            <a:off x="16550640" y="9517380"/>
            <a:ext cx="731520" cy="495300"/>
          </a:xfrm>
          <a:prstGeom prst="rect">
            <a:avLst/>
          </a:prstGeom>
        </p:spPr>
        <p:txBody>
          <a:bodyPr lIns="0" tIns="0" rIns="0" bIns="0" rtlCol="0" anchor="t">
            <a:spAutoFit/>
          </a:bodyPr>
          <a:lstStyle/>
          <a:p>
            <a:pPr algn="r">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16</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006" name="Ket luan band"/>
          <p:cNvSpPr/>
          <p:nvPr/>
        </p:nvSpPr>
        <p:spPr>
          <a:xfrm>
            <a:off x="914400" y="6309360"/>
            <a:ext cx="16459200" cy="292608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7" name="Ket luan text"/>
          <p:cNvSpPr txBox="1"/>
          <p:nvPr/>
        </p:nvSpPr>
        <p:spPr>
          <a:xfrm>
            <a:off x="1463040" y="6629400"/>
            <a:ext cx="15361920" cy="2286000"/>
          </a:xfrm>
          <a:prstGeom prst="rect">
            <a:avLst/>
          </a:prstGeom>
          <a:noFill/>
        </p:spPr>
        <p:txBody>
          <a:bodyPr wrap="square" lIns="0" tIns="0" rIns="0" bIns="0" anchor="ctr">
            <a:spAutoFit/>
          </a:bodyPr>
          <a:lstStyle/>
          <a:p>
            <a:pPr>
              <a:lnSpc>
                <a:spcPts val="3200"/>
              </a:lnSpc>
            </a:pPr>
            <a:r>
              <a:rPr sz="2600" b="1" i="0">
                <a:solidFill>
                  <a:srgbClr val="BFE8E3"/>
                </a:solidFill>
                <a:latin typeface="Times New Roman"/>
              </a:rPr>
              <a:t>Kết luận: </a:t>
            </a:r>
            <a:r>
              <a:rPr sz="2600" b="0" i="0">
                <a:solidFill>
                  <a:srgbClr val="FFFFFF"/>
                </a:solidFill>
                <a:latin typeface="Times New Roman"/>
              </a:rPr>
              <a:t>không kỹ thuật nào xoá được độ trễ, chỉ chuyển nó sang chỗ ít bị để ý hơn. Mỗi giải pháp đều phải trả bằng một đánh đổi.</a:t>
            </a:r>
          </a:p>
          <a:p>
            <a:pPr>
              <a:lnSpc>
                <a:spcPts val="3200"/>
              </a:lnSpc>
              <a:spcBef>
                <a:spcPts val="1400"/>
              </a:spcBef>
            </a:pPr>
            <a:r>
              <a:rPr sz="2600" b="1" i="0">
                <a:solidFill>
                  <a:srgbClr val="F4A259"/>
                </a:solidFill>
                <a:latin typeface="Times New Roman"/>
              </a:rPr>
              <a:t>→ Phần 3: </a:t>
            </a:r>
            <a:r>
              <a:rPr sz="2600" b="0" i="0">
                <a:solidFill>
                  <a:srgbClr val="FFFFFF"/>
                </a:solidFill>
                <a:latin typeface="Times New Roman"/>
              </a:rPr>
              <a:t>kiểm chứng cả 5 kỹ thuật trên một game có đủ hai tình huống: </a:t>
            </a:r>
            <a:r>
              <a:rPr sz="2600" b="1" i="0">
                <a:solidFill>
                  <a:srgbClr val="FFFFFF"/>
                </a:solidFill>
                <a:latin typeface="Times New Roman"/>
              </a:rPr>
              <a:t>di chuyển liên tục</a:t>
            </a:r>
            <a:r>
              <a:rPr sz="2600" b="0" i="0">
                <a:solidFill>
                  <a:srgbClr val="FFFFFF"/>
                </a:solidFill>
                <a:latin typeface="Times New Roman"/>
              </a:rPr>
              <a:t> (VĐ1–VĐ3) và </a:t>
            </a:r>
            <a:r>
              <a:rPr sz="2600" b="1" i="0">
                <a:solidFill>
                  <a:srgbClr val="FFFFFF"/>
                </a:solidFill>
                <a:latin typeface="Times New Roman"/>
              </a:rPr>
              <a:t>tranh chấp một món hàng</a:t>
            </a:r>
            <a:r>
              <a:rPr sz="2600" b="0" i="0">
                <a:solidFill>
                  <a:srgbClr val="FFFFFF"/>
                </a:solidFill>
                <a:latin typeface="Times New Roman"/>
              </a:rPr>
              <a:t> (VĐ4–VĐ5).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1626"/>
        </a:solidFill>
        <a:effectLst/>
      </p:bgPr>
    </p:bg>
    <p:spTree>
      <p:nvGrpSpPr>
        <p:cNvPr id="1" name=""/>
        <p:cNvGrpSpPr/>
        <p:nvPr/>
      </p:nvGrpSpPr>
      <p:grpSpPr>
        <a:xfrm>
          <a:off x="0" y="0"/>
          <a:ext cx="0" cy="0"/>
          <a:chOff x="0" y="0"/>
          <a:chExt cx="0" cy="0"/>
        </a:xfrm>
      </p:grpSpPr>
      <p:sp>
        <p:nvSpPr>
          <p:cNvPr id="2" name="TextBox 2"/>
          <p:cNvSpPr txBox="1"/>
          <p:nvPr/>
        </p:nvSpPr>
        <p:spPr>
          <a:xfrm>
            <a:off x="1097280" y="2377440"/>
            <a:ext cx="10607040" cy="1234440"/>
          </a:xfrm>
          <a:prstGeom prst="rect">
            <a:avLst/>
          </a:prstGeom>
        </p:spPr>
        <p:txBody>
          <a:bodyPr lIns="0" tIns="0" rIns="0" bIns="0" rtlCol="0" anchor="t">
            <a:spAutoFit/>
          </a:bodyPr>
          <a:lstStyle/>
          <a:p>
            <a:pPr algn="l">
              <a:lnSpc>
                <a:spcPct val="90000"/>
              </a:lnSpc>
            </a:pPr>
            <a:r>
              <a:rPr lang="vi-VN" sz="9600" b="1" spc="200">
                <a:solidFill>
                  <a:srgbClr val="BFE8E3"/>
                </a:solidFill>
                <a:latin typeface="Times New Roman" panose="02020603050405020304"/>
                <a:ea typeface="Times New Roman" panose="02020603050405020304"/>
                <a:cs typeface="Times New Roman" panose="02020603050405020304"/>
                <a:sym typeface="Times New Roman" panose="02020603050405020304"/>
              </a:rPr>
              <a:t>PHẦN </a:t>
            </a:r>
            <a:r>
              <a:rPr lang="vi-VN" sz="9600" b="1" spc="200">
                <a:solidFill>
                  <a:srgbClr val="00897B"/>
                </a:solidFill>
                <a:latin typeface="Times New Roman" panose="02020603050405020304"/>
                <a:ea typeface="Times New Roman" panose="02020603050405020304"/>
                <a:cs typeface="Times New Roman" panose="02020603050405020304"/>
                <a:sym typeface="Times New Roman" panose="02020603050405020304"/>
              </a:rPr>
              <a:t>3</a:t>
            </a:r>
            <a:endParaRPr lang="vi-VN" sz="9600" b="1" spc="200">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TextBox 3"/>
          <p:cNvSpPr txBox="1"/>
          <p:nvPr/>
        </p:nvSpPr>
        <p:spPr>
          <a:xfrm>
            <a:off x="1097280" y="4160520"/>
            <a:ext cx="10607040" cy="2661285"/>
          </a:xfrm>
          <a:prstGeom prst="rect">
            <a:avLst/>
          </a:prstGeom>
        </p:spPr>
        <p:txBody>
          <a:bodyPr lIns="0" tIns="0" rIns="0" bIns="0" rtlCol="0" anchor="t">
            <a:spAutoFit/>
          </a:bodyPr>
          <a:lstStyle/>
          <a:p>
            <a:pPr algn="l">
              <a:lnSpc>
                <a:spcPts val="5760"/>
              </a:lnSpc>
            </a:pPr>
            <a:r>
              <a:rPr lang="en-US" sz="4800" b="1">
                <a:solidFill>
                  <a:srgbClr val="FFFFFF"/>
                </a:solidFill>
                <a:latin typeface="Times New Roman" panose="02020603050405020304"/>
                <a:ea typeface="Times New Roman" panose="02020603050405020304"/>
                <a:cs typeface="Times New Roman" panose="02020603050405020304"/>
                <a:sym typeface="Times New Roman" panose="02020603050405020304"/>
              </a:rPr>
              <a:t>Áp dụng và demo</a:t>
            </a:r>
            <a:endParaRPr lang="en-US" sz="48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 name="TextBox 4"/>
          <p:cNvSpPr txBox="1"/>
          <p:nvPr/>
        </p:nvSpPr>
        <p:spPr>
          <a:xfrm>
            <a:off x="1097280" y="5212080"/>
            <a:ext cx="10607040" cy="1000125"/>
          </a:xfrm>
          <a:prstGeom prst="rect">
            <a:avLst/>
          </a:prstGeom>
        </p:spPr>
        <p:txBody>
          <a:bodyPr lIns="0" tIns="0" rIns="0" bIns="0" rtlCol="0" anchor="t">
            <a:spAutoFit/>
          </a:bodyPr>
          <a:lstStyle/>
          <a:p>
            <a:pPr algn="l">
              <a:lnSpc>
                <a:spcPts val="3840"/>
              </a:lnSpc>
            </a:pPr>
            <a:r>
              <a:rPr lang="en-US" sz="3200" b="1">
                <a:solidFill>
                  <a:srgbClr val="BFE8E3"/>
                </a:solidFill>
                <a:latin typeface="Times New Roman" panose="02020603050405020304"/>
                <a:ea typeface="Times New Roman" panose="02020603050405020304"/>
                <a:cs typeface="Times New Roman" panose="02020603050405020304"/>
                <a:sym typeface="Times New Roman" panose="02020603050405020304"/>
              </a:rPr>
              <a:t>Game xếp đơn hàng siêu thị · demo sơ bộ</a:t>
            </a:r>
            <a:endParaRPr lang="en-US" sz="3200" b="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 name="TextBox 5"/>
          <p:cNvSpPr txBox="1"/>
          <p:nvPr/>
        </p:nvSpPr>
        <p:spPr>
          <a:xfrm>
            <a:off x="1097280" y="5989320"/>
            <a:ext cx="10607040" cy="2251710"/>
          </a:xfrm>
          <a:prstGeom prst="rect">
            <a:avLst/>
          </a:prstGeom>
        </p:spPr>
        <p:txBody>
          <a:bodyPr lIns="0" tIns="0" rIns="0" bIns="0" rtlCol="0" anchor="t">
            <a:spAutoFit/>
          </a:bodyPr>
          <a:lstStyle/>
          <a:p>
            <a:pPr algn="l">
              <a:lnSpc>
                <a:spcPts val="2880"/>
              </a:lnSpc>
            </a:pPr>
            <a:r>
              <a:rPr lang="en-US" sz="2400">
                <a:solidFill>
                  <a:srgbClr val="FFFFFF"/>
                </a:solidFill>
                <a:latin typeface="Times New Roman" panose="02020603050405020304"/>
                <a:ea typeface="Times New Roman" panose="02020603050405020304"/>
                <a:cs typeface="Times New Roman" panose="02020603050405020304"/>
                <a:sym typeface="Times New Roman" panose="02020603050405020304"/>
              </a:rPr>
              <a:t>Trình bày: #3  ·  #2 điều khiển client B trong demo</a:t>
            </a:r>
            <a:endParaRPr lang="en-US" sz="2400">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 name="AutoShape 6"/>
          <p:cNvSpPr/>
          <p:nvPr/>
        </p:nvSpPr>
        <p:spPr>
          <a:xfrm rot="-3820860">
            <a:off x="11596345" y="4882515"/>
            <a:ext cx="4239301" cy="0"/>
          </a:xfrm>
          <a:prstGeom prst="line">
            <a:avLst/>
          </a:prstGeom>
          <a:ln w="19050" cap="rnd">
            <a:solidFill>
              <a:srgbClr val="BFE8E3"/>
            </a:solidFill>
            <a:prstDash val="solid"/>
            <a:headEnd type="none" w="sm" len="sm"/>
            <a:tailEnd type="none" w="sm" len="sm"/>
          </a:ln>
        </p:spPr>
      </p:sp>
      <p:sp>
        <p:nvSpPr>
          <p:cNvPr id="7" name="AutoShape 7"/>
          <p:cNvSpPr/>
          <p:nvPr/>
        </p:nvSpPr>
        <p:spPr>
          <a:xfrm rot="3820860">
            <a:off x="13425145" y="4882515"/>
            <a:ext cx="4239301" cy="0"/>
          </a:xfrm>
          <a:prstGeom prst="line">
            <a:avLst/>
          </a:prstGeom>
          <a:ln w="19050" cap="rnd">
            <a:solidFill>
              <a:srgbClr val="BFE8E3"/>
            </a:solidFill>
            <a:prstDash val="solid"/>
            <a:headEnd type="none" w="sm" len="sm"/>
            <a:tailEnd type="none" w="sm" len="sm"/>
          </a:ln>
        </p:spPr>
      </p:sp>
      <p:grpSp>
        <p:nvGrpSpPr>
          <p:cNvPr id="8" name="Group 8"/>
          <p:cNvGrpSpPr/>
          <p:nvPr/>
        </p:nvGrpSpPr>
        <p:grpSpPr>
          <a:xfrm rot="0">
            <a:off x="13282679" y="5295395"/>
            <a:ext cx="318011" cy="318011"/>
            <a:chOff x="0" y="0"/>
            <a:chExt cx="424015" cy="424015"/>
          </a:xfrm>
        </p:grpSpPr>
        <p:sp>
          <p:nvSpPr>
            <p:cNvPr id="9" name="Freeform 9"/>
            <p:cNvSpPr/>
            <p:nvPr/>
          </p:nvSpPr>
          <p:spPr>
            <a:xfrm>
              <a:off x="0" y="0"/>
              <a:ext cx="424053" cy="424053"/>
            </a:xfrm>
            <a:custGeom>
              <a:avLst/>
              <a:gdLst/>
              <a:ahLst/>
              <a:cxnLst/>
              <a:rect l="l" t="t" r="r" b="b"/>
              <a:pathLst>
                <a:path w="424053" h="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00897B"/>
            </a:solidFill>
            <a:ln w="25400" cap="sq">
              <a:solidFill>
                <a:srgbClr val="00897B"/>
              </a:solidFill>
              <a:prstDash val="solid"/>
              <a:miter/>
            </a:ln>
          </p:spPr>
        </p:sp>
      </p:grpSp>
      <p:grpSp>
        <p:nvGrpSpPr>
          <p:cNvPr id="10" name="Group 10"/>
          <p:cNvGrpSpPr/>
          <p:nvPr/>
        </p:nvGrpSpPr>
        <p:grpSpPr>
          <a:xfrm rot="0">
            <a:off x="13831319" y="4170683"/>
            <a:ext cx="318011" cy="318011"/>
            <a:chOff x="0" y="0"/>
            <a:chExt cx="424015" cy="424015"/>
          </a:xfrm>
        </p:grpSpPr>
        <p:sp>
          <p:nvSpPr>
            <p:cNvPr id="11" name="Freeform 11"/>
            <p:cNvSpPr/>
            <p:nvPr/>
          </p:nvSpPr>
          <p:spPr>
            <a:xfrm>
              <a:off x="0" y="0"/>
              <a:ext cx="424053" cy="424053"/>
            </a:xfrm>
            <a:custGeom>
              <a:avLst/>
              <a:gdLst/>
              <a:ahLst/>
              <a:cxnLst/>
              <a:rect l="l" t="t" r="r" b="b"/>
              <a:pathLst>
                <a:path w="424053" h="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F4A259"/>
            </a:solidFill>
            <a:ln w="25400" cap="sq">
              <a:solidFill>
                <a:srgbClr val="F4A259"/>
              </a:solidFill>
              <a:prstDash val="solid"/>
              <a:miter/>
            </a:ln>
          </p:spPr>
        </p:sp>
      </p:grpSp>
      <p:grpSp>
        <p:nvGrpSpPr>
          <p:cNvPr id="12" name="Group 12"/>
          <p:cNvGrpSpPr/>
          <p:nvPr/>
        </p:nvGrpSpPr>
        <p:grpSpPr>
          <a:xfrm rot="0">
            <a:off x="15568679" y="5107943"/>
            <a:ext cx="318011" cy="318011"/>
            <a:chOff x="0" y="0"/>
            <a:chExt cx="424015" cy="424015"/>
          </a:xfrm>
        </p:grpSpPr>
        <p:sp>
          <p:nvSpPr>
            <p:cNvPr id="13" name="Freeform 13"/>
            <p:cNvSpPr/>
            <p:nvPr/>
          </p:nvSpPr>
          <p:spPr>
            <a:xfrm>
              <a:off x="0" y="0"/>
              <a:ext cx="424053" cy="424053"/>
            </a:xfrm>
            <a:custGeom>
              <a:avLst/>
              <a:gdLst/>
              <a:ahLst/>
              <a:cxnLst/>
              <a:rect l="l" t="t" r="r" b="b"/>
              <a:pathLst>
                <a:path w="424053" h="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F4A259"/>
            </a:solidFill>
            <a:ln w="25400" cap="sq">
              <a:solidFill>
                <a:srgbClr val="F4A259"/>
              </a:solidFill>
              <a:prstDash val="solid"/>
              <a:miter/>
            </a:ln>
          </p:spPr>
        </p:sp>
      </p:grpSp>
      <p:grpSp>
        <p:nvGrpSpPr>
          <p:cNvPr id="14" name="Group 14"/>
          <p:cNvGrpSpPr/>
          <p:nvPr/>
        </p:nvGrpSpPr>
        <p:grpSpPr>
          <a:xfrm rot="0">
            <a:off x="15020039" y="3983231"/>
            <a:ext cx="318011" cy="318011"/>
            <a:chOff x="0" y="0"/>
            <a:chExt cx="424015" cy="424015"/>
          </a:xfrm>
        </p:grpSpPr>
        <p:sp>
          <p:nvSpPr>
            <p:cNvPr id="15" name="Freeform 15"/>
            <p:cNvSpPr/>
            <p:nvPr/>
          </p:nvSpPr>
          <p:spPr>
            <a:xfrm>
              <a:off x="0" y="0"/>
              <a:ext cx="424053" cy="424053"/>
            </a:xfrm>
            <a:custGeom>
              <a:avLst/>
              <a:gdLst/>
              <a:ahLst/>
              <a:cxnLst/>
              <a:rect l="l" t="t" r="r" b="b"/>
              <a:pathLst>
                <a:path w="424053" h="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00897B"/>
            </a:solidFill>
            <a:ln w="25400" cap="sq">
              <a:solidFill>
                <a:srgbClr val="00897B"/>
              </a:solidFill>
              <a:prstDash val="solid"/>
              <a:miter/>
            </a:ln>
          </p:spPr>
        </p:sp>
      </p:grpSp>
      <p:grpSp>
        <p:nvGrpSpPr>
          <p:cNvPr id="16" name="Group 16"/>
          <p:cNvGrpSpPr/>
          <p:nvPr/>
        </p:nvGrpSpPr>
        <p:grpSpPr>
          <a:xfrm rot="0">
            <a:off x="13690597" y="2077717"/>
            <a:ext cx="1879597" cy="1879597"/>
            <a:chOff x="0" y="0"/>
            <a:chExt cx="2506129" cy="2506129"/>
          </a:xfrm>
        </p:grpSpPr>
        <p:sp>
          <p:nvSpPr>
            <p:cNvPr id="17" name="Freeform 17"/>
            <p:cNvSpPr/>
            <p:nvPr/>
          </p:nvSpPr>
          <p:spPr>
            <a:xfrm>
              <a:off x="0" y="0"/>
              <a:ext cx="2506218" cy="2506218"/>
            </a:xfrm>
            <a:custGeom>
              <a:avLst/>
              <a:gdLst/>
              <a:ahLst/>
              <a:cxnLst/>
              <a:rect l="l" t="t" r="r" b="b"/>
              <a:pathLst>
                <a:path w="2506218" h="2506218">
                  <a:moveTo>
                    <a:pt x="0" y="1253109"/>
                  </a:moveTo>
                  <a:cubicBezTo>
                    <a:pt x="0" y="560959"/>
                    <a:pt x="560959" y="0"/>
                    <a:pt x="1253109" y="0"/>
                  </a:cubicBezTo>
                  <a:cubicBezTo>
                    <a:pt x="1945259" y="0"/>
                    <a:pt x="2506218" y="560959"/>
                    <a:pt x="2506218" y="1253109"/>
                  </a:cubicBezTo>
                  <a:cubicBezTo>
                    <a:pt x="2506218" y="1945259"/>
                    <a:pt x="1945259" y="2506218"/>
                    <a:pt x="1253109" y="2506218"/>
                  </a:cubicBezTo>
                  <a:cubicBezTo>
                    <a:pt x="560959" y="2506218"/>
                    <a:pt x="0" y="1945132"/>
                    <a:pt x="0" y="1253109"/>
                  </a:cubicBezTo>
                  <a:close/>
                </a:path>
              </a:pathLst>
            </a:custGeom>
            <a:solidFill>
              <a:srgbClr val="00897B"/>
            </a:solidFill>
            <a:ln w="50800" cap="sq">
              <a:solidFill>
                <a:srgbClr val="BFE8E3"/>
              </a:solidFill>
              <a:prstDash val="solid"/>
              <a:miter/>
            </a:ln>
          </p:spPr>
        </p:sp>
      </p:grpSp>
      <p:grpSp>
        <p:nvGrpSpPr>
          <p:cNvPr id="18" name="Group 18"/>
          <p:cNvGrpSpPr/>
          <p:nvPr/>
        </p:nvGrpSpPr>
        <p:grpSpPr>
          <a:xfrm rot="0">
            <a:off x="13716000" y="2103120"/>
            <a:ext cx="1828800" cy="1828800"/>
            <a:chOff x="0" y="0"/>
            <a:chExt cx="2438400" cy="2438400"/>
          </a:xfrm>
        </p:grpSpPr>
        <p:sp>
          <p:nvSpPr>
            <p:cNvPr id="19" name="Freeform 19"/>
            <p:cNvSpPr/>
            <p:nvPr/>
          </p:nvSpPr>
          <p:spPr>
            <a:xfrm>
              <a:off x="0" y="0"/>
              <a:ext cx="2438400" cy="2438400"/>
            </a:xfrm>
            <a:custGeom>
              <a:avLst/>
              <a:gdLst/>
              <a:ahLst/>
              <a:cxnLst/>
              <a:rect l="l" t="t" r="r" b="b"/>
              <a:pathLst>
                <a:path w="2438400" h="2438400">
                  <a:moveTo>
                    <a:pt x="0" y="0"/>
                  </a:moveTo>
                  <a:lnTo>
                    <a:pt x="2438400" y="0"/>
                  </a:lnTo>
                  <a:lnTo>
                    <a:pt x="2438400" y="2438400"/>
                  </a:lnTo>
                  <a:lnTo>
                    <a:pt x="0" y="2438400"/>
                  </a:lnTo>
                  <a:close/>
                </a:path>
              </a:pathLst>
            </a:custGeom>
            <a:blipFill>
              <a:blip r:embed="rId1">
                <a:alphaModFix amt="0"/>
              </a:blip>
              <a:stretch>
                <a:fillRect l="-78303" r="-78303"/>
              </a:stretch>
            </a:blipFill>
          </p:spPr>
        </p:sp>
        <p:sp>
          <p:nvSpPr>
            <p:cNvPr id="20" name="TextBox 20"/>
            <p:cNvSpPr txBox="1"/>
            <p:nvPr/>
          </p:nvSpPr>
          <p:spPr>
            <a:xfrm>
              <a:off x="0" y="-57150"/>
              <a:ext cx="2438400" cy="2495550"/>
            </a:xfrm>
            <a:prstGeom prst="rect">
              <a:avLst/>
            </a:prstGeom>
          </p:spPr>
          <p:txBody>
            <a:bodyPr lIns="0" tIns="0" rIns="0" bIns="0" rtlCol="0" anchor="ctr"/>
            <a:lstStyle/>
            <a:p>
              <a:pPr algn="ctr">
                <a:lnSpc>
                  <a:spcPts val="3120"/>
                </a:lnSpc>
              </a:pPr>
              <a:r>
                <a:rPr lang="en-US" sz="2600" b="1">
                  <a:solidFill>
                    <a:srgbClr val="FFFFFF"/>
                  </a:solidFill>
                  <a:latin typeface="Times New Roman" panose="02020603050405020304"/>
                  <a:ea typeface="Times New Roman" panose="02020603050405020304"/>
                  <a:cs typeface="Times New Roman" panose="02020603050405020304"/>
                  <a:sym typeface="Times New Roman" panose="02020603050405020304"/>
                </a:rPr>
                <a:t>Server</a:t>
              </a:r>
              <a:endParaRPr lang="en-US" sz="26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1" name="Group 21"/>
          <p:cNvGrpSpPr/>
          <p:nvPr/>
        </p:nvGrpSpPr>
        <p:grpSpPr>
          <a:xfrm rot="0">
            <a:off x="11953237" y="5918197"/>
            <a:ext cx="1696717" cy="1696717"/>
            <a:chOff x="0" y="0"/>
            <a:chExt cx="2262289" cy="2262289"/>
          </a:xfrm>
        </p:grpSpPr>
        <p:sp>
          <p:nvSpPr>
            <p:cNvPr id="22" name="Freeform 22"/>
            <p:cNvSpPr/>
            <p:nvPr/>
          </p:nvSpPr>
          <p:spPr>
            <a:xfrm>
              <a:off x="0" y="0"/>
              <a:ext cx="2262378" cy="2262378"/>
            </a:xfrm>
            <a:custGeom>
              <a:avLst/>
              <a:gdLst/>
              <a:ahLst/>
              <a:cxnLst/>
              <a:rect l="l" t="t" r="r" b="b"/>
              <a:pathLst>
                <a:path w="2262378" h="2262378">
                  <a:moveTo>
                    <a:pt x="0" y="1131189"/>
                  </a:moveTo>
                  <a:cubicBezTo>
                    <a:pt x="0" y="506476"/>
                    <a:pt x="506476" y="0"/>
                    <a:pt x="1131189" y="0"/>
                  </a:cubicBezTo>
                  <a:cubicBezTo>
                    <a:pt x="1755902" y="0"/>
                    <a:pt x="2262378" y="506476"/>
                    <a:pt x="2262378" y="1131189"/>
                  </a:cubicBezTo>
                  <a:cubicBezTo>
                    <a:pt x="2262378" y="1755902"/>
                    <a:pt x="1755902" y="2262378"/>
                    <a:pt x="1131189" y="2262378"/>
                  </a:cubicBezTo>
                  <a:cubicBezTo>
                    <a:pt x="506476" y="2262378"/>
                    <a:pt x="0" y="1755902"/>
                    <a:pt x="0" y="1131189"/>
                  </a:cubicBezTo>
                  <a:close/>
                </a:path>
              </a:pathLst>
            </a:custGeom>
            <a:solidFill>
              <a:srgbClr val="0B1626"/>
            </a:solidFill>
            <a:ln w="50800" cap="sq">
              <a:solidFill>
                <a:srgbClr val="BFE8E3"/>
              </a:solidFill>
              <a:prstDash val="solid"/>
              <a:miter/>
            </a:ln>
          </p:spPr>
        </p:sp>
      </p:grpSp>
      <p:grpSp>
        <p:nvGrpSpPr>
          <p:cNvPr id="23" name="Group 23"/>
          <p:cNvGrpSpPr/>
          <p:nvPr/>
        </p:nvGrpSpPr>
        <p:grpSpPr>
          <a:xfrm rot="0">
            <a:off x="11978640" y="5943600"/>
            <a:ext cx="1645920" cy="1645920"/>
            <a:chOff x="0" y="0"/>
            <a:chExt cx="2194560" cy="2194560"/>
          </a:xfrm>
        </p:grpSpPr>
        <p:sp>
          <p:nvSpPr>
            <p:cNvPr id="24" name="Freeform 24"/>
            <p:cNvSpPr/>
            <p:nvPr/>
          </p:nvSpPr>
          <p:spPr>
            <a:xfrm>
              <a:off x="0" y="0"/>
              <a:ext cx="2194560" cy="2194560"/>
            </a:xfrm>
            <a:custGeom>
              <a:avLst/>
              <a:gdLst/>
              <a:ahLst/>
              <a:cxnLst/>
              <a:rect l="l" t="t" r="r" b="b"/>
              <a:pathLst>
                <a:path w="2194560" h="2194560">
                  <a:moveTo>
                    <a:pt x="0" y="0"/>
                  </a:moveTo>
                  <a:lnTo>
                    <a:pt x="2194560" y="0"/>
                  </a:lnTo>
                  <a:lnTo>
                    <a:pt x="2194560" y="2194560"/>
                  </a:lnTo>
                  <a:lnTo>
                    <a:pt x="0" y="2194560"/>
                  </a:lnTo>
                  <a:close/>
                </a:path>
              </a:pathLst>
            </a:custGeom>
            <a:blipFill>
              <a:blip r:embed="rId1">
                <a:alphaModFix amt="0"/>
              </a:blip>
              <a:stretch>
                <a:fillRect l="-78303" r="-78303"/>
              </a:stretch>
            </a:blipFill>
          </p:spPr>
        </p:sp>
        <p:sp>
          <p:nvSpPr>
            <p:cNvPr id="25" name="TextBox 25"/>
            <p:cNvSpPr txBox="1"/>
            <p:nvPr/>
          </p:nvSpPr>
          <p:spPr>
            <a:xfrm>
              <a:off x="0" y="-47625"/>
              <a:ext cx="2194560" cy="2242185"/>
            </a:xfrm>
            <a:prstGeom prst="rect">
              <a:avLst/>
            </a:prstGeom>
          </p:spPr>
          <p:txBody>
            <a:bodyPr lIns="0" tIns="0" rIns="0" bIns="0" rtlCol="0" anchor="ctr"/>
            <a:lstStyle/>
            <a:p>
              <a:pPr algn="ctr">
                <a:lnSpc>
                  <a:spcPts val="2640"/>
                </a:lnSpc>
              </a:pPr>
              <a:r>
                <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rPr>
                <a:t>Client</a:t>
              </a:r>
              <a:endPar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a:p>
              <a:pPr algn="ctr">
                <a:lnSpc>
                  <a:spcPts val="2640"/>
                </a:lnSpc>
              </a:pPr>
              <a:r>
                <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rPr>
                <a:t>A</a:t>
              </a:r>
              <a:endPar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6" name="Group 26"/>
          <p:cNvGrpSpPr/>
          <p:nvPr/>
        </p:nvGrpSpPr>
        <p:grpSpPr>
          <a:xfrm rot="0">
            <a:off x="15610837" y="5918197"/>
            <a:ext cx="1696717" cy="1696717"/>
            <a:chOff x="0" y="0"/>
            <a:chExt cx="2262289" cy="2262289"/>
          </a:xfrm>
        </p:grpSpPr>
        <p:sp>
          <p:nvSpPr>
            <p:cNvPr id="27" name="Freeform 27"/>
            <p:cNvSpPr/>
            <p:nvPr/>
          </p:nvSpPr>
          <p:spPr>
            <a:xfrm>
              <a:off x="0" y="0"/>
              <a:ext cx="2262378" cy="2262378"/>
            </a:xfrm>
            <a:custGeom>
              <a:avLst/>
              <a:gdLst/>
              <a:ahLst/>
              <a:cxnLst/>
              <a:rect l="l" t="t" r="r" b="b"/>
              <a:pathLst>
                <a:path w="2262378" h="2262378">
                  <a:moveTo>
                    <a:pt x="0" y="1131189"/>
                  </a:moveTo>
                  <a:cubicBezTo>
                    <a:pt x="0" y="506476"/>
                    <a:pt x="506476" y="0"/>
                    <a:pt x="1131189" y="0"/>
                  </a:cubicBezTo>
                  <a:cubicBezTo>
                    <a:pt x="1755902" y="0"/>
                    <a:pt x="2262378" y="506476"/>
                    <a:pt x="2262378" y="1131189"/>
                  </a:cubicBezTo>
                  <a:cubicBezTo>
                    <a:pt x="2262378" y="1755902"/>
                    <a:pt x="1755902" y="2262378"/>
                    <a:pt x="1131189" y="2262378"/>
                  </a:cubicBezTo>
                  <a:cubicBezTo>
                    <a:pt x="506476" y="2262378"/>
                    <a:pt x="0" y="1755902"/>
                    <a:pt x="0" y="1131189"/>
                  </a:cubicBezTo>
                  <a:close/>
                </a:path>
              </a:pathLst>
            </a:custGeom>
            <a:solidFill>
              <a:srgbClr val="0B1626"/>
            </a:solidFill>
            <a:ln w="50800" cap="sq">
              <a:solidFill>
                <a:srgbClr val="BFE8E3"/>
              </a:solidFill>
              <a:prstDash val="solid"/>
              <a:miter/>
            </a:ln>
          </p:spPr>
        </p:sp>
      </p:grpSp>
      <p:grpSp>
        <p:nvGrpSpPr>
          <p:cNvPr id="28" name="Group 28"/>
          <p:cNvGrpSpPr/>
          <p:nvPr/>
        </p:nvGrpSpPr>
        <p:grpSpPr>
          <a:xfrm rot="0">
            <a:off x="15636240" y="5943600"/>
            <a:ext cx="1645920" cy="1645920"/>
            <a:chOff x="0" y="0"/>
            <a:chExt cx="2194560" cy="2194560"/>
          </a:xfrm>
        </p:grpSpPr>
        <p:sp>
          <p:nvSpPr>
            <p:cNvPr id="29" name="Freeform 29"/>
            <p:cNvSpPr/>
            <p:nvPr/>
          </p:nvSpPr>
          <p:spPr>
            <a:xfrm>
              <a:off x="0" y="0"/>
              <a:ext cx="2194560" cy="2194560"/>
            </a:xfrm>
            <a:custGeom>
              <a:avLst/>
              <a:gdLst/>
              <a:ahLst/>
              <a:cxnLst/>
              <a:rect l="l" t="t" r="r" b="b"/>
              <a:pathLst>
                <a:path w="2194560" h="2194560">
                  <a:moveTo>
                    <a:pt x="0" y="0"/>
                  </a:moveTo>
                  <a:lnTo>
                    <a:pt x="2194560" y="0"/>
                  </a:lnTo>
                  <a:lnTo>
                    <a:pt x="2194560" y="2194560"/>
                  </a:lnTo>
                  <a:lnTo>
                    <a:pt x="0" y="2194560"/>
                  </a:lnTo>
                  <a:close/>
                </a:path>
              </a:pathLst>
            </a:custGeom>
            <a:blipFill>
              <a:blip r:embed="rId1">
                <a:alphaModFix amt="0"/>
              </a:blip>
              <a:stretch>
                <a:fillRect l="-78303" r="-78303"/>
              </a:stretch>
            </a:blipFill>
          </p:spPr>
        </p:sp>
        <p:sp>
          <p:nvSpPr>
            <p:cNvPr id="30" name="TextBox 30"/>
            <p:cNvSpPr txBox="1"/>
            <p:nvPr/>
          </p:nvSpPr>
          <p:spPr>
            <a:xfrm>
              <a:off x="0" y="-47625"/>
              <a:ext cx="2194560" cy="2242185"/>
            </a:xfrm>
            <a:prstGeom prst="rect">
              <a:avLst/>
            </a:prstGeom>
          </p:spPr>
          <p:txBody>
            <a:bodyPr lIns="0" tIns="0" rIns="0" bIns="0" rtlCol="0" anchor="ctr"/>
            <a:lstStyle/>
            <a:p>
              <a:pPr algn="ctr">
                <a:lnSpc>
                  <a:spcPts val="2640"/>
                </a:lnSpc>
              </a:pPr>
              <a:r>
                <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rPr>
                <a:t>Client</a:t>
              </a:r>
              <a:endPar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a:p>
              <a:pPr algn="ctr">
                <a:lnSpc>
                  <a:spcPts val="2640"/>
                </a:lnSpc>
              </a:pPr>
              <a:r>
                <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rPr>
                <a:t>B</a:t>
              </a:r>
              <a:endPar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31" name="Group 31"/>
          <p:cNvGrpSpPr/>
          <p:nvPr/>
        </p:nvGrpSpPr>
        <p:grpSpPr>
          <a:xfrm rot="0">
            <a:off x="12801600" y="7808976"/>
            <a:ext cx="3657600" cy="548640"/>
            <a:chOff x="0" y="0"/>
            <a:chExt cx="4876800" cy="731520"/>
          </a:xfrm>
        </p:grpSpPr>
        <p:sp>
          <p:nvSpPr>
            <p:cNvPr id="32" name="Freeform 32"/>
            <p:cNvSpPr/>
            <p:nvPr/>
          </p:nvSpPr>
          <p:spPr>
            <a:xfrm>
              <a:off x="0" y="0"/>
              <a:ext cx="4876800" cy="731520"/>
            </a:xfrm>
            <a:custGeom>
              <a:avLst/>
              <a:gdLst/>
              <a:ahLst/>
              <a:cxnLst/>
              <a:rect l="l" t="t" r="r" b="b"/>
              <a:pathLst>
                <a:path w="4876800" h="731520">
                  <a:moveTo>
                    <a:pt x="0" y="0"/>
                  </a:moveTo>
                  <a:lnTo>
                    <a:pt x="4876800" y="0"/>
                  </a:lnTo>
                  <a:lnTo>
                    <a:pt x="4876800" y="731520"/>
                  </a:lnTo>
                  <a:lnTo>
                    <a:pt x="0" y="731520"/>
                  </a:lnTo>
                  <a:close/>
                </a:path>
              </a:pathLst>
            </a:custGeom>
            <a:blipFill>
              <a:blip r:embed="rId1">
                <a:alphaModFix amt="0"/>
              </a:blip>
              <a:stretch>
                <a:fillRect t="-79900" b="-79900"/>
              </a:stretch>
            </a:blipFill>
          </p:spPr>
        </p:sp>
        <p:sp>
          <p:nvSpPr>
            <p:cNvPr id="33" name="TextBox 33"/>
            <p:cNvSpPr txBox="1"/>
            <p:nvPr/>
          </p:nvSpPr>
          <p:spPr>
            <a:xfrm>
              <a:off x="0" y="-47625"/>
              <a:ext cx="4876800" cy="779145"/>
            </a:xfrm>
            <a:prstGeom prst="rect">
              <a:avLst/>
            </a:prstGeom>
          </p:spPr>
          <p:txBody>
            <a:bodyPr lIns="0" tIns="0" rIns="0" bIns="0" rtlCol="0" anchor="ctr"/>
            <a:lstStyle/>
            <a:p>
              <a:pPr algn="ctr">
                <a:lnSpc>
                  <a:spcPts val="2640"/>
                </a:lnSpc>
              </a:pPr>
              <a:r>
                <a:rPr lang="en-US" sz="2200" i="1">
                  <a:solidFill>
                    <a:srgbClr val="BFE8E3"/>
                  </a:solidFill>
                  <a:latin typeface="Times New Roman" panose="02020603050405020304"/>
                  <a:ea typeface="Times New Roman" panose="02020603050405020304"/>
                  <a:cs typeface="Times New Roman" panose="02020603050405020304"/>
                  <a:sym typeface="Times New Roman" panose="02020603050405020304"/>
                </a:rPr>
                <a:t>RTT 100–200 ms</a:t>
              </a:r>
              <a:endParaRPr lang="en-US" sz="2200" i="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9034" name="Section rule"/>
          <p:cNvSpPr/>
          <p:nvPr/>
        </p:nvSpPr>
        <p:spPr>
          <a:xfrm>
            <a:off x="1097280" y="3749040"/>
            <a:ext cx="1645920" cy="91440"/>
          </a:xfrm>
          <a:prstGeom prst="rect">
            <a:avLst/>
          </a:prstGeom>
          <a:solidFill>
            <a:srgbClr val="00897B"/>
          </a:solidFill>
          <a:ln>
            <a:noFill/>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6" name="Header band"/>
          <p:cNvSpPr/>
          <p:nvPr/>
        </p:nvSpPr>
        <p:spPr>
          <a:xfrm>
            <a:off x="0" y="0"/>
            <a:ext cx="18288000" cy="2103120"/>
          </a:xfrm>
          <a:prstGeom prst="rect">
            <a:avLst/>
          </a:prstGeom>
          <a:solidFill>
            <a:srgbClr val="14213D"/>
          </a:solidFill>
          <a:ln>
            <a:noFill/>
          </a:ln>
        </p:spPr>
        <p:txBody>
          <a:bodyPr/>
          <a:p/>
        </p:txBody>
      </p:sp>
      <p:sp>
        <p:nvSpPr>
          <p:cNvPr id="9007" name="Header rule"/>
          <p:cNvSpPr/>
          <p:nvPr/>
        </p:nvSpPr>
        <p:spPr>
          <a:xfrm>
            <a:off x="0" y="2103120"/>
            <a:ext cx="18288000" cy="64008"/>
          </a:xfrm>
          <a:prstGeom prst="rect">
            <a:avLst/>
          </a:prstGeom>
          <a:solidFill>
            <a:srgbClr val="00897B"/>
          </a:solidFill>
          <a:ln>
            <a:noFill/>
          </a:ln>
        </p:spPr>
        <p:txBody>
          <a:bodyPr/>
          <a:p/>
        </p:txBody>
      </p:sp>
      <p:grpSp>
        <p:nvGrpSpPr>
          <p:cNvPr id="2" name="Group 2"/>
          <p:cNvGrpSpPr/>
          <p:nvPr/>
        </p:nvGrpSpPr>
        <p:grpSpPr>
          <a:xfrm rot="0">
            <a:off x="914400" y="9509760"/>
            <a:ext cx="12801600" cy="548640"/>
            <a:chOff x="0" y="0"/>
            <a:chExt cx="17068800" cy="731520"/>
          </a:xfrm>
        </p:grpSpPr>
        <p:sp>
          <p:nvSpPr>
            <p:cNvPr id="3" name="Freeform 3"/>
            <p:cNvSpPr/>
            <p:nvPr/>
          </p:nvSpPr>
          <p:spPr>
            <a:xfrm>
              <a:off x="0" y="0"/>
              <a:ext cx="17068800" cy="731520"/>
            </a:xfrm>
            <a:custGeom>
              <a:avLst/>
              <a:gdLst/>
              <a:ahLst/>
              <a:cxnLst/>
              <a:rect l="l" t="t" r="r" b="b"/>
              <a:pathLst>
                <a:path w="17068800" h="731520">
                  <a:moveTo>
                    <a:pt x="0" y="0"/>
                  </a:moveTo>
                  <a:lnTo>
                    <a:pt x="17068800" y="0"/>
                  </a:lnTo>
                  <a:lnTo>
                    <a:pt x="17068800" y="731520"/>
                  </a:lnTo>
                  <a:lnTo>
                    <a:pt x="0" y="731520"/>
                  </a:lnTo>
                  <a:close/>
                </a:path>
              </a:pathLst>
            </a:custGeom>
            <a:blipFill>
              <a:blip r:embed="rId1">
                <a:alphaModFix amt="0"/>
              </a:blip>
              <a:stretch>
                <a:fillRect t="-404650" b="-404650"/>
              </a:stretch>
            </a:blipFill>
          </p:spPr>
          <p:txBody>
            <a:bodyPr/>
            <a:p/>
          </p:txBody>
        </p:sp>
        <p:sp>
          <p:nvSpPr>
            <p:cNvPr id="4" name="TextBox 4"/>
            <p:cNvSpPr txBox="1"/>
            <p:nvPr/>
          </p:nvSpPr>
          <p:spPr>
            <a:xfrm>
              <a:off x="0" y="-38100"/>
              <a:ext cx="17068800" cy="769620"/>
            </a:xfrm>
            <a:prstGeom prst="rect">
              <a:avLst/>
            </a:prstGeom>
          </p:spPr>
          <p:txBody>
            <a:bodyPr lIns="0" tIns="0" rIns="0" bIns="0" rtlCol="0" anchor="ctr"/>
            <a:lstStyle/>
            <a:p>
              <a:pPr algn="l">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T47 · Kỹ thuật mạng cho game thời gian thực · Lập trình mạng</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5" name="Group 5"/>
          <p:cNvGrpSpPr/>
          <p:nvPr/>
        </p:nvGrpSpPr>
        <p:grpSpPr>
          <a:xfrm rot="0">
            <a:off x="914400" y="768096"/>
            <a:ext cx="14081760" cy="1097280"/>
            <a:chOff x="0" y="0"/>
            <a:chExt cx="18775680" cy="1463040"/>
          </a:xfrm>
        </p:grpSpPr>
        <p:sp>
          <p:nvSpPr>
            <p:cNvPr id="6" name="Freeform 6"/>
            <p:cNvSpPr/>
            <p:nvPr/>
          </p:nvSpPr>
          <p:spPr>
            <a:xfrm>
              <a:off x="0" y="0"/>
              <a:ext cx="18775680" cy="1463040"/>
            </a:xfrm>
            <a:custGeom>
              <a:avLst/>
              <a:gdLst/>
              <a:ahLst/>
              <a:cxnLst/>
              <a:rect l="l" t="t" r="r" b="b"/>
              <a:pathLst>
                <a:path w="18775680" h="1463040">
                  <a:moveTo>
                    <a:pt x="0" y="0"/>
                  </a:moveTo>
                  <a:lnTo>
                    <a:pt x="18775680" y="0"/>
                  </a:lnTo>
                  <a:lnTo>
                    <a:pt x="18775680" y="1463040"/>
                  </a:lnTo>
                  <a:lnTo>
                    <a:pt x="0" y="1463040"/>
                  </a:lnTo>
                  <a:close/>
                </a:path>
              </a:pathLst>
            </a:custGeom>
            <a:blipFill>
              <a:blip r:embed="rId1">
                <a:alphaModFix amt="0"/>
              </a:blip>
              <a:stretch>
                <a:fillRect t="-200057" b="-200057"/>
              </a:stretch>
            </a:blipFill>
          </p:spPr>
          <p:txBody>
            <a:bodyPr/>
            <a:p/>
          </p:txBody>
        </p:sp>
        <p:sp>
          <p:nvSpPr>
            <p:cNvPr id="7" name="TextBox 7"/>
            <p:cNvSpPr txBox="1"/>
            <p:nvPr/>
          </p:nvSpPr>
          <p:spPr>
            <a:xfrm>
              <a:off x="0" y="-9525"/>
              <a:ext cx="18775680" cy="1472565"/>
            </a:xfrm>
            <a:prstGeom prst="rect">
              <a:avLst/>
            </a:prstGeom>
          </p:spPr>
          <p:txBody>
            <a:bodyPr lIns="0" tIns="0" rIns="0" bIns="0" rtlCol="0" anchor="ctr"/>
            <a:lstStyle/>
            <a:p>
              <a:pPr algn="l">
                <a:lnSpc>
                  <a:spcPts val="6900"/>
                </a:lnSpc>
              </a:pPr>
              <a:r>
                <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rPr>
                <a:t>Game xếp đơn hàng siêu thị → demo</a:t>
              </a:r>
              <a:endPar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8" name="Group 8"/>
          <p:cNvGrpSpPr/>
          <p:nvPr/>
        </p:nvGrpSpPr>
        <p:grpSpPr>
          <a:xfrm rot="0">
            <a:off x="15257783" y="682247"/>
            <a:ext cx="2128523" cy="647195"/>
            <a:chOff x="0" y="0"/>
            <a:chExt cx="2838031" cy="862927"/>
          </a:xfrm>
        </p:grpSpPr>
        <p:sp>
          <p:nvSpPr>
            <p:cNvPr id="9" name="Freeform 9"/>
            <p:cNvSpPr/>
            <p:nvPr/>
          </p:nvSpPr>
          <p:spPr>
            <a:xfrm>
              <a:off x="0" y="0"/>
              <a:ext cx="2837942" cy="862838"/>
            </a:xfrm>
            <a:custGeom>
              <a:avLst/>
              <a:gdLst/>
              <a:ahLst/>
              <a:cxnLst/>
              <a:rect l="l" t="t" r="r" b="b"/>
              <a:pathLst>
                <a:path w="2837942" h="862838">
                  <a:moveTo>
                    <a:pt x="0" y="431419"/>
                  </a:moveTo>
                  <a:cubicBezTo>
                    <a:pt x="0" y="193167"/>
                    <a:pt x="193167" y="0"/>
                    <a:pt x="431419" y="0"/>
                  </a:cubicBezTo>
                  <a:lnTo>
                    <a:pt x="2406523" y="0"/>
                  </a:lnTo>
                  <a:cubicBezTo>
                    <a:pt x="2644775" y="0"/>
                    <a:pt x="2837942" y="193167"/>
                    <a:pt x="2837942" y="431419"/>
                  </a:cubicBezTo>
                  <a:cubicBezTo>
                    <a:pt x="2837942" y="669671"/>
                    <a:pt x="2644775" y="862838"/>
                    <a:pt x="2406523" y="862838"/>
                  </a:cubicBezTo>
                  <a:lnTo>
                    <a:pt x="431419" y="862838"/>
                  </a:lnTo>
                  <a:cubicBezTo>
                    <a:pt x="193167" y="862965"/>
                    <a:pt x="0" y="669798"/>
                    <a:pt x="0" y="431419"/>
                  </a:cubicBezTo>
                  <a:close/>
                </a:path>
              </a:pathLst>
            </a:custGeom>
            <a:solidFill>
              <a:srgbClr val="F4A259"/>
            </a:solidFill>
            <a:ln w="25400" cap="sq">
              <a:solidFill>
                <a:srgbClr val="F4A259"/>
              </a:solidFill>
              <a:prstDash val="solid"/>
              <a:miter/>
            </a:ln>
          </p:spPr>
          <p:txBody>
            <a:bodyPr/>
            <a:p/>
          </p:txBody>
        </p:sp>
      </p:grpSp>
      <p:grpSp>
        <p:nvGrpSpPr>
          <p:cNvPr id="10" name="Group 10"/>
          <p:cNvGrpSpPr/>
          <p:nvPr/>
        </p:nvGrpSpPr>
        <p:grpSpPr>
          <a:xfrm rot="0">
            <a:off x="15270480" y="694944"/>
            <a:ext cx="2103120" cy="621792"/>
            <a:chOff x="0" y="0"/>
            <a:chExt cx="2804160" cy="829056"/>
          </a:xfrm>
        </p:grpSpPr>
        <p:sp>
          <p:nvSpPr>
            <p:cNvPr id="11" name="Freeform 11"/>
            <p:cNvSpPr/>
            <p:nvPr/>
          </p:nvSpPr>
          <p:spPr>
            <a:xfrm>
              <a:off x="0" y="0"/>
              <a:ext cx="2804160" cy="829056"/>
            </a:xfrm>
            <a:custGeom>
              <a:avLst/>
              <a:gdLst/>
              <a:ahLst/>
              <a:cxnLst/>
              <a:rect l="l" t="t" r="r" b="b"/>
              <a:pathLst>
                <a:path w="2804160" h="829056">
                  <a:moveTo>
                    <a:pt x="0" y="0"/>
                  </a:moveTo>
                  <a:lnTo>
                    <a:pt x="2804160" y="0"/>
                  </a:lnTo>
                  <a:lnTo>
                    <a:pt x="2804160" y="829056"/>
                  </a:lnTo>
                  <a:lnTo>
                    <a:pt x="0" y="829056"/>
                  </a:lnTo>
                  <a:close/>
                </a:path>
              </a:pathLst>
            </a:custGeom>
            <a:blipFill>
              <a:blip r:embed="rId1">
                <a:alphaModFix amt="0"/>
              </a:blip>
              <a:stretch>
                <a:fillRect t="-15905" b="-15905"/>
              </a:stretch>
            </a:blipFill>
          </p:spPr>
          <p:txBody>
            <a:bodyPr/>
            <a:p/>
          </p:txBody>
        </p:sp>
        <p:sp>
          <p:nvSpPr>
            <p:cNvPr id="12" name="TextBox 12"/>
            <p:cNvSpPr txBox="1"/>
            <p:nvPr/>
          </p:nvSpPr>
          <p:spPr>
            <a:xfrm>
              <a:off x="0" y="-47625"/>
              <a:ext cx="2804160" cy="876681"/>
            </a:xfrm>
            <a:prstGeom prst="rect">
              <a:avLst/>
            </a:prstGeom>
          </p:spPr>
          <p:txBody>
            <a:bodyPr lIns="0" tIns="0" rIns="0" bIns="0" rtlCol="0" anchor="ctr"/>
            <a:lstStyle/>
            <a:p>
              <a:pPr algn="ctr">
                <a:lnSpc>
                  <a:spcPts val="2640"/>
                </a:lnSpc>
              </a:pPr>
              <a:r>
                <a:rPr lang="en-US" sz="2200" b="1">
                  <a:solidFill>
                    <a:srgbClr val="14213D"/>
                  </a:solidFill>
                  <a:latin typeface="Times New Roman" panose="02020603050405020304"/>
                  <a:ea typeface="Times New Roman" panose="02020603050405020304"/>
                  <a:cs typeface="Times New Roman" panose="02020603050405020304"/>
                  <a:sym typeface="Times New Roman" panose="02020603050405020304"/>
                </a:rPr>
                <a:t>#3</a:t>
              </a:r>
              <a:endParaRPr lang="en-US" sz="2200" b="1">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3" name="Group 13"/>
          <p:cNvGrpSpPr/>
          <p:nvPr/>
        </p:nvGrpSpPr>
        <p:grpSpPr>
          <a:xfrm rot="0">
            <a:off x="901703" y="7393943"/>
            <a:ext cx="10449563" cy="1762763"/>
            <a:chOff x="0" y="0"/>
            <a:chExt cx="13932751" cy="2350351"/>
          </a:xfrm>
        </p:grpSpPr>
        <p:sp>
          <p:nvSpPr>
            <p:cNvPr id="14" name="Freeform 14"/>
            <p:cNvSpPr/>
            <p:nvPr/>
          </p:nvSpPr>
          <p:spPr>
            <a:xfrm>
              <a:off x="0" y="0"/>
              <a:ext cx="13932788" cy="2350389"/>
            </a:xfrm>
            <a:custGeom>
              <a:avLst/>
              <a:gdLst/>
              <a:ahLst/>
              <a:cxnLst/>
              <a:rect l="l" t="t" r="r" b="b"/>
              <a:pathLst>
                <a:path w="13932788" h="2350389">
                  <a:moveTo>
                    <a:pt x="0" y="247396"/>
                  </a:moveTo>
                  <a:cubicBezTo>
                    <a:pt x="0" y="110744"/>
                    <a:pt x="110744" y="0"/>
                    <a:pt x="247396" y="0"/>
                  </a:cubicBezTo>
                  <a:lnTo>
                    <a:pt x="13685393" y="0"/>
                  </a:lnTo>
                  <a:cubicBezTo>
                    <a:pt x="13822045" y="0"/>
                    <a:pt x="13932788" y="110744"/>
                    <a:pt x="13932788" y="247396"/>
                  </a:cubicBezTo>
                  <a:lnTo>
                    <a:pt x="13932788" y="2102993"/>
                  </a:lnTo>
                  <a:cubicBezTo>
                    <a:pt x="13932788" y="2239645"/>
                    <a:pt x="13822045" y="2350389"/>
                    <a:pt x="13685393" y="2350389"/>
                  </a:cubicBezTo>
                  <a:lnTo>
                    <a:pt x="247396" y="2350389"/>
                  </a:lnTo>
                  <a:cubicBezTo>
                    <a:pt x="110744" y="2350389"/>
                    <a:pt x="0" y="2239645"/>
                    <a:pt x="0" y="2102993"/>
                  </a:cubicBezTo>
                  <a:close/>
                </a:path>
              </a:pathLst>
            </a:custGeom>
            <a:solidFill>
              <a:srgbClr val="BFE8E3"/>
            </a:solidFill>
            <a:ln w="25400" cap="sq">
              <a:solidFill>
                <a:srgbClr val="BFE8E3"/>
              </a:solidFill>
              <a:prstDash val="solid"/>
              <a:miter/>
            </a:ln>
          </p:spPr>
          <p:txBody>
            <a:bodyPr/>
            <a:p/>
          </p:txBody>
        </p:sp>
      </p:grpSp>
      <p:grpSp>
        <p:nvGrpSpPr>
          <p:cNvPr id="15" name="Group 15"/>
          <p:cNvGrpSpPr/>
          <p:nvPr/>
        </p:nvGrpSpPr>
        <p:grpSpPr>
          <a:xfrm rot="0">
            <a:off x="1371600" y="7406640"/>
            <a:ext cx="9601200" cy="1737360"/>
            <a:chOff x="0" y="0"/>
            <a:chExt cx="12801600" cy="2316480"/>
          </a:xfrm>
        </p:grpSpPr>
        <p:sp>
          <p:nvSpPr>
            <p:cNvPr id="16" name="Freeform 16"/>
            <p:cNvSpPr/>
            <p:nvPr/>
          </p:nvSpPr>
          <p:spPr>
            <a:xfrm>
              <a:off x="0" y="0"/>
              <a:ext cx="12801600" cy="2316480"/>
            </a:xfrm>
            <a:custGeom>
              <a:avLst/>
              <a:gdLst/>
              <a:ahLst/>
              <a:cxnLst/>
              <a:rect l="l" t="t" r="r" b="b"/>
              <a:pathLst>
                <a:path w="12801600" h="2316480">
                  <a:moveTo>
                    <a:pt x="0" y="0"/>
                  </a:moveTo>
                  <a:lnTo>
                    <a:pt x="12801600" y="0"/>
                  </a:lnTo>
                  <a:lnTo>
                    <a:pt x="12801600" y="2316480"/>
                  </a:lnTo>
                  <a:lnTo>
                    <a:pt x="0" y="2316480"/>
                  </a:lnTo>
                  <a:close/>
                </a:path>
              </a:pathLst>
            </a:custGeom>
            <a:blipFill>
              <a:blip r:embed="rId1">
                <a:alphaModFix amt="0"/>
              </a:blip>
              <a:stretch>
                <a:fillRect t="-57680" b="-57680"/>
              </a:stretch>
            </a:blipFill>
          </p:spPr>
          <p:txBody>
            <a:bodyPr/>
            <a:p/>
          </p:txBody>
        </p:sp>
        <p:sp>
          <p:nvSpPr>
            <p:cNvPr id="17" name="TextBox 17"/>
            <p:cNvSpPr txBox="1"/>
            <p:nvPr/>
          </p:nvSpPr>
          <p:spPr>
            <a:xfrm>
              <a:off x="0" y="-66675"/>
              <a:ext cx="12801600" cy="2383155"/>
            </a:xfrm>
            <a:prstGeom prst="rect">
              <a:avLst/>
            </a:prstGeom>
          </p:spPr>
          <p:txBody>
            <a:bodyPr lIns="0" tIns="0" rIns="0" bIns="0" rtlCol="0" anchor="ctr"/>
            <a:lstStyle/>
            <a:p>
              <a:pPr algn="l">
                <a:lnSpc>
                  <a:spcPts val="3360"/>
                </a:lnSpc>
              </a:pP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Demo hôm nay:</a:t>
              </a: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 Unity (C#), 1 server + 2 client qua mạng giả lập, 3 khung nhìn; lõi netcode C# thuần, dùng lại cho server .NET</a:t>
              </a:r>
              <a:endPar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8" name="Group 18"/>
          <p:cNvGrpSpPr/>
          <p:nvPr/>
        </p:nvGrpSpPr>
        <p:grpSpPr>
          <a:xfrm rot="0">
            <a:off x="11846588" y="2395728"/>
            <a:ext cx="5769341" cy="7114032"/>
            <a:chOff x="0" y="0"/>
            <a:chExt cx="8046720" cy="9922212"/>
          </a:xfrm>
        </p:grpSpPr>
        <p:sp>
          <p:nvSpPr>
            <p:cNvPr id="19" name="Freeform 19"/>
            <p:cNvSpPr/>
            <p:nvPr/>
          </p:nvSpPr>
          <p:spPr>
            <a:xfrm>
              <a:off x="0" y="0"/>
              <a:ext cx="8046809" cy="9922301"/>
            </a:xfrm>
            <a:custGeom>
              <a:avLst/>
              <a:gdLst/>
              <a:ahLst/>
              <a:cxnLst/>
              <a:rect l="l" t="t" r="r" b="b"/>
              <a:pathLst>
                <a:path w="8046809" h="9922301">
                  <a:moveTo>
                    <a:pt x="0" y="217712"/>
                  </a:moveTo>
                  <a:cubicBezTo>
                    <a:pt x="0" y="97512"/>
                    <a:pt x="94549" y="0"/>
                    <a:pt x="211097" y="0"/>
                  </a:cubicBezTo>
                  <a:lnTo>
                    <a:pt x="7835719" y="0"/>
                  </a:lnTo>
                  <a:cubicBezTo>
                    <a:pt x="7952267" y="0"/>
                    <a:pt x="8046809" y="97512"/>
                    <a:pt x="8046809" y="217712"/>
                  </a:cubicBezTo>
                  <a:lnTo>
                    <a:pt x="8046809" y="9704598"/>
                  </a:lnTo>
                  <a:cubicBezTo>
                    <a:pt x="8046809" y="9824799"/>
                    <a:pt x="7952267" y="9922301"/>
                    <a:pt x="7835719" y="9922301"/>
                  </a:cubicBezTo>
                  <a:lnTo>
                    <a:pt x="211097" y="9922301"/>
                  </a:lnTo>
                  <a:cubicBezTo>
                    <a:pt x="94549" y="9922170"/>
                    <a:pt x="0" y="9824798"/>
                    <a:pt x="0" y="9704598"/>
                  </a:cubicBezTo>
                  <a:close/>
                </a:path>
              </a:pathLst>
            </a:custGeom>
            <a:blipFill>
              <a:blip r:embed="rId2"/>
              <a:stretch>
                <a:fillRect l="-1378" r="-1378"/>
              </a:stretch>
            </a:blipFill>
            <a:ln w="31750" cap="sq">
              <a:solidFill>
                <a:srgbClr val="00897B"/>
              </a:solidFill>
              <a:prstDash val="dash"/>
              <a:miter/>
            </a:ln>
          </p:spPr>
          <p:txBody>
            <a:bodyPr/>
            <a:p/>
          </p:txBody>
        </p:sp>
      </p:grpSp>
      <p:sp>
        <p:nvSpPr>
          <p:cNvPr id="20" name="TextBox 20"/>
          <p:cNvSpPr txBox="1"/>
          <p:nvPr/>
        </p:nvSpPr>
        <p:spPr>
          <a:xfrm>
            <a:off x="914400" y="384048"/>
            <a:ext cx="13898880" cy="559689"/>
          </a:xfrm>
          <a:prstGeom prst="rect">
            <a:avLst/>
          </a:prstGeom>
        </p:spPr>
        <p:txBody>
          <a:bodyPr lIns="0" tIns="0" rIns="0" bIns="0" rtlCol="0" anchor="t">
            <a:spAutoFit/>
          </a:bodyPr>
          <a:lstStyle/>
          <a:p>
            <a:pPr algn="l">
              <a:lnSpc>
                <a:spcPts val="2640"/>
              </a:lnSpc>
            </a:pPr>
            <a:r>
              <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ÁP DỤNG</a:t>
            </a:r>
            <a:endPar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 name="TextBox 21"/>
          <p:cNvSpPr txBox="1"/>
          <p:nvPr/>
        </p:nvSpPr>
        <p:spPr>
          <a:xfrm>
            <a:off x="914400" y="2402205"/>
            <a:ext cx="10424160" cy="4730115"/>
          </a:xfrm>
          <a:prstGeom prst="rect">
            <a:avLst/>
          </a:prstGeom>
        </p:spPr>
        <p:txBody>
          <a:bodyPr lIns="0" tIns="0" rIns="0" bIns="0" rtlCol="0" anchor="t">
            <a:spAutoFit/>
          </a:bodyPr>
          <a:lstStyle/>
          <a:p>
            <a:pPr marL="675640" lvl="1" indent="-337820" algn="l">
              <a:lnSpc>
                <a:spcPts val="3360"/>
              </a:lnSpc>
              <a:buFont typeface="Times New Roman" panose="02020603050405020304"/>
              <a:buChar char="•"/>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Game 2 người, mỗi người là nhân viên siêu thị: </a:t>
            </a: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WASD</a:t>
            </a: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 di chuyển, </a:t>
            </a: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J</a:t>
            </a: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 nhặt / giao, </a:t>
            </a: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K</a:t>
            </a: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 thả</a:t>
            </a:r>
            <a:endPar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a:p>
            <a:pPr marL="675640" lvl="1" indent="-337820" algn="l">
              <a:lnSpc>
                <a:spcPts val="3360"/>
              </a:lnSpc>
              <a:buFont typeface="Times New Roman" panose="02020603050405020304"/>
              <a:buChar char="•"/>
            </a:pP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Món hàng hiếm</a:t>
            </a: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 chỉ có 1 cái ở kệ giữa → tranh chấp → bù trễ + quay lui</a:t>
            </a:r>
            <a:endPar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a:p>
            <a:pPr marL="675640" lvl="1" indent="-337820" algn="l">
              <a:lnSpc>
                <a:spcPts val="3360"/>
              </a:lnSpc>
              <a:buFont typeface="Times New Roman" panose="02020603050405020304"/>
              <a:buChar char="•"/>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Bản cuối: Unity (C#) + .NET server · TCP + UDP · SQLite</a:t>
            </a:r>
            <a:endPar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 name="TextBox 22"/>
          <p:cNvSpPr txBox="1"/>
          <p:nvPr/>
        </p:nvSpPr>
        <p:spPr>
          <a:xfrm>
            <a:off x="16550640" y="9517380"/>
            <a:ext cx="731520" cy="495300"/>
          </a:xfrm>
          <a:prstGeom prst="rect">
            <a:avLst/>
          </a:prstGeom>
        </p:spPr>
        <p:txBody>
          <a:bodyPr lIns="0" tIns="0" rIns="0" bIns="0" rtlCol="0" anchor="t">
            <a:spAutoFit/>
          </a:bodyPr>
          <a:lstStyle/>
          <a:p>
            <a:pPr algn="r">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18</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B1626"/>
        </a:solidFill>
        <a:effectLst/>
      </p:bgPr>
    </p:bg>
    <p:spTree>
      <p:nvGrpSpPr>
        <p:cNvPr id="1" name=""/>
        <p:cNvGrpSpPr/>
        <p:nvPr/>
      </p:nvGrpSpPr>
      <p:grpSpPr>
        <a:xfrm>
          <a:off x="0" y="0"/>
          <a:ext cx="0" cy="0"/>
          <a:chOff x="0" y="0"/>
          <a:chExt cx="0" cy="0"/>
        </a:xfrm>
      </p:grpSpPr>
      <p:sp>
        <p:nvSpPr>
          <p:cNvPr id="2" name="TextBox 2"/>
          <p:cNvSpPr txBox="1"/>
          <p:nvPr/>
        </p:nvSpPr>
        <p:spPr>
          <a:xfrm>
            <a:off x="914400" y="384048"/>
            <a:ext cx="13898880" cy="559689"/>
          </a:xfrm>
          <a:prstGeom prst="rect">
            <a:avLst/>
          </a:prstGeom>
        </p:spPr>
        <p:txBody>
          <a:bodyPr lIns="0" tIns="0" rIns="0" bIns="0" rtlCol="0" anchor="t">
            <a:spAutoFit/>
          </a:bodyPr>
          <a:lstStyle/>
          <a:p>
            <a:pPr algn="l">
              <a:lnSpc>
                <a:spcPts val="2640"/>
              </a:lnSpc>
            </a:pPr>
            <a:r>
              <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DEMO</a:t>
            </a:r>
            <a:endPar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3" name="Group 3"/>
          <p:cNvGrpSpPr/>
          <p:nvPr/>
        </p:nvGrpSpPr>
        <p:grpSpPr>
          <a:xfrm rot="0">
            <a:off x="914400" y="768096"/>
            <a:ext cx="14081760" cy="1097280"/>
            <a:chOff x="0" y="0"/>
            <a:chExt cx="18775680" cy="1463040"/>
          </a:xfrm>
        </p:grpSpPr>
        <p:sp>
          <p:nvSpPr>
            <p:cNvPr id="4" name="Freeform 4"/>
            <p:cNvSpPr/>
            <p:nvPr/>
          </p:nvSpPr>
          <p:spPr>
            <a:xfrm>
              <a:off x="0" y="0"/>
              <a:ext cx="18775680" cy="1463040"/>
            </a:xfrm>
            <a:custGeom>
              <a:avLst/>
              <a:gdLst/>
              <a:ahLst/>
              <a:cxnLst/>
              <a:rect l="l" t="t" r="r" b="b"/>
              <a:pathLst>
                <a:path w="18775680" h="1463040">
                  <a:moveTo>
                    <a:pt x="0" y="0"/>
                  </a:moveTo>
                  <a:lnTo>
                    <a:pt x="18775680" y="0"/>
                  </a:lnTo>
                  <a:lnTo>
                    <a:pt x="18775680" y="1463040"/>
                  </a:lnTo>
                  <a:lnTo>
                    <a:pt x="0" y="1463040"/>
                  </a:lnTo>
                  <a:close/>
                </a:path>
              </a:pathLst>
            </a:custGeom>
            <a:blipFill>
              <a:blip r:embed="rId1">
                <a:alphaModFix amt="0"/>
              </a:blip>
              <a:stretch>
                <a:fillRect t="-200057" b="-200057"/>
              </a:stretch>
            </a:blipFill>
          </p:spPr>
        </p:sp>
        <p:sp>
          <p:nvSpPr>
            <p:cNvPr id="5" name="TextBox 5"/>
            <p:cNvSpPr txBox="1"/>
            <p:nvPr/>
          </p:nvSpPr>
          <p:spPr>
            <a:xfrm>
              <a:off x="0" y="-9525"/>
              <a:ext cx="18775680" cy="1472565"/>
            </a:xfrm>
            <a:prstGeom prst="rect">
              <a:avLst/>
            </a:prstGeom>
          </p:spPr>
          <p:txBody>
            <a:bodyPr lIns="0" tIns="0" rIns="0" bIns="0" rtlCol="0" anchor="ctr"/>
            <a:lstStyle/>
            <a:p>
              <a:pPr algn="l">
                <a:lnSpc>
                  <a:spcPts val="6670"/>
                </a:lnSpc>
              </a:pPr>
              <a:r>
                <a:rPr lang="en-US" sz="5800" b="1">
                  <a:solidFill>
                    <a:srgbClr val="FFFFFF"/>
                  </a:solidFill>
                  <a:latin typeface="Times New Roman" panose="02020603050405020304"/>
                  <a:ea typeface="Times New Roman" panose="02020603050405020304"/>
                  <a:cs typeface="Times New Roman" panose="02020603050405020304"/>
                  <a:sym typeface="Times New Roman" panose="02020603050405020304"/>
                </a:rPr>
                <a:t>Bản chứng minh ý tưởng: phần di chuyển</a:t>
              </a:r>
              <a:endParaRPr lang="en-US" sz="58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6" name="Group 6"/>
          <p:cNvGrpSpPr/>
          <p:nvPr/>
        </p:nvGrpSpPr>
        <p:grpSpPr>
          <a:xfrm rot="0">
            <a:off x="15257783" y="682247"/>
            <a:ext cx="2128523" cy="647195"/>
            <a:chOff x="0" y="0"/>
            <a:chExt cx="2838031" cy="862927"/>
          </a:xfrm>
        </p:grpSpPr>
        <p:sp>
          <p:nvSpPr>
            <p:cNvPr id="7" name="Freeform 7"/>
            <p:cNvSpPr/>
            <p:nvPr/>
          </p:nvSpPr>
          <p:spPr>
            <a:xfrm>
              <a:off x="0" y="0"/>
              <a:ext cx="2837942" cy="862838"/>
            </a:xfrm>
            <a:custGeom>
              <a:avLst/>
              <a:gdLst/>
              <a:ahLst/>
              <a:cxnLst/>
              <a:rect l="l" t="t" r="r" b="b"/>
              <a:pathLst>
                <a:path w="2837942" h="862838">
                  <a:moveTo>
                    <a:pt x="0" y="431419"/>
                  </a:moveTo>
                  <a:cubicBezTo>
                    <a:pt x="0" y="193167"/>
                    <a:pt x="193167" y="0"/>
                    <a:pt x="431419" y="0"/>
                  </a:cubicBezTo>
                  <a:lnTo>
                    <a:pt x="2406523" y="0"/>
                  </a:lnTo>
                  <a:cubicBezTo>
                    <a:pt x="2644775" y="0"/>
                    <a:pt x="2837942" y="193167"/>
                    <a:pt x="2837942" y="431419"/>
                  </a:cubicBezTo>
                  <a:cubicBezTo>
                    <a:pt x="2837942" y="669671"/>
                    <a:pt x="2644775" y="862838"/>
                    <a:pt x="2406523" y="862838"/>
                  </a:cubicBezTo>
                  <a:lnTo>
                    <a:pt x="431419" y="862838"/>
                  </a:lnTo>
                  <a:cubicBezTo>
                    <a:pt x="193167" y="862965"/>
                    <a:pt x="0" y="669798"/>
                    <a:pt x="0" y="431419"/>
                  </a:cubicBezTo>
                  <a:close/>
                </a:path>
              </a:pathLst>
            </a:custGeom>
            <a:solidFill>
              <a:srgbClr val="F4A259"/>
            </a:solidFill>
            <a:ln w="25400" cap="sq">
              <a:solidFill>
                <a:srgbClr val="F4A259"/>
              </a:solidFill>
              <a:prstDash val="solid"/>
              <a:miter/>
            </a:ln>
          </p:spPr>
        </p:sp>
      </p:grpSp>
      <p:grpSp>
        <p:nvGrpSpPr>
          <p:cNvPr id="8" name="Group 8"/>
          <p:cNvGrpSpPr/>
          <p:nvPr/>
        </p:nvGrpSpPr>
        <p:grpSpPr>
          <a:xfrm rot="0">
            <a:off x="15270480" y="694944"/>
            <a:ext cx="2103120" cy="621792"/>
            <a:chOff x="0" y="0"/>
            <a:chExt cx="2804160" cy="829056"/>
          </a:xfrm>
        </p:grpSpPr>
        <p:sp>
          <p:nvSpPr>
            <p:cNvPr id="9" name="Freeform 9"/>
            <p:cNvSpPr/>
            <p:nvPr/>
          </p:nvSpPr>
          <p:spPr>
            <a:xfrm>
              <a:off x="0" y="0"/>
              <a:ext cx="2804160" cy="829056"/>
            </a:xfrm>
            <a:custGeom>
              <a:avLst/>
              <a:gdLst/>
              <a:ahLst/>
              <a:cxnLst/>
              <a:rect l="l" t="t" r="r" b="b"/>
              <a:pathLst>
                <a:path w="2804160" h="829056">
                  <a:moveTo>
                    <a:pt x="0" y="0"/>
                  </a:moveTo>
                  <a:lnTo>
                    <a:pt x="2804160" y="0"/>
                  </a:lnTo>
                  <a:lnTo>
                    <a:pt x="2804160" y="829056"/>
                  </a:lnTo>
                  <a:lnTo>
                    <a:pt x="0" y="829056"/>
                  </a:lnTo>
                  <a:close/>
                </a:path>
              </a:pathLst>
            </a:custGeom>
            <a:blipFill>
              <a:blip r:embed="rId1">
                <a:alphaModFix amt="0"/>
              </a:blip>
              <a:stretch>
                <a:fillRect t="-15905" b="-15905"/>
              </a:stretch>
            </a:blipFill>
          </p:spPr>
        </p:sp>
        <p:sp>
          <p:nvSpPr>
            <p:cNvPr id="10" name="TextBox 10"/>
            <p:cNvSpPr txBox="1"/>
            <p:nvPr/>
          </p:nvSpPr>
          <p:spPr>
            <a:xfrm>
              <a:off x="0" y="-47625"/>
              <a:ext cx="2804160" cy="876681"/>
            </a:xfrm>
            <a:prstGeom prst="rect">
              <a:avLst/>
            </a:prstGeom>
          </p:spPr>
          <p:txBody>
            <a:bodyPr lIns="0" tIns="0" rIns="0" bIns="0" rtlCol="0" anchor="ctr"/>
            <a:lstStyle/>
            <a:p>
              <a:pPr algn="ctr">
                <a:lnSpc>
                  <a:spcPts val="2640"/>
                </a:lnSpc>
              </a:pPr>
              <a:r>
                <a:rPr lang="en-US" sz="2200" b="1">
                  <a:solidFill>
                    <a:srgbClr val="14213D"/>
                  </a:solidFill>
                  <a:latin typeface="Times New Roman" panose="02020603050405020304"/>
                  <a:ea typeface="Times New Roman" panose="02020603050405020304"/>
                  <a:cs typeface="Times New Roman" panose="02020603050405020304"/>
                  <a:sym typeface="Times New Roman" panose="02020603050405020304"/>
                </a:rPr>
                <a:t>#3 + #2</a:t>
              </a:r>
              <a:endParaRPr lang="en-US" sz="2200" b="1">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1" name="Group 11"/>
          <p:cNvGrpSpPr/>
          <p:nvPr/>
        </p:nvGrpSpPr>
        <p:grpSpPr>
          <a:xfrm rot="0">
            <a:off x="901703" y="2456183"/>
            <a:ext cx="5146043" cy="3225803"/>
            <a:chOff x="0" y="0"/>
            <a:chExt cx="6861391" cy="4301071"/>
          </a:xfrm>
        </p:grpSpPr>
        <p:sp>
          <p:nvSpPr>
            <p:cNvPr id="12" name="Freeform 12"/>
            <p:cNvSpPr/>
            <p:nvPr/>
          </p:nvSpPr>
          <p:spPr>
            <a:xfrm>
              <a:off x="0" y="0"/>
              <a:ext cx="6861428" cy="4301109"/>
            </a:xfrm>
            <a:custGeom>
              <a:avLst/>
              <a:gdLst/>
              <a:ahLst/>
              <a:cxnLst/>
              <a:rect l="l" t="t" r="r" b="b"/>
              <a:pathLst>
                <a:path w="6861428" h="4301109">
                  <a:moveTo>
                    <a:pt x="0" y="196596"/>
                  </a:moveTo>
                  <a:cubicBezTo>
                    <a:pt x="0" y="88011"/>
                    <a:pt x="88011" y="0"/>
                    <a:pt x="196596" y="0"/>
                  </a:cubicBezTo>
                  <a:lnTo>
                    <a:pt x="6664833" y="0"/>
                  </a:lnTo>
                  <a:cubicBezTo>
                    <a:pt x="6773418" y="0"/>
                    <a:pt x="6861428" y="88011"/>
                    <a:pt x="6861428" y="196596"/>
                  </a:cubicBezTo>
                  <a:lnTo>
                    <a:pt x="6861428" y="4104513"/>
                  </a:lnTo>
                  <a:cubicBezTo>
                    <a:pt x="6861428" y="4213098"/>
                    <a:pt x="6773418" y="4301109"/>
                    <a:pt x="6664833" y="4301109"/>
                  </a:cubicBezTo>
                  <a:lnTo>
                    <a:pt x="196596" y="4301109"/>
                  </a:lnTo>
                  <a:cubicBezTo>
                    <a:pt x="88011" y="4301109"/>
                    <a:pt x="0" y="4213098"/>
                    <a:pt x="0" y="4104513"/>
                  </a:cubicBezTo>
                  <a:close/>
                </a:path>
              </a:pathLst>
            </a:custGeom>
            <a:solidFill>
              <a:srgbClr val="14213D"/>
            </a:solidFill>
            <a:ln w="25400" cap="sq">
              <a:solidFill>
                <a:srgbClr val="BFE8E3"/>
              </a:solidFill>
              <a:prstDash val="solid"/>
              <a:miter/>
            </a:ln>
          </p:spPr>
        </p:sp>
      </p:grpSp>
      <p:grpSp>
        <p:nvGrpSpPr>
          <p:cNvPr id="13" name="Group 13"/>
          <p:cNvGrpSpPr/>
          <p:nvPr/>
        </p:nvGrpSpPr>
        <p:grpSpPr>
          <a:xfrm rot="0">
            <a:off x="1280160" y="2651760"/>
            <a:ext cx="4389120" cy="548640"/>
            <a:chOff x="0" y="0"/>
            <a:chExt cx="5852160" cy="731520"/>
          </a:xfrm>
        </p:grpSpPr>
        <p:sp>
          <p:nvSpPr>
            <p:cNvPr id="14" name="Freeform 14"/>
            <p:cNvSpPr/>
            <p:nvPr/>
          </p:nvSpPr>
          <p:spPr>
            <a:xfrm>
              <a:off x="0" y="0"/>
              <a:ext cx="5852160" cy="731520"/>
            </a:xfrm>
            <a:custGeom>
              <a:avLst/>
              <a:gdLst/>
              <a:ahLst/>
              <a:cxnLst/>
              <a:rect l="l" t="t" r="r" b="b"/>
              <a:pathLst>
                <a:path w="5852160" h="731520">
                  <a:moveTo>
                    <a:pt x="0" y="0"/>
                  </a:moveTo>
                  <a:lnTo>
                    <a:pt x="5852160" y="0"/>
                  </a:lnTo>
                  <a:lnTo>
                    <a:pt x="5852160" y="731520"/>
                  </a:lnTo>
                  <a:lnTo>
                    <a:pt x="0" y="731520"/>
                  </a:lnTo>
                  <a:close/>
                </a:path>
              </a:pathLst>
            </a:custGeom>
            <a:blipFill>
              <a:blip r:embed="rId1">
                <a:alphaModFix amt="0"/>
              </a:blip>
              <a:stretch>
                <a:fillRect t="-105880" b="-105880"/>
              </a:stretch>
            </a:blipFill>
          </p:spPr>
        </p:sp>
        <p:sp>
          <p:nvSpPr>
            <p:cNvPr id="15" name="TextBox 15"/>
            <p:cNvSpPr txBox="1"/>
            <p:nvPr/>
          </p:nvSpPr>
          <p:spPr>
            <a:xfrm>
              <a:off x="0" y="-57150"/>
              <a:ext cx="5852160" cy="788670"/>
            </a:xfrm>
            <a:prstGeom prst="rect">
              <a:avLst/>
            </a:prstGeom>
          </p:spPr>
          <p:txBody>
            <a:bodyPr lIns="0" tIns="0" rIns="0" bIns="0" rtlCol="0" anchor="ctr"/>
            <a:lstStyle/>
            <a:p>
              <a:pPr algn="l">
                <a:lnSpc>
                  <a:spcPts val="3120"/>
                </a:lnSpc>
              </a:pPr>
              <a:r>
                <a:rPr lang="en-US" sz="2600" b="1">
                  <a:solidFill>
                    <a:srgbClr val="BFE8E3"/>
                  </a:solidFill>
                  <a:latin typeface="Times New Roman" panose="02020603050405020304"/>
                  <a:ea typeface="Times New Roman" panose="02020603050405020304"/>
                  <a:cs typeface="Times New Roman" panose="02020603050405020304"/>
                  <a:sym typeface="Times New Roman" panose="02020603050405020304"/>
                </a:rPr>
                <a:t>Client A</a:t>
              </a:r>
              <a:endParaRPr lang="en-US" sz="2600" b="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6" name="Group 16"/>
          <p:cNvGrpSpPr/>
          <p:nvPr/>
        </p:nvGrpSpPr>
        <p:grpSpPr>
          <a:xfrm rot="0">
            <a:off x="1907543" y="3644903"/>
            <a:ext cx="793499" cy="793499"/>
            <a:chOff x="0" y="0"/>
            <a:chExt cx="1057999" cy="1057999"/>
          </a:xfrm>
        </p:grpSpPr>
        <p:sp>
          <p:nvSpPr>
            <p:cNvPr id="17" name="Freeform 17"/>
            <p:cNvSpPr/>
            <p:nvPr/>
          </p:nvSpPr>
          <p:spPr>
            <a:xfrm>
              <a:off x="0" y="0"/>
              <a:ext cx="1058037" cy="1058037"/>
            </a:xfrm>
            <a:custGeom>
              <a:avLst/>
              <a:gdLst/>
              <a:ahLst/>
              <a:cxnLst/>
              <a:rect l="l" t="t" r="r" b="b"/>
              <a:pathLst>
                <a:path w="1058037" h="1058037">
                  <a:moveTo>
                    <a:pt x="0" y="0"/>
                  </a:moveTo>
                  <a:lnTo>
                    <a:pt x="1058037" y="0"/>
                  </a:lnTo>
                  <a:lnTo>
                    <a:pt x="1058037" y="1058037"/>
                  </a:lnTo>
                  <a:lnTo>
                    <a:pt x="0" y="1058037"/>
                  </a:lnTo>
                  <a:close/>
                </a:path>
              </a:pathLst>
            </a:custGeom>
            <a:solidFill>
              <a:srgbClr val="00897B"/>
            </a:solidFill>
            <a:ln w="25400" cap="sq">
              <a:solidFill>
                <a:srgbClr val="00897B"/>
              </a:solidFill>
              <a:prstDash val="solid"/>
              <a:miter/>
            </a:ln>
          </p:spPr>
        </p:sp>
      </p:grpSp>
      <p:grpSp>
        <p:nvGrpSpPr>
          <p:cNvPr id="18" name="Group 18"/>
          <p:cNvGrpSpPr/>
          <p:nvPr/>
        </p:nvGrpSpPr>
        <p:grpSpPr>
          <a:xfrm rot="0">
            <a:off x="4102103" y="3919223"/>
            <a:ext cx="793499" cy="793499"/>
            <a:chOff x="0" y="0"/>
            <a:chExt cx="1057999" cy="1057999"/>
          </a:xfrm>
        </p:grpSpPr>
        <p:sp>
          <p:nvSpPr>
            <p:cNvPr id="19" name="Freeform 19"/>
            <p:cNvSpPr/>
            <p:nvPr/>
          </p:nvSpPr>
          <p:spPr>
            <a:xfrm>
              <a:off x="0" y="0"/>
              <a:ext cx="1058037" cy="1058037"/>
            </a:xfrm>
            <a:custGeom>
              <a:avLst/>
              <a:gdLst/>
              <a:ahLst/>
              <a:cxnLst/>
              <a:rect l="l" t="t" r="r" b="b"/>
              <a:pathLst>
                <a:path w="1058037" h="1058037">
                  <a:moveTo>
                    <a:pt x="0" y="0"/>
                  </a:moveTo>
                  <a:lnTo>
                    <a:pt x="1058037" y="0"/>
                  </a:lnTo>
                  <a:lnTo>
                    <a:pt x="1058037" y="1058037"/>
                  </a:lnTo>
                  <a:lnTo>
                    <a:pt x="0" y="1058037"/>
                  </a:lnTo>
                  <a:close/>
                </a:path>
              </a:pathLst>
            </a:custGeom>
            <a:solidFill>
              <a:srgbClr val="F4A259"/>
            </a:solidFill>
            <a:ln w="25400" cap="sq">
              <a:solidFill>
                <a:srgbClr val="F4A259"/>
              </a:solidFill>
              <a:prstDash val="solid"/>
              <a:miter/>
            </a:ln>
          </p:spPr>
        </p:sp>
      </p:grpSp>
      <p:grpSp>
        <p:nvGrpSpPr>
          <p:cNvPr id="20" name="Group 20"/>
          <p:cNvGrpSpPr/>
          <p:nvPr/>
        </p:nvGrpSpPr>
        <p:grpSpPr>
          <a:xfrm rot="0">
            <a:off x="1280160" y="4901184"/>
            <a:ext cx="4389120" cy="548640"/>
            <a:chOff x="0" y="0"/>
            <a:chExt cx="5852160" cy="731520"/>
          </a:xfrm>
        </p:grpSpPr>
        <p:sp>
          <p:nvSpPr>
            <p:cNvPr id="21" name="Freeform 21"/>
            <p:cNvSpPr/>
            <p:nvPr/>
          </p:nvSpPr>
          <p:spPr>
            <a:xfrm>
              <a:off x="0" y="0"/>
              <a:ext cx="5852160" cy="731520"/>
            </a:xfrm>
            <a:custGeom>
              <a:avLst/>
              <a:gdLst/>
              <a:ahLst/>
              <a:cxnLst/>
              <a:rect l="l" t="t" r="r" b="b"/>
              <a:pathLst>
                <a:path w="5852160" h="731520">
                  <a:moveTo>
                    <a:pt x="0" y="0"/>
                  </a:moveTo>
                  <a:lnTo>
                    <a:pt x="5852160" y="0"/>
                  </a:lnTo>
                  <a:lnTo>
                    <a:pt x="5852160" y="731520"/>
                  </a:lnTo>
                  <a:lnTo>
                    <a:pt x="0" y="731520"/>
                  </a:lnTo>
                  <a:close/>
                </a:path>
              </a:pathLst>
            </a:custGeom>
            <a:blipFill>
              <a:blip r:embed="rId1">
                <a:alphaModFix amt="0"/>
              </a:blip>
              <a:stretch>
                <a:fillRect t="-105880" b="-105880"/>
              </a:stretch>
            </a:blipFill>
          </p:spPr>
        </p:sp>
        <p:sp>
          <p:nvSpPr>
            <p:cNvPr id="22" name="TextBox 22"/>
            <p:cNvSpPr txBox="1"/>
            <p:nvPr/>
          </p:nvSpPr>
          <p:spPr>
            <a:xfrm>
              <a:off x="0" y="-47625"/>
              <a:ext cx="5852160" cy="779145"/>
            </a:xfrm>
            <a:prstGeom prst="rect">
              <a:avLst/>
            </a:prstGeom>
          </p:spPr>
          <p:txBody>
            <a:bodyPr lIns="0" tIns="0" rIns="0" bIns="0" rtlCol="0" anchor="ctr"/>
            <a:lstStyle/>
            <a:p>
              <a:pPr algn="l">
                <a:lnSpc>
                  <a:spcPts val="2640"/>
                </a:lnSpc>
              </a:pPr>
              <a:r>
                <a:rPr lang="en-US" sz="2200" i="1">
                  <a:solidFill>
                    <a:srgbClr val="FFFFFF"/>
                  </a:solidFill>
                  <a:latin typeface="Times New Roman" panose="02020603050405020304"/>
                  <a:ea typeface="Times New Roman" panose="02020603050405020304"/>
                  <a:cs typeface="Times New Roman" panose="02020603050405020304"/>
                  <a:sym typeface="Times New Roman" panose="02020603050405020304"/>
                </a:rPr>
                <a:t>dự đoán + đối chiếu</a:t>
              </a:r>
              <a:endParaRPr lang="en-US" sz="2200" i="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3" name="Group 23"/>
          <p:cNvGrpSpPr/>
          <p:nvPr/>
        </p:nvGrpSpPr>
        <p:grpSpPr>
          <a:xfrm rot="0">
            <a:off x="6570983" y="2456183"/>
            <a:ext cx="5146043" cy="3225803"/>
            <a:chOff x="0" y="0"/>
            <a:chExt cx="6861391" cy="4301071"/>
          </a:xfrm>
        </p:grpSpPr>
        <p:sp>
          <p:nvSpPr>
            <p:cNvPr id="24" name="Freeform 24"/>
            <p:cNvSpPr/>
            <p:nvPr/>
          </p:nvSpPr>
          <p:spPr>
            <a:xfrm>
              <a:off x="0" y="0"/>
              <a:ext cx="6861428" cy="4301109"/>
            </a:xfrm>
            <a:custGeom>
              <a:avLst/>
              <a:gdLst/>
              <a:ahLst/>
              <a:cxnLst/>
              <a:rect l="l" t="t" r="r" b="b"/>
              <a:pathLst>
                <a:path w="6861428" h="4301109">
                  <a:moveTo>
                    <a:pt x="0" y="196596"/>
                  </a:moveTo>
                  <a:cubicBezTo>
                    <a:pt x="0" y="88011"/>
                    <a:pt x="88011" y="0"/>
                    <a:pt x="196596" y="0"/>
                  </a:cubicBezTo>
                  <a:lnTo>
                    <a:pt x="6664833" y="0"/>
                  </a:lnTo>
                  <a:cubicBezTo>
                    <a:pt x="6773418" y="0"/>
                    <a:pt x="6861428" y="88011"/>
                    <a:pt x="6861428" y="196596"/>
                  </a:cubicBezTo>
                  <a:lnTo>
                    <a:pt x="6861428" y="4104513"/>
                  </a:lnTo>
                  <a:cubicBezTo>
                    <a:pt x="6861428" y="4213098"/>
                    <a:pt x="6773418" y="4301109"/>
                    <a:pt x="6664833" y="4301109"/>
                  </a:cubicBezTo>
                  <a:lnTo>
                    <a:pt x="196596" y="4301109"/>
                  </a:lnTo>
                  <a:cubicBezTo>
                    <a:pt x="88011" y="4301109"/>
                    <a:pt x="0" y="4213098"/>
                    <a:pt x="0" y="4104513"/>
                  </a:cubicBezTo>
                  <a:close/>
                </a:path>
              </a:pathLst>
            </a:custGeom>
            <a:solidFill>
              <a:srgbClr val="14213D"/>
            </a:solidFill>
            <a:ln w="25400" cap="sq">
              <a:solidFill>
                <a:srgbClr val="BFE8E3"/>
              </a:solidFill>
              <a:prstDash val="solid"/>
              <a:miter/>
            </a:ln>
          </p:spPr>
        </p:sp>
      </p:grpSp>
      <p:grpSp>
        <p:nvGrpSpPr>
          <p:cNvPr id="25" name="Group 25"/>
          <p:cNvGrpSpPr/>
          <p:nvPr/>
        </p:nvGrpSpPr>
        <p:grpSpPr>
          <a:xfrm rot="0">
            <a:off x="6949440" y="2651760"/>
            <a:ext cx="4389120" cy="548640"/>
            <a:chOff x="0" y="0"/>
            <a:chExt cx="5852160" cy="731520"/>
          </a:xfrm>
        </p:grpSpPr>
        <p:sp>
          <p:nvSpPr>
            <p:cNvPr id="26" name="Freeform 26"/>
            <p:cNvSpPr/>
            <p:nvPr/>
          </p:nvSpPr>
          <p:spPr>
            <a:xfrm>
              <a:off x="0" y="0"/>
              <a:ext cx="5852160" cy="731520"/>
            </a:xfrm>
            <a:custGeom>
              <a:avLst/>
              <a:gdLst/>
              <a:ahLst/>
              <a:cxnLst/>
              <a:rect l="l" t="t" r="r" b="b"/>
              <a:pathLst>
                <a:path w="5852160" h="731520">
                  <a:moveTo>
                    <a:pt x="0" y="0"/>
                  </a:moveTo>
                  <a:lnTo>
                    <a:pt x="5852160" y="0"/>
                  </a:lnTo>
                  <a:lnTo>
                    <a:pt x="5852160" y="731520"/>
                  </a:lnTo>
                  <a:lnTo>
                    <a:pt x="0" y="731520"/>
                  </a:lnTo>
                  <a:close/>
                </a:path>
              </a:pathLst>
            </a:custGeom>
            <a:blipFill>
              <a:blip r:embed="rId1">
                <a:alphaModFix amt="0"/>
              </a:blip>
              <a:stretch>
                <a:fillRect t="-105880" b="-105880"/>
              </a:stretch>
            </a:blipFill>
          </p:spPr>
        </p:sp>
        <p:sp>
          <p:nvSpPr>
            <p:cNvPr id="27" name="TextBox 27"/>
            <p:cNvSpPr txBox="1"/>
            <p:nvPr/>
          </p:nvSpPr>
          <p:spPr>
            <a:xfrm>
              <a:off x="0" y="-57150"/>
              <a:ext cx="5852160" cy="788670"/>
            </a:xfrm>
            <a:prstGeom prst="rect">
              <a:avLst/>
            </a:prstGeom>
          </p:spPr>
          <p:txBody>
            <a:bodyPr lIns="0" tIns="0" rIns="0" bIns="0" rtlCol="0" anchor="ctr"/>
            <a:lstStyle/>
            <a:p>
              <a:pPr algn="l">
                <a:lnSpc>
                  <a:spcPts val="3120"/>
                </a:lnSpc>
              </a:pPr>
              <a:r>
                <a:rPr lang="en-US" sz="2600" b="1">
                  <a:solidFill>
                    <a:srgbClr val="BFE8E3"/>
                  </a:solidFill>
                  <a:latin typeface="Times New Roman" panose="02020603050405020304"/>
                  <a:ea typeface="Times New Roman" panose="02020603050405020304"/>
                  <a:cs typeface="Times New Roman" panose="02020603050405020304"/>
                  <a:sym typeface="Times New Roman" panose="02020603050405020304"/>
                </a:rPr>
                <a:t>Server</a:t>
              </a:r>
              <a:endParaRPr lang="en-US" sz="2600" b="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8" name="Group 28"/>
          <p:cNvGrpSpPr/>
          <p:nvPr/>
        </p:nvGrpSpPr>
        <p:grpSpPr>
          <a:xfrm rot="0">
            <a:off x="7851143" y="3644903"/>
            <a:ext cx="793499" cy="793499"/>
            <a:chOff x="0" y="0"/>
            <a:chExt cx="1057999" cy="1057999"/>
          </a:xfrm>
        </p:grpSpPr>
        <p:sp>
          <p:nvSpPr>
            <p:cNvPr id="29" name="Freeform 29"/>
            <p:cNvSpPr/>
            <p:nvPr/>
          </p:nvSpPr>
          <p:spPr>
            <a:xfrm>
              <a:off x="0" y="0"/>
              <a:ext cx="1058037" cy="1058037"/>
            </a:xfrm>
            <a:custGeom>
              <a:avLst/>
              <a:gdLst/>
              <a:ahLst/>
              <a:cxnLst/>
              <a:rect l="l" t="t" r="r" b="b"/>
              <a:pathLst>
                <a:path w="1058037" h="1058037">
                  <a:moveTo>
                    <a:pt x="0" y="0"/>
                  </a:moveTo>
                  <a:lnTo>
                    <a:pt x="1058037" y="0"/>
                  </a:lnTo>
                  <a:lnTo>
                    <a:pt x="1058037" y="1058037"/>
                  </a:lnTo>
                  <a:lnTo>
                    <a:pt x="0" y="1058037"/>
                  </a:lnTo>
                  <a:close/>
                </a:path>
              </a:pathLst>
            </a:custGeom>
            <a:solidFill>
              <a:srgbClr val="00897B"/>
            </a:solidFill>
            <a:ln w="25400" cap="sq">
              <a:solidFill>
                <a:srgbClr val="00897B"/>
              </a:solidFill>
              <a:prstDash val="solid"/>
              <a:miter/>
            </a:ln>
          </p:spPr>
        </p:sp>
      </p:grpSp>
      <p:grpSp>
        <p:nvGrpSpPr>
          <p:cNvPr id="30" name="Group 30"/>
          <p:cNvGrpSpPr/>
          <p:nvPr/>
        </p:nvGrpSpPr>
        <p:grpSpPr>
          <a:xfrm rot="0">
            <a:off x="9771383" y="3827783"/>
            <a:ext cx="793499" cy="793499"/>
            <a:chOff x="0" y="0"/>
            <a:chExt cx="1057999" cy="1057999"/>
          </a:xfrm>
        </p:grpSpPr>
        <p:sp>
          <p:nvSpPr>
            <p:cNvPr id="31" name="Freeform 31"/>
            <p:cNvSpPr/>
            <p:nvPr/>
          </p:nvSpPr>
          <p:spPr>
            <a:xfrm>
              <a:off x="0" y="0"/>
              <a:ext cx="1058037" cy="1058037"/>
            </a:xfrm>
            <a:custGeom>
              <a:avLst/>
              <a:gdLst/>
              <a:ahLst/>
              <a:cxnLst/>
              <a:rect l="l" t="t" r="r" b="b"/>
              <a:pathLst>
                <a:path w="1058037" h="1058037">
                  <a:moveTo>
                    <a:pt x="0" y="0"/>
                  </a:moveTo>
                  <a:lnTo>
                    <a:pt x="1058037" y="0"/>
                  </a:lnTo>
                  <a:lnTo>
                    <a:pt x="1058037" y="1058037"/>
                  </a:lnTo>
                  <a:lnTo>
                    <a:pt x="0" y="1058037"/>
                  </a:lnTo>
                  <a:close/>
                </a:path>
              </a:pathLst>
            </a:custGeom>
            <a:solidFill>
              <a:srgbClr val="F4A259"/>
            </a:solidFill>
            <a:ln w="25400" cap="sq">
              <a:solidFill>
                <a:srgbClr val="F4A259"/>
              </a:solidFill>
              <a:prstDash val="solid"/>
              <a:miter/>
            </a:ln>
          </p:spPr>
        </p:sp>
      </p:grpSp>
      <p:grpSp>
        <p:nvGrpSpPr>
          <p:cNvPr id="32" name="Group 32"/>
          <p:cNvGrpSpPr/>
          <p:nvPr/>
        </p:nvGrpSpPr>
        <p:grpSpPr>
          <a:xfrm rot="0">
            <a:off x="6949440" y="4901184"/>
            <a:ext cx="4389120" cy="548640"/>
            <a:chOff x="0" y="0"/>
            <a:chExt cx="5852160" cy="731520"/>
          </a:xfrm>
        </p:grpSpPr>
        <p:sp>
          <p:nvSpPr>
            <p:cNvPr id="33" name="Freeform 33"/>
            <p:cNvSpPr/>
            <p:nvPr/>
          </p:nvSpPr>
          <p:spPr>
            <a:xfrm>
              <a:off x="0" y="0"/>
              <a:ext cx="5852160" cy="731520"/>
            </a:xfrm>
            <a:custGeom>
              <a:avLst/>
              <a:gdLst/>
              <a:ahLst/>
              <a:cxnLst/>
              <a:rect l="l" t="t" r="r" b="b"/>
              <a:pathLst>
                <a:path w="5852160" h="731520">
                  <a:moveTo>
                    <a:pt x="0" y="0"/>
                  </a:moveTo>
                  <a:lnTo>
                    <a:pt x="5852160" y="0"/>
                  </a:lnTo>
                  <a:lnTo>
                    <a:pt x="5852160" y="731520"/>
                  </a:lnTo>
                  <a:lnTo>
                    <a:pt x="0" y="731520"/>
                  </a:lnTo>
                  <a:close/>
                </a:path>
              </a:pathLst>
            </a:custGeom>
            <a:blipFill>
              <a:blip r:embed="rId1">
                <a:alphaModFix amt="0"/>
              </a:blip>
              <a:stretch>
                <a:fillRect t="-105880" b="-105880"/>
              </a:stretch>
            </a:blipFill>
          </p:spPr>
        </p:sp>
        <p:sp>
          <p:nvSpPr>
            <p:cNvPr id="34" name="TextBox 34"/>
            <p:cNvSpPr txBox="1"/>
            <p:nvPr/>
          </p:nvSpPr>
          <p:spPr>
            <a:xfrm>
              <a:off x="0" y="-47625"/>
              <a:ext cx="5852160" cy="779145"/>
            </a:xfrm>
            <a:prstGeom prst="rect">
              <a:avLst/>
            </a:prstGeom>
          </p:spPr>
          <p:txBody>
            <a:bodyPr lIns="0" tIns="0" rIns="0" bIns="0" rtlCol="0" anchor="ctr"/>
            <a:lstStyle/>
            <a:p>
              <a:pPr algn="l">
                <a:lnSpc>
                  <a:spcPts val="2640"/>
                </a:lnSpc>
              </a:pPr>
              <a:r>
                <a:rPr lang="en-US" sz="2200" i="1">
                  <a:solidFill>
                    <a:srgbClr val="FFFFFF"/>
                  </a:solidFill>
                  <a:latin typeface="Times New Roman" panose="02020603050405020304"/>
                  <a:ea typeface="Times New Roman" panose="02020603050405020304"/>
                  <a:cs typeface="Times New Roman" panose="02020603050405020304"/>
                  <a:sym typeface="Times New Roman" panose="02020603050405020304"/>
                </a:rPr>
                <a:t>người quyết định</a:t>
              </a:r>
              <a:endParaRPr lang="en-US" sz="2200" i="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35" name="Group 35"/>
          <p:cNvGrpSpPr/>
          <p:nvPr/>
        </p:nvGrpSpPr>
        <p:grpSpPr>
          <a:xfrm rot="0">
            <a:off x="12240263" y="2456183"/>
            <a:ext cx="5146043" cy="3225803"/>
            <a:chOff x="0" y="0"/>
            <a:chExt cx="6861391" cy="4301071"/>
          </a:xfrm>
        </p:grpSpPr>
        <p:sp>
          <p:nvSpPr>
            <p:cNvPr id="36" name="Freeform 36"/>
            <p:cNvSpPr/>
            <p:nvPr/>
          </p:nvSpPr>
          <p:spPr>
            <a:xfrm>
              <a:off x="0" y="0"/>
              <a:ext cx="6861428" cy="4301109"/>
            </a:xfrm>
            <a:custGeom>
              <a:avLst/>
              <a:gdLst/>
              <a:ahLst/>
              <a:cxnLst/>
              <a:rect l="l" t="t" r="r" b="b"/>
              <a:pathLst>
                <a:path w="6861428" h="4301109">
                  <a:moveTo>
                    <a:pt x="0" y="196596"/>
                  </a:moveTo>
                  <a:cubicBezTo>
                    <a:pt x="0" y="88011"/>
                    <a:pt x="88011" y="0"/>
                    <a:pt x="196596" y="0"/>
                  </a:cubicBezTo>
                  <a:lnTo>
                    <a:pt x="6664833" y="0"/>
                  </a:lnTo>
                  <a:cubicBezTo>
                    <a:pt x="6773418" y="0"/>
                    <a:pt x="6861428" y="88011"/>
                    <a:pt x="6861428" y="196596"/>
                  </a:cubicBezTo>
                  <a:lnTo>
                    <a:pt x="6861428" y="4104513"/>
                  </a:lnTo>
                  <a:cubicBezTo>
                    <a:pt x="6861428" y="4213098"/>
                    <a:pt x="6773418" y="4301109"/>
                    <a:pt x="6664833" y="4301109"/>
                  </a:cubicBezTo>
                  <a:lnTo>
                    <a:pt x="196596" y="4301109"/>
                  </a:lnTo>
                  <a:cubicBezTo>
                    <a:pt x="88011" y="4301109"/>
                    <a:pt x="0" y="4213098"/>
                    <a:pt x="0" y="4104513"/>
                  </a:cubicBezTo>
                  <a:close/>
                </a:path>
              </a:pathLst>
            </a:custGeom>
            <a:solidFill>
              <a:srgbClr val="14213D"/>
            </a:solidFill>
            <a:ln w="25400" cap="sq">
              <a:solidFill>
                <a:srgbClr val="BFE8E3"/>
              </a:solidFill>
              <a:prstDash val="solid"/>
              <a:miter/>
            </a:ln>
          </p:spPr>
        </p:sp>
      </p:grpSp>
      <p:grpSp>
        <p:nvGrpSpPr>
          <p:cNvPr id="37" name="Group 37"/>
          <p:cNvGrpSpPr/>
          <p:nvPr/>
        </p:nvGrpSpPr>
        <p:grpSpPr>
          <a:xfrm rot="0">
            <a:off x="12618720" y="2651760"/>
            <a:ext cx="4389120" cy="548640"/>
            <a:chOff x="0" y="0"/>
            <a:chExt cx="5852160" cy="731520"/>
          </a:xfrm>
        </p:grpSpPr>
        <p:sp>
          <p:nvSpPr>
            <p:cNvPr id="38" name="Freeform 38"/>
            <p:cNvSpPr/>
            <p:nvPr/>
          </p:nvSpPr>
          <p:spPr>
            <a:xfrm>
              <a:off x="0" y="0"/>
              <a:ext cx="5852160" cy="731520"/>
            </a:xfrm>
            <a:custGeom>
              <a:avLst/>
              <a:gdLst/>
              <a:ahLst/>
              <a:cxnLst/>
              <a:rect l="l" t="t" r="r" b="b"/>
              <a:pathLst>
                <a:path w="5852160" h="731520">
                  <a:moveTo>
                    <a:pt x="0" y="0"/>
                  </a:moveTo>
                  <a:lnTo>
                    <a:pt x="5852160" y="0"/>
                  </a:lnTo>
                  <a:lnTo>
                    <a:pt x="5852160" y="731520"/>
                  </a:lnTo>
                  <a:lnTo>
                    <a:pt x="0" y="731520"/>
                  </a:lnTo>
                  <a:close/>
                </a:path>
              </a:pathLst>
            </a:custGeom>
            <a:blipFill>
              <a:blip r:embed="rId1">
                <a:alphaModFix amt="0"/>
              </a:blip>
              <a:stretch>
                <a:fillRect t="-105880" b="-105880"/>
              </a:stretch>
            </a:blipFill>
          </p:spPr>
        </p:sp>
        <p:sp>
          <p:nvSpPr>
            <p:cNvPr id="39" name="TextBox 39"/>
            <p:cNvSpPr txBox="1"/>
            <p:nvPr/>
          </p:nvSpPr>
          <p:spPr>
            <a:xfrm>
              <a:off x="0" y="-57150"/>
              <a:ext cx="5852160" cy="788670"/>
            </a:xfrm>
            <a:prstGeom prst="rect">
              <a:avLst/>
            </a:prstGeom>
          </p:spPr>
          <p:txBody>
            <a:bodyPr lIns="0" tIns="0" rIns="0" bIns="0" rtlCol="0" anchor="ctr"/>
            <a:lstStyle/>
            <a:p>
              <a:pPr algn="l">
                <a:lnSpc>
                  <a:spcPts val="3120"/>
                </a:lnSpc>
              </a:pPr>
              <a:r>
                <a:rPr lang="en-US" sz="2600" b="1">
                  <a:solidFill>
                    <a:srgbClr val="BFE8E3"/>
                  </a:solidFill>
                  <a:latin typeface="Times New Roman" panose="02020603050405020304"/>
                  <a:ea typeface="Times New Roman" panose="02020603050405020304"/>
                  <a:cs typeface="Times New Roman" panose="02020603050405020304"/>
                  <a:sym typeface="Times New Roman" panose="02020603050405020304"/>
                </a:rPr>
                <a:t>Client B</a:t>
              </a:r>
              <a:endParaRPr lang="en-US" sz="2600" b="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40" name="Group 40"/>
          <p:cNvGrpSpPr/>
          <p:nvPr/>
        </p:nvGrpSpPr>
        <p:grpSpPr>
          <a:xfrm rot="0">
            <a:off x="13794743" y="3644903"/>
            <a:ext cx="793499" cy="793499"/>
            <a:chOff x="0" y="0"/>
            <a:chExt cx="1057999" cy="1057999"/>
          </a:xfrm>
        </p:grpSpPr>
        <p:sp>
          <p:nvSpPr>
            <p:cNvPr id="41" name="Freeform 41"/>
            <p:cNvSpPr/>
            <p:nvPr/>
          </p:nvSpPr>
          <p:spPr>
            <a:xfrm>
              <a:off x="0" y="0"/>
              <a:ext cx="1058037" cy="1058037"/>
            </a:xfrm>
            <a:custGeom>
              <a:avLst/>
              <a:gdLst/>
              <a:ahLst/>
              <a:cxnLst/>
              <a:rect l="l" t="t" r="r" b="b"/>
              <a:pathLst>
                <a:path w="1058037" h="1058037">
                  <a:moveTo>
                    <a:pt x="0" y="0"/>
                  </a:moveTo>
                  <a:lnTo>
                    <a:pt x="1058037" y="0"/>
                  </a:lnTo>
                  <a:lnTo>
                    <a:pt x="1058037" y="1058037"/>
                  </a:lnTo>
                  <a:lnTo>
                    <a:pt x="0" y="1058037"/>
                  </a:lnTo>
                  <a:close/>
                </a:path>
              </a:pathLst>
            </a:custGeom>
            <a:solidFill>
              <a:srgbClr val="00897B"/>
            </a:solidFill>
            <a:ln w="25400" cap="sq">
              <a:solidFill>
                <a:srgbClr val="00897B"/>
              </a:solidFill>
              <a:prstDash val="solid"/>
              <a:miter/>
            </a:ln>
          </p:spPr>
        </p:sp>
      </p:grpSp>
      <p:grpSp>
        <p:nvGrpSpPr>
          <p:cNvPr id="42" name="Group 42"/>
          <p:cNvGrpSpPr/>
          <p:nvPr/>
        </p:nvGrpSpPr>
        <p:grpSpPr>
          <a:xfrm rot="0">
            <a:off x="15440663" y="3736343"/>
            <a:ext cx="793499" cy="793499"/>
            <a:chOff x="0" y="0"/>
            <a:chExt cx="1057999" cy="1057999"/>
          </a:xfrm>
        </p:grpSpPr>
        <p:sp>
          <p:nvSpPr>
            <p:cNvPr id="43" name="Freeform 43"/>
            <p:cNvSpPr/>
            <p:nvPr/>
          </p:nvSpPr>
          <p:spPr>
            <a:xfrm>
              <a:off x="0" y="0"/>
              <a:ext cx="1058037" cy="1058037"/>
            </a:xfrm>
            <a:custGeom>
              <a:avLst/>
              <a:gdLst/>
              <a:ahLst/>
              <a:cxnLst/>
              <a:rect l="l" t="t" r="r" b="b"/>
              <a:pathLst>
                <a:path w="1058037" h="1058037">
                  <a:moveTo>
                    <a:pt x="0" y="0"/>
                  </a:moveTo>
                  <a:lnTo>
                    <a:pt x="1058037" y="0"/>
                  </a:lnTo>
                  <a:lnTo>
                    <a:pt x="1058037" y="1058037"/>
                  </a:lnTo>
                  <a:lnTo>
                    <a:pt x="0" y="1058037"/>
                  </a:lnTo>
                  <a:close/>
                </a:path>
              </a:pathLst>
            </a:custGeom>
            <a:solidFill>
              <a:srgbClr val="F4A259"/>
            </a:solidFill>
            <a:ln w="25400" cap="sq">
              <a:solidFill>
                <a:srgbClr val="F4A259"/>
              </a:solidFill>
              <a:prstDash val="solid"/>
              <a:miter/>
            </a:ln>
          </p:spPr>
        </p:sp>
      </p:grpSp>
      <p:grpSp>
        <p:nvGrpSpPr>
          <p:cNvPr id="44" name="Group 44"/>
          <p:cNvGrpSpPr/>
          <p:nvPr/>
        </p:nvGrpSpPr>
        <p:grpSpPr>
          <a:xfrm rot="0">
            <a:off x="12618720" y="4901184"/>
            <a:ext cx="4389120" cy="548640"/>
            <a:chOff x="0" y="0"/>
            <a:chExt cx="5852160" cy="731520"/>
          </a:xfrm>
        </p:grpSpPr>
        <p:sp>
          <p:nvSpPr>
            <p:cNvPr id="45" name="Freeform 45"/>
            <p:cNvSpPr/>
            <p:nvPr/>
          </p:nvSpPr>
          <p:spPr>
            <a:xfrm>
              <a:off x="0" y="0"/>
              <a:ext cx="5852160" cy="731520"/>
            </a:xfrm>
            <a:custGeom>
              <a:avLst/>
              <a:gdLst/>
              <a:ahLst/>
              <a:cxnLst/>
              <a:rect l="l" t="t" r="r" b="b"/>
              <a:pathLst>
                <a:path w="5852160" h="731520">
                  <a:moveTo>
                    <a:pt x="0" y="0"/>
                  </a:moveTo>
                  <a:lnTo>
                    <a:pt x="5852160" y="0"/>
                  </a:lnTo>
                  <a:lnTo>
                    <a:pt x="5852160" y="731520"/>
                  </a:lnTo>
                  <a:lnTo>
                    <a:pt x="0" y="731520"/>
                  </a:lnTo>
                  <a:close/>
                </a:path>
              </a:pathLst>
            </a:custGeom>
            <a:blipFill>
              <a:blip r:embed="rId1">
                <a:alphaModFix amt="0"/>
              </a:blip>
              <a:stretch>
                <a:fillRect t="-105880" b="-105880"/>
              </a:stretch>
            </a:blipFill>
          </p:spPr>
        </p:sp>
        <p:sp>
          <p:nvSpPr>
            <p:cNvPr id="46" name="TextBox 46"/>
            <p:cNvSpPr txBox="1"/>
            <p:nvPr/>
          </p:nvSpPr>
          <p:spPr>
            <a:xfrm>
              <a:off x="0" y="-47625"/>
              <a:ext cx="5852160" cy="779145"/>
            </a:xfrm>
            <a:prstGeom prst="rect">
              <a:avLst/>
            </a:prstGeom>
          </p:spPr>
          <p:txBody>
            <a:bodyPr lIns="0" tIns="0" rIns="0" bIns="0" rtlCol="0" anchor="ctr"/>
            <a:lstStyle/>
            <a:p>
              <a:pPr algn="l">
                <a:lnSpc>
                  <a:spcPts val="2640"/>
                </a:lnSpc>
              </a:pPr>
              <a:r>
                <a:rPr lang="en-US" sz="2200" i="1">
                  <a:solidFill>
                    <a:srgbClr val="FFFFFF"/>
                  </a:solidFill>
                  <a:latin typeface="Times New Roman" panose="02020603050405020304"/>
                  <a:ea typeface="Times New Roman" panose="02020603050405020304"/>
                  <a:cs typeface="Times New Roman" panose="02020603050405020304"/>
                  <a:sym typeface="Times New Roman" panose="02020603050405020304"/>
                </a:rPr>
                <a:t>nội suy ô của A</a:t>
              </a:r>
              <a:endParaRPr lang="en-US" sz="2200" i="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47" name="Group 47"/>
          <p:cNvGrpSpPr/>
          <p:nvPr/>
        </p:nvGrpSpPr>
        <p:grpSpPr>
          <a:xfrm rot="0">
            <a:off x="914400" y="6089904"/>
            <a:ext cx="2377440" cy="621792"/>
            <a:chOff x="0" y="0"/>
            <a:chExt cx="3169920" cy="829056"/>
          </a:xfrm>
        </p:grpSpPr>
        <p:sp>
          <p:nvSpPr>
            <p:cNvPr id="48" name="Freeform 48"/>
            <p:cNvSpPr/>
            <p:nvPr/>
          </p:nvSpPr>
          <p:spPr>
            <a:xfrm>
              <a:off x="0" y="0"/>
              <a:ext cx="3169920" cy="829056"/>
            </a:xfrm>
            <a:custGeom>
              <a:avLst/>
              <a:gdLst/>
              <a:ahLst/>
              <a:cxnLst/>
              <a:rect l="l" t="t" r="r" b="b"/>
              <a:pathLst>
                <a:path w="3169920" h="829056">
                  <a:moveTo>
                    <a:pt x="0" y="0"/>
                  </a:moveTo>
                  <a:lnTo>
                    <a:pt x="3169920" y="0"/>
                  </a:lnTo>
                  <a:lnTo>
                    <a:pt x="3169920" y="829056"/>
                  </a:lnTo>
                  <a:lnTo>
                    <a:pt x="0" y="829056"/>
                  </a:lnTo>
                  <a:close/>
                </a:path>
              </a:pathLst>
            </a:custGeom>
            <a:blipFill>
              <a:blip r:embed="rId1">
                <a:alphaModFix amt="0"/>
              </a:blip>
              <a:stretch>
                <a:fillRect t="-24501" b="-24501"/>
              </a:stretch>
            </a:blipFill>
          </p:spPr>
        </p:sp>
        <p:sp>
          <p:nvSpPr>
            <p:cNvPr id="49" name="TextBox 49"/>
            <p:cNvSpPr txBox="1"/>
            <p:nvPr/>
          </p:nvSpPr>
          <p:spPr>
            <a:xfrm>
              <a:off x="0" y="-38100"/>
              <a:ext cx="3169920" cy="867156"/>
            </a:xfrm>
            <a:prstGeom prst="rect">
              <a:avLst/>
            </a:prstGeom>
          </p:spPr>
          <p:txBody>
            <a:bodyPr lIns="0" tIns="0" rIns="0" bIns="0" rtlCol="0" anchor="ctr"/>
            <a:lstStyle/>
            <a:p>
              <a:pPr algn="l">
                <a:lnSpc>
                  <a:spcPts val="2400"/>
                </a:lnSpc>
              </a:pPr>
              <a:r>
                <a:rPr lang="en-US" sz="20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THANH TRƯỢT</a:t>
              </a:r>
              <a:endParaRPr lang="en-US" sz="20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50" name="Group 50"/>
          <p:cNvGrpSpPr/>
          <p:nvPr/>
        </p:nvGrpSpPr>
        <p:grpSpPr>
          <a:xfrm rot="0">
            <a:off x="3373755" y="6080379"/>
            <a:ext cx="1847850" cy="640842"/>
            <a:chOff x="0" y="0"/>
            <a:chExt cx="2463800" cy="854456"/>
          </a:xfrm>
        </p:grpSpPr>
        <p:sp>
          <p:nvSpPr>
            <p:cNvPr id="51" name="Freeform 51"/>
            <p:cNvSpPr/>
            <p:nvPr/>
          </p:nvSpPr>
          <p:spPr>
            <a:xfrm>
              <a:off x="0" y="0"/>
              <a:ext cx="2463800" cy="854456"/>
            </a:xfrm>
            <a:custGeom>
              <a:avLst/>
              <a:gdLst/>
              <a:ahLst/>
              <a:cxnLst/>
              <a:rect l="l" t="t" r="r" b="b"/>
              <a:pathLst>
                <a:path w="2463800" h="854456">
                  <a:moveTo>
                    <a:pt x="0" y="427228"/>
                  </a:moveTo>
                  <a:cubicBezTo>
                    <a:pt x="0" y="191262"/>
                    <a:pt x="191262" y="0"/>
                    <a:pt x="427228" y="0"/>
                  </a:cubicBezTo>
                  <a:lnTo>
                    <a:pt x="2036572" y="0"/>
                  </a:lnTo>
                  <a:cubicBezTo>
                    <a:pt x="2272538" y="0"/>
                    <a:pt x="2463800" y="191262"/>
                    <a:pt x="2463800" y="427228"/>
                  </a:cubicBezTo>
                  <a:cubicBezTo>
                    <a:pt x="2463800" y="663194"/>
                    <a:pt x="2272538" y="854456"/>
                    <a:pt x="2036572" y="854456"/>
                  </a:cubicBezTo>
                  <a:lnTo>
                    <a:pt x="427228" y="854456"/>
                  </a:lnTo>
                  <a:cubicBezTo>
                    <a:pt x="191262" y="854456"/>
                    <a:pt x="0" y="663194"/>
                    <a:pt x="0" y="427228"/>
                  </a:cubicBezTo>
                  <a:close/>
                </a:path>
              </a:pathLst>
            </a:custGeom>
            <a:solidFill>
              <a:srgbClr val="0B1626"/>
            </a:solidFill>
            <a:ln w="19050" cap="sq">
              <a:solidFill>
                <a:srgbClr val="BFE8E3"/>
              </a:solidFill>
              <a:prstDash val="solid"/>
              <a:miter/>
            </a:ln>
          </p:spPr>
        </p:sp>
      </p:grpSp>
      <p:grpSp>
        <p:nvGrpSpPr>
          <p:cNvPr id="52" name="Group 52"/>
          <p:cNvGrpSpPr/>
          <p:nvPr/>
        </p:nvGrpSpPr>
        <p:grpSpPr>
          <a:xfrm rot="0">
            <a:off x="3383280" y="6089904"/>
            <a:ext cx="1828800" cy="621792"/>
            <a:chOff x="0" y="0"/>
            <a:chExt cx="2438400" cy="829056"/>
          </a:xfrm>
        </p:grpSpPr>
        <p:sp>
          <p:nvSpPr>
            <p:cNvPr id="53" name="Freeform 53"/>
            <p:cNvSpPr/>
            <p:nvPr/>
          </p:nvSpPr>
          <p:spPr>
            <a:xfrm>
              <a:off x="0" y="0"/>
              <a:ext cx="2438400" cy="829056"/>
            </a:xfrm>
            <a:custGeom>
              <a:avLst/>
              <a:gdLst/>
              <a:ahLst/>
              <a:cxnLst/>
              <a:rect l="l" t="t" r="r" b="b"/>
              <a:pathLst>
                <a:path w="2438400" h="829056">
                  <a:moveTo>
                    <a:pt x="0" y="0"/>
                  </a:moveTo>
                  <a:lnTo>
                    <a:pt x="2438400" y="0"/>
                  </a:lnTo>
                  <a:lnTo>
                    <a:pt x="2438400" y="829056"/>
                  </a:lnTo>
                  <a:lnTo>
                    <a:pt x="0" y="829056"/>
                  </a:lnTo>
                  <a:close/>
                </a:path>
              </a:pathLst>
            </a:custGeom>
            <a:blipFill>
              <a:blip r:embed="rId1">
                <a:alphaModFix amt="0"/>
              </a:blip>
              <a:stretch>
                <a:fillRect t="-7308" b="-7308"/>
              </a:stretch>
            </a:blipFill>
          </p:spPr>
        </p:sp>
        <p:sp>
          <p:nvSpPr>
            <p:cNvPr id="54" name="TextBox 54"/>
            <p:cNvSpPr txBox="1"/>
            <p:nvPr/>
          </p:nvSpPr>
          <p:spPr>
            <a:xfrm>
              <a:off x="0" y="-47625"/>
              <a:ext cx="2438400" cy="876681"/>
            </a:xfrm>
            <a:prstGeom prst="rect">
              <a:avLst/>
            </a:prstGeom>
          </p:spPr>
          <p:txBody>
            <a:bodyPr lIns="0" tIns="0" rIns="0" bIns="0" rtlCol="0" anchor="ctr"/>
            <a:lstStyle/>
            <a:p>
              <a:pPr algn="ctr">
                <a:lnSpc>
                  <a:spcPts val="2640"/>
                </a:lnSpc>
              </a:pPr>
              <a:r>
                <a:rPr lang="en-US" sz="2200">
                  <a:solidFill>
                    <a:srgbClr val="FFFFFF"/>
                  </a:solidFill>
                  <a:latin typeface="Times New Roman" panose="02020603050405020304"/>
                  <a:ea typeface="Times New Roman" panose="02020603050405020304"/>
                  <a:cs typeface="Times New Roman" panose="02020603050405020304"/>
                  <a:sym typeface="Times New Roman" panose="02020603050405020304"/>
                </a:rPr>
                <a:t>Độ trễ</a:t>
              </a:r>
              <a:endParaRPr lang="en-US" sz="2200">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55" name="Group 55"/>
          <p:cNvGrpSpPr/>
          <p:nvPr/>
        </p:nvGrpSpPr>
        <p:grpSpPr>
          <a:xfrm rot="0">
            <a:off x="5422011" y="6080379"/>
            <a:ext cx="2853690" cy="640842"/>
            <a:chOff x="0" y="0"/>
            <a:chExt cx="3804920" cy="854456"/>
          </a:xfrm>
        </p:grpSpPr>
        <p:sp>
          <p:nvSpPr>
            <p:cNvPr id="56" name="Freeform 56"/>
            <p:cNvSpPr/>
            <p:nvPr/>
          </p:nvSpPr>
          <p:spPr>
            <a:xfrm>
              <a:off x="0" y="0"/>
              <a:ext cx="3804920" cy="854456"/>
            </a:xfrm>
            <a:custGeom>
              <a:avLst/>
              <a:gdLst/>
              <a:ahLst/>
              <a:cxnLst/>
              <a:rect l="l" t="t" r="r" b="b"/>
              <a:pathLst>
                <a:path w="3804920" h="854456">
                  <a:moveTo>
                    <a:pt x="0" y="427228"/>
                  </a:moveTo>
                  <a:cubicBezTo>
                    <a:pt x="0" y="191262"/>
                    <a:pt x="191262" y="0"/>
                    <a:pt x="427228" y="0"/>
                  </a:cubicBezTo>
                  <a:lnTo>
                    <a:pt x="3377692" y="0"/>
                  </a:lnTo>
                  <a:cubicBezTo>
                    <a:pt x="3613658" y="0"/>
                    <a:pt x="3804920" y="191262"/>
                    <a:pt x="3804920" y="427228"/>
                  </a:cubicBezTo>
                  <a:cubicBezTo>
                    <a:pt x="3804920" y="663194"/>
                    <a:pt x="3613658" y="854456"/>
                    <a:pt x="3377692" y="854456"/>
                  </a:cubicBezTo>
                  <a:lnTo>
                    <a:pt x="427228" y="854456"/>
                  </a:lnTo>
                  <a:cubicBezTo>
                    <a:pt x="191262" y="854456"/>
                    <a:pt x="0" y="663194"/>
                    <a:pt x="0" y="427228"/>
                  </a:cubicBezTo>
                  <a:close/>
                </a:path>
              </a:pathLst>
            </a:custGeom>
            <a:solidFill>
              <a:srgbClr val="0B1626"/>
            </a:solidFill>
            <a:ln w="19050" cap="sq">
              <a:solidFill>
                <a:srgbClr val="BFE8E3"/>
              </a:solidFill>
              <a:prstDash val="solid"/>
              <a:miter/>
            </a:ln>
          </p:spPr>
        </p:sp>
      </p:grpSp>
      <p:grpSp>
        <p:nvGrpSpPr>
          <p:cNvPr id="57" name="Group 57"/>
          <p:cNvGrpSpPr/>
          <p:nvPr/>
        </p:nvGrpSpPr>
        <p:grpSpPr>
          <a:xfrm rot="0">
            <a:off x="5431536" y="6089904"/>
            <a:ext cx="2834640" cy="621792"/>
            <a:chOff x="0" y="0"/>
            <a:chExt cx="3779520" cy="829056"/>
          </a:xfrm>
        </p:grpSpPr>
        <p:sp>
          <p:nvSpPr>
            <p:cNvPr id="58" name="Freeform 58"/>
            <p:cNvSpPr/>
            <p:nvPr/>
          </p:nvSpPr>
          <p:spPr>
            <a:xfrm>
              <a:off x="0" y="0"/>
              <a:ext cx="3779520" cy="829056"/>
            </a:xfrm>
            <a:custGeom>
              <a:avLst/>
              <a:gdLst/>
              <a:ahLst/>
              <a:cxnLst/>
              <a:rect l="l" t="t" r="r" b="b"/>
              <a:pathLst>
                <a:path w="3779520" h="829056">
                  <a:moveTo>
                    <a:pt x="0" y="0"/>
                  </a:moveTo>
                  <a:lnTo>
                    <a:pt x="3779520" y="0"/>
                  </a:lnTo>
                  <a:lnTo>
                    <a:pt x="3779520" y="829056"/>
                  </a:lnTo>
                  <a:lnTo>
                    <a:pt x="0" y="829056"/>
                  </a:lnTo>
                  <a:close/>
                </a:path>
              </a:pathLst>
            </a:custGeom>
            <a:blipFill>
              <a:blip r:embed="rId1">
                <a:alphaModFix amt="0"/>
              </a:blip>
              <a:stretch>
                <a:fillRect t="-38828" b="-38828"/>
              </a:stretch>
            </a:blipFill>
          </p:spPr>
        </p:sp>
        <p:sp>
          <p:nvSpPr>
            <p:cNvPr id="59" name="TextBox 59"/>
            <p:cNvSpPr txBox="1"/>
            <p:nvPr/>
          </p:nvSpPr>
          <p:spPr>
            <a:xfrm>
              <a:off x="0" y="-47625"/>
              <a:ext cx="3779520" cy="876681"/>
            </a:xfrm>
            <a:prstGeom prst="rect">
              <a:avLst/>
            </a:prstGeom>
          </p:spPr>
          <p:txBody>
            <a:bodyPr lIns="0" tIns="0" rIns="0" bIns="0" rtlCol="0" anchor="ctr"/>
            <a:lstStyle/>
            <a:p>
              <a:pPr algn="ctr">
                <a:lnSpc>
                  <a:spcPts val="2640"/>
                </a:lnSpc>
              </a:pPr>
              <a:r>
                <a:rPr lang="en-US" sz="2200">
                  <a:solidFill>
                    <a:srgbClr val="FFFFFF"/>
                  </a:solidFill>
                  <a:latin typeface="Times New Roman" panose="02020603050405020304"/>
                  <a:ea typeface="Times New Roman" panose="02020603050405020304"/>
                  <a:cs typeface="Times New Roman" panose="02020603050405020304"/>
                  <a:sym typeface="Times New Roman" panose="02020603050405020304"/>
                </a:rPr>
                <a:t>Dao động độ trễ</a:t>
              </a:r>
              <a:endParaRPr lang="en-US" sz="2200">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60" name="Group 60"/>
          <p:cNvGrpSpPr/>
          <p:nvPr/>
        </p:nvGrpSpPr>
        <p:grpSpPr>
          <a:xfrm rot="0">
            <a:off x="8476107" y="6080379"/>
            <a:ext cx="1847850" cy="640842"/>
            <a:chOff x="0" y="0"/>
            <a:chExt cx="2463800" cy="854456"/>
          </a:xfrm>
        </p:grpSpPr>
        <p:sp>
          <p:nvSpPr>
            <p:cNvPr id="61" name="Freeform 61"/>
            <p:cNvSpPr/>
            <p:nvPr/>
          </p:nvSpPr>
          <p:spPr>
            <a:xfrm>
              <a:off x="0" y="0"/>
              <a:ext cx="2463800" cy="854456"/>
            </a:xfrm>
            <a:custGeom>
              <a:avLst/>
              <a:gdLst/>
              <a:ahLst/>
              <a:cxnLst/>
              <a:rect l="l" t="t" r="r" b="b"/>
              <a:pathLst>
                <a:path w="2463800" h="854456">
                  <a:moveTo>
                    <a:pt x="0" y="427228"/>
                  </a:moveTo>
                  <a:cubicBezTo>
                    <a:pt x="0" y="191262"/>
                    <a:pt x="191262" y="0"/>
                    <a:pt x="427228" y="0"/>
                  </a:cubicBezTo>
                  <a:lnTo>
                    <a:pt x="2036572" y="0"/>
                  </a:lnTo>
                  <a:cubicBezTo>
                    <a:pt x="2272538" y="0"/>
                    <a:pt x="2463800" y="191262"/>
                    <a:pt x="2463800" y="427228"/>
                  </a:cubicBezTo>
                  <a:cubicBezTo>
                    <a:pt x="2463800" y="663194"/>
                    <a:pt x="2272538" y="854456"/>
                    <a:pt x="2036572" y="854456"/>
                  </a:cubicBezTo>
                  <a:lnTo>
                    <a:pt x="427228" y="854456"/>
                  </a:lnTo>
                  <a:cubicBezTo>
                    <a:pt x="191262" y="854456"/>
                    <a:pt x="0" y="663194"/>
                    <a:pt x="0" y="427228"/>
                  </a:cubicBezTo>
                  <a:close/>
                </a:path>
              </a:pathLst>
            </a:custGeom>
            <a:solidFill>
              <a:srgbClr val="0B1626"/>
            </a:solidFill>
            <a:ln w="19050" cap="sq">
              <a:solidFill>
                <a:srgbClr val="BFE8E3"/>
              </a:solidFill>
              <a:prstDash val="solid"/>
              <a:miter/>
            </a:ln>
          </p:spPr>
        </p:sp>
      </p:grpSp>
      <p:grpSp>
        <p:nvGrpSpPr>
          <p:cNvPr id="62" name="Group 62"/>
          <p:cNvGrpSpPr/>
          <p:nvPr/>
        </p:nvGrpSpPr>
        <p:grpSpPr>
          <a:xfrm rot="0">
            <a:off x="8485632" y="6089904"/>
            <a:ext cx="1828800" cy="621792"/>
            <a:chOff x="0" y="0"/>
            <a:chExt cx="2438400" cy="829056"/>
          </a:xfrm>
        </p:grpSpPr>
        <p:sp>
          <p:nvSpPr>
            <p:cNvPr id="63" name="Freeform 63"/>
            <p:cNvSpPr/>
            <p:nvPr/>
          </p:nvSpPr>
          <p:spPr>
            <a:xfrm>
              <a:off x="0" y="0"/>
              <a:ext cx="2438400" cy="829056"/>
            </a:xfrm>
            <a:custGeom>
              <a:avLst/>
              <a:gdLst/>
              <a:ahLst/>
              <a:cxnLst/>
              <a:rect l="l" t="t" r="r" b="b"/>
              <a:pathLst>
                <a:path w="2438400" h="829056">
                  <a:moveTo>
                    <a:pt x="0" y="0"/>
                  </a:moveTo>
                  <a:lnTo>
                    <a:pt x="2438400" y="0"/>
                  </a:lnTo>
                  <a:lnTo>
                    <a:pt x="2438400" y="829056"/>
                  </a:lnTo>
                  <a:lnTo>
                    <a:pt x="0" y="829056"/>
                  </a:lnTo>
                  <a:close/>
                </a:path>
              </a:pathLst>
            </a:custGeom>
            <a:blipFill>
              <a:blip r:embed="rId1">
                <a:alphaModFix amt="0"/>
              </a:blip>
              <a:stretch>
                <a:fillRect t="-7308" b="-7308"/>
              </a:stretch>
            </a:blipFill>
          </p:spPr>
        </p:sp>
        <p:sp>
          <p:nvSpPr>
            <p:cNvPr id="64" name="TextBox 64"/>
            <p:cNvSpPr txBox="1"/>
            <p:nvPr/>
          </p:nvSpPr>
          <p:spPr>
            <a:xfrm>
              <a:off x="0" y="-47625"/>
              <a:ext cx="2438400" cy="876681"/>
            </a:xfrm>
            <a:prstGeom prst="rect">
              <a:avLst/>
            </a:prstGeom>
          </p:spPr>
          <p:txBody>
            <a:bodyPr lIns="0" tIns="0" rIns="0" bIns="0" rtlCol="0" anchor="ctr"/>
            <a:lstStyle/>
            <a:p>
              <a:pPr algn="ctr">
                <a:lnSpc>
                  <a:spcPts val="2640"/>
                </a:lnSpc>
              </a:pPr>
              <a:r>
                <a:rPr lang="en-US" sz="2200">
                  <a:solidFill>
                    <a:srgbClr val="FFFFFF"/>
                  </a:solidFill>
                  <a:latin typeface="Times New Roman" panose="02020603050405020304"/>
                  <a:ea typeface="Times New Roman" panose="02020603050405020304"/>
                  <a:cs typeface="Times New Roman" panose="02020603050405020304"/>
                  <a:sym typeface="Times New Roman" panose="02020603050405020304"/>
                </a:rPr>
                <a:t>Mất gói</a:t>
              </a:r>
              <a:endParaRPr lang="en-US" sz="2200">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65" name="Group 65"/>
          <p:cNvGrpSpPr/>
          <p:nvPr/>
        </p:nvGrpSpPr>
        <p:grpSpPr>
          <a:xfrm rot="0">
            <a:off x="10524363" y="6080379"/>
            <a:ext cx="2762250" cy="640842"/>
            <a:chOff x="0" y="0"/>
            <a:chExt cx="3683000" cy="854456"/>
          </a:xfrm>
        </p:grpSpPr>
        <p:sp>
          <p:nvSpPr>
            <p:cNvPr id="66" name="Freeform 66"/>
            <p:cNvSpPr/>
            <p:nvPr/>
          </p:nvSpPr>
          <p:spPr>
            <a:xfrm>
              <a:off x="0" y="0"/>
              <a:ext cx="3683000" cy="854456"/>
            </a:xfrm>
            <a:custGeom>
              <a:avLst/>
              <a:gdLst/>
              <a:ahLst/>
              <a:cxnLst/>
              <a:rect l="l" t="t" r="r" b="b"/>
              <a:pathLst>
                <a:path w="3683000" h="854456">
                  <a:moveTo>
                    <a:pt x="0" y="427228"/>
                  </a:moveTo>
                  <a:cubicBezTo>
                    <a:pt x="0" y="191262"/>
                    <a:pt x="191262" y="0"/>
                    <a:pt x="427228" y="0"/>
                  </a:cubicBezTo>
                  <a:lnTo>
                    <a:pt x="3255772" y="0"/>
                  </a:lnTo>
                  <a:cubicBezTo>
                    <a:pt x="3491738" y="0"/>
                    <a:pt x="3683000" y="191262"/>
                    <a:pt x="3683000" y="427228"/>
                  </a:cubicBezTo>
                  <a:cubicBezTo>
                    <a:pt x="3683000" y="663194"/>
                    <a:pt x="3491738" y="854456"/>
                    <a:pt x="3255772" y="854456"/>
                  </a:cubicBezTo>
                  <a:lnTo>
                    <a:pt x="427228" y="854456"/>
                  </a:lnTo>
                  <a:cubicBezTo>
                    <a:pt x="191262" y="854456"/>
                    <a:pt x="0" y="663194"/>
                    <a:pt x="0" y="427228"/>
                  </a:cubicBezTo>
                  <a:close/>
                </a:path>
              </a:pathLst>
            </a:custGeom>
            <a:solidFill>
              <a:srgbClr val="0B1626"/>
            </a:solidFill>
            <a:ln w="19050" cap="sq">
              <a:solidFill>
                <a:srgbClr val="BFE8E3"/>
              </a:solidFill>
              <a:prstDash val="solid"/>
              <a:miter/>
            </a:ln>
          </p:spPr>
        </p:sp>
      </p:grpSp>
      <p:grpSp>
        <p:nvGrpSpPr>
          <p:cNvPr id="67" name="Group 67"/>
          <p:cNvGrpSpPr/>
          <p:nvPr/>
        </p:nvGrpSpPr>
        <p:grpSpPr>
          <a:xfrm rot="0">
            <a:off x="10533888" y="6089904"/>
            <a:ext cx="2743200" cy="621792"/>
            <a:chOff x="0" y="0"/>
            <a:chExt cx="3657600" cy="829056"/>
          </a:xfrm>
        </p:grpSpPr>
        <p:sp>
          <p:nvSpPr>
            <p:cNvPr id="68" name="Freeform 68"/>
            <p:cNvSpPr/>
            <p:nvPr/>
          </p:nvSpPr>
          <p:spPr>
            <a:xfrm>
              <a:off x="0" y="0"/>
              <a:ext cx="3657600" cy="829056"/>
            </a:xfrm>
            <a:custGeom>
              <a:avLst/>
              <a:gdLst/>
              <a:ahLst/>
              <a:cxnLst/>
              <a:rect l="l" t="t" r="r" b="b"/>
              <a:pathLst>
                <a:path w="3657600" h="829056">
                  <a:moveTo>
                    <a:pt x="0" y="0"/>
                  </a:moveTo>
                  <a:lnTo>
                    <a:pt x="3657600" y="0"/>
                  </a:lnTo>
                  <a:lnTo>
                    <a:pt x="3657600" y="829056"/>
                  </a:lnTo>
                  <a:lnTo>
                    <a:pt x="0" y="829056"/>
                  </a:lnTo>
                  <a:close/>
                </a:path>
              </a:pathLst>
            </a:custGeom>
            <a:blipFill>
              <a:blip r:embed="rId1">
                <a:alphaModFix amt="0"/>
              </a:blip>
              <a:stretch>
                <a:fillRect t="-35963" b="-35963"/>
              </a:stretch>
            </a:blipFill>
          </p:spPr>
        </p:sp>
        <p:sp>
          <p:nvSpPr>
            <p:cNvPr id="69" name="TextBox 69"/>
            <p:cNvSpPr txBox="1"/>
            <p:nvPr/>
          </p:nvSpPr>
          <p:spPr>
            <a:xfrm>
              <a:off x="0" y="-47625"/>
              <a:ext cx="3657600" cy="876681"/>
            </a:xfrm>
            <a:prstGeom prst="rect">
              <a:avLst/>
            </a:prstGeom>
          </p:spPr>
          <p:txBody>
            <a:bodyPr lIns="0" tIns="0" rIns="0" bIns="0" rtlCol="0" anchor="ctr"/>
            <a:lstStyle/>
            <a:p>
              <a:pPr algn="ctr">
                <a:lnSpc>
                  <a:spcPts val="2640"/>
                </a:lnSpc>
              </a:pPr>
              <a:r>
                <a:rPr lang="en-US" sz="2200">
                  <a:solidFill>
                    <a:srgbClr val="FFFFFF"/>
                  </a:solidFill>
                  <a:latin typeface="Times New Roman" panose="02020603050405020304"/>
                  <a:ea typeface="Times New Roman" panose="02020603050405020304"/>
                  <a:cs typeface="Times New Roman" panose="02020603050405020304"/>
                  <a:sym typeface="Times New Roman" panose="02020603050405020304"/>
                </a:rPr>
                <a:t>Tần số gửi ảnh</a:t>
              </a:r>
              <a:endParaRPr lang="en-US" sz="2200">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70" name="Group 70"/>
          <p:cNvGrpSpPr/>
          <p:nvPr/>
        </p:nvGrpSpPr>
        <p:grpSpPr>
          <a:xfrm rot="0">
            <a:off x="901703" y="7211063"/>
            <a:ext cx="683771" cy="683771"/>
            <a:chOff x="0" y="0"/>
            <a:chExt cx="911695" cy="911695"/>
          </a:xfrm>
        </p:grpSpPr>
        <p:sp>
          <p:nvSpPr>
            <p:cNvPr id="71" name="Freeform 71"/>
            <p:cNvSpPr/>
            <p:nvPr/>
          </p:nvSpPr>
          <p:spPr>
            <a:xfrm>
              <a:off x="0" y="0"/>
              <a:ext cx="911733" cy="911733"/>
            </a:xfrm>
            <a:custGeom>
              <a:avLst/>
              <a:gdLst/>
              <a:ahLst/>
              <a:cxnLst/>
              <a:rect l="l" t="t" r="r" b="b"/>
              <a:pathLst>
                <a:path w="911733" h="911733">
                  <a:moveTo>
                    <a:pt x="0" y="455803"/>
                  </a:moveTo>
                  <a:cubicBezTo>
                    <a:pt x="0" y="204089"/>
                    <a:pt x="204089" y="0"/>
                    <a:pt x="455803" y="0"/>
                  </a:cubicBezTo>
                  <a:cubicBezTo>
                    <a:pt x="707517" y="0"/>
                    <a:pt x="911733" y="204089"/>
                    <a:pt x="911733" y="455803"/>
                  </a:cubicBezTo>
                  <a:cubicBezTo>
                    <a:pt x="911733" y="707517"/>
                    <a:pt x="707644" y="911733"/>
                    <a:pt x="455803" y="911733"/>
                  </a:cubicBezTo>
                  <a:cubicBezTo>
                    <a:pt x="203962" y="911733"/>
                    <a:pt x="0" y="707644"/>
                    <a:pt x="0" y="455803"/>
                  </a:cubicBezTo>
                  <a:close/>
                </a:path>
              </a:pathLst>
            </a:custGeom>
            <a:solidFill>
              <a:srgbClr val="00897B"/>
            </a:solidFill>
            <a:ln w="25400" cap="sq">
              <a:solidFill>
                <a:srgbClr val="00897B"/>
              </a:solidFill>
              <a:prstDash val="solid"/>
              <a:miter/>
            </a:ln>
          </p:spPr>
        </p:sp>
      </p:grpSp>
      <p:grpSp>
        <p:nvGrpSpPr>
          <p:cNvPr id="72" name="Group 72"/>
          <p:cNvGrpSpPr/>
          <p:nvPr/>
        </p:nvGrpSpPr>
        <p:grpSpPr>
          <a:xfrm rot="0">
            <a:off x="914400" y="7223760"/>
            <a:ext cx="658368" cy="658368"/>
            <a:chOff x="0" y="0"/>
            <a:chExt cx="877824" cy="877824"/>
          </a:xfrm>
        </p:grpSpPr>
        <p:sp>
          <p:nvSpPr>
            <p:cNvPr id="73" name="Freeform 73"/>
            <p:cNvSpPr/>
            <p:nvPr/>
          </p:nvSpPr>
          <p:spPr>
            <a:xfrm>
              <a:off x="0" y="0"/>
              <a:ext cx="877824" cy="877824"/>
            </a:xfrm>
            <a:custGeom>
              <a:avLst/>
              <a:gdLst/>
              <a:ahLst/>
              <a:cxnLst/>
              <a:rect l="l" t="t" r="r" b="b"/>
              <a:pathLst>
                <a:path w="877824" h="877824">
                  <a:moveTo>
                    <a:pt x="0" y="0"/>
                  </a:moveTo>
                  <a:lnTo>
                    <a:pt x="877824" y="0"/>
                  </a:lnTo>
                  <a:lnTo>
                    <a:pt x="877824" y="877824"/>
                  </a:lnTo>
                  <a:lnTo>
                    <a:pt x="0" y="877824"/>
                  </a:lnTo>
                  <a:close/>
                </a:path>
              </a:pathLst>
            </a:custGeom>
            <a:blipFill>
              <a:blip r:embed="rId1">
                <a:alphaModFix amt="0"/>
              </a:blip>
              <a:stretch>
                <a:fillRect l="-78303" r="-78303"/>
              </a:stretch>
            </a:blipFill>
          </p:spPr>
        </p:sp>
        <p:sp>
          <p:nvSpPr>
            <p:cNvPr id="74" name="TextBox 74"/>
            <p:cNvSpPr txBox="1"/>
            <p:nvPr/>
          </p:nvSpPr>
          <p:spPr>
            <a:xfrm>
              <a:off x="0" y="-38100"/>
              <a:ext cx="877824" cy="915924"/>
            </a:xfrm>
            <a:prstGeom prst="rect">
              <a:avLst/>
            </a:prstGeom>
          </p:spPr>
          <p:txBody>
            <a:bodyPr lIns="0" tIns="0" rIns="0" bIns="0" rtlCol="0" anchor="ctr"/>
            <a:lstStyle/>
            <a:p>
              <a:pPr algn="ctr">
                <a:lnSpc>
                  <a:spcPts val="2880"/>
                </a:lnSpc>
              </a:pPr>
              <a:r>
                <a:rPr lang="en-US" sz="2400" b="1">
                  <a:solidFill>
                    <a:srgbClr val="FFFFFF"/>
                  </a:solidFill>
                  <a:latin typeface="Times New Roman" panose="02020603050405020304"/>
                  <a:ea typeface="Times New Roman" panose="02020603050405020304"/>
                  <a:cs typeface="Times New Roman" panose="02020603050405020304"/>
                  <a:sym typeface="Times New Roman" panose="02020603050405020304"/>
                </a:rPr>
                <a:t>0</a:t>
              </a:r>
              <a:endParaRPr lang="en-US" sz="24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75" name="TextBox 75"/>
          <p:cNvSpPr txBox="1"/>
          <p:nvPr/>
        </p:nvSpPr>
        <p:spPr>
          <a:xfrm>
            <a:off x="914400" y="7962519"/>
            <a:ext cx="2596896" cy="1053465"/>
          </a:xfrm>
          <a:prstGeom prst="rect">
            <a:avLst/>
          </a:prstGeom>
        </p:spPr>
        <p:txBody>
          <a:bodyPr lIns="0" tIns="0" rIns="0" bIns="0" rtlCol="0" anchor="t">
            <a:spAutoFit/>
          </a:bodyPr>
          <a:lstStyle/>
          <a:p>
            <a:pPr algn="l">
              <a:lnSpc>
                <a:spcPts val="2640"/>
              </a:lnSpc>
            </a:pPr>
            <a:r>
              <a:rPr lang="en-US" sz="2200">
                <a:solidFill>
                  <a:srgbClr val="FFFFFF"/>
                </a:solidFill>
                <a:latin typeface="Times New Roman" panose="02020603050405020304"/>
                <a:ea typeface="Times New Roman" panose="02020603050405020304"/>
                <a:cs typeface="Times New Roman" panose="02020603050405020304"/>
                <a:sym typeface="Times New Roman" panose="02020603050405020304"/>
              </a:rPr>
              <a:t>Client tự quyết</a:t>
            </a:r>
            <a:endParaRPr lang="en-US" sz="2200">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76" name="Group 76"/>
          <p:cNvGrpSpPr/>
          <p:nvPr/>
        </p:nvGrpSpPr>
        <p:grpSpPr>
          <a:xfrm rot="0">
            <a:off x="3681479" y="7211063"/>
            <a:ext cx="683771" cy="683771"/>
            <a:chOff x="0" y="0"/>
            <a:chExt cx="911695" cy="911695"/>
          </a:xfrm>
        </p:grpSpPr>
        <p:sp>
          <p:nvSpPr>
            <p:cNvPr id="77" name="Freeform 77"/>
            <p:cNvSpPr/>
            <p:nvPr/>
          </p:nvSpPr>
          <p:spPr>
            <a:xfrm>
              <a:off x="0" y="0"/>
              <a:ext cx="911733" cy="911733"/>
            </a:xfrm>
            <a:custGeom>
              <a:avLst/>
              <a:gdLst/>
              <a:ahLst/>
              <a:cxnLst/>
              <a:rect l="l" t="t" r="r" b="b"/>
              <a:pathLst>
                <a:path w="911733" h="911733">
                  <a:moveTo>
                    <a:pt x="0" y="455803"/>
                  </a:moveTo>
                  <a:cubicBezTo>
                    <a:pt x="0" y="204089"/>
                    <a:pt x="204089" y="0"/>
                    <a:pt x="455803" y="0"/>
                  </a:cubicBezTo>
                  <a:cubicBezTo>
                    <a:pt x="707517" y="0"/>
                    <a:pt x="911733" y="204089"/>
                    <a:pt x="911733" y="455803"/>
                  </a:cubicBezTo>
                  <a:cubicBezTo>
                    <a:pt x="911733" y="707517"/>
                    <a:pt x="707644" y="911733"/>
                    <a:pt x="455803" y="911733"/>
                  </a:cubicBezTo>
                  <a:cubicBezTo>
                    <a:pt x="203962" y="911733"/>
                    <a:pt x="0" y="707644"/>
                    <a:pt x="0" y="455803"/>
                  </a:cubicBezTo>
                  <a:close/>
                </a:path>
              </a:pathLst>
            </a:custGeom>
            <a:solidFill>
              <a:srgbClr val="00897B"/>
            </a:solidFill>
            <a:ln w="25400" cap="sq">
              <a:solidFill>
                <a:srgbClr val="00897B"/>
              </a:solidFill>
              <a:prstDash val="solid"/>
              <a:miter/>
            </a:ln>
          </p:spPr>
        </p:sp>
      </p:grpSp>
      <p:grpSp>
        <p:nvGrpSpPr>
          <p:cNvPr id="78" name="Group 78"/>
          <p:cNvGrpSpPr/>
          <p:nvPr/>
        </p:nvGrpSpPr>
        <p:grpSpPr>
          <a:xfrm rot="0">
            <a:off x="3694176" y="7223760"/>
            <a:ext cx="658368" cy="658368"/>
            <a:chOff x="0" y="0"/>
            <a:chExt cx="877824" cy="877824"/>
          </a:xfrm>
        </p:grpSpPr>
        <p:sp>
          <p:nvSpPr>
            <p:cNvPr id="79" name="Freeform 79"/>
            <p:cNvSpPr/>
            <p:nvPr/>
          </p:nvSpPr>
          <p:spPr>
            <a:xfrm>
              <a:off x="0" y="0"/>
              <a:ext cx="877824" cy="877824"/>
            </a:xfrm>
            <a:custGeom>
              <a:avLst/>
              <a:gdLst/>
              <a:ahLst/>
              <a:cxnLst/>
              <a:rect l="l" t="t" r="r" b="b"/>
              <a:pathLst>
                <a:path w="877824" h="877824">
                  <a:moveTo>
                    <a:pt x="0" y="0"/>
                  </a:moveTo>
                  <a:lnTo>
                    <a:pt x="877824" y="0"/>
                  </a:lnTo>
                  <a:lnTo>
                    <a:pt x="877824" y="877824"/>
                  </a:lnTo>
                  <a:lnTo>
                    <a:pt x="0" y="877824"/>
                  </a:lnTo>
                  <a:close/>
                </a:path>
              </a:pathLst>
            </a:custGeom>
            <a:blipFill>
              <a:blip r:embed="rId1">
                <a:alphaModFix amt="0"/>
              </a:blip>
              <a:stretch>
                <a:fillRect l="-78303" r="-78303"/>
              </a:stretch>
            </a:blipFill>
          </p:spPr>
        </p:sp>
        <p:sp>
          <p:nvSpPr>
            <p:cNvPr id="80" name="TextBox 80"/>
            <p:cNvSpPr txBox="1"/>
            <p:nvPr/>
          </p:nvSpPr>
          <p:spPr>
            <a:xfrm>
              <a:off x="0" y="-38100"/>
              <a:ext cx="877824" cy="915924"/>
            </a:xfrm>
            <a:prstGeom prst="rect">
              <a:avLst/>
            </a:prstGeom>
          </p:spPr>
          <p:txBody>
            <a:bodyPr lIns="0" tIns="0" rIns="0" bIns="0" rtlCol="0" anchor="ctr"/>
            <a:lstStyle/>
            <a:p>
              <a:pPr algn="ctr">
                <a:lnSpc>
                  <a:spcPts val="2880"/>
                </a:lnSpc>
              </a:pPr>
              <a:r>
                <a:rPr lang="en-US" sz="2400" b="1">
                  <a:solidFill>
                    <a:srgbClr val="FFFFFF"/>
                  </a:solidFill>
                  <a:latin typeface="Times New Roman" panose="02020603050405020304"/>
                  <a:ea typeface="Times New Roman" panose="02020603050405020304"/>
                  <a:cs typeface="Times New Roman" panose="02020603050405020304"/>
                  <a:sym typeface="Times New Roman" panose="02020603050405020304"/>
                </a:rPr>
                <a:t>1</a:t>
              </a:r>
              <a:endParaRPr lang="en-US" sz="24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81" name="TextBox 81"/>
          <p:cNvSpPr txBox="1"/>
          <p:nvPr/>
        </p:nvSpPr>
        <p:spPr>
          <a:xfrm>
            <a:off x="3694176" y="7962519"/>
            <a:ext cx="2596896" cy="1053465"/>
          </a:xfrm>
          <a:prstGeom prst="rect">
            <a:avLst/>
          </a:prstGeom>
        </p:spPr>
        <p:txBody>
          <a:bodyPr lIns="0" tIns="0" rIns="0" bIns="0" rtlCol="0" anchor="t">
            <a:spAutoFit/>
          </a:bodyPr>
          <a:lstStyle/>
          <a:p>
            <a:pPr algn="l">
              <a:lnSpc>
                <a:spcPts val="2640"/>
              </a:lnSpc>
            </a:pPr>
            <a:r>
              <a:rPr lang="en-US" sz="2200">
                <a:solidFill>
                  <a:srgbClr val="FFFFFF"/>
                </a:solidFill>
                <a:latin typeface="Times New Roman" panose="02020603050405020304"/>
                <a:ea typeface="Times New Roman" panose="02020603050405020304"/>
                <a:cs typeface="Times New Roman" panose="02020603050405020304"/>
                <a:sym typeface="Times New Roman" panose="02020603050405020304"/>
              </a:rPr>
              <a:t>Server quyết định</a:t>
            </a:r>
            <a:endParaRPr lang="en-US" sz="2200">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82" name="Group 82"/>
          <p:cNvGrpSpPr/>
          <p:nvPr/>
        </p:nvGrpSpPr>
        <p:grpSpPr>
          <a:xfrm rot="0">
            <a:off x="6461255" y="7211063"/>
            <a:ext cx="683771" cy="683771"/>
            <a:chOff x="0" y="0"/>
            <a:chExt cx="911695" cy="911695"/>
          </a:xfrm>
        </p:grpSpPr>
        <p:sp>
          <p:nvSpPr>
            <p:cNvPr id="83" name="Freeform 83"/>
            <p:cNvSpPr/>
            <p:nvPr/>
          </p:nvSpPr>
          <p:spPr>
            <a:xfrm>
              <a:off x="0" y="0"/>
              <a:ext cx="911733" cy="911733"/>
            </a:xfrm>
            <a:custGeom>
              <a:avLst/>
              <a:gdLst/>
              <a:ahLst/>
              <a:cxnLst/>
              <a:rect l="l" t="t" r="r" b="b"/>
              <a:pathLst>
                <a:path w="911733" h="911733">
                  <a:moveTo>
                    <a:pt x="0" y="455803"/>
                  </a:moveTo>
                  <a:cubicBezTo>
                    <a:pt x="0" y="204089"/>
                    <a:pt x="204089" y="0"/>
                    <a:pt x="455803" y="0"/>
                  </a:cubicBezTo>
                  <a:cubicBezTo>
                    <a:pt x="707517" y="0"/>
                    <a:pt x="911733" y="204089"/>
                    <a:pt x="911733" y="455803"/>
                  </a:cubicBezTo>
                  <a:cubicBezTo>
                    <a:pt x="911733" y="707517"/>
                    <a:pt x="707644" y="911733"/>
                    <a:pt x="455803" y="911733"/>
                  </a:cubicBezTo>
                  <a:cubicBezTo>
                    <a:pt x="203962" y="911733"/>
                    <a:pt x="0" y="707644"/>
                    <a:pt x="0" y="455803"/>
                  </a:cubicBezTo>
                  <a:close/>
                </a:path>
              </a:pathLst>
            </a:custGeom>
            <a:solidFill>
              <a:srgbClr val="00897B"/>
            </a:solidFill>
            <a:ln w="25400" cap="sq">
              <a:solidFill>
                <a:srgbClr val="00897B"/>
              </a:solidFill>
              <a:prstDash val="solid"/>
              <a:miter/>
            </a:ln>
          </p:spPr>
        </p:sp>
      </p:grpSp>
      <p:grpSp>
        <p:nvGrpSpPr>
          <p:cNvPr id="84" name="Group 84"/>
          <p:cNvGrpSpPr/>
          <p:nvPr/>
        </p:nvGrpSpPr>
        <p:grpSpPr>
          <a:xfrm rot="0">
            <a:off x="6473952" y="7223760"/>
            <a:ext cx="658368" cy="658368"/>
            <a:chOff x="0" y="0"/>
            <a:chExt cx="877824" cy="877824"/>
          </a:xfrm>
        </p:grpSpPr>
        <p:sp>
          <p:nvSpPr>
            <p:cNvPr id="85" name="Freeform 85"/>
            <p:cNvSpPr/>
            <p:nvPr/>
          </p:nvSpPr>
          <p:spPr>
            <a:xfrm>
              <a:off x="0" y="0"/>
              <a:ext cx="877824" cy="877824"/>
            </a:xfrm>
            <a:custGeom>
              <a:avLst/>
              <a:gdLst/>
              <a:ahLst/>
              <a:cxnLst/>
              <a:rect l="l" t="t" r="r" b="b"/>
              <a:pathLst>
                <a:path w="877824" h="877824">
                  <a:moveTo>
                    <a:pt x="0" y="0"/>
                  </a:moveTo>
                  <a:lnTo>
                    <a:pt x="877824" y="0"/>
                  </a:lnTo>
                  <a:lnTo>
                    <a:pt x="877824" y="877824"/>
                  </a:lnTo>
                  <a:lnTo>
                    <a:pt x="0" y="877824"/>
                  </a:lnTo>
                  <a:close/>
                </a:path>
              </a:pathLst>
            </a:custGeom>
            <a:blipFill>
              <a:blip r:embed="rId1">
                <a:alphaModFix amt="0"/>
              </a:blip>
              <a:stretch>
                <a:fillRect l="-78303" r="-78303"/>
              </a:stretch>
            </a:blipFill>
          </p:spPr>
        </p:sp>
        <p:sp>
          <p:nvSpPr>
            <p:cNvPr id="86" name="TextBox 86"/>
            <p:cNvSpPr txBox="1"/>
            <p:nvPr/>
          </p:nvSpPr>
          <p:spPr>
            <a:xfrm>
              <a:off x="0" y="-38100"/>
              <a:ext cx="877824" cy="915924"/>
            </a:xfrm>
            <a:prstGeom prst="rect">
              <a:avLst/>
            </a:prstGeom>
          </p:spPr>
          <p:txBody>
            <a:bodyPr lIns="0" tIns="0" rIns="0" bIns="0" rtlCol="0" anchor="ctr"/>
            <a:lstStyle/>
            <a:p>
              <a:pPr algn="ctr">
                <a:lnSpc>
                  <a:spcPts val="2880"/>
                </a:lnSpc>
              </a:pPr>
              <a:r>
                <a:rPr lang="en-US" sz="2400" b="1">
                  <a:solidFill>
                    <a:srgbClr val="FFFFFF"/>
                  </a:solidFill>
                  <a:latin typeface="Times New Roman" panose="02020603050405020304"/>
                  <a:ea typeface="Times New Roman" panose="02020603050405020304"/>
                  <a:cs typeface="Times New Roman" panose="02020603050405020304"/>
                  <a:sym typeface="Times New Roman" panose="02020603050405020304"/>
                </a:rPr>
                <a:t>2</a:t>
              </a:r>
              <a:endParaRPr lang="en-US" sz="24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87" name="TextBox 87"/>
          <p:cNvSpPr txBox="1"/>
          <p:nvPr/>
        </p:nvSpPr>
        <p:spPr>
          <a:xfrm>
            <a:off x="6473952" y="7962519"/>
            <a:ext cx="2596896" cy="1053465"/>
          </a:xfrm>
          <a:prstGeom prst="rect">
            <a:avLst/>
          </a:prstGeom>
        </p:spPr>
        <p:txBody>
          <a:bodyPr lIns="0" tIns="0" rIns="0" bIns="0" rtlCol="0" anchor="t">
            <a:spAutoFit/>
          </a:bodyPr>
          <a:lstStyle/>
          <a:p>
            <a:pPr algn="l">
              <a:lnSpc>
                <a:spcPts val="2640"/>
              </a:lnSpc>
            </a:pPr>
            <a:r>
              <a:rPr lang="en-US" sz="2200">
                <a:solidFill>
                  <a:srgbClr val="FFFFFF"/>
                </a:solidFill>
                <a:latin typeface="Times New Roman" panose="02020603050405020304"/>
                <a:ea typeface="Times New Roman" panose="02020603050405020304"/>
                <a:cs typeface="Times New Roman" panose="02020603050405020304"/>
                <a:sym typeface="Times New Roman" panose="02020603050405020304"/>
              </a:rPr>
              <a:t>Bật dự đoán</a:t>
            </a:r>
            <a:endParaRPr lang="en-US" sz="2200">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88" name="Group 88"/>
          <p:cNvGrpSpPr/>
          <p:nvPr/>
        </p:nvGrpSpPr>
        <p:grpSpPr>
          <a:xfrm rot="0">
            <a:off x="9241031" y="7211063"/>
            <a:ext cx="683771" cy="683771"/>
            <a:chOff x="0" y="0"/>
            <a:chExt cx="911695" cy="911695"/>
          </a:xfrm>
        </p:grpSpPr>
        <p:sp>
          <p:nvSpPr>
            <p:cNvPr id="89" name="Freeform 89"/>
            <p:cNvSpPr/>
            <p:nvPr/>
          </p:nvSpPr>
          <p:spPr>
            <a:xfrm>
              <a:off x="0" y="0"/>
              <a:ext cx="911733" cy="911733"/>
            </a:xfrm>
            <a:custGeom>
              <a:avLst/>
              <a:gdLst/>
              <a:ahLst/>
              <a:cxnLst/>
              <a:rect l="l" t="t" r="r" b="b"/>
              <a:pathLst>
                <a:path w="911733" h="911733">
                  <a:moveTo>
                    <a:pt x="0" y="455803"/>
                  </a:moveTo>
                  <a:cubicBezTo>
                    <a:pt x="0" y="204089"/>
                    <a:pt x="204089" y="0"/>
                    <a:pt x="455803" y="0"/>
                  </a:cubicBezTo>
                  <a:cubicBezTo>
                    <a:pt x="707517" y="0"/>
                    <a:pt x="911733" y="204089"/>
                    <a:pt x="911733" y="455803"/>
                  </a:cubicBezTo>
                  <a:cubicBezTo>
                    <a:pt x="911733" y="707517"/>
                    <a:pt x="707644" y="911733"/>
                    <a:pt x="455803" y="911733"/>
                  </a:cubicBezTo>
                  <a:cubicBezTo>
                    <a:pt x="203962" y="911733"/>
                    <a:pt x="0" y="707644"/>
                    <a:pt x="0" y="455803"/>
                  </a:cubicBezTo>
                  <a:close/>
                </a:path>
              </a:pathLst>
            </a:custGeom>
            <a:solidFill>
              <a:srgbClr val="00897B"/>
            </a:solidFill>
            <a:ln w="25400" cap="sq">
              <a:solidFill>
                <a:srgbClr val="00897B"/>
              </a:solidFill>
              <a:prstDash val="solid"/>
              <a:miter/>
            </a:ln>
          </p:spPr>
        </p:sp>
      </p:grpSp>
      <p:grpSp>
        <p:nvGrpSpPr>
          <p:cNvPr id="90" name="Group 90"/>
          <p:cNvGrpSpPr/>
          <p:nvPr/>
        </p:nvGrpSpPr>
        <p:grpSpPr>
          <a:xfrm rot="0">
            <a:off x="9253728" y="7223760"/>
            <a:ext cx="658368" cy="658368"/>
            <a:chOff x="0" y="0"/>
            <a:chExt cx="877824" cy="877824"/>
          </a:xfrm>
        </p:grpSpPr>
        <p:sp>
          <p:nvSpPr>
            <p:cNvPr id="91" name="Freeform 91"/>
            <p:cNvSpPr/>
            <p:nvPr/>
          </p:nvSpPr>
          <p:spPr>
            <a:xfrm>
              <a:off x="0" y="0"/>
              <a:ext cx="877824" cy="877824"/>
            </a:xfrm>
            <a:custGeom>
              <a:avLst/>
              <a:gdLst/>
              <a:ahLst/>
              <a:cxnLst/>
              <a:rect l="l" t="t" r="r" b="b"/>
              <a:pathLst>
                <a:path w="877824" h="877824">
                  <a:moveTo>
                    <a:pt x="0" y="0"/>
                  </a:moveTo>
                  <a:lnTo>
                    <a:pt x="877824" y="0"/>
                  </a:lnTo>
                  <a:lnTo>
                    <a:pt x="877824" y="877824"/>
                  </a:lnTo>
                  <a:lnTo>
                    <a:pt x="0" y="877824"/>
                  </a:lnTo>
                  <a:close/>
                </a:path>
              </a:pathLst>
            </a:custGeom>
            <a:blipFill>
              <a:blip r:embed="rId1">
                <a:alphaModFix amt="0"/>
              </a:blip>
              <a:stretch>
                <a:fillRect l="-78303" r="-78303"/>
              </a:stretch>
            </a:blipFill>
          </p:spPr>
        </p:sp>
        <p:sp>
          <p:nvSpPr>
            <p:cNvPr id="92" name="TextBox 92"/>
            <p:cNvSpPr txBox="1"/>
            <p:nvPr/>
          </p:nvSpPr>
          <p:spPr>
            <a:xfrm>
              <a:off x="0" y="-38100"/>
              <a:ext cx="877824" cy="915924"/>
            </a:xfrm>
            <a:prstGeom prst="rect">
              <a:avLst/>
            </a:prstGeom>
          </p:spPr>
          <p:txBody>
            <a:bodyPr lIns="0" tIns="0" rIns="0" bIns="0" rtlCol="0" anchor="ctr"/>
            <a:lstStyle/>
            <a:p>
              <a:pPr algn="ctr">
                <a:lnSpc>
                  <a:spcPts val="2880"/>
                </a:lnSpc>
              </a:pPr>
              <a:r>
                <a:rPr lang="en-US" sz="2400" b="1">
                  <a:solidFill>
                    <a:srgbClr val="FFFFFF"/>
                  </a:solidFill>
                  <a:latin typeface="Times New Roman" panose="02020603050405020304"/>
                  <a:ea typeface="Times New Roman" panose="02020603050405020304"/>
                  <a:cs typeface="Times New Roman" panose="02020603050405020304"/>
                  <a:sym typeface="Times New Roman" panose="02020603050405020304"/>
                </a:rPr>
                <a:t>3</a:t>
              </a:r>
              <a:endParaRPr lang="en-US" sz="24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93" name="TextBox 93"/>
          <p:cNvSpPr txBox="1"/>
          <p:nvPr/>
        </p:nvSpPr>
        <p:spPr>
          <a:xfrm>
            <a:off x="9253728" y="7962519"/>
            <a:ext cx="2596896" cy="1053465"/>
          </a:xfrm>
          <a:prstGeom prst="rect">
            <a:avLst/>
          </a:prstGeom>
        </p:spPr>
        <p:txBody>
          <a:bodyPr lIns="0" tIns="0" rIns="0" bIns="0" rtlCol="0" anchor="t">
            <a:spAutoFit/>
          </a:bodyPr>
          <a:lstStyle/>
          <a:p>
            <a:pPr algn="l">
              <a:lnSpc>
                <a:spcPts val="2640"/>
              </a:lnSpc>
            </a:pPr>
            <a:r>
              <a:rPr lang="en-US" sz="2200">
                <a:solidFill>
                  <a:srgbClr val="FFFFFF"/>
                </a:solidFill>
                <a:latin typeface="Times New Roman" panose="02020603050405020304"/>
                <a:ea typeface="Times New Roman" panose="02020603050405020304"/>
                <a:cs typeface="Times New Roman" panose="02020603050405020304"/>
                <a:sym typeface="Times New Roman" panose="02020603050405020304"/>
              </a:rPr>
              <a:t>Bật đối chiếu</a:t>
            </a:r>
            <a:endParaRPr lang="en-US" sz="2200">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94" name="Group 94"/>
          <p:cNvGrpSpPr/>
          <p:nvPr/>
        </p:nvGrpSpPr>
        <p:grpSpPr>
          <a:xfrm rot="0">
            <a:off x="12020807" y="7211063"/>
            <a:ext cx="683771" cy="683771"/>
            <a:chOff x="0" y="0"/>
            <a:chExt cx="911695" cy="911695"/>
          </a:xfrm>
        </p:grpSpPr>
        <p:sp>
          <p:nvSpPr>
            <p:cNvPr id="95" name="Freeform 95"/>
            <p:cNvSpPr/>
            <p:nvPr/>
          </p:nvSpPr>
          <p:spPr>
            <a:xfrm>
              <a:off x="0" y="0"/>
              <a:ext cx="911733" cy="911733"/>
            </a:xfrm>
            <a:custGeom>
              <a:avLst/>
              <a:gdLst/>
              <a:ahLst/>
              <a:cxnLst/>
              <a:rect l="l" t="t" r="r" b="b"/>
              <a:pathLst>
                <a:path w="911733" h="911733">
                  <a:moveTo>
                    <a:pt x="0" y="455803"/>
                  </a:moveTo>
                  <a:cubicBezTo>
                    <a:pt x="0" y="204089"/>
                    <a:pt x="204089" y="0"/>
                    <a:pt x="455803" y="0"/>
                  </a:cubicBezTo>
                  <a:cubicBezTo>
                    <a:pt x="707517" y="0"/>
                    <a:pt x="911733" y="204089"/>
                    <a:pt x="911733" y="455803"/>
                  </a:cubicBezTo>
                  <a:cubicBezTo>
                    <a:pt x="911733" y="707517"/>
                    <a:pt x="707644" y="911733"/>
                    <a:pt x="455803" y="911733"/>
                  </a:cubicBezTo>
                  <a:cubicBezTo>
                    <a:pt x="203962" y="911733"/>
                    <a:pt x="0" y="707644"/>
                    <a:pt x="0" y="455803"/>
                  </a:cubicBezTo>
                  <a:close/>
                </a:path>
              </a:pathLst>
            </a:custGeom>
            <a:solidFill>
              <a:srgbClr val="00897B"/>
            </a:solidFill>
            <a:ln w="25400" cap="sq">
              <a:solidFill>
                <a:srgbClr val="00897B"/>
              </a:solidFill>
              <a:prstDash val="solid"/>
              <a:miter/>
            </a:ln>
          </p:spPr>
        </p:sp>
      </p:grpSp>
      <p:grpSp>
        <p:nvGrpSpPr>
          <p:cNvPr id="96" name="Group 96"/>
          <p:cNvGrpSpPr/>
          <p:nvPr/>
        </p:nvGrpSpPr>
        <p:grpSpPr>
          <a:xfrm rot="0">
            <a:off x="12033504" y="7223760"/>
            <a:ext cx="658368" cy="658368"/>
            <a:chOff x="0" y="0"/>
            <a:chExt cx="877824" cy="877824"/>
          </a:xfrm>
        </p:grpSpPr>
        <p:sp>
          <p:nvSpPr>
            <p:cNvPr id="97" name="Freeform 97"/>
            <p:cNvSpPr/>
            <p:nvPr/>
          </p:nvSpPr>
          <p:spPr>
            <a:xfrm>
              <a:off x="0" y="0"/>
              <a:ext cx="877824" cy="877824"/>
            </a:xfrm>
            <a:custGeom>
              <a:avLst/>
              <a:gdLst/>
              <a:ahLst/>
              <a:cxnLst/>
              <a:rect l="l" t="t" r="r" b="b"/>
              <a:pathLst>
                <a:path w="877824" h="877824">
                  <a:moveTo>
                    <a:pt x="0" y="0"/>
                  </a:moveTo>
                  <a:lnTo>
                    <a:pt x="877824" y="0"/>
                  </a:lnTo>
                  <a:lnTo>
                    <a:pt x="877824" y="877824"/>
                  </a:lnTo>
                  <a:lnTo>
                    <a:pt x="0" y="877824"/>
                  </a:lnTo>
                  <a:close/>
                </a:path>
              </a:pathLst>
            </a:custGeom>
            <a:blipFill>
              <a:blip r:embed="rId1">
                <a:alphaModFix amt="0"/>
              </a:blip>
              <a:stretch>
                <a:fillRect l="-78303" r="-78303"/>
              </a:stretch>
            </a:blipFill>
          </p:spPr>
        </p:sp>
        <p:sp>
          <p:nvSpPr>
            <p:cNvPr id="98" name="TextBox 98"/>
            <p:cNvSpPr txBox="1"/>
            <p:nvPr/>
          </p:nvSpPr>
          <p:spPr>
            <a:xfrm>
              <a:off x="0" y="-38100"/>
              <a:ext cx="877824" cy="915924"/>
            </a:xfrm>
            <a:prstGeom prst="rect">
              <a:avLst/>
            </a:prstGeom>
          </p:spPr>
          <p:txBody>
            <a:bodyPr lIns="0" tIns="0" rIns="0" bIns="0" rtlCol="0" anchor="ctr"/>
            <a:lstStyle/>
            <a:p>
              <a:pPr algn="ctr">
                <a:lnSpc>
                  <a:spcPts val="2880"/>
                </a:lnSpc>
              </a:pPr>
              <a:r>
                <a:rPr lang="en-US" sz="2400" b="1">
                  <a:solidFill>
                    <a:srgbClr val="FFFFFF"/>
                  </a:solidFill>
                  <a:latin typeface="Times New Roman" panose="02020603050405020304"/>
                  <a:ea typeface="Times New Roman" panose="02020603050405020304"/>
                  <a:cs typeface="Times New Roman" panose="02020603050405020304"/>
                  <a:sym typeface="Times New Roman" panose="02020603050405020304"/>
                </a:rPr>
                <a:t>4</a:t>
              </a:r>
              <a:endParaRPr lang="en-US" sz="24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99" name="TextBox 99"/>
          <p:cNvSpPr txBox="1"/>
          <p:nvPr/>
        </p:nvSpPr>
        <p:spPr>
          <a:xfrm>
            <a:off x="12033504" y="7962519"/>
            <a:ext cx="2596896" cy="1053465"/>
          </a:xfrm>
          <a:prstGeom prst="rect">
            <a:avLst/>
          </a:prstGeom>
        </p:spPr>
        <p:txBody>
          <a:bodyPr lIns="0" tIns="0" rIns="0" bIns="0" rtlCol="0" anchor="t">
            <a:spAutoFit/>
          </a:bodyPr>
          <a:lstStyle/>
          <a:p>
            <a:pPr algn="l">
              <a:lnSpc>
                <a:spcPts val="2640"/>
              </a:lnSpc>
            </a:pPr>
            <a:r>
              <a:rPr lang="en-US" sz="2200">
                <a:solidFill>
                  <a:srgbClr val="FFFFFF"/>
                </a:solidFill>
                <a:latin typeface="Times New Roman" panose="02020603050405020304"/>
                <a:ea typeface="Times New Roman" panose="02020603050405020304"/>
                <a:cs typeface="Times New Roman" panose="02020603050405020304"/>
                <a:sym typeface="Times New Roman" panose="02020603050405020304"/>
              </a:rPr>
              <a:t>Ảnh thưa, chưa nội suy</a:t>
            </a:r>
            <a:endParaRPr lang="en-US" sz="2200">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00" name="Group 100"/>
          <p:cNvGrpSpPr/>
          <p:nvPr/>
        </p:nvGrpSpPr>
        <p:grpSpPr>
          <a:xfrm rot="0">
            <a:off x="14800583" y="7211063"/>
            <a:ext cx="683771" cy="683771"/>
            <a:chOff x="0" y="0"/>
            <a:chExt cx="911695" cy="911695"/>
          </a:xfrm>
        </p:grpSpPr>
        <p:sp>
          <p:nvSpPr>
            <p:cNvPr id="101" name="Freeform 101"/>
            <p:cNvSpPr/>
            <p:nvPr/>
          </p:nvSpPr>
          <p:spPr>
            <a:xfrm>
              <a:off x="0" y="0"/>
              <a:ext cx="911733" cy="911733"/>
            </a:xfrm>
            <a:custGeom>
              <a:avLst/>
              <a:gdLst/>
              <a:ahLst/>
              <a:cxnLst/>
              <a:rect l="l" t="t" r="r" b="b"/>
              <a:pathLst>
                <a:path w="911733" h="911733">
                  <a:moveTo>
                    <a:pt x="0" y="455803"/>
                  </a:moveTo>
                  <a:cubicBezTo>
                    <a:pt x="0" y="204089"/>
                    <a:pt x="204089" y="0"/>
                    <a:pt x="455803" y="0"/>
                  </a:cubicBezTo>
                  <a:cubicBezTo>
                    <a:pt x="707517" y="0"/>
                    <a:pt x="911733" y="204089"/>
                    <a:pt x="911733" y="455803"/>
                  </a:cubicBezTo>
                  <a:cubicBezTo>
                    <a:pt x="911733" y="707517"/>
                    <a:pt x="707644" y="911733"/>
                    <a:pt x="455803" y="911733"/>
                  </a:cubicBezTo>
                  <a:cubicBezTo>
                    <a:pt x="203962" y="911733"/>
                    <a:pt x="0" y="707644"/>
                    <a:pt x="0" y="455803"/>
                  </a:cubicBezTo>
                  <a:close/>
                </a:path>
              </a:pathLst>
            </a:custGeom>
            <a:solidFill>
              <a:srgbClr val="00897B"/>
            </a:solidFill>
            <a:ln w="25400" cap="sq">
              <a:solidFill>
                <a:srgbClr val="00897B"/>
              </a:solidFill>
              <a:prstDash val="solid"/>
              <a:miter/>
            </a:ln>
          </p:spPr>
        </p:sp>
      </p:grpSp>
      <p:grpSp>
        <p:nvGrpSpPr>
          <p:cNvPr id="102" name="Group 102"/>
          <p:cNvGrpSpPr/>
          <p:nvPr/>
        </p:nvGrpSpPr>
        <p:grpSpPr>
          <a:xfrm rot="0">
            <a:off x="14813280" y="7223760"/>
            <a:ext cx="658368" cy="658368"/>
            <a:chOff x="0" y="0"/>
            <a:chExt cx="877824" cy="877824"/>
          </a:xfrm>
        </p:grpSpPr>
        <p:sp>
          <p:nvSpPr>
            <p:cNvPr id="103" name="Freeform 103"/>
            <p:cNvSpPr/>
            <p:nvPr/>
          </p:nvSpPr>
          <p:spPr>
            <a:xfrm>
              <a:off x="0" y="0"/>
              <a:ext cx="877824" cy="877824"/>
            </a:xfrm>
            <a:custGeom>
              <a:avLst/>
              <a:gdLst/>
              <a:ahLst/>
              <a:cxnLst/>
              <a:rect l="l" t="t" r="r" b="b"/>
              <a:pathLst>
                <a:path w="877824" h="877824">
                  <a:moveTo>
                    <a:pt x="0" y="0"/>
                  </a:moveTo>
                  <a:lnTo>
                    <a:pt x="877824" y="0"/>
                  </a:lnTo>
                  <a:lnTo>
                    <a:pt x="877824" y="877824"/>
                  </a:lnTo>
                  <a:lnTo>
                    <a:pt x="0" y="877824"/>
                  </a:lnTo>
                  <a:close/>
                </a:path>
              </a:pathLst>
            </a:custGeom>
            <a:blipFill>
              <a:blip r:embed="rId1">
                <a:alphaModFix amt="0"/>
              </a:blip>
              <a:stretch>
                <a:fillRect l="-78303" r="-78303"/>
              </a:stretch>
            </a:blipFill>
          </p:spPr>
        </p:sp>
        <p:sp>
          <p:nvSpPr>
            <p:cNvPr id="104" name="TextBox 104"/>
            <p:cNvSpPr txBox="1"/>
            <p:nvPr/>
          </p:nvSpPr>
          <p:spPr>
            <a:xfrm>
              <a:off x="0" y="-38100"/>
              <a:ext cx="877824" cy="915924"/>
            </a:xfrm>
            <a:prstGeom prst="rect">
              <a:avLst/>
            </a:prstGeom>
          </p:spPr>
          <p:txBody>
            <a:bodyPr lIns="0" tIns="0" rIns="0" bIns="0" rtlCol="0" anchor="ctr"/>
            <a:lstStyle/>
            <a:p>
              <a:pPr algn="ctr">
                <a:lnSpc>
                  <a:spcPts val="2880"/>
                </a:lnSpc>
              </a:pPr>
              <a:r>
                <a:rPr lang="en-US" sz="2400" b="1">
                  <a:solidFill>
                    <a:srgbClr val="FFFFFF"/>
                  </a:solidFill>
                  <a:latin typeface="Times New Roman" panose="02020603050405020304"/>
                  <a:ea typeface="Times New Roman" panose="02020603050405020304"/>
                  <a:cs typeface="Times New Roman" panose="02020603050405020304"/>
                  <a:sym typeface="Times New Roman" panose="02020603050405020304"/>
                </a:rPr>
                <a:t>5</a:t>
              </a:r>
              <a:endParaRPr lang="en-US" sz="24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105" name="TextBox 105"/>
          <p:cNvSpPr txBox="1"/>
          <p:nvPr/>
        </p:nvSpPr>
        <p:spPr>
          <a:xfrm>
            <a:off x="14813280" y="7962519"/>
            <a:ext cx="2596896" cy="1053465"/>
          </a:xfrm>
          <a:prstGeom prst="rect">
            <a:avLst/>
          </a:prstGeom>
        </p:spPr>
        <p:txBody>
          <a:bodyPr lIns="0" tIns="0" rIns="0" bIns="0" rtlCol="0" anchor="t">
            <a:spAutoFit/>
          </a:bodyPr>
          <a:lstStyle/>
          <a:p>
            <a:pPr algn="l">
              <a:lnSpc>
                <a:spcPts val="2640"/>
              </a:lnSpc>
            </a:pPr>
            <a:r>
              <a:rPr lang="en-US" sz="2200">
                <a:solidFill>
                  <a:srgbClr val="FFFFFF"/>
                </a:solidFill>
                <a:latin typeface="Times New Roman" panose="02020603050405020304"/>
                <a:ea typeface="Times New Roman" panose="02020603050405020304"/>
                <a:cs typeface="Times New Roman" panose="02020603050405020304"/>
                <a:sym typeface="Times New Roman" panose="02020603050405020304"/>
              </a:rPr>
              <a:t>Bật nội suy</a:t>
            </a:r>
            <a:endParaRPr lang="en-US" sz="2200">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6" name="TextBox 106"/>
          <p:cNvSpPr txBox="1"/>
          <p:nvPr/>
        </p:nvSpPr>
        <p:spPr>
          <a:xfrm>
            <a:off x="16550640" y="9517380"/>
            <a:ext cx="731520" cy="495300"/>
          </a:xfrm>
          <a:prstGeom prst="rect">
            <a:avLst/>
          </a:prstGeom>
        </p:spPr>
        <p:txBody>
          <a:bodyPr lIns="0" tIns="0" rIns="0" bIns="0" rtlCol="0" anchor="t">
            <a:spAutoFit/>
          </a:bodyPr>
          <a:lstStyle/>
          <a:p>
            <a:pPr algn="r">
              <a:lnSpc>
                <a:spcPts val="2400"/>
              </a:lnSpc>
            </a:pPr>
            <a:r>
              <a:rPr lang="en-US" sz="2000">
                <a:solidFill>
                  <a:srgbClr val="BFE8E3"/>
                </a:solidFill>
                <a:latin typeface="Times New Roman" panose="02020603050405020304"/>
                <a:ea typeface="Times New Roman" panose="02020603050405020304"/>
                <a:cs typeface="Times New Roman" panose="02020603050405020304"/>
                <a:sym typeface="Times New Roman" panose="02020603050405020304"/>
              </a:rPr>
              <a:t>19</a:t>
            </a:r>
            <a:endParaRPr lang="en-US" sz="20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B1626"/>
        </a:solidFill>
        <a:effectLst/>
      </p:bgPr>
    </p:bg>
    <p:spTree>
      <p:nvGrpSpPr>
        <p:cNvPr id="1" name=""/>
        <p:cNvGrpSpPr/>
        <p:nvPr/>
      </p:nvGrpSpPr>
      <p:grpSpPr>
        <a:xfrm>
          <a:off x="0" y="0"/>
          <a:ext cx="0" cy="0"/>
          <a:chOff x="0" y="0"/>
          <a:chExt cx="0" cy="0"/>
        </a:xfrm>
      </p:grpSpPr>
      <p:sp>
        <p:nvSpPr>
          <p:cNvPr id="2" name="TextBox 2"/>
          <p:cNvSpPr txBox="1"/>
          <p:nvPr/>
        </p:nvSpPr>
        <p:spPr>
          <a:xfrm>
            <a:off x="1097280" y="2377440"/>
            <a:ext cx="10607040" cy="1234440"/>
          </a:xfrm>
          <a:prstGeom prst="rect">
            <a:avLst/>
          </a:prstGeom>
        </p:spPr>
        <p:txBody>
          <a:bodyPr lIns="0" tIns="0" rIns="0" bIns="0" rtlCol="0" anchor="t">
            <a:spAutoFit/>
          </a:bodyPr>
          <a:lstStyle/>
          <a:p>
            <a:pPr algn="l">
              <a:lnSpc>
                <a:spcPct val="90000"/>
              </a:lnSpc>
            </a:pPr>
            <a:r>
              <a:rPr lang="vi-VN" sz="9600" b="1" spc="200">
                <a:solidFill>
                  <a:srgbClr val="BFE8E3"/>
                </a:solidFill>
                <a:latin typeface="Times New Roman" panose="02020603050405020304"/>
                <a:ea typeface="Times New Roman" panose="02020603050405020304"/>
                <a:cs typeface="Times New Roman" panose="02020603050405020304"/>
                <a:sym typeface="Times New Roman" panose="02020603050405020304"/>
              </a:rPr>
              <a:t>PHẦN </a:t>
            </a:r>
            <a:r>
              <a:rPr lang="vi-VN" sz="9600" b="1" spc="200">
                <a:solidFill>
                  <a:srgbClr val="00897B"/>
                </a:solidFill>
                <a:latin typeface="Times New Roman" panose="02020603050405020304"/>
                <a:ea typeface="Times New Roman" panose="02020603050405020304"/>
                <a:cs typeface="Times New Roman" panose="02020603050405020304"/>
                <a:sym typeface="Times New Roman" panose="02020603050405020304"/>
              </a:rPr>
              <a:t>4</a:t>
            </a:r>
            <a:endParaRPr lang="vi-VN" sz="9600" b="1" spc="200">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TextBox 3"/>
          <p:cNvSpPr txBox="1"/>
          <p:nvPr/>
        </p:nvSpPr>
        <p:spPr>
          <a:xfrm>
            <a:off x="1097280" y="4160520"/>
            <a:ext cx="10607040" cy="2661285"/>
          </a:xfrm>
          <a:prstGeom prst="rect">
            <a:avLst/>
          </a:prstGeom>
        </p:spPr>
        <p:txBody>
          <a:bodyPr lIns="0" tIns="0" rIns="0" bIns="0" rtlCol="0" anchor="t">
            <a:spAutoFit/>
          </a:bodyPr>
          <a:lstStyle/>
          <a:p>
            <a:pPr algn="l">
              <a:lnSpc>
                <a:spcPts val="5760"/>
              </a:lnSpc>
            </a:pPr>
            <a:r>
              <a:rPr lang="en-US" sz="4800" b="1">
                <a:solidFill>
                  <a:srgbClr val="FFFFFF"/>
                </a:solidFill>
                <a:latin typeface="Times New Roman" panose="02020603050405020304"/>
                <a:ea typeface="Times New Roman" panose="02020603050405020304"/>
                <a:cs typeface="Times New Roman" panose="02020603050405020304"/>
                <a:sym typeface="Times New Roman" panose="02020603050405020304"/>
              </a:rPr>
              <a:t>Cảm ơn thầy và các bạn</a:t>
            </a:r>
            <a:endParaRPr lang="en-US" sz="48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 name="TextBox 4"/>
          <p:cNvSpPr txBox="1"/>
          <p:nvPr/>
        </p:nvSpPr>
        <p:spPr>
          <a:xfrm>
            <a:off x="1097280" y="5212080"/>
            <a:ext cx="10607040" cy="1000125"/>
          </a:xfrm>
          <a:prstGeom prst="rect">
            <a:avLst/>
          </a:prstGeom>
        </p:spPr>
        <p:txBody>
          <a:bodyPr lIns="0" tIns="0" rIns="0" bIns="0" rtlCol="0" anchor="t">
            <a:spAutoFit/>
          </a:bodyPr>
          <a:lstStyle/>
          <a:p>
            <a:pPr algn="l">
              <a:lnSpc>
                <a:spcPts val="3840"/>
              </a:lnSpc>
            </a:pPr>
            <a:r>
              <a:rPr lang="en-US" sz="3200" b="1">
                <a:solidFill>
                  <a:srgbClr val="BFE8E3"/>
                </a:solidFill>
                <a:latin typeface="Times New Roman" panose="02020603050405020304"/>
                <a:ea typeface="Times New Roman" panose="02020603050405020304"/>
                <a:cs typeface="Times New Roman" panose="02020603050405020304"/>
                <a:sym typeface="Times New Roman" panose="02020603050405020304"/>
              </a:rPr>
              <a:t>Nhóm T47 sẵn sàng trả lời câu hỏi</a:t>
            </a:r>
            <a:endParaRPr lang="en-US" sz="3200" b="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 name="TextBox 5"/>
          <p:cNvSpPr txBox="1"/>
          <p:nvPr/>
        </p:nvSpPr>
        <p:spPr>
          <a:xfrm>
            <a:off x="1097280" y="5989320"/>
            <a:ext cx="10607040" cy="2251710"/>
          </a:xfrm>
          <a:prstGeom prst="rect">
            <a:avLst/>
          </a:prstGeom>
        </p:spPr>
        <p:txBody>
          <a:bodyPr lIns="0" tIns="0" rIns="0" bIns="0" rtlCol="0" anchor="t">
            <a:spAutoFit/>
          </a:bodyPr>
          <a:lstStyle/>
          <a:p>
            <a:pPr algn="l">
              <a:lnSpc>
                <a:spcPts val="2880"/>
              </a:lnSpc>
            </a:pPr>
            <a:r>
              <a:rPr lang="en-US" sz="2400">
                <a:solidFill>
                  <a:srgbClr val="FFFFFF"/>
                </a:solidFill>
                <a:latin typeface="Times New Roman" panose="02020603050405020304"/>
                <a:ea typeface="Times New Roman" panose="02020603050405020304"/>
                <a:cs typeface="Times New Roman" panose="02020603050405020304"/>
                <a:sym typeface="Times New Roman" panose="02020603050405020304"/>
              </a:rPr>
              <a:t>Mỗi người trả lời các câu thuộc vấn đề con của mình</a:t>
            </a:r>
            <a:endParaRPr lang="en-US" sz="2400">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 name="AutoShape 6"/>
          <p:cNvSpPr/>
          <p:nvPr/>
        </p:nvSpPr>
        <p:spPr>
          <a:xfrm rot="-3820860">
            <a:off x="11596345" y="4882515"/>
            <a:ext cx="4239301" cy="0"/>
          </a:xfrm>
          <a:prstGeom prst="line">
            <a:avLst/>
          </a:prstGeom>
          <a:ln w="19050" cap="rnd">
            <a:solidFill>
              <a:srgbClr val="BFE8E3"/>
            </a:solidFill>
            <a:prstDash val="solid"/>
            <a:headEnd type="none" w="sm" len="sm"/>
            <a:tailEnd type="none" w="sm" len="sm"/>
          </a:ln>
        </p:spPr>
      </p:sp>
      <p:sp>
        <p:nvSpPr>
          <p:cNvPr id="7" name="AutoShape 7"/>
          <p:cNvSpPr/>
          <p:nvPr/>
        </p:nvSpPr>
        <p:spPr>
          <a:xfrm rot="3820860">
            <a:off x="13425145" y="4882515"/>
            <a:ext cx="4239301" cy="0"/>
          </a:xfrm>
          <a:prstGeom prst="line">
            <a:avLst/>
          </a:prstGeom>
          <a:ln w="19050" cap="rnd">
            <a:solidFill>
              <a:srgbClr val="BFE8E3"/>
            </a:solidFill>
            <a:prstDash val="solid"/>
            <a:headEnd type="none" w="sm" len="sm"/>
            <a:tailEnd type="none" w="sm" len="sm"/>
          </a:ln>
        </p:spPr>
      </p:sp>
      <p:grpSp>
        <p:nvGrpSpPr>
          <p:cNvPr id="8" name="Group 8"/>
          <p:cNvGrpSpPr/>
          <p:nvPr/>
        </p:nvGrpSpPr>
        <p:grpSpPr>
          <a:xfrm rot="0">
            <a:off x="13282679" y="5295395"/>
            <a:ext cx="318011" cy="318011"/>
            <a:chOff x="0" y="0"/>
            <a:chExt cx="424015" cy="424015"/>
          </a:xfrm>
        </p:grpSpPr>
        <p:sp>
          <p:nvSpPr>
            <p:cNvPr id="9" name="Freeform 9"/>
            <p:cNvSpPr/>
            <p:nvPr/>
          </p:nvSpPr>
          <p:spPr>
            <a:xfrm>
              <a:off x="0" y="0"/>
              <a:ext cx="424053" cy="424053"/>
            </a:xfrm>
            <a:custGeom>
              <a:avLst/>
              <a:gdLst/>
              <a:ahLst/>
              <a:cxnLst/>
              <a:rect l="l" t="t" r="r" b="b"/>
              <a:pathLst>
                <a:path w="424053" h="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00897B"/>
            </a:solidFill>
            <a:ln w="25400" cap="sq">
              <a:solidFill>
                <a:srgbClr val="00897B"/>
              </a:solidFill>
              <a:prstDash val="solid"/>
              <a:miter/>
            </a:ln>
          </p:spPr>
        </p:sp>
      </p:grpSp>
      <p:grpSp>
        <p:nvGrpSpPr>
          <p:cNvPr id="10" name="Group 10"/>
          <p:cNvGrpSpPr/>
          <p:nvPr/>
        </p:nvGrpSpPr>
        <p:grpSpPr>
          <a:xfrm rot="0">
            <a:off x="13831319" y="4170683"/>
            <a:ext cx="318011" cy="318011"/>
            <a:chOff x="0" y="0"/>
            <a:chExt cx="424015" cy="424015"/>
          </a:xfrm>
        </p:grpSpPr>
        <p:sp>
          <p:nvSpPr>
            <p:cNvPr id="11" name="Freeform 11"/>
            <p:cNvSpPr/>
            <p:nvPr/>
          </p:nvSpPr>
          <p:spPr>
            <a:xfrm>
              <a:off x="0" y="0"/>
              <a:ext cx="424053" cy="424053"/>
            </a:xfrm>
            <a:custGeom>
              <a:avLst/>
              <a:gdLst/>
              <a:ahLst/>
              <a:cxnLst/>
              <a:rect l="l" t="t" r="r" b="b"/>
              <a:pathLst>
                <a:path w="424053" h="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F4A259"/>
            </a:solidFill>
            <a:ln w="25400" cap="sq">
              <a:solidFill>
                <a:srgbClr val="F4A259"/>
              </a:solidFill>
              <a:prstDash val="solid"/>
              <a:miter/>
            </a:ln>
          </p:spPr>
        </p:sp>
      </p:grpSp>
      <p:grpSp>
        <p:nvGrpSpPr>
          <p:cNvPr id="12" name="Group 12"/>
          <p:cNvGrpSpPr/>
          <p:nvPr/>
        </p:nvGrpSpPr>
        <p:grpSpPr>
          <a:xfrm rot="0">
            <a:off x="15568679" y="5107943"/>
            <a:ext cx="318011" cy="318011"/>
            <a:chOff x="0" y="0"/>
            <a:chExt cx="424015" cy="424015"/>
          </a:xfrm>
        </p:grpSpPr>
        <p:sp>
          <p:nvSpPr>
            <p:cNvPr id="13" name="Freeform 13"/>
            <p:cNvSpPr/>
            <p:nvPr/>
          </p:nvSpPr>
          <p:spPr>
            <a:xfrm>
              <a:off x="0" y="0"/>
              <a:ext cx="424053" cy="424053"/>
            </a:xfrm>
            <a:custGeom>
              <a:avLst/>
              <a:gdLst/>
              <a:ahLst/>
              <a:cxnLst/>
              <a:rect l="l" t="t" r="r" b="b"/>
              <a:pathLst>
                <a:path w="424053" h="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F4A259"/>
            </a:solidFill>
            <a:ln w="25400" cap="sq">
              <a:solidFill>
                <a:srgbClr val="F4A259"/>
              </a:solidFill>
              <a:prstDash val="solid"/>
              <a:miter/>
            </a:ln>
          </p:spPr>
        </p:sp>
      </p:grpSp>
      <p:grpSp>
        <p:nvGrpSpPr>
          <p:cNvPr id="14" name="Group 14"/>
          <p:cNvGrpSpPr/>
          <p:nvPr/>
        </p:nvGrpSpPr>
        <p:grpSpPr>
          <a:xfrm rot="0">
            <a:off x="15020039" y="3983231"/>
            <a:ext cx="318011" cy="318011"/>
            <a:chOff x="0" y="0"/>
            <a:chExt cx="424015" cy="424015"/>
          </a:xfrm>
        </p:grpSpPr>
        <p:sp>
          <p:nvSpPr>
            <p:cNvPr id="15" name="Freeform 15"/>
            <p:cNvSpPr/>
            <p:nvPr/>
          </p:nvSpPr>
          <p:spPr>
            <a:xfrm>
              <a:off x="0" y="0"/>
              <a:ext cx="424053" cy="424053"/>
            </a:xfrm>
            <a:custGeom>
              <a:avLst/>
              <a:gdLst/>
              <a:ahLst/>
              <a:cxnLst/>
              <a:rect l="l" t="t" r="r" b="b"/>
              <a:pathLst>
                <a:path w="424053" h="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00897B"/>
            </a:solidFill>
            <a:ln w="25400" cap="sq">
              <a:solidFill>
                <a:srgbClr val="00897B"/>
              </a:solidFill>
              <a:prstDash val="solid"/>
              <a:miter/>
            </a:ln>
          </p:spPr>
        </p:sp>
      </p:grpSp>
      <p:grpSp>
        <p:nvGrpSpPr>
          <p:cNvPr id="16" name="Group 16"/>
          <p:cNvGrpSpPr/>
          <p:nvPr/>
        </p:nvGrpSpPr>
        <p:grpSpPr>
          <a:xfrm rot="0">
            <a:off x="13690597" y="2077717"/>
            <a:ext cx="1879597" cy="1879597"/>
            <a:chOff x="0" y="0"/>
            <a:chExt cx="2506129" cy="2506129"/>
          </a:xfrm>
        </p:grpSpPr>
        <p:sp>
          <p:nvSpPr>
            <p:cNvPr id="17" name="Freeform 17"/>
            <p:cNvSpPr/>
            <p:nvPr/>
          </p:nvSpPr>
          <p:spPr>
            <a:xfrm>
              <a:off x="0" y="0"/>
              <a:ext cx="2506218" cy="2506218"/>
            </a:xfrm>
            <a:custGeom>
              <a:avLst/>
              <a:gdLst/>
              <a:ahLst/>
              <a:cxnLst/>
              <a:rect l="l" t="t" r="r" b="b"/>
              <a:pathLst>
                <a:path w="2506218" h="2506218">
                  <a:moveTo>
                    <a:pt x="0" y="1253109"/>
                  </a:moveTo>
                  <a:cubicBezTo>
                    <a:pt x="0" y="560959"/>
                    <a:pt x="560959" y="0"/>
                    <a:pt x="1253109" y="0"/>
                  </a:cubicBezTo>
                  <a:cubicBezTo>
                    <a:pt x="1945259" y="0"/>
                    <a:pt x="2506218" y="560959"/>
                    <a:pt x="2506218" y="1253109"/>
                  </a:cubicBezTo>
                  <a:cubicBezTo>
                    <a:pt x="2506218" y="1945259"/>
                    <a:pt x="1945259" y="2506218"/>
                    <a:pt x="1253109" y="2506218"/>
                  </a:cubicBezTo>
                  <a:cubicBezTo>
                    <a:pt x="560959" y="2506218"/>
                    <a:pt x="0" y="1945132"/>
                    <a:pt x="0" y="1253109"/>
                  </a:cubicBezTo>
                  <a:close/>
                </a:path>
              </a:pathLst>
            </a:custGeom>
            <a:solidFill>
              <a:srgbClr val="00897B"/>
            </a:solidFill>
            <a:ln w="50800" cap="sq">
              <a:solidFill>
                <a:srgbClr val="BFE8E3"/>
              </a:solidFill>
              <a:prstDash val="solid"/>
              <a:miter/>
            </a:ln>
          </p:spPr>
        </p:sp>
      </p:grpSp>
      <p:grpSp>
        <p:nvGrpSpPr>
          <p:cNvPr id="18" name="Group 18"/>
          <p:cNvGrpSpPr/>
          <p:nvPr/>
        </p:nvGrpSpPr>
        <p:grpSpPr>
          <a:xfrm rot="0">
            <a:off x="13716000" y="2103120"/>
            <a:ext cx="1828800" cy="1828800"/>
            <a:chOff x="0" y="0"/>
            <a:chExt cx="2438400" cy="2438400"/>
          </a:xfrm>
        </p:grpSpPr>
        <p:sp>
          <p:nvSpPr>
            <p:cNvPr id="19" name="Freeform 19"/>
            <p:cNvSpPr/>
            <p:nvPr/>
          </p:nvSpPr>
          <p:spPr>
            <a:xfrm>
              <a:off x="0" y="0"/>
              <a:ext cx="2438400" cy="2438400"/>
            </a:xfrm>
            <a:custGeom>
              <a:avLst/>
              <a:gdLst/>
              <a:ahLst/>
              <a:cxnLst/>
              <a:rect l="l" t="t" r="r" b="b"/>
              <a:pathLst>
                <a:path w="2438400" h="2438400">
                  <a:moveTo>
                    <a:pt x="0" y="0"/>
                  </a:moveTo>
                  <a:lnTo>
                    <a:pt x="2438400" y="0"/>
                  </a:lnTo>
                  <a:lnTo>
                    <a:pt x="2438400" y="2438400"/>
                  </a:lnTo>
                  <a:lnTo>
                    <a:pt x="0" y="2438400"/>
                  </a:lnTo>
                  <a:close/>
                </a:path>
              </a:pathLst>
            </a:custGeom>
            <a:blipFill>
              <a:blip r:embed="rId1">
                <a:alphaModFix amt="0"/>
              </a:blip>
              <a:stretch>
                <a:fillRect l="-78303" r="-78303"/>
              </a:stretch>
            </a:blipFill>
          </p:spPr>
        </p:sp>
        <p:sp>
          <p:nvSpPr>
            <p:cNvPr id="20" name="TextBox 20"/>
            <p:cNvSpPr txBox="1"/>
            <p:nvPr/>
          </p:nvSpPr>
          <p:spPr>
            <a:xfrm>
              <a:off x="0" y="-57150"/>
              <a:ext cx="2438400" cy="2495550"/>
            </a:xfrm>
            <a:prstGeom prst="rect">
              <a:avLst/>
            </a:prstGeom>
          </p:spPr>
          <p:txBody>
            <a:bodyPr lIns="0" tIns="0" rIns="0" bIns="0" rtlCol="0" anchor="ctr"/>
            <a:lstStyle/>
            <a:p>
              <a:pPr algn="ctr">
                <a:lnSpc>
                  <a:spcPts val="3120"/>
                </a:lnSpc>
              </a:pPr>
              <a:r>
                <a:rPr lang="en-US" sz="2600" b="1">
                  <a:solidFill>
                    <a:srgbClr val="FFFFFF"/>
                  </a:solidFill>
                  <a:latin typeface="Times New Roman" panose="02020603050405020304"/>
                  <a:ea typeface="Times New Roman" panose="02020603050405020304"/>
                  <a:cs typeface="Times New Roman" panose="02020603050405020304"/>
                  <a:sym typeface="Times New Roman" panose="02020603050405020304"/>
                </a:rPr>
                <a:t>Server</a:t>
              </a:r>
              <a:endParaRPr lang="en-US" sz="26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1" name="Group 21"/>
          <p:cNvGrpSpPr/>
          <p:nvPr/>
        </p:nvGrpSpPr>
        <p:grpSpPr>
          <a:xfrm rot="0">
            <a:off x="11953237" y="5918197"/>
            <a:ext cx="1696717" cy="1696717"/>
            <a:chOff x="0" y="0"/>
            <a:chExt cx="2262289" cy="2262289"/>
          </a:xfrm>
        </p:grpSpPr>
        <p:sp>
          <p:nvSpPr>
            <p:cNvPr id="22" name="Freeform 22"/>
            <p:cNvSpPr/>
            <p:nvPr/>
          </p:nvSpPr>
          <p:spPr>
            <a:xfrm>
              <a:off x="0" y="0"/>
              <a:ext cx="2262378" cy="2262378"/>
            </a:xfrm>
            <a:custGeom>
              <a:avLst/>
              <a:gdLst/>
              <a:ahLst/>
              <a:cxnLst/>
              <a:rect l="l" t="t" r="r" b="b"/>
              <a:pathLst>
                <a:path w="2262378" h="2262378">
                  <a:moveTo>
                    <a:pt x="0" y="1131189"/>
                  </a:moveTo>
                  <a:cubicBezTo>
                    <a:pt x="0" y="506476"/>
                    <a:pt x="506476" y="0"/>
                    <a:pt x="1131189" y="0"/>
                  </a:cubicBezTo>
                  <a:cubicBezTo>
                    <a:pt x="1755902" y="0"/>
                    <a:pt x="2262378" y="506476"/>
                    <a:pt x="2262378" y="1131189"/>
                  </a:cubicBezTo>
                  <a:cubicBezTo>
                    <a:pt x="2262378" y="1755902"/>
                    <a:pt x="1755902" y="2262378"/>
                    <a:pt x="1131189" y="2262378"/>
                  </a:cubicBezTo>
                  <a:cubicBezTo>
                    <a:pt x="506476" y="2262378"/>
                    <a:pt x="0" y="1755902"/>
                    <a:pt x="0" y="1131189"/>
                  </a:cubicBezTo>
                  <a:close/>
                </a:path>
              </a:pathLst>
            </a:custGeom>
            <a:solidFill>
              <a:srgbClr val="0B1626"/>
            </a:solidFill>
            <a:ln w="50800" cap="sq">
              <a:solidFill>
                <a:srgbClr val="BFE8E3"/>
              </a:solidFill>
              <a:prstDash val="solid"/>
              <a:miter/>
            </a:ln>
          </p:spPr>
        </p:sp>
      </p:grpSp>
      <p:grpSp>
        <p:nvGrpSpPr>
          <p:cNvPr id="23" name="Group 23"/>
          <p:cNvGrpSpPr/>
          <p:nvPr/>
        </p:nvGrpSpPr>
        <p:grpSpPr>
          <a:xfrm rot="0">
            <a:off x="11978640" y="5943600"/>
            <a:ext cx="1645920" cy="1645920"/>
            <a:chOff x="0" y="0"/>
            <a:chExt cx="2194560" cy="2194560"/>
          </a:xfrm>
        </p:grpSpPr>
        <p:sp>
          <p:nvSpPr>
            <p:cNvPr id="24" name="Freeform 24"/>
            <p:cNvSpPr/>
            <p:nvPr/>
          </p:nvSpPr>
          <p:spPr>
            <a:xfrm>
              <a:off x="0" y="0"/>
              <a:ext cx="2194560" cy="2194560"/>
            </a:xfrm>
            <a:custGeom>
              <a:avLst/>
              <a:gdLst/>
              <a:ahLst/>
              <a:cxnLst/>
              <a:rect l="l" t="t" r="r" b="b"/>
              <a:pathLst>
                <a:path w="2194560" h="2194560">
                  <a:moveTo>
                    <a:pt x="0" y="0"/>
                  </a:moveTo>
                  <a:lnTo>
                    <a:pt x="2194560" y="0"/>
                  </a:lnTo>
                  <a:lnTo>
                    <a:pt x="2194560" y="2194560"/>
                  </a:lnTo>
                  <a:lnTo>
                    <a:pt x="0" y="2194560"/>
                  </a:lnTo>
                  <a:close/>
                </a:path>
              </a:pathLst>
            </a:custGeom>
            <a:blipFill>
              <a:blip r:embed="rId1">
                <a:alphaModFix amt="0"/>
              </a:blip>
              <a:stretch>
                <a:fillRect l="-78303" r="-78303"/>
              </a:stretch>
            </a:blipFill>
          </p:spPr>
        </p:sp>
        <p:sp>
          <p:nvSpPr>
            <p:cNvPr id="25" name="TextBox 25"/>
            <p:cNvSpPr txBox="1"/>
            <p:nvPr/>
          </p:nvSpPr>
          <p:spPr>
            <a:xfrm>
              <a:off x="0" y="-47625"/>
              <a:ext cx="2194560" cy="2242185"/>
            </a:xfrm>
            <a:prstGeom prst="rect">
              <a:avLst/>
            </a:prstGeom>
          </p:spPr>
          <p:txBody>
            <a:bodyPr lIns="0" tIns="0" rIns="0" bIns="0" rtlCol="0" anchor="ctr"/>
            <a:lstStyle/>
            <a:p>
              <a:pPr algn="ctr">
                <a:lnSpc>
                  <a:spcPts val="2640"/>
                </a:lnSpc>
              </a:pPr>
              <a:r>
                <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rPr>
                <a:t>Client</a:t>
              </a:r>
              <a:endPar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a:p>
              <a:pPr algn="ctr">
                <a:lnSpc>
                  <a:spcPts val="2640"/>
                </a:lnSpc>
              </a:pPr>
              <a:r>
                <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rPr>
                <a:t>A</a:t>
              </a:r>
              <a:endPar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6" name="Group 26"/>
          <p:cNvGrpSpPr/>
          <p:nvPr/>
        </p:nvGrpSpPr>
        <p:grpSpPr>
          <a:xfrm rot="0">
            <a:off x="15610837" y="5918197"/>
            <a:ext cx="1696717" cy="1696717"/>
            <a:chOff x="0" y="0"/>
            <a:chExt cx="2262289" cy="2262289"/>
          </a:xfrm>
        </p:grpSpPr>
        <p:sp>
          <p:nvSpPr>
            <p:cNvPr id="27" name="Freeform 27"/>
            <p:cNvSpPr/>
            <p:nvPr/>
          </p:nvSpPr>
          <p:spPr>
            <a:xfrm>
              <a:off x="0" y="0"/>
              <a:ext cx="2262378" cy="2262378"/>
            </a:xfrm>
            <a:custGeom>
              <a:avLst/>
              <a:gdLst/>
              <a:ahLst/>
              <a:cxnLst/>
              <a:rect l="l" t="t" r="r" b="b"/>
              <a:pathLst>
                <a:path w="2262378" h="2262378">
                  <a:moveTo>
                    <a:pt x="0" y="1131189"/>
                  </a:moveTo>
                  <a:cubicBezTo>
                    <a:pt x="0" y="506476"/>
                    <a:pt x="506476" y="0"/>
                    <a:pt x="1131189" y="0"/>
                  </a:cubicBezTo>
                  <a:cubicBezTo>
                    <a:pt x="1755902" y="0"/>
                    <a:pt x="2262378" y="506476"/>
                    <a:pt x="2262378" y="1131189"/>
                  </a:cubicBezTo>
                  <a:cubicBezTo>
                    <a:pt x="2262378" y="1755902"/>
                    <a:pt x="1755902" y="2262378"/>
                    <a:pt x="1131189" y="2262378"/>
                  </a:cubicBezTo>
                  <a:cubicBezTo>
                    <a:pt x="506476" y="2262378"/>
                    <a:pt x="0" y="1755902"/>
                    <a:pt x="0" y="1131189"/>
                  </a:cubicBezTo>
                  <a:close/>
                </a:path>
              </a:pathLst>
            </a:custGeom>
            <a:solidFill>
              <a:srgbClr val="0B1626"/>
            </a:solidFill>
            <a:ln w="50800" cap="sq">
              <a:solidFill>
                <a:srgbClr val="BFE8E3"/>
              </a:solidFill>
              <a:prstDash val="solid"/>
              <a:miter/>
            </a:ln>
          </p:spPr>
        </p:sp>
      </p:grpSp>
      <p:grpSp>
        <p:nvGrpSpPr>
          <p:cNvPr id="28" name="Group 28"/>
          <p:cNvGrpSpPr/>
          <p:nvPr/>
        </p:nvGrpSpPr>
        <p:grpSpPr>
          <a:xfrm rot="0">
            <a:off x="15636240" y="5943600"/>
            <a:ext cx="1645920" cy="1645920"/>
            <a:chOff x="0" y="0"/>
            <a:chExt cx="2194560" cy="2194560"/>
          </a:xfrm>
        </p:grpSpPr>
        <p:sp>
          <p:nvSpPr>
            <p:cNvPr id="29" name="Freeform 29"/>
            <p:cNvSpPr/>
            <p:nvPr/>
          </p:nvSpPr>
          <p:spPr>
            <a:xfrm>
              <a:off x="0" y="0"/>
              <a:ext cx="2194560" cy="2194560"/>
            </a:xfrm>
            <a:custGeom>
              <a:avLst/>
              <a:gdLst/>
              <a:ahLst/>
              <a:cxnLst/>
              <a:rect l="l" t="t" r="r" b="b"/>
              <a:pathLst>
                <a:path w="2194560" h="2194560">
                  <a:moveTo>
                    <a:pt x="0" y="0"/>
                  </a:moveTo>
                  <a:lnTo>
                    <a:pt x="2194560" y="0"/>
                  </a:lnTo>
                  <a:lnTo>
                    <a:pt x="2194560" y="2194560"/>
                  </a:lnTo>
                  <a:lnTo>
                    <a:pt x="0" y="2194560"/>
                  </a:lnTo>
                  <a:close/>
                </a:path>
              </a:pathLst>
            </a:custGeom>
            <a:blipFill>
              <a:blip r:embed="rId1">
                <a:alphaModFix amt="0"/>
              </a:blip>
              <a:stretch>
                <a:fillRect l="-78303" r="-78303"/>
              </a:stretch>
            </a:blipFill>
          </p:spPr>
        </p:sp>
        <p:sp>
          <p:nvSpPr>
            <p:cNvPr id="30" name="TextBox 30"/>
            <p:cNvSpPr txBox="1"/>
            <p:nvPr/>
          </p:nvSpPr>
          <p:spPr>
            <a:xfrm>
              <a:off x="0" y="-47625"/>
              <a:ext cx="2194560" cy="2242185"/>
            </a:xfrm>
            <a:prstGeom prst="rect">
              <a:avLst/>
            </a:prstGeom>
          </p:spPr>
          <p:txBody>
            <a:bodyPr lIns="0" tIns="0" rIns="0" bIns="0" rtlCol="0" anchor="ctr"/>
            <a:lstStyle/>
            <a:p>
              <a:pPr algn="ctr">
                <a:lnSpc>
                  <a:spcPts val="2640"/>
                </a:lnSpc>
              </a:pPr>
              <a:r>
                <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rPr>
                <a:t>Client</a:t>
              </a:r>
              <a:endPar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a:p>
              <a:pPr algn="ctr">
                <a:lnSpc>
                  <a:spcPts val="2640"/>
                </a:lnSpc>
              </a:pPr>
              <a:r>
                <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rPr>
                <a:t>B</a:t>
              </a:r>
              <a:endPar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31" name="Group 31"/>
          <p:cNvGrpSpPr/>
          <p:nvPr/>
        </p:nvGrpSpPr>
        <p:grpSpPr>
          <a:xfrm rot="0">
            <a:off x="12801600" y="7808976"/>
            <a:ext cx="3657600" cy="548640"/>
            <a:chOff x="0" y="0"/>
            <a:chExt cx="4876800" cy="731520"/>
          </a:xfrm>
        </p:grpSpPr>
        <p:sp>
          <p:nvSpPr>
            <p:cNvPr id="32" name="Freeform 32"/>
            <p:cNvSpPr/>
            <p:nvPr/>
          </p:nvSpPr>
          <p:spPr>
            <a:xfrm>
              <a:off x="0" y="0"/>
              <a:ext cx="4876800" cy="731520"/>
            </a:xfrm>
            <a:custGeom>
              <a:avLst/>
              <a:gdLst/>
              <a:ahLst/>
              <a:cxnLst/>
              <a:rect l="l" t="t" r="r" b="b"/>
              <a:pathLst>
                <a:path w="4876800" h="731520">
                  <a:moveTo>
                    <a:pt x="0" y="0"/>
                  </a:moveTo>
                  <a:lnTo>
                    <a:pt x="4876800" y="0"/>
                  </a:lnTo>
                  <a:lnTo>
                    <a:pt x="4876800" y="731520"/>
                  </a:lnTo>
                  <a:lnTo>
                    <a:pt x="0" y="731520"/>
                  </a:lnTo>
                  <a:close/>
                </a:path>
              </a:pathLst>
            </a:custGeom>
            <a:blipFill>
              <a:blip r:embed="rId1">
                <a:alphaModFix amt="0"/>
              </a:blip>
              <a:stretch>
                <a:fillRect t="-79900" b="-79900"/>
              </a:stretch>
            </a:blipFill>
          </p:spPr>
        </p:sp>
        <p:sp>
          <p:nvSpPr>
            <p:cNvPr id="33" name="TextBox 33"/>
            <p:cNvSpPr txBox="1"/>
            <p:nvPr/>
          </p:nvSpPr>
          <p:spPr>
            <a:xfrm>
              <a:off x="0" y="-47625"/>
              <a:ext cx="4876800" cy="779145"/>
            </a:xfrm>
            <a:prstGeom prst="rect">
              <a:avLst/>
            </a:prstGeom>
          </p:spPr>
          <p:txBody>
            <a:bodyPr lIns="0" tIns="0" rIns="0" bIns="0" rtlCol="0" anchor="ctr"/>
            <a:lstStyle/>
            <a:p>
              <a:pPr algn="ctr">
                <a:lnSpc>
                  <a:spcPts val="2640"/>
                </a:lnSpc>
              </a:pPr>
              <a:r>
                <a:rPr lang="en-US" sz="2200" i="1">
                  <a:solidFill>
                    <a:srgbClr val="BFE8E3"/>
                  </a:solidFill>
                  <a:latin typeface="Times New Roman" panose="02020603050405020304"/>
                  <a:ea typeface="Times New Roman" panose="02020603050405020304"/>
                  <a:cs typeface="Times New Roman" panose="02020603050405020304"/>
                  <a:sym typeface="Times New Roman" panose="02020603050405020304"/>
                </a:rPr>
                <a:t>RTT 100–200 ms</a:t>
              </a:r>
              <a:endParaRPr lang="en-US" sz="2200" i="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9008" name="Section rule"/>
          <p:cNvSpPr/>
          <p:nvPr/>
        </p:nvSpPr>
        <p:spPr>
          <a:xfrm>
            <a:off x="1097280" y="3749040"/>
            <a:ext cx="1645920" cy="91440"/>
          </a:xfrm>
          <a:prstGeom prst="rect">
            <a:avLst/>
          </a:prstGeom>
          <a:solidFill>
            <a:srgbClr val="00897B"/>
          </a:solidFill>
          <a:ln>
            <a:noFill/>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B1626"/>
        </a:solidFill>
        <a:effectLst/>
      </p:bgPr>
    </p:bg>
    <p:spTree>
      <p:nvGrpSpPr>
        <p:cNvPr id="1" name=""/>
        <p:cNvGrpSpPr/>
        <p:nvPr/>
      </p:nvGrpSpPr>
      <p:grpSpPr>
        <a:xfrm>
          <a:off x="0" y="0"/>
          <a:ext cx="0" cy="0"/>
          <a:chOff x="0" y="0"/>
          <a:chExt cx="0" cy="0"/>
        </a:xfrm>
      </p:grpSpPr>
      <p:sp>
        <p:nvSpPr>
          <p:cNvPr id="2" name="TextBox 2"/>
          <p:cNvSpPr txBox="1"/>
          <p:nvPr/>
        </p:nvSpPr>
        <p:spPr>
          <a:xfrm>
            <a:off x="1097280" y="2377440"/>
            <a:ext cx="10607040" cy="1234440"/>
          </a:xfrm>
          <a:prstGeom prst="rect">
            <a:avLst/>
          </a:prstGeom>
        </p:spPr>
        <p:txBody>
          <a:bodyPr lIns="0" tIns="0" rIns="0" bIns="0" rtlCol="0" anchor="t">
            <a:spAutoFit/>
          </a:bodyPr>
          <a:lstStyle/>
          <a:p>
            <a:pPr algn="l">
              <a:lnSpc>
                <a:spcPct val="90000"/>
              </a:lnSpc>
            </a:pPr>
            <a:r>
              <a:rPr lang="vi-VN" sz="9600" b="1" spc="200">
                <a:solidFill>
                  <a:srgbClr val="BFE8E3"/>
                </a:solidFill>
                <a:latin typeface="Times New Roman" panose="02020603050405020304"/>
                <a:ea typeface="Times New Roman" panose="02020603050405020304"/>
                <a:cs typeface="Times New Roman" panose="02020603050405020304"/>
                <a:sym typeface="Times New Roman" panose="02020603050405020304"/>
              </a:rPr>
              <a:t>PHỤ LỤC</a:t>
            </a:r>
            <a:endParaRPr lang="vi-VN" sz="9600" b="1" spc="2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TextBox 3"/>
          <p:cNvSpPr txBox="1"/>
          <p:nvPr/>
        </p:nvSpPr>
        <p:spPr>
          <a:xfrm>
            <a:off x="1097280" y="4160520"/>
            <a:ext cx="10607040" cy="2661285"/>
          </a:xfrm>
          <a:prstGeom prst="rect">
            <a:avLst/>
          </a:prstGeom>
        </p:spPr>
        <p:txBody>
          <a:bodyPr lIns="0" tIns="0" rIns="0" bIns="0" rtlCol="0" anchor="t">
            <a:spAutoFit/>
          </a:bodyPr>
          <a:lstStyle/>
          <a:p>
            <a:pPr algn="l">
              <a:lnSpc>
                <a:spcPts val="5760"/>
              </a:lnSpc>
            </a:pPr>
            <a:r>
              <a:rPr lang="en-US" sz="4800" b="1">
                <a:solidFill>
                  <a:srgbClr val="FFFFFF"/>
                </a:solidFill>
                <a:latin typeface="Times New Roman" panose="02020603050405020304"/>
                <a:ea typeface="Times New Roman" panose="02020603050405020304"/>
                <a:cs typeface="Times New Roman" panose="02020603050405020304"/>
                <a:sym typeface="Times New Roman" panose="02020603050405020304"/>
              </a:rPr>
              <a:t>Slide dự phòng cho Q&amp;A</a:t>
            </a:r>
            <a:endParaRPr lang="en-US" sz="48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 name="TextBox 4"/>
          <p:cNvSpPr txBox="1"/>
          <p:nvPr/>
        </p:nvSpPr>
        <p:spPr>
          <a:xfrm>
            <a:off x="1097280" y="5212080"/>
            <a:ext cx="10607040" cy="1000125"/>
          </a:xfrm>
          <a:prstGeom prst="rect">
            <a:avLst/>
          </a:prstGeom>
        </p:spPr>
        <p:txBody>
          <a:bodyPr lIns="0" tIns="0" rIns="0" bIns="0" rtlCol="0" anchor="t">
            <a:spAutoFit/>
          </a:bodyPr>
          <a:lstStyle/>
          <a:p>
            <a:pPr algn="l">
              <a:lnSpc>
                <a:spcPts val="3840"/>
              </a:lnSpc>
            </a:pPr>
            <a:r>
              <a:rPr lang="en-US" sz="3200" b="1">
                <a:solidFill>
                  <a:srgbClr val="BFE8E3"/>
                </a:solidFill>
                <a:latin typeface="Times New Roman" panose="02020603050405020304"/>
                <a:ea typeface="Times New Roman" panose="02020603050405020304"/>
                <a:cs typeface="Times New Roman" panose="02020603050405020304"/>
                <a:sym typeface="Times New Roman" panose="02020603050405020304"/>
              </a:rPr>
              <a:t>Chỉ mở khi bị hỏi</a:t>
            </a:r>
            <a:endParaRPr lang="en-US" sz="3200" b="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 name="TextBox 5"/>
          <p:cNvSpPr txBox="1"/>
          <p:nvPr/>
        </p:nvSpPr>
        <p:spPr>
          <a:xfrm>
            <a:off x="1097280" y="5989320"/>
            <a:ext cx="10607040" cy="2251710"/>
          </a:xfrm>
          <a:prstGeom prst="rect">
            <a:avLst/>
          </a:prstGeom>
        </p:spPr>
        <p:txBody>
          <a:bodyPr lIns="0" tIns="0" rIns="0" bIns="0" rtlCol="0" anchor="t">
            <a:spAutoFit/>
          </a:bodyPr>
          <a:lstStyle/>
          <a:p>
            <a:pPr algn="l">
              <a:lnSpc>
                <a:spcPts val="2880"/>
              </a:lnSpc>
            </a:pPr>
            <a:r>
              <a:rPr lang="en-US" sz="2400">
                <a:solidFill>
                  <a:srgbClr val="FFFFFF"/>
                </a:solidFill>
                <a:latin typeface="Times New Roman" panose="02020603050405020304"/>
                <a:ea typeface="Times New Roman" panose="02020603050405020304"/>
                <a:cs typeface="Times New Roman" panose="02020603050405020304"/>
                <a:sym typeface="Times New Roman" panose="02020603050405020304"/>
              </a:rPr>
              <a:t>Nội dung lấy từ NoiDung_ChiTiet.md. Câu trả lời mẫu ở phụ lục A, thuật ngữ Việt – Anh ở phụ lục B.</a:t>
            </a:r>
            <a:endParaRPr lang="en-US" sz="2400">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 name="AutoShape 6"/>
          <p:cNvSpPr/>
          <p:nvPr/>
        </p:nvSpPr>
        <p:spPr>
          <a:xfrm rot="-3820860">
            <a:off x="11596345" y="4882515"/>
            <a:ext cx="4239301" cy="0"/>
          </a:xfrm>
          <a:prstGeom prst="line">
            <a:avLst/>
          </a:prstGeom>
          <a:ln w="19050" cap="rnd">
            <a:solidFill>
              <a:srgbClr val="BFE8E3"/>
            </a:solidFill>
            <a:prstDash val="solid"/>
            <a:headEnd type="none" w="sm" len="sm"/>
            <a:tailEnd type="none" w="sm" len="sm"/>
          </a:ln>
        </p:spPr>
      </p:sp>
      <p:sp>
        <p:nvSpPr>
          <p:cNvPr id="7" name="AutoShape 7"/>
          <p:cNvSpPr/>
          <p:nvPr/>
        </p:nvSpPr>
        <p:spPr>
          <a:xfrm rot="3820860">
            <a:off x="13425145" y="4882515"/>
            <a:ext cx="4239301" cy="0"/>
          </a:xfrm>
          <a:prstGeom prst="line">
            <a:avLst/>
          </a:prstGeom>
          <a:ln w="19050" cap="rnd">
            <a:solidFill>
              <a:srgbClr val="BFE8E3"/>
            </a:solidFill>
            <a:prstDash val="solid"/>
            <a:headEnd type="none" w="sm" len="sm"/>
            <a:tailEnd type="none" w="sm" len="sm"/>
          </a:ln>
        </p:spPr>
      </p:sp>
      <p:grpSp>
        <p:nvGrpSpPr>
          <p:cNvPr id="8" name="Group 8"/>
          <p:cNvGrpSpPr/>
          <p:nvPr/>
        </p:nvGrpSpPr>
        <p:grpSpPr>
          <a:xfrm rot="0">
            <a:off x="13282679" y="5295395"/>
            <a:ext cx="318011" cy="318011"/>
            <a:chOff x="0" y="0"/>
            <a:chExt cx="424015" cy="424015"/>
          </a:xfrm>
        </p:grpSpPr>
        <p:sp>
          <p:nvSpPr>
            <p:cNvPr id="9" name="Freeform 9"/>
            <p:cNvSpPr/>
            <p:nvPr/>
          </p:nvSpPr>
          <p:spPr>
            <a:xfrm>
              <a:off x="0" y="0"/>
              <a:ext cx="424053" cy="424053"/>
            </a:xfrm>
            <a:custGeom>
              <a:avLst/>
              <a:gdLst/>
              <a:ahLst/>
              <a:cxnLst/>
              <a:rect l="l" t="t" r="r" b="b"/>
              <a:pathLst>
                <a:path w="424053" h="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00897B"/>
            </a:solidFill>
            <a:ln w="25400" cap="sq">
              <a:solidFill>
                <a:srgbClr val="00897B"/>
              </a:solidFill>
              <a:prstDash val="solid"/>
              <a:miter/>
            </a:ln>
          </p:spPr>
        </p:sp>
      </p:grpSp>
      <p:grpSp>
        <p:nvGrpSpPr>
          <p:cNvPr id="10" name="Group 10"/>
          <p:cNvGrpSpPr/>
          <p:nvPr/>
        </p:nvGrpSpPr>
        <p:grpSpPr>
          <a:xfrm rot="0">
            <a:off x="13831319" y="4170683"/>
            <a:ext cx="318011" cy="318011"/>
            <a:chOff x="0" y="0"/>
            <a:chExt cx="424015" cy="424015"/>
          </a:xfrm>
        </p:grpSpPr>
        <p:sp>
          <p:nvSpPr>
            <p:cNvPr id="11" name="Freeform 11"/>
            <p:cNvSpPr/>
            <p:nvPr/>
          </p:nvSpPr>
          <p:spPr>
            <a:xfrm>
              <a:off x="0" y="0"/>
              <a:ext cx="424053" cy="424053"/>
            </a:xfrm>
            <a:custGeom>
              <a:avLst/>
              <a:gdLst/>
              <a:ahLst/>
              <a:cxnLst/>
              <a:rect l="l" t="t" r="r" b="b"/>
              <a:pathLst>
                <a:path w="424053" h="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F4A259"/>
            </a:solidFill>
            <a:ln w="25400" cap="sq">
              <a:solidFill>
                <a:srgbClr val="F4A259"/>
              </a:solidFill>
              <a:prstDash val="solid"/>
              <a:miter/>
            </a:ln>
          </p:spPr>
        </p:sp>
      </p:grpSp>
      <p:grpSp>
        <p:nvGrpSpPr>
          <p:cNvPr id="12" name="Group 12"/>
          <p:cNvGrpSpPr/>
          <p:nvPr/>
        </p:nvGrpSpPr>
        <p:grpSpPr>
          <a:xfrm rot="0">
            <a:off x="15568679" y="5107943"/>
            <a:ext cx="318011" cy="318011"/>
            <a:chOff x="0" y="0"/>
            <a:chExt cx="424015" cy="424015"/>
          </a:xfrm>
        </p:grpSpPr>
        <p:sp>
          <p:nvSpPr>
            <p:cNvPr id="13" name="Freeform 13"/>
            <p:cNvSpPr/>
            <p:nvPr/>
          </p:nvSpPr>
          <p:spPr>
            <a:xfrm>
              <a:off x="0" y="0"/>
              <a:ext cx="424053" cy="424053"/>
            </a:xfrm>
            <a:custGeom>
              <a:avLst/>
              <a:gdLst/>
              <a:ahLst/>
              <a:cxnLst/>
              <a:rect l="l" t="t" r="r" b="b"/>
              <a:pathLst>
                <a:path w="424053" h="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F4A259"/>
            </a:solidFill>
            <a:ln w="25400" cap="sq">
              <a:solidFill>
                <a:srgbClr val="F4A259"/>
              </a:solidFill>
              <a:prstDash val="solid"/>
              <a:miter/>
            </a:ln>
          </p:spPr>
        </p:sp>
      </p:grpSp>
      <p:grpSp>
        <p:nvGrpSpPr>
          <p:cNvPr id="14" name="Group 14"/>
          <p:cNvGrpSpPr/>
          <p:nvPr/>
        </p:nvGrpSpPr>
        <p:grpSpPr>
          <a:xfrm rot="0">
            <a:off x="15020039" y="3983231"/>
            <a:ext cx="318011" cy="318011"/>
            <a:chOff x="0" y="0"/>
            <a:chExt cx="424015" cy="424015"/>
          </a:xfrm>
        </p:grpSpPr>
        <p:sp>
          <p:nvSpPr>
            <p:cNvPr id="15" name="Freeform 15"/>
            <p:cNvSpPr/>
            <p:nvPr/>
          </p:nvSpPr>
          <p:spPr>
            <a:xfrm>
              <a:off x="0" y="0"/>
              <a:ext cx="424053" cy="424053"/>
            </a:xfrm>
            <a:custGeom>
              <a:avLst/>
              <a:gdLst/>
              <a:ahLst/>
              <a:cxnLst/>
              <a:rect l="l" t="t" r="r" b="b"/>
              <a:pathLst>
                <a:path w="424053" h="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00897B"/>
            </a:solidFill>
            <a:ln w="25400" cap="sq">
              <a:solidFill>
                <a:srgbClr val="00897B"/>
              </a:solidFill>
              <a:prstDash val="solid"/>
              <a:miter/>
            </a:ln>
          </p:spPr>
        </p:sp>
      </p:grpSp>
      <p:grpSp>
        <p:nvGrpSpPr>
          <p:cNvPr id="16" name="Group 16"/>
          <p:cNvGrpSpPr/>
          <p:nvPr/>
        </p:nvGrpSpPr>
        <p:grpSpPr>
          <a:xfrm rot="0">
            <a:off x="13690597" y="2077717"/>
            <a:ext cx="1879597" cy="1879597"/>
            <a:chOff x="0" y="0"/>
            <a:chExt cx="2506129" cy="2506129"/>
          </a:xfrm>
        </p:grpSpPr>
        <p:sp>
          <p:nvSpPr>
            <p:cNvPr id="17" name="Freeform 17"/>
            <p:cNvSpPr/>
            <p:nvPr/>
          </p:nvSpPr>
          <p:spPr>
            <a:xfrm>
              <a:off x="0" y="0"/>
              <a:ext cx="2506218" cy="2506218"/>
            </a:xfrm>
            <a:custGeom>
              <a:avLst/>
              <a:gdLst/>
              <a:ahLst/>
              <a:cxnLst/>
              <a:rect l="l" t="t" r="r" b="b"/>
              <a:pathLst>
                <a:path w="2506218" h="2506218">
                  <a:moveTo>
                    <a:pt x="0" y="1253109"/>
                  </a:moveTo>
                  <a:cubicBezTo>
                    <a:pt x="0" y="560959"/>
                    <a:pt x="560959" y="0"/>
                    <a:pt x="1253109" y="0"/>
                  </a:cubicBezTo>
                  <a:cubicBezTo>
                    <a:pt x="1945259" y="0"/>
                    <a:pt x="2506218" y="560959"/>
                    <a:pt x="2506218" y="1253109"/>
                  </a:cubicBezTo>
                  <a:cubicBezTo>
                    <a:pt x="2506218" y="1945259"/>
                    <a:pt x="1945259" y="2506218"/>
                    <a:pt x="1253109" y="2506218"/>
                  </a:cubicBezTo>
                  <a:cubicBezTo>
                    <a:pt x="560959" y="2506218"/>
                    <a:pt x="0" y="1945132"/>
                    <a:pt x="0" y="1253109"/>
                  </a:cubicBezTo>
                  <a:close/>
                </a:path>
              </a:pathLst>
            </a:custGeom>
            <a:solidFill>
              <a:srgbClr val="00897B"/>
            </a:solidFill>
            <a:ln w="50800" cap="sq">
              <a:solidFill>
                <a:srgbClr val="BFE8E3"/>
              </a:solidFill>
              <a:prstDash val="solid"/>
              <a:miter/>
            </a:ln>
          </p:spPr>
        </p:sp>
      </p:grpSp>
      <p:grpSp>
        <p:nvGrpSpPr>
          <p:cNvPr id="18" name="Group 18"/>
          <p:cNvGrpSpPr/>
          <p:nvPr/>
        </p:nvGrpSpPr>
        <p:grpSpPr>
          <a:xfrm rot="0">
            <a:off x="13716000" y="2103120"/>
            <a:ext cx="1828800" cy="1828800"/>
            <a:chOff x="0" y="0"/>
            <a:chExt cx="2438400" cy="2438400"/>
          </a:xfrm>
        </p:grpSpPr>
        <p:sp>
          <p:nvSpPr>
            <p:cNvPr id="19" name="Freeform 19"/>
            <p:cNvSpPr/>
            <p:nvPr/>
          </p:nvSpPr>
          <p:spPr>
            <a:xfrm>
              <a:off x="0" y="0"/>
              <a:ext cx="2438400" cy="2438400"/>
            </a:xfrm>
            <a:custGeom>
              <a:avLst/>
              <a:gdLst/>
              <a:ahLst/>
              <a:cxnLst/>
              <a:rect l="l" t="t" r="r" b="b"/>
              <a:pathLst>
                <a:path w="2438400" h="2438400">
                  <a:moveTo>
                    <a:pt x="0" y="0"/>
                  </a:moveTo>
                  <a:lnTo>
                    <a:pt x="2438400" y="0"/>
                  </a:lnTo>
                  <a:lnTo>
                    <a:pt x="2438400" y="2438400"/>
                  </a:lnTo>
                  <a:lnTo>
                    <a:pt x="0" y="2438400"/>
                  </a:lnTo>
                  <a:close/>
                </a:path>
              </a:pathLst>
            </a:custGeom>
            <a:blipFill>
              <a:blip r:embed="rId1">
                <a:alphaModFix amt="0"/>
              </a:blip>
              <a:stretch>
                <a:fillRect l="-78303" r="-78303"/>
              </a:stretch>
            </a:blipFill>
          </p:spPr>
        </p:sp>
        <p:sp>
          <p:nvSpPr>
            <p:cNvPr id="20" name="TextBox 20"/>
            <p:cNvSpPr txBox="1"/>
            <p:nvPr/>
          </p:nvSpPr>
          <p:spPr>
            <a:xfrm>
              <a:off x="0" y="-57150"/>
              <a:ext cx="2438400" cy="2495550"/>
            </a:xfrm>
            <a:prstGeom prst="rect">
              <a:avLst/>
            </a:prstGeom>
          </p:spPr>
          <p:txBody>
            <a:bodyPr lIns="0" tIns="0" rIns="0" bIns="0" rtlCol="0" anchor="ctr"/>
            <a:lstStyle/>
            <a:p>
              <a:pPr algn="ctr">
                <a:lnSpc>
                  <a:spcPts val="3120"/>
                </a:lnSpc>
              </a:pPr>
              <a:r>
                <a:rPr lang="en-US" sz="2600" b="1">
                  <a:solidFill>
                    <a:srgbClr val="FFFFFF"/>
                  </a:solidFill>
                  <a:latin typeface="Times New Roman" panose="02020603050405020304"/>
                  <a:ea typeface="Times New Roman" panose="02020603050405020304"/>
                  <a:cs typeface="Times New Roman" panose="02020603050405020304"/>
                  <a:sym typeface="Times New Roman" panose="02020603050405020304"/>
                </a:rPr>
                <a:t>Server</a:t>
              </a:r>
              <a:endParaRPr lang="en-US" sz="26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1" name="Group 21"/>
          <p:cNvGrpSpPr/>
          <p:nvPr/>
        </p:nvGrpSpPr>
        <p:grpSpPr>
          <a:xfrm rot="0">
            <a:off x="11953237" y="5918197"/>
            <a:ext cx="1696717" cy="1696717"/>
            <a:chOff x="0" y="0"/>
            <a:chExt cx="2262289" cy="2262289"/>
          </a:xfrm>
        </p:grpSpPr>
        <p:sp>
          <p:nvSpPr>
            <p:cNvPr id="22" name="Freeform 22"/>
            <p:cNvSpPr/>
            <p:nvPr/>
          </p:nvSpPr>
          <p:spPr>
            <a:xfrm>
              <a:off x="0" y="0"/>
              <a:ext cx="2262378" cy="2262378"/>
            </a:xfrm>
            <a:custGeom>
              <a:avLst/>
              <a:gdLst/>
              <a:ahLst/>
              <a:cxnLst/>
              <a:rect l="l" t="t" r="r" b="b"/>
              <a:pathLst>
                <a:path w="2262378" h="2262378">
                  <a:moveTo>
                    <a:pt x="0" y="1131189"/>
                  </a:moveTo>
                  <a:cubicBezTo>
                    <a:pt x="0" y="506476"/>
                    <a:pt x="506476" y="0"/>
                    <a:pt x="1131189" y="0"/>
                  </a:cubicBezTo>
                  <a:cubicBezTo>
                    <a:pt x="1755902" y="0"/>
                    <a:pt x="2262378" y="506476"/>
                    <a:pt x="2262378" y="1131189"/>
                  </a:cubicBezTo>
                  <a:cubicBezTo>
                    <a:pt x="2262378" y="1755902"/>
                    <a:pt x="1755902" y="2262378"/>
                    <a:pt x="1131189" y="2262378"/>
                  </a:cubicBezTo>
                  <a:cubicBezTo>
                    <a:pt x="506476" y="2262378"/>
                    <a:pt x="0" y="1755902"/>
                    <a:pt x="0" y="1131189"/>
                  </a:cubicBezTo>
                  <a:close/>
                </a:path>
              </a:pathLst>
            </a:custGeom>
            <a:solidFill>
              <a:srgbClr val="0B1626"/>
            </a:solidFill>
            <a:ln w="50800" cap="sq">
              <a:solidFill>
                <a:srgbClr val="BFE8E3"/>
              </a:solidFill>
              <a:prstDash val="solid"/>
              <a:miter/>
            </a:ln>
          </p:spPr>
        </p:sp>
      </p:grpSp>
      <p:grpSp>
        <p:nvGrpSpPr>
          <p:cNvPr id="23" name="Group 23"/>
          <p:cNvGrpSpPr/>
          <p:nvPr/>
        </p:nvGrpSpPr>
        <p:grpSpPr>
          <a:xfrm rot="0">
            <a:off x="11978640" y="5943600"/>
            <a:ext cx="1645920" cy="1645920"/>
            <a:chOff x="0" y="0"/>
            <a:chExt cx="2194560" cy="2194560"/>
          </a:xfrm>
        </p:grpSpPr>
        <p:sp>
          <p:nvSpPr>
            <p:cNvPr id="24" name="Freeform 24"/>
            <p:cNvSpPr/>
            <p:nvPr/>
          </p:nvSpPr>
          <p:spPr>
            <a:xfrm>
              <a:off x="0" y="0"/>
              <a:ext cx="2194560" cy="2194560"/>
            </a:xfrm>
            <a:custGeom>
              <a:avLst/>
              <a:gdLst/>
              <a:ahLst/>
              <a:cxnLst/>
              <a:rect l="l" t="t" r="r" b="b"/>
              <a:pathLst>
                <a:path w="2194560" h="2194560">
                  <a:moveTo>
                    <a:pt x="0" y="0"/>
                  </a:moveTo>
                  <a:lnTo>
                    <a:pt x="2194560" y="0"/>
                  </a:lnTo>
                  <a:lnTo>
                    <a:pt x="2194560" y="2194560"/>
                  </a:lnTo>
                  <a:lnTo>
                    <a:pt x="0" y="2194560"/>
                  </a:lnTo>
                  <a:close/>
                </a:path>
              </a:pathLst>
            </a:custGeom>
            <a:blipFill>
              <a:blip r:embed="rId1">
                <a:alphaModFix amt="0"/>
              </a:blip>
              <a:stretch>
                <a:fillRect l="-78303" r="-78303"/>
              </a:stretch>
            </a:blipFill>
          </p:spPr>
        </p:sp>
        <p:sp>
          <p:nvSpPr>
            <p:cNvPr id="25" name="TextBox 25"/>
            <p:cNvSpPr txBox="1"/>
            <p:nvPr/>
          </p:nvSpPr>
          <p:spPr>
            <a:xfrm>
              <a:off x="0" y="-47625"/>
              <a:ext cx="2194560" cy="2242185"/>
            </a:xfrm>
            <a:prstGeom prst="rect">
              <a:avLst/>
            </a:prstGeom>
          </p:spPr>
          <p:txBody>
            <a:bodyPr lIns="0" tIns="0" rIns="0" bIns="0" rtlCol="0" anchor="ctr"/>
            <a:lstStyle/>
            <a:p>
              <a:pPr algn="ctr">
                <a:lnSpc>
                  <a:spcPts val="2640"/>
                </a:lnSpc>
              </a:pPr>
              <a:r>
                <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rPr>
                <a:t>Client</a:t>
              </a:r>
              <a:endPar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a:p>
              <a:pPr algn="ctr">
                <a:lnSpc>
                  <a:spcPts val="2640"/>
                </a:lnSpc>
              </a:pPr>
              <a:r>
                <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rPr>
                <a:t>A</a:t>
              </a:r>
              <a:endPar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6" name="Group 26"/>
          <p:cNvGrpSpPr/>
          <p:nvPr/>
        </p:nvGrpSpPr>
        <p:grpSpPr>
          <a:xfrm rot="0">
            <a:off x="15610837" y="5918197"/>
            <a:ext cx="1696717" cy="1696717"/>
            <a:chOff x="0" y="0"/>
            <a:chExt cx="2262289" cy="2262289"/>
          </a:xfrm>
        </p:grpSpPr>
        <p:sp>
          <p:nvSpPr>
            <p:cNvPr id="27" name="Freeform 27"/>
            <p:cNvSpPr/>
            <p:nvPr/>
          </p:nvSpPr>
          <p:spPr>
            <a:xfrm>
              <a:off x="0" y="0"/>
              <a:ext cx="2262378" cy="2262378"/>
            </a:xfrm>
            <a:custGeom>
              <a:avLst/>
              <a:gdLst/>
              <a:ahLst/>
              <a:cxnLst/>
              <a:rect l="l" t="t" r="r" b="b"/>
              <a:pathLst>
                <a:path w="2262378" h="2262378">
                  <a:moveTo>
                    <a:pt x="0" y="1131189"/>
                  </a:moveTo>
                  <a:cubicBezTo>
                    <a:pt x="0" y="506476"/>
                    <a:pt x="506476" y="0"/>
                    <a:pt x="1131189" y="0"/>
                  </a:cubicBezTo>
                  <a:cubicBezTo>
                    <a:pt x="1755902" y="0"/>
                    <a:pt x="2262378" y="506476"/>
                    <a:pt x="2262378" y="1131189"/>
                  </a:cubicBezTo>
                  <a:cubicBezTo>
                    <a:pt x="2262378" y="1755902"/>
                    <a:pt x="1755902" y="2262378"/>
                    <a:pt x="1131189" y="2262378"/>
                  </a:cubicBezTo>
                  <a:cubicBezTo>
                    <a:pt x="506476" y="2262378"/>
                    <a:pt x="0" y="1755902"/>
                    <a:pt x="0" y="1131189"/>
                  </a:cubicBezTo>
                  <a:close/>
                </a:path>
              </a:pathLst>
            </a:custGeom>
            <a:solidFill>
              <a:srgbClr val="0B1626"/>
            </a:solidFill>
            <a:ln w="50800" cap="sq">
              <a:solidFill>
                <a:srgbClr val="BFE8E3"/>
              </a:solidFill>
              <a:prstDash val="solid"/>
              <a:miter/>
            </a:ln>
          </p:spPr>
        </p:sp>
      </p:grpSp>
      <p:grpSp>
        <p:nvGrpSpPr>
          <p:cNvPr id="28" name="Group 28"/>
          <p:cNvGrpSpPr/>
          <p:nvPr/>
        </p:nvGrpSpPr>
        <p:grpSpPr>
          <a:xfrm rot="0">
            <a:off x="15636240" y="5943600"/>
            <a:ext cx="1645920" cy="1645920"/>
            <a:chOff x="0" y="0"/>
            <a:chExt cx="2194560" cy="2194560"/>
          </a:xfrm>
        </p:grpSpPr>
        <p:sp>
          <p:nvSpPr>
            <p:cNvPr id="29" name="Freeform 29"/>
            <p:cNvSpPr/>
            <p:nvPr/>
          </p:nvSpPr>
          <p:spPr>
            <a:xfrm>
              <a:off x="0" y="0"/>
              <a:ext cx="2194560" cy="2194560"/>
            </a:xfrm>
            <a:custGeom>
              <a:avLst/>
              <a:gdLst/>
              <a:ahLst/>
              <a:cxnLst/>
              <a:rect l="l" t="t" r="r" b="b"/>
              <a:pathLst>
                <a:path w="2194560" h="2194560">
                  <a:moveTo>
                    <a:pt x="0" y="0"/>
                  </a:moveTo>
                  <a:lnTo>
                    <a:pt x="2194560" y="0"/>
                  </a:lnTo>
                  <a:lnTo>
                    <a:pt x="2194560" y="2194560"/>
                  </a:lnTo>
                  <a:lnTo>
                    <a:pt x="0" y="2194560"/>
                  </a:lnTo>
                  <a:close/>
                </a:path>
              </a:pathLst>
            </a:custGeom>
            <a:blipFill>
              <a:blip r:embed="rId1">
                <a:alphaModFix amt="0"/>
              </a:blip>
              <a:stretch>
                <a:fillRect l="-78303" r="-78303"/>
              </a:stretch>
            </a:blipFill>
          </p:spPr>
        </p:sp>
        <p:sp>
          <p:nvSpPr>
            <p:cNvPr id="30" name="TextBox 30"/>
            <p:cNvSpPr txBox="1"/>
            <p:nvPr/>
          </p:nvSpPr>
          <p:spPr>
            <a:xfrm>
              <a:off x="0" y="-47625"/>
              <a:ext cx="2194560" cy="2242185"/>
            </a:xfrm>
            <a:prstGeom prst="rect">
              <a:avLst/>
            </a:prstGeom>
          </p:spPr>
          <p:txBody>
            <a:bodyPr lIns="0" tIns="0" rIns="0" bIns="0" rtlCol="0" anchor="ctr"/>
            <a:lstStyle/>
            <a:p>
              <a:pPr algn="ctr">
                <a:lnSpc>
                  <a:spcPts val="2640"/>
                </a:lnSpc>
              </a:pPr>
              <a:r>
                <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rPr>
                <a:t>Client</a:t>
              </a:r>
              <a:endPar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a:p>
              <a:pPr algn="ctr">
                <a:lnSpc>
                  <a:spcPts val="2640"/>
                </a:lnSpc>
              </a:pPr>
              <a:r>
                <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rPr>
                <a:t>B</a:t>
              </a:r>
              <a:endParaRPr lang="en-US" sz="2200" b="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31" name="Group 31"/>
          <p:cNvGrpSpPr/>
          <p:nvPr/>
        </p:nvGrpSpPr>
        <p:grpSpPr>
          <a:xfrm rot="0">
            <a:off x="12801600" y="7808976"/>
            <a:ext cx="3657600" cy="548640"/>
            <a:chOff x="0" y="0"/>
            <a:chExt cx="4876800" cy="731520"/>
          </a:xfrm>
        </p:grpSpPr>
        <p:sp>
          <p:nvSpPr>
            <p:cNvPr id="32" name="Freeform 32"/>
            <p:cNvSpPr/>
            <p:nvPr/>
          </p:nvSpPr>
          <p:spPr>
            <a:xfrm>
              <a:off x="0" y="0"/>
              <a:ext cx="4876800" cy="731520"/>
            </a:xfrm>
            <a:custGeom>
              <a:avLst/>
              <a:gdLst/>
              <a:ahLst/>
              <a:cxnLst/>
              <a:rect l="l" t="t" r="r" b="b"/>
              <a:pathLst>
                <a:path w="4876800" h="731520">
                  <a:moveTo>
                    <a:pt x="0" y="0"/>
                  </a:moveTo>
                  <a:lnTo>
                    <a:pt x="4876800" y="0"/>
                  </a:lnTo>
                  <a:lnTo>
                    <a:pt x="4876800" y="731520"/>
                  </a:lnTo>
                  <a:lnTo>
                    <a:pt x="0" y="731520"/>
                  </a:lnTo>
                  <a:close/>
                </a:path>
              </a:pathLst>
            </a:custGeom>
            <a:blipFill>
              <a:blip r:embed="rId1">
                <a:alphaModFix amt="0"/>
              </a:blip>
              <a:stretch>
                <a:fillRect t="-79900" b="-79900"/>
              </a:stretch>
            </a:blipFill>
          </p:spPr>
        </p:sp>
        <p:sp>
          <p:nvSpPr>
            <p:cNvPr id="33" name="TextBox 33"/>
            <p:cNvSpPr txBox="1"/>
            <p:nvPr/>
          </p:nvSpPr>
          <p:spPr>
            <a:xfrm>
              <a:off x="0" y="-47625"/>
              <a:ext cx="4876800" cy="779145"/>
            </a:xfrm>
            <a:prstGeom prst="rect">
              <a:avLst/>
            </a:prstGeom>
          </p:spPr>
          <p:txBody>
            <a:bodyPr lIns="0" tIns="0" rIns="0" bIns="0" rtlCol="0" anchor="ctr"/>
            <a:lstStyle/>
            <a:p>
              <a:pPr algn="ctr">
                <a:lnSpc>
                  <a:spcPts val="2640"/>
                </a:lnSpc>
              </a:pPr>
              <a:r>
                <a:rPr lang="en-US" sz="2200" i="1">
                  <a:solidFill>
                    <a:srgbClr val="BFE8E3"/>
                  </a:solidFill>
                  <a:latin typeface="Times New Roman" panose="02020603050405020304"/>
                  <a:ea typeface="Times New Roman" panose="02020603050405020304"/>
                  <a:cs typeface="Times New Roman" panose="02020603050405020304"/>
                  <a:sym typeface="Times New Roman" panose="02020603050405020304"/>
                </a:rPr>
                <a:t>RTT 100–200 ms</a:t>
              </a:r>
              <a:endParaRPr lang="en-US" sz="2200" i="1">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9009" name="Section rule"/>
          <p:cNvSpPr/>
          <p:nvPr/>
        </p:nvSpPr>
        <p:spPr>
          <a:xfrm>
            <a:off x="1097280" y="3749040"/>
            <a:ext cx="1645920" cy="91440"/>
          </a:xfrm>
          <a:prstGeom prst="rect">
            <a:avLst/>
          </a:prstGeom>
          <a:solidFill>
            <a:srgbClr val="00897B"/>
          </a:solidFill>
          <a:ln>
            <a:noFill/>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41" name="Header band"/>
          <p:cNvSpPr/>
          <p:nvPr/>
        </p:nvSpPr>
        <p:spPr>
          <a:xfrm>
            <a:off x="0" y="0"/>
            <a:ext cx="18288000" cy="2103120"/>
          </a:xfrm>
          <a:prstGeom prst="rect">
            <a:avLst/>
          </a:prstGeom>
          <a:solidFill>
            <a:srgbClr val="14213D"/>
          </a:solidFill>
          <a:ln>
            <a:noFill/>
          </a:ln>
        </p:spPr>
      </p:sp>
      <p:sp>
        <p:nvSpPr>
          <p:cNvPr id="9042" name="Header rule"/>
          <p:cNvSpPr/>
          <p:nvPr/>
        </p:nvSpPr>
        <p:spPr>
          <a:xfrm>
            <a:off x="0" y="2103120"/>
            <a:ext cx="18288000" cy="64008"/>
          </a:xfrm>
          <a:prstGeom prst="rect">
            <a:avLst/>
          </a:prstGeom>
          <a:solidFill>
            <a:srgbClr val="00897B"/>
          </a:solidFill>
          <a:ln>
            <a:noFill/>
          </a:ln>
        </p:spPr>
      </p:sp>
      <p:grpSp>
        <p:nvGrpSpPr>
          <p:cNvPr id="2" name="Group 2"/>
          <p:cNvGrpSpPr/>
          <p:nvPr/>
        </p:nvGrpSpPr>
        <p:grpSpPr>
          <a:xfrm rot="0">
            <a:off x="914400" y="9509760"/>
            <a:ext cx="12801600" cy="548640"/>
            <a:chOff x="0" y="0"/>
            <a:chExt cx="17068800" cy="731520"/>
          </a:xfrm>
        </p:grpSpPr>
        <p:sp>
          <p:nvSpPr>
            <p:cNvPr id="3" name="Freeform 3"/>
            <p:cNvSpPr/>
            <p:nvPr/>
          </p:nvSpPr>
          <p:spPr>
            <a:xfrm>
              <a:off x="0" y="0"/>
              <a:ext cx="17068800" cy="731520"/>
            </a:xfrm>
            <a:custGeom>
              <a:avLst/>
              <a:gdLst/>
              <a:ahLst/>
              <a:cxnLst/>
              <a:rect l="l" t="t" r="r" b="b"/>
              <a:pathLst>
                <a:path w="17068800" h="731520">
                  <a:moveTo>
                    <a:pt x="0" y="0"/>
                  </a:moveTo>
                  <a:lnTo>
                    <a:pt x="17068800" y="0"/>
                  </a:lnTo>
                  <a:lnTo>
                    <a:pt x="17068800" y="731520"/>
                  </a:lnTo>
                  <a:lnTo>
                    <a:pt x="0" y="731520"/>
                  </a:lnTo>
                  <a:close/>
                </a:path>
              </a:pathLst>
            </a:custGeom>
            <a:blipFill>
              <a:blip r:embed="rId1">
                <a:alphaModFix amt="0"/>
              </a:blip>
              <a:stretch>
                <a:fillRect t="-404650" b="-404650"/>
              </a:stretch>
            </a:blipFill>
          </p:spPr>
        </p:sp>
        <p:sp>
          <p:nvSpPr>
            <p:cNvPr id="4" name="TextBox 4"/>
            <p:cNvSpPr txBox="1"/>
            <p:nvPr/>
          </p:nvSpPr>
          <p:spPr>
            <a:xfrm>
              <a:off x="0" y="-38100"/>
              <a:ext cx="17068800" cy="769620"/>
            </a:xfrm>
            <a:prstGeom prst="rect">
              <a:avLst/>
            </a:prstGeom>
          </p:spPr>
          <p:txBody>
            <a:bodyPr lIns="0" tIns="0" rIns="0" bIns="0" rtlCol="0" anchor="ctr"/>
            <a:lstStyle/>
            <a:p>
              <a:pPr algn="l">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T47 · Kỹ thuật mạng cho game thời gian thực · Lập trình mạng</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5" name="TextBox 5"/>
          <p:cNvSpPr txBox="1"/>
          <p:nvPr/>
        </p:nvSpPr>
        <p:spPr>
          <a:xfrm>
            <a:off x="914400" y="384048"/>
            <a:ext cx="13898880" cy="559689"/>
          </a:xfrm>
          <a:prstGeom prst="rect">
            <a:avLst/>
          </a:prstGeom>
        </p:spPr>
        <p:txBody>
          <a:bodyPr lIns="0" tIns="0" rIns="0" bIns="0" rtlCol="0" anchor="t">
            <a:spAutoFit/>
          </a:bodyPr>
          <a:lstStyle/>
          <a:p>
            <a:pPr algn="l">
              <a:lnSpc>
                <a:spcPts val="2640"/>
              </a:lnSpc>
            </a:pPr>
            <a:r>
              <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CÁCH TIẾP CẬN</a:t>
            </a:r>
            <a:endPar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6" name="Group 6"/>
          <p:cNvGrpSpPr/>
          <p:nvPr/>
        </p:nvGrpSpPr>
        <p:grpSpPr>
          <a:xfrm rot="0">
            <a:off x="914400" y="768096"/>
            <a:ext cx="14081760" cy="1097280"/>
            <a:chOff x="0" y="0"/>
            <a:chExt cx="18775680" cy="1463040"/>
          </a:xfrm>
        </p:grpSpPr>
        <p:sp>
          <p:nvSpPr>
            <p:cNvPr id="7" name="Freeform 7"/>
            <p:cNvSpPr/>
            <p:nvPr/>
          </p:nvSpPr>
          <p:spPr>
            <a:xfrm>
              <a:off x="0" y="0"/>
              <a:ext cx="18775680" cy="1463040"/>
            </a:xfrm>
            <a:custGeom>
              <a:avLst/>
              <a:gdLst/>
              <a:ahLst/>
              <a:cxnLst/>
              <a:rect l="l" t="t" r="r" b="b"/>
              <a:pathLst>
                <a:path w="18775680" h="1463040">
                  <a:moveTo>
                    <a:pt x="0" y="0"/>
                  </a:moveTo>
                  <a:lnTo>
                    <a:pt x="18775680" y="0"/>
                  </a:lnTo>
                  <a:lnTo>
                    <a:pt x="18775680" y="1463040"/>
                  </a:lnTo>
                  <a:lnTo>
                    <a:pt x="0" y="1463040"/>
                  </a:lnTo>
                  <a:close/>
                </a:path>
              </a:pathLst>
            </a:custGeom>
            <a:blipFill>
              <a:blip r:embed="rId1">
                <a:alphaModFix amt="0"/>
              </a:blip>
              <a:stretch>
                <a:fillRect t="-200057" b="-200057"/>
              </a:stretch>
            </a:blipFill>
          </p:spPr>
        </p:sp>
        <p:sp>
          <p:nvSpPr>
            <p:cNvPr id="8" name="TextBox 8"/>
            <p:cNvSpPr txBox="1"/>
            <p:nvPr/>
          </p:nvSpPr>
          <p:spPr>
            <a:xfrm>
              <a:off x="0" y="-9525"/>
              <a:ext cx="18775680" cy="1472565"/>
            </a:xfrm>
            <a:prstGeom prst="rect">
              <a:avLst/>
            </a:prstGeom>
          </p:spPr>
          <p:txBody>
            <a:bodyPr lIns="0" tIns="0" rIns="0" bIns="0" rtlCol="0" anchor="ctr"/>
            <a:lstStyle/>
            <a:p>
              <a:pPr algn="l">
                <a:lnSpc>
                  <a:spcPts val="6900"/>
                </a:lnSpc>
              </a:pPr>
              <a:r>
                <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rPr>
                <a:t>Chuỗi 5 vấn đề con</a:t>
              </a:r>
              <a:endPar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9" name="Group 9"/>
          <p:cNvGrpSpPr/>
          <p:nvPr/>
        </p:nvGrpSpPr>
        <p:grpSpPr>
          <a:xfrm rot="0">
            <a:off x="15257783" y="682247"/>
            <a:ext cx="2128523" cy="647195"/>
            <a:chOff x="0" y="0"/>
            <a:chExt cx="2838031" cy="862927"/>
          </a:xfrm>
        </p:grpSpPr>
        <p:sp>
          <p:nvSpPr>
            <p:cNvPr id="10" name="Freeform 10"/>
            <p:cNvSpPr/>
            <p:nvPr/>
          </p:nvSpPr>
          <p:spPr>
            <a:xfrm>
              <a:off x="0" y="0"/>
              <a:ext cx="2837942" cy="862838"/>
            </a:xfrm>
            <a:custGeom>
              <a:avLst/>
              <a:gdLst/>
              <a:ahLst/>
              <a:cxnLst/>
              <a:rect l="l" t="t" r="r" b="b"/>
              <a:pathLst>
                <a:path w="2837942" h="862838">
                  <a:moveTo>
                    <a:pt x="0" y="431419"/>
                  </a:moveTo>
                  <a:cubicBezTo>
                    <a:pt x="0" y="193167"/>
                    <a:pt x="193167" y="0"/>
                    <a:pt x="431419" y="0"/>
                  </a:cubicBezTo>
                  <a:lnTo>
                    <a:pt x="2406523" y="0"/>
                  </a:lnTo>
                  <a:cubicBezTo>
                    <a:pt x="2644775" y="0"/>
                    <a:pt x="2837942" y="193167"/>
                    <a:pt x="2837942" y="431419"/>
                  </a:cubicBezTo>
                  <a:cubicBezTo>
                    <a:pt x="2837942" y="669671"/>
                    <a:pt x="2644775" y="862838"/>
                    <a:pt x="2406523" y="862838"/>
                  </a:cubicBezTo>
                  <a:lnTo>
                    <a:pt x="431419" y="862838"/>
                  </a:lnTo>
                  <a:cubicBezTo>
                    <a:pt x="193167" y="862965"/>
                    <a:pt x="0" y="669798"/>
                    <a:pt x="0" y="431419"/>
                  </a:cubicBezTo>
                  <a:close/>
                </a:path>
              </a:pathLst>
            </a:custGeom>
            <a:solidFill>
              <a:srgbClr val="00897B"/>
            </a:solidFill>
            <a:ln w="25400" cap="sq">
              <a:solidFill>
                <a:srgbClr val="00897B"/>
              </a:solidFill>
              <a:prstDash val="solid"/>
              <a:miter/>
            </a:ln>
          </p:spPr>
        </p:sp>
      </p:grpSp>
      <p:grpSp>
        <p:nvGrpSpPr>
          <p:cNvPr id="11" name="Group 11"/>
          <p:cNvGrpSpPr/>
          <p:nvPr/>
        </p:nvGrpSpPr>
        <p:grpSpPr>
          <a:xfrm rot="0">
            <a:off x="15270480" y="694944"/>
            <a:ext cx="2103120" cy="621792"/>
            <a:chOff x="0" y="0"/>
            <a:chExt cx="2804160" cy="829056"/>
          </a:xfrm>
        </p:grpSpPr>
        <p:sp>
          <p:nvSpPr>
            <p:cNvPr id="12" name="Freeform 12"/>
            <p:cNvSpPr/>
            <p:nvPr/>
          </p:nvSpPr>
          <p:spPr>
            <a:xfrm>
              <a:off x="0" y="0"/>
              <a:ext cx="2804160" cy="829056"/>
            </a:xfrm>
            <a:custGeom>
              <a:avLst/>
              <a:gdLst/>
              <a:ahLst/>
              <a:cxnLst/>
              <a:rect l="l" t="t" r="r" b="b"/>
              <a:pathLst>
                <a:path w="2804160" h="829056">
                  <a:moveTo>
                    <a:pt x="0" y="0"/>
                  </a:moveTo>
                  <a:lnTo>
                    <a:pt x="2804160" y="0"/>
                  </a:lnTo>
                  <a:lnTo>
                    <a:pt x="2804160" y="829056"/>
                  </a:lnTo>
                  <a:lnTo>
                    <a:pt x="0" y="829056"/>
                  </a:lnTo>
                  <a:close/>
                </a:path>
              </a:pathLst>
            </a:custGeom>
            <a:blipFill>
              <a:blip r:embed="rId1">
                <a:alphaModFix amt="0"/>
              </a:blip>
              <a:stretch>
                <a:fillRect t="-15905" b="-15905"/>
              </a:stretch>
            </a:blipFill>
          </p:spPr>
        </p:sp>
        <p:sp>
          <p:nvSpPr>
            <p:cNvPr id="13" name="TextBox 13"/>
            <p:cNvSpPr txBox="1"/>
            <p:nvPr/>
          </p:nvSpPr>
          <p:spPr>
            <a:xfrm>
              <a:off x="0" y="-47625"/>
              <a:ext cx="2804160" cy="876681"/>
            </a:xfrm>
            <a:prstGeom prst="rect">
              <a:avLst/>
            </a:prstGeom>
          </p:spPr>
          <p:txBody>
            <a:bodyPr lIns="0" tIns="0" rIns="0" bIns="0" rtlCol="0" anchor="ctr"/>
            <a:lstStyle/>
            <a:p>
              <a:pPr algn="ctr">
                <a:lnSpc>
                  <a:spcPts val="2640"/>
                </a:lnSpc>
              </a:pPr>
              <a:r>
                <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rPr>
                <a:t>DỰ PHÒNG</a:t>
              </a:r>
              <a:endPar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4" name="Group 14"/>
          <p:cNvGrpSpPr/>
          <p:nvPr/>
        </p:nvGrpSpPr>
        <p:grpSpPr>
          <a:xfrm rot="0">
            <a:off x="901703" y="2547623"/>
            <a:ext cx="2878331" cy="2037083"/>
            <a:chOff x="0" y="0"/>
            <a:chExt cx="3837775" cy="2716111"/>
          </a:xfrm>
        </p:grpSpPr>
        <p:sp>
          <p:nvSpPr>
            <p:cNvPr id="15" name="Freeform 15"/>
            <p:cNvSpPr/>
            <p:nvPr/>
          </p:nvSpPr>
          <p:spPr>
            <a:xfrm>
              <a:off x="0" y="0"/>
              <a:ext cx="3837686" cy="2716022"/>
            </a:xfrm>
            <a:custGeom>
              <a:avLst/>
              <a:gdLst/>
              <a:ahLst/>
              <a:cxnLst/>
              <a:rect l="l" t="t" r="r" b="b"/>
              <a:pathLst>
                <a:path w="3837686" h="2716022">
                  <a:moveTo>
                    <a:pt x="0" y="246888"/>
                  </a:moveTo>
                  <a:cubicBezTo>
                    <a:pt x="0" y="110490"/>
                    <a:pt x="110490" y="0"/>
                    <a:pt x="246888" y="0"/>
                  </a:cubicBezTo>
                  <a:lnTo>
                    <a:pt x="3590798" y="0"/>
                  </a:lnTo>
                  <a:cubicBezTo>
                    <a:pt x="3727196" y="0"/>
                    <a:pt x="3837686" y="110490"/>
                    <a:pt x="3837686" y="246888"/>
                  </a:cubicBezTo>
                  <a:lnTo>
                    <a:pt x="3837686" y="2469134"/>
                  </a:lnTo>
                  <a:cubicBezTo>
                    <a:pt x="3837686" y="2605532"/>
                    <a:pt x="3727196" y="2716022"/>
                    <a:pt x="3590798" y="2716022"/>
                  </a:cubicBezTo>
                  <a:lnTo>
                    <a:pt x="246888" y="2716022"/>
                  </a:lnTo>
                  <a:cubicBezTo>
                    <a:pt x="110490" y="2716149"/>
                    <a:pt x="0" y="2605532"/>
                    <a:pt x="0" y="2469134"/>
                  </a:cubicBezTo>
                  <a:close/>
                </a:path>
              </a:pathLst>
            </a:custGeom>
            <a:solidFill>
              <a:srgbClr val="EEF3F8"/>
            </a:solidFill>
            <a:ln w="25400" cap="sq">
              <a:solidFill>
                <a:srgbClr val="00897B"/>
              </a:solidFill>
              <a:prstDash val="solid"/>
              <a:miter/>
            </a:ln>
          </p:spPr>
        </p:sp>
      </p:grpSp>
      <p:sp>
        <p:nvSpPr>
          <p:cNvPr id="16" name="TextBox 16"/>
          <p:cNvSpPr txBox="1"/>
          <p:nvPr/>
        </p:nvSpPr>
        <p:spPr>
          <a:xfrm>
            <a:off x="1097280" y="2695575"/>
            <a:ext cx="2487168" cy="1693545"/>
          </a:xfrm>
          <a:prstGeom prst="rect">
            <a:avLst/>
          </a:prstGeom>
        </p:spPr>
        <p:txBody>
          <a:bodyPr lIns="0" tIns="0" rIns="0" bIns="0" rtlCol="0" anchor="t">
            <a:spAutoFit/>
          </a:bodyPr>
          <a:lstStyle/>
          <a:p>
            <a:pPr algn="l">
              <a:lnSpc>
                <a:spcPts val="2640"/>
              </a:lnSpc>
            </a:pPr>
            <a:r>
              <a:rPr lang="en-US" sz="2200" b="1">
                <a:solidFill>
                  <a:srgbClr val="00897B"/>
                </a:solidFill>
                <a:latin typeface="Times New Roman" panose="02020603050405020304"/>
                <a:ea typeface="Times New Roman" panose="02020603050405020304"/>
                <a:cs typeface="Times New Roman" panose="02020603050405020304"/>
                <a:sym typeface="Times New Roman" panose="02020603050405020304"/>
              </a:rPr>
              <a:t>VĐ1</a:t>
            </a:r>
            <a:endParaRPr lang="en-US" sz="2200" b="1">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3120"/>
              </a:lnSpc>
            </a:pPr>
            <a:r>
              <a:rPr lang="en-US" sz="2600" b="1">
                <a:solidFill>
                  <a:srgbClr val="14213D"/>
                </a:solidFill>
                <a:latin typeface="Times New Roman" panose="02020603050405020304"/>
                <a:ea typeface="Times New Roman" panose="02020603050405020304"/>
                <a:cs typeface="Times New Roman" panose="02020603050405020304"/>
                <a:sym typeface="Times New Roman" panose="02020603050405020304"/>
              </a:rPr>
              <a:t>Ai giữ quyền quyết định?</a:t>
            </a:r>
            <a:endParaRPr lang="en-US" sz="2600" b="1">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 name="AutoShape 17"/>
          <p:cNvSpPr/>
          <p:nvPr/>
        </p:nvSpPr>
        <p:spPr>
          <a:xfrm rot="315240">
            <a:off x="3798951" y="3556635"/>
            <a:ext cx="485404" cy="0"/>
          </a:xfrm>
          <a:prstGeom prst="line">
            <a:avLst/>
          </a:prstGeom>
          <a:ln w="19050" cap="rnd">
            <a:solidFill>
              <a:srgbClr val="00897B"/>
            </a:solidFill>
            <a:prstDash val="solid"/>
            <a:headEnd type="none" w="sm" len="sm"/>
            <a:tailEnd type="triangle" w="lg" len="med"/>
          </a:ln>
        </p:spPr>
      </p:sp>
      <p:sp>
        <p:nvSpPr>
          <p:cNvPr id="18" name="AutoShape 18"/>
          <p:cNvSpPr/>
          <p:nvPr/>
        </p:nvSpPr>
        <p:spPr>
          <a:xfrm rot="5341320">
            <a:off x="3483397" y="4329494"/>
            <a:ext cx="1116492" cy="0"/>
          </a:xfrm>
          <a:prstGeom prst="line">
            <a:avLst/>
          </a:prstGeom>
          <a:ln w="9525" cap="rnd">
            <a:solidFill>
              <a:srgbClr val="5B6B82"/>
            </a:solidFill>
            <a:prstDash val="solid"/>
            <a:headEnd type="none" w="sm" len="sm"/>
            <a:tailEnd type="none" w="sm" len="sm"/>
          </a:ln>
        </p:spPr>
      </p:sp>
      <p:sp>
        <p:nvSpPr>
          <p:cNvPr id="19" name="TextBox 19"/>
          <p:cNvSpPr txBox="1"/>
          <p:nvPr/>
        </p:nvSpPr>
        <p:spPr>
          <a:xfrm>
            <a:off x="2578608" y="4890135"/>
            <a:ext cx="2926080" cy="962025"/>
          </a:xfrm>
          <a:prstGeom prst="rect">
            <a:avLst/>
          </a:prstGeom>
        </p:spPr>
        <p:txBody>
          <a:bodyPr lIns="0" tIns="0" rIns="0" bIns="0" rtlCol="0" anchor="t">
            <a:spAutoFit/>
          </a:bodyPr>
          <a:lstStyle/>
          <a:p>
            <a:pPr algn="ctr">
              <a:lnSpc>
                <a:spcPts val="2640"/>
              </a:lnSpc>
            </a:pPr>
            <a:r>
              <a:rPr lang="en-US" sz="2200" i="1">
                <a:solidFill>
                  <a:srgbClr val="5B6B82"/>
                </a:solidFill>
                <a:latin typeface="Times New Roman" panose="02020603050405020304"/>
                <a:ea typeface="Times New Roman" panose="02020603050405020304"/>
                <a:cs typeface="Times New Roman" panose="02020603050405020304"/>
                <a:sym typeface="Times New Roman" panose="02020603050405020304"/>
              </a:rPr>
              <a:t>phải chờ server</a:t>
            </a:r>
            <a:endParaRPr lang="en-US" sz="2200" i="1">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0" name="Group 20"/>
          <p:cNvGrpSpPr/>
          <p:nvPr/>
        </p:nvGrpSpPr>
        <p:grpSpPr>
          <a:xfrm rot="0">
            <a:off x="4303271" y="2547623"/>
            <a:ext cx="2878331" cy="2037083"/>
            <a:chOff x="0" y="0"/>
            <a:chExt cx="3837775" cy="2716111"/>
          </a:xfrm>
        </p:grpSpPr>
        <p:sp>
          <p:nvSpPr>
            <p:cNvPr id="21" name="Freeform 21"/>
            <p:cNvSpPr/>
            <p:nvPr/>
          </p:nvSpPr>
          <p:spPr>
            <a:xfrm>
              <a:off x="0" y="0"/>
              <a:ext cx="3837686" cy="2716022"/>
            </a:xfrm>
            <a:custGeom>
              <a:avLst/>
              <a:gdLst/>
              <a:ahLst/>
              <a:cxnLst/>
              <a:rect l="l" t="t" r="r" b="b"/>
              <a:pathLst>
                <a:path w="3837686" h="2716022">
                  <a:moveTo>
                    <a:pt x="0" y="246888"/>
                  </a:moveTo>
                  <a:cubicBezTo>
                    <a:pt x="0" y="110490"/>
                    <a:pt x="110490" y="0"/>
                    <a:pt x="246888" y="0"/>
                  </a:cubicBezTo>
                  <a:lnTo>
                    <a:pt x="3590798" y="0"/>
                  </a:lnTo>
                  <a:cubicBezTo>
                    <a:pt x="3727196" y="0"/>
                    <a:pt x="3837686" y="110490"/>
                    <a:pt x="3837686" y="246888"/>
                  </a:cubicBezTo>
                  <a:lnTo>
                    <a:pt x="3837686" y="2469134"/>
                  </a:lnTo>
                  <a:cubicBezTo>
                    <a:pt x="3837686" y="2605532"/>
                    <a:pt x="3727196" y="2716022"/>
                    <a:pt x="3590798" y="2716022"/>
                  </a:cubicBezTo>
                  <a:lnTo>
                    <a:pt x="246888" y="2716022"/>
                  </a:lnTo>
                  <a:cubicBezTo>
                    <a:pt x="110490" y="2716149"/>
                    <a:pt x="0" y="2605532"/>
                    <a:pt x="0" y="2469134"/>
                  </a:cubicBezTo>
                  <a:close/>
                </a:path>
              </a:pathLst>
            </a:custGeom>
            <a:solidFill>
              <a:srgbClr val="EEF3F8"/>
            </a:solidFill>
            <a:ln w="25400" cap="sq">
              <a:solidFill>
                <a:srgbClr val="00897B"/>
              </a:solidFill>
              <a:prstDash val="solid"/>
              <a:miter/>
            </a:ln>
          </p:spPr>
        </p:sp>
      </p:grpSp>
      <p:sp>
        <p:nvSpPr>
          <p:cNvPr id="22" name="TextBox 22"/>
          <p:cNvSpPr txBox="1"/>
          <p:nvPr/>
        </p:nvSpPr>
        <p:spPr>
          <a:xfrm>
            <a:off x="4498848" y="2695575"/>
            <a:ext cx="2487168" cy="1693545"/>
          </a:xfrm>
          <a:prstGeom prst="rect">
            <a:avLst/>
          </a:prstGeom>
        </p:spPr>
        <p:txBody>
          <a:bodyPr lIns="0" tIns="0" rIns="0" bIns="0" rtlCol="0" anchor="t">
            <a:spAutoFit/>
          </a:bodyPr>
          <a:lstStyle/>
          <a:p>
            <a:pPr algn="l">
              <a:lnSpc>
                <a:spcPts val="2640"/>
              </a:lnSpc>
            </a:pPr>
            <a:r>
              <a:rPr lang="en-US" sz="2200" b="1">
                <a:solidFill>
                  <a:srgbClr val="00897B"/>
                </a:solidFill>
                <a:latin typeface="Times New Roman" panose="02020603050405020304"/>
                <a:ea typeface="Times New Roman" panose="02020603050405020304"/>
                <a:cs typeface="Times New Roman" panose="02020603050405020304"/>
                <a:sym typeface="Times New Roman" panose="02020603050405020304"/>
              </a:rPr>
              <a:t>VĐ2</a:t>
            </a:r>
            <a:endParaRPr lang="en-US" sz="2200" b="1">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3120"/>
              </a:lnSpc>
            </a:pPr>
            <a:r>
              <a:rPr lang="en-US" sz="2600" b="1">
                <a:solidFill>
                  <a:srgbClr val="14213D"/>
                </a:solidFill>
                <a:latin typeface="Times New Roman" panose="02020603050405020304"/>
                <a:ea typeface="Times New Roman" panose="02020603050405020304"/>
                <a:cs typeface="Times New Roman" panose="02020603050405020304"/>
                <a:sym typeface="Times New Roman" panose="02020603050405020304"/>
              </a:rPr>
              <a:t>Điều khiển bị ì</a:t>
            </a:r>
            <a:endParaRPr lang="en-US" sz="2600" b="1">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 name="AutoShape 23"/>
          <p:cNvSpPr/>
          <p:nvPr/>
        </p:nvSpPr>
        <p:spPr>
          <a:xfrm rot="315240">
            <a:off x="7200519" y="3556635"/>
            <a:ext cx="485404" cy="0"/>
          </a:xfrm>
          <a:prstGeom prst="line">
            <a:avLst/>
          </a:prstGeom>
          <a:ln w="19050" cap="rnd">
            <a:solidFill>
              <a:srgbClr val="00897B"/>
            </a:solidFill>
            <a:prstDash val="solid"/>
            <a:headEnd type="none" w="sm" len="sm"/>
            <a:tailEnd type="triangle" w="lg" len="med"/>
          </a:ln>
        </p:spPr>
      </p:sp>
      <p:sp>
        <p:nvSpPr>
          <p:cNvPr id="24" name="AutoShape 24"/>
          <p:cNvSpPr/>
          <p:nvPr/>
        </p:nvSpPr>
        <p:spPr>
          <a:xfrm rot="5341320">
            <a:off x="6884965" y="4329494"/>
            <a:ext cx="1116492" cy="0"/>
          </a:xfrm>
          <a:prstGeom prst="line">
            <a:avLst/>
          </a:prstGeom>
          <a:ln w="9525" cap="rnd">
            <a:solidFill>
              <a:srgbClr val="5B6B82"/>
            </a:solidFill>
            <a:prstDash val="solid"/>
            <a:headEnd type="none" w="sm" len="sm"/>
            <a:tailEnd type="none" w="sm" len="sm"/>
          </a:ln>
        </p:spPr>
      </p:sp>
      <p:sp>
        <p:nvSpPr>
          <p:cNvPr id="25" name="TextBox 25"/>
          <p:cNvSpPr txBox="1"/>
          <p:nvPr/>
        </p:nvSpPr>
        <p:spPr>
          <a:xfrm>
            <a:off x="5980176" y="4890135"/>
            <a:ext cx="2926080" cy="962025"/>
          </a:xfrm>
          <a:prstGeom prst="rect">
            <a:avLst/>
          </a:prstGeom>
        </p:spPr>
        <p:txBody>
          <a:bodyPr lIns="0" tIns="0" rIns="0" bIns="0" rtlCol="0" anchor="t">
            <a:spAutoFit/>
          </a:bodyPr>
          <a:lstStyle/>
          <a:p>
            <a:pPr algn="ctr">
              <a:lnSpc>
                <a:spcPts val="2640"/>
              </a:lnSpc>
            </a:pPr>
            <a:r>
              <a:rPr lang="en-US" sz="2200" i="1">
                <a:solidFill>
                  <a:srgbClr val="5B6B82"/>
                </a:solidFill>
                <a:latin typeface="Times New Roman" panose="02020603050405020304"/>
                <a:ea typeface="Times New Roman" panose="02020603050405020304"/>
                <a:cs typeface="Times New Roman" panose="02020603050405020304"/>
                <a:sym typeface="Times New Roman" panose="02020603050405020304"/>
              </a:rPr>
              <a:t>chỉ đoán được mình</a:t>
            </a:r>
            <a:endParaRPr lang="en-US" sz="2200" i="1">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6" name="Group 26"/>
          <p:cNvGrpSpPr/>
          <p:nvPr/>
        </p:nvGrpSpPr>
        <p:grpSpPr>
          <a:xfrm rot="0">
            <a:off x="7704839" y="2547623"/>
            <a:ext cx="2878331" cy="2037083"/>
            <a:chOff x="0" y="0"/>
            <a:chExt cx="3837775" cy="2716111"/>
          </a:xfrm>
        </p:grpSpPr>
        <p:sp>
          <p:nvSpPr>
            <p:cNvPr id="27" name="Freeform 27"/>
            <p:cNvSpPr/>
            <p:nvPr/>
          </p:nvSpPr>
          <p:spPr>
            <a:xfrm>
              <a:off x="0" y="0"/>
              <a:ext cx="3837686" cy="2716022"/>
            </a:xfrm>
            <a:custGeom>
              <a:avLst/>
              <a:gdLst/>
              <a:ahLst/>
              <a:cxnLst/>
              <a:rect l="l" t="t" r="r" b="b"/>
              <a:pathLst>
                <a:path w="3837686" h="2716022">
                  <a:moveTo>
                    <a:pt x="0" y="246888"/>
                  </a:moveTo>
                  <a:cubicBezTo>
                    <a:pt x="0" y="110490"/>
                    <a:pt x="110490" y="0"/>
                    <a:pt x="246888" y="0"/>
                  </a:cubicBezTo>
                  <a:lnTo>
                    <a:pt x="3590798" y="0"/>
                  </a:lnTo>
                  <a:cubicBezTo>
                    <a:pt x="3727196" y="0"/>
                    <a:pt x="3837686" y="110490"/>
                    <a:pt x="3837686" y="246888"/>
                  </a:cubicBezTo>
                  <a:lnTo>
                    <a:pt x="3837686" y="2469134"/>
                  </a:lnTo>
                  <a:cubicBezTo>
                    <a:pt x="3837686" y="2605532"/>
                    <a:pt x="3727196" y="2716022"/>
                    <a:pt x="3590798" y="2716022"/>
                  </a:cubicBezTo>
                  <a:lnTo>
                    <a:pt x="246888" y="2716022"/>
                  </a:lnTo>
                  <a:cubicBezTo>
                    <a:pt x="110490" y="2716149"/>
                    <a:pt x="0" y="2605532"/>
                    <a:pt x="0" y="2469134"/>
                  </a:cubicBezTo>
                  <a:close/>
                </a:path>
              </a:pathLst>
            </a:custGeom>
            <a:solidFill>
              <a:srgbClr val="EEF3F8"/>
            </a:solidFill>
            <a:ln w="25400" cap="sq">
              <a:solidFill>
                <a:srgbClr val="00897B"/>
              </a:solidFill>
              <a:prstDash val="solid"/>
              <a:miter/>
            </a:ln>
          </p:spPr>
        </p:sp>
      </p:grpSp>
      <p:sp>
        <p:nvSpPr>
          <p:cNvPr id="28" name="TextBox 28"/>
          <p:cNvSpPr txBox="1"/>
          <p:nvPr/>
        </p:nvSpPr>
        <p:spPr>
          <a:xfrm>
            <a:off x="7900416" y="2695575"/>
            <a:ext cx="2487168" cy="1693545"/>
          </a:xfrm>
          <a:prstGeom prst="rect">
            <a:avLst/>
          </a:prstGeom>
        </p:spPr>
        <p:txBody>
          <a:bodyPr lIns="0" tIns="0" rIns="0" bIns="0" rtlCol="0" anchor="t">
            <a:spAutoFit/>
          </a:bodyPr>
          <a:lstStyle/>
          <a:p>
            <a:pPr algn="l">
              <a:lnSpc>
                <a:spcPts val="2640"/>
              </a:lnSpc>
            </a:pPr>
            <a:r>
              <a:rPr lang="en-US" sz="2200" b="1">
                <a:solidFill>
                  <a:srgbClr val="00897B"/>
                </a:solidFill>
                <a:latin typeface="Times New Roman" panose="02020603050405020304"/>
                <a:ea typeface="Times New Roman" panose="02020603050405020304"/>
                <a:cs typeface="Times New Roman" panose="02020603050405020304"/>
                <a:sym typeface="Times New Roman" panose="02020603050405020304"/>
              </a:rPr>
              <a:t>VĐ3</a:t>
            </a:r>
            <a:endParaRPr lang="en-US" sz="2200" b="1">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3120"/>
              </a:lnSpc>
            </a:pPr>
            <a:r>
              <a:rPr lang="en-US" sz="2600" b="1">
                <a:solidFill>
                  <a:srgbClr val="14213D"/>
                </a:solidFill>
                <a:latin typeface="Times New Roman" panose="02020603050405020304"/>
                <a:ea typeface="Times New Roman" panose="02020603050405020304"/>
                <a:cs typeface="Times New Roman" panose="02020603050405020304"/>
                <a:sym typeface="Times New Roman" panose="02020603050405020304"/>
              </a:rPr>
              <a:t>Đối thủ giật</a:t>
            </a:r>
            <a:endParaRPr lang="en-US" sz="2600" b="1">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AutoShape 29"/>
          <p:cNvSpPr/>
          <p:nvPr/>
        </p:nvSpPr>
        <p:spPr>
          <a:xfrm rot="315240">
            <a:off x="10602087" y="3556635"/>
            <a:ext cx="485404" cy="0"/>
          </a:xfrm>
          <a:prstGeom prst="line">
            <a:avLst/>
          </a:prstGeom>
          <a:ln w="19050" cap="rnd">
            <a:solidFill>
              <a:srgbClr val="00897B"/>
            </a:solidFill>
            <a:prstDash val="solid"/>
            <a:headEnd type="none" w="sm" len="sm"/>
            <a:tailEnd type="triangle" w="lg" len="med"/>
          </a:ln>
        </p:spPr>
      </p:sp>
      <p:sp>
        <p:nvSpPr>
          <p:cNvPr id="30" name="AutoShape 30"/>
          <p:cNvSpPr/>
          <p:nvPr/>
        </p:nvSpPr>
        <p:spPr>
          <a:xfrm rot="5341320">
            <a:off x="10286533" y="4329494"/>
            <a:ext cx="1116492" cy="0"/>
          </a:xfrm>
          <a:prstGeom prst="line">
            <a:avLst/>
          </a:prstGeom>
          <a:ln w="9525" cap="rnd">
            <a:solidFill>
              <a:srgbClr val="5B6B82"/>
            </a:solidFill>
            <a:prstDash val="solid"/>
            <a:headEnd type="none" w="sm" len="sm"/>
            <a:tailEnd type="none" w="sm" len="sm"/>
          </a:ln>
        </p:spPr>
      </p:sp>
      <p:sp>
        <p:nvSpPr>
          <p:cNvPr id="31" name="TextBox 31"/>
          <p:cNvSpPr txBox="1"/>
          <p:nvPr/>
        </p:nvSpPr>
        <p:spPr>
          <a:xfrm>
            <a:off x="9381744" y="4890135"/>
            <a:ext cx="2926080" cy="962025"/>
          </a:xfrm>
          <a:prstGeom prst="rect">
            <a:avLst/>
          </a:prstGeom>
        </p:spPr>
        <p:txBody>
          <a:bodyPr lIns="0" tIns="0" rIns="0" bIns="0" rtlCol="0" anchor="t">
            <a:spAutoFit/>
          </a:bodyPr>
          <a:lstStyle/>
          <a:p>
            <a:pPr algn="ctr">
              <a:lnSpc>
                <a:spcPts val="2640"/>
              </a:lnSpc>
            </a:pPr>
            <a:r>
              <a:rPr lang="en-US" sz="2200" i="1">
                <a:solidFill>
                  <a:srgbClr val="5B6B82"/>
                </a:solidFill>
                <a:latin typeface="Times New Roman" panose="02020603050405020304"/>
                <a:ea typeface="Times New Roman" panose="02020603050405020304"/>
                <a:cs typeface="Times New Roman" panose="02020603050405020304"/>
                <a:sym typeface="Times New Roman" panose="02020603050405020304"/>
              </a:rPr>
              <a:t>đối thủ ở quá khứ</a:t>
            </a:r>
            <a:endParaRPr lang="en-US" sz="2200" i="1">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32" name="Group 32"/>
          <p:cNvGrpSpPr/>
          <p:nvPr/>
        </p:nvGrpSpPr>
        <p:grpSpPr>
          <a:xfrm rot="0">
            <a:off x="11106407" y="2547623"/>
            <a:ext cx="2878331" cy="2037083"/>
            <a:chOff x="0" y="0"/>
            <a:chExt cx="3837775" cy="2716111"/>
          </a:xfrm>
        </p:grpSpPr>
        <p:sp>
          <p:nvSpPr>
            <p:cNvPr id="33" name="Freeform 33"/>
            <p:cNvSpPr/>
            <p:nvPr/>
          </p:nvSpPr>
          <p:spPr>
            <a:xfrm>
              <a:off x="0" y="0"/>
              <a:ext cx="3837686" cy="2716022"/>
            </a:xfrm>
            <a:custGeom>
              <a:avLst/>
              <a:gdLst/>
              <a:ahLst/>
              <a:cxnLst/>
              <a:rect l="l" t="t" r="r" b="b"/>
              <a:pathLst>
                <a:path w="3837686" h="2716022">
                  <a:moveTo>
                    <a:pt x="0" y="246888"/>
                  </a:moveTo>
                  <a:cubicBezTo>
                    <a:pt x="0" y="110490"/>
                    <a:pt x="110490" y="0"/>
                    <a:pt x="246888" y="0"/>
                  </a:cubicBezTo>
                  <a:lnTo>
                    <a:pt x="3590798" y="0"/>
                  </a:lnTo>
                  <a:cubicBezTo>
                    <a:pt x="3727196" y="0"/>
                    <a:pt x="3837686" y="110490"/>
                    <a:pt x="3837686" y="246888"/>
                  </a:cubicBezTo>
                  <a:lnTo>
                    <a:pt x="3837686" y="2469134"/>
                  </a:lnTo>
                  <a:cubicBezTo>
                    <a:pt x="3837686" y="2605532"/>
                    <a:pt x="3727196" y="2716022"/>
                    <a:pt x="3590798" y="2716022"/>
                  </a:cubicBezTo>
                  <a:lnTo>
                    <a:pt x="246888" y="2716022"/>
                  </a:lnTo>
                  <a:cubicBezTo>
                    <a:pt x="110490" y="2716149"/>
                    <a:pt x="0" y="2605532"/>
                    <a:pt x="0" y="2469134"/>
                  </a:cubicBezTo>
                  <a:close/>
                </a:path>
              </a:pathLst>
            </a:custGeom>
            <a:solidFill>
              <a:srgbClr val="EEF3F8"/>
            </a:solidFill>
            <a:ln w="25400" cap="sq">
              <a:solidFill>
                <a:srgbClr val="00897B"/>
              </a:solidFill>
              <a:prstDash val="solid"/>
              <a:miter/>
            </a:ln>
          </p:spPr>
        </p:sp>
      </p:grpSp>
      <p:sp>
        <p:nvSpPr>
          <p:cNvPr id="34" name="TextBox 34"/>
          <p:cNvSpPr txBox="1"/>
          <p:nvPr/>
        </p:nvSpPr>
        <p:spPr>
          <a:xfrm>
            <a:off x="11301984" y="2695575"/>
            <a:ext cx="2487168" cy="1693545"/>
          </a:xfrm>
          <a:prstGeom prst="rect">
            <a:avLst/>
          </a:prstGeom>
        </p:spPr>
        <p:txBody>
          <a:bodyPr lIns="0" tIns="0" rIns="0" bIns="0" rtlCol="0" anchor="t">
            <a:spAutoFit/>
          </a:bodyPr>
          <a:lstStyle/>
          <a:p>
            <a:pPr algn="l">
              <a:lnSpc>
                <a:spcPts val="2640"/>
              </a:lnSpc>
            </a:pPr>
            <a:r>
              <a:rPr lang="en-US" sz="2200" b="1">
                <a:solidFill>
                  <a:srgbClr val="00897B"/>
                </a:solidFill>
                <a:latin typeface="Times New Roman" panose="02020603050405020304"/>
                <a:ea typeface="Times New Roman" panose="02020603050405020304"/>
                <a:cs typeface="Times New Roman" panose="02020603050405020304"/>
                <a:sym typeface="Times New Roman" panose="02020603050405020304"/>
              </a:rPr>
              <a:t>VĐ4</a:t>
            </a:r>
            <a:endParaRPr lang="en-US" sz="2200" b="1">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3120"/>
              </a:lnSpc>
            </a:pPr>
            <a:r>
              <a:rPr lang="en-US" sz="2600" b="1">
                <a:solidFill>
                  <a:srgbClr val="14213D"/>
                </a:solidFill>
                <a:latin typeface="Times New Roman" panose="02020603050405020304"/>
                <a:ea typeface="Times New Roman" panose="02020603050405020304"/>
                <a:cs typeface="Times New Roman" panose="02020603050405020304"/>
                <a:sym typeface="Times New Roman" panose="02020603050405020304"/>
              </a:rPr>
              <a:t>Tương tác không công bằng</a:t>
            </a:r>
            <a:endParaRPr lang="en-US" sz="2600" b="1">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5" name="AutoShape 35"/>
          <p:cNvSpPr/>
          <p:nvPr/>
        </p:nvSpPr>
        <p:spPr>
          <a:xfrm rot="315240">
            <a:off x="14003655" y="3556635"/>
            <a:ext cx="485404" cy="0"/>
          </a:xfrm>
          <a:prstGeom prst="line">
            <a:avLst/>
          </a:prstGeom>
          <a:ln w="19050" cap="rnd">
            <a:solidFill>
              <a:srgbClr val="00897B"/>
            </a:solidFill>
            <a:prstDash val="solid"/>
            <a:headEnd type="none" w="sm" len="sm"/>
            <a:tailEnd type="triangle" w="lg" len="med"/>
          </a:ln>
        </p:spPr>
      </p:sp>
      <p:sp>
        <p:nvSpPr>
          <p:cNvPr id="36" name="AutoShape 36"/>
          <p:cNvSpPr/>
          <p:nvPr/>
        </p:nvSpPr>
        <p:spPr>
          <a:xfrm rot="5341320">
            <a:off x="13688101" y="4329494"/>
            <a:ext cx="1116492" cy="0"/>
          </a:xfrm>
          <a:prstGeom prst="line">
            <a:avLst/>
          </a:prstGeom>
          <a:ln w="9525" cap="rnd">
            <a:solidFill>
              <a:srgbClr val="5B6B82"/>
            </a:solidFill>
            <a:prstDash val="solid"/>
            <a:headEnd type="none" w="sm" len="sm"/>
            <a:tailEnd type="none" w="sm" len="sm"/>
          </a:ln>
        </p:spPr>
      </p:sp>
      <p:sp>
        <p:nvSpPr>
          <p:cNvPr id="37" name="TextBox 37"/>
          <p:cNvSpPr txBox="1"/>
          <p:nvPr/>
        </p:nvSpPr>
        <p:spPr>
          <a:xfrm>
            <a:off x="12783312" y="4890135"/>
            <a:ext cx="2926080" cy="962025"/>
          </a:xfrm>
          <a:prstGeom prst="rect">
            <a:avLst/>
          </a:prstGeom>
        </p:spPr>
        <p:txBody>
          <a:bodyPr lIns="0" tIns="0" rIns="0" bIns="0" rtlCol="0" anchor="t">
            <a:spAutoFit/>
          </a:bodyPr>
          <a:lstStyle/>
          <a:p>
            <a:pPr algn="ctr">
              <a:lnSpc>
                <a:spcPts val="2640"/>
              </a:lnSpc>
            </a:pPr>
            <a:r>
              <a:rPr lang="en-US" sz="2200" i="1">
                <a:solidFill>
                  <a:srgbClr val="5B6B82"/>
                </a:solidFill>
                <a:latin typeface="Times New Roman" panose="02020603050405020304"/>
                <a:ea typeface="Times New Roman" panose="02020603050405020304"/>
                <a:cs typeface="Times New Roman" panose="02020603050405020304"/>
                <a:sym typeface="Times New Roman" panose="02020603050405020304"/>
              </a:rPr>
              <a:t>server có thể quyết khác</a:t>
            </a:r>
            <a:endParaRPr lang="en-US" sz="2200" i="1">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38" name="Group 38"/>
          <p:cNvGrpSpPr/>
          <p:nvPr/>
        </p:nvGrpSpPr>
        <p:grpSpPr>
          <a:xfrm rot="0">
            <a:off x="14507975" y="2547623"/>
            <a:ext cx="2878331" cy="2037083"/>
            <a:chOff x="0" y="0"/>
            <a:chExt cx="3837775" cy="2716111"/>
          </a:xfrm>
        </p:grpSpPr>
        <p:sp>
          <p:nvSpPr>
            <p:cNvPr id="39" name="Freeform 39"/>
            <p:cNvSpPr/>
            <p:nvPr/>
          </p:nvSpPr>
          <p:spPr>
            <a:xfrm>
              <a:off x="0" y="0"/>
              <a:ext cx="3837686" cy="2716022"/>
            </a:xfrm>
            <a:custGeom>
              <a:avLst/>
              <a:gdLst/>
              <a:ahLst/>
              <a:cxnLst/>
              <a:rect l="l" t="t" r="r" b="b"/>
              <a:pathLst>
                <a:path w="3837686" h="2716022">
                  <a:moveTo>
                    <a:pt x="0" y="246888"/>
                  </a:moveTo>
                  <a:cubicBezTo>
                    <a:pt x="0" y="110490"/>
                    <a:pt x="110490" y="0"/>
                    <a:pt x="246888" y="0"/>
                  </a:cubicBezTo>
                  <a:lnTo>
                    <a:pt x="3590798" y="0"/>
                  </a:lnTo>
                  <a:cubicBezTo>
                    <a:pt x="3727196" y="0"/>
                    <a:pt x="3837686" y="110490"/>
                    <a:pt x="3837686" y="246888"/>
                  </a:cubicBezTo>
                  <a:lnTo>
                    <a:pt x="3837686" y="2469134"/>
                  </a:lnTo>
                  <a:cubicBezTo>
                    <a:pt x="3837686" y="2605532"/>
                    <a:pt x="3727196" y="2716022"/>
                    <a:pt x="3590798" y="2716022"/>
                  </a:cubicBezTo>
                  <a:lnTo>
                    <a:pt x="246888" y="2716022"/>
                  </a:lnTo>
                  <a:cubicBezTo>
                    <a:pt x="110490" y="2716149"/>
                    <a:pt x="0" y="2605532"/>
                    <a:pt x="0" y="2469134"/>
                  </a:cubicBezTo>
                  <a:close/>
                </a:path>
              </a:pathLst>
            </a:custGeom>
            <a:solidFill>
              <a:srgbClr val="EEF3F8"/>
            </a:solidFill>
            <a:ln w="25400" cap="sq">
              <a:solidFill>
                <a:srgbClr val="00897B"/>
              </a:solidFill>
              <a:prstDash val="solid"/>
              <a:miter/>
            </a:ln>
          </p:spPr>
        </p:sp>
      </p:grpSp>
      <p:sp>
        <p:nvSpPr>
          <p:cNvPr id="40" name="TextBox 40"/>
          <p:cNvSpPr txBox="1"/>
          <p:nvPr/>
        </p:nvSpPr>
        <p:spPr>
          <a:xfrm>
            <a:off x="14703552" y="2695575"/>
            <a:ext cx="2487168" cy="1693545"/>
          </a:xfrm>
          <a:prstGeom prst="rect">
            <a:avLst/>
          </a:prstGeom>
        </p:spPr>
        <p:txBody>
          <a:bodyPr lIns="0" tIns="0" rIns="0" bIns="0" rtlCol="0" anchor="t">
            <a:spAutoFit/>
          </a:bodyPr>
          <a:lstStyle/>
          <a:p>
            <a:pPr algn="l">
              <a:lnSpc>
                <a:spcPts val="2640"/>
              </a:lnSpc>
            </a:pPr>
            <a:r>
              <a:rPr lang="en-US" sz="2200" b="1">
                <a:solidFill>
                  <a:srgbClr val="00897B"/>
                </a:solidFill>
                <a:latin typeface="Times New Roman" panose="02020603050405020304"/>
                <a:ea typeface="Times New Roman" panose="02020603050405020304"/>
                <a:cs typeface="Times New Roman" panose="02020603050405020304"/>
                <a:sym typeface="Times New Roman" panose="02020603050405020304"/>
              </a:rPr>
              <a:t>VĐ5</a:t>
            </a:r>
            <a:endParaRPr lang="en-US" sz="2200" b="1">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3120"/>
              </a:lnSpc>
            </a:pPr>
            <a:r>
              <a:rPr lang="en-US" sz="2600" b="1">
                <a:solidFill>
                  <a:srgbClr val="14213D"/>
                </a:solidFill>
                <a:latin typeface="Times New Roman" panose="02020603050405020304"/>
                <a:ea typeface="Times New Roman" panose="02020603050405020304"/>
                <a:cs typeface="Times New Roman" panose="02020603050405020304"/>
                <a:sym typeface="Times New Roman" panose="02020603050405020304"/>
              </a:rPr>
              <a:t>Dự đoán hành động bị sai</a:t>
            </a:r>
            <a:endParaRPr lang="en-US" sz="2600" b="1">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1" name="TextBox 41"/>
          <p:cNvSpPr txBox="1"/>
          <p:nvPr/>
        </p:nvSpPr>
        <p:spPr>
          <a:xfrm>
            <a:off x="914400" y="6151245"/>
            <a:ext cx="16459200" cy="485835"/>
          </a:xfrm>
          <a:prstGeom prst="rect">
            <a:avLst/>
          </a:prstGeom>
        </p:spPr>
        <p:txBody>
          <a:bodyPr lIns="0" tIns="0" rIns="0" bIns="0" rtlCol="0" anchor="t">
            <a:spAutoFit/>
          </a:bodyPr>
          <a:lstStyle/>
          <a:p>
            <a:pPr marL="675640" lvl="1" indent="-337820" algn="l">
              <a:lnSpc>
                <a:spcPts val="3360"/>
              </a:lnSpc>
              <a:buFont typeface="Times New Roman" panose="02020603050405020304"/>
              <a:buChar char="•"/>
            </a:pP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Giải pháp của vấn đề trước </a:t>
            </a:r>
            <a:r>
              <a:rPr lang="en-US" sz="2800" b="1">
                <a:solidFill>
                  <a:srgbClr val="14213D"/>
                </a:solidFill>
                <a:latin typeface="Times New Roman" panose="02020603050405020304"/>
                <a:ea typeface="Times New Roman" panose="02020603050405020304"/>
                <a:cs typeface="Times New Roman" panose="02020603050405020304"/>
                <a:sym typeface="Times New Roman" panose="02020603050405020304"/>
              </a:rPr>
              <a:t>làm lộ ra</a:t>
            </a:r>
            <a:r>
              <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rPr>
              <a:t> vấn đề sau</a:t>
            </a:r>
            <a:endParaRPr lang="en-US" sz="28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42" name="Group 42"/>
          <p:cNvGrpSpPr/>
          <p:nvPr/>
        </p:nvGrpSpPr>
        <p:grpSpPr>
          <a:xfrm rot="0">
            <a:off x="914400" y="7223760"/>
            <a:ext cx="7315200" cy="457200"/>
            <a:chOff x="0" y="0"/>
            <a:chExt cx="9753600" cy="609600"/>
          </a:xfrm>
        </p:grpSpPr>
        <p:sp>
          <p:nvSpPr>
            <p:cNvPr id="43" name="Freeform 43"/>
            <p:cNvSpPr/>
            <p:nvPr/>
          </p:nvSpPr>
          <p:spPr>
            <a:xfrm>
              <a:off x="0" y="0"/>
              <a:ext cx="9753600" cy="609600"/>
            </a:xfrm>
            <a:custGeom>
              <a:avLst/>
              <a:gdLst/>
              <a:ahLst/>
              <a:cxnLst/>
              <a:rect l="l" t="t" r="r" b="b"/>
              <a:pathLst>
                <a:path w="9753600" h="609600">
                  <a:moveTo>
                    <a:pt x="0" y="0"/>
                  </a:moveTo>
                  <a:lnTo>
                    <a:pt x="9753600" y="0"/>
                  </a:lnTo>
                  <a:lnTo>
                    <a:pt x="9753600" y="609600"/>
                  </a:lnTo>
                  <a:lnTo>
                    <a:pt x="0" y="609600"/>
                  </a:lnTo>
                  <a:close/>
                </a:path>
              </a:pathLst>
            </a:custGeom>
            <a:blipFill>
              <a:blip r:embed="rId1">
                <a:alphaModFix amt="0"/>
              </a:blip>
              <a:stretch>
                <a:fillRect t="-261760" b="-261760"/>
              </a:stretch>
            </a:blipFill>
          </p:spPr>
        </p:sp>
        <p:sp>
          <p:nvSpPr>
            <p:cNvPr id="44" name="TextBox 44"/>
            <p:cNvSpPr txBox="1"/>
            <p:nvPr/>
          </p:nvSpPr>
          <p:spPr>
            <a:xfrm>
              <a:off x="0" y="-38100"/>
              <a:ext cx="9753600" cy="647700"/>
            </a:xfrm>
            <a:prstGeom prst="rect">
              <a:avLst/>
            </a:prstGeom>
          </p:spPr>
          <p:txBody>
            <a:bodyPr lIns="0" tIns="0" rIns="0" bIns="0" rtlCol="0" anchor="ctr"/>
            <a:lstStyle/>
            <a:p>
              <a:pPr algn="l">
                <a:lnSpc>
                  <a:spcPts val="2400"/>
                </a:lnSpc>
              </a:pPr>
              <a:r>
                <a:rPr lang="en-US" sz="2000" b="1" spc="300">
                  <a:solidFill>
                    <a:srgbClr val="5B6B82"/>
                  </a:solidFill>
                  <a:latin typeface="Times New Roman" panose="02020603050405020304"/>
                  <a:ea typeface="Times New Roman" panose="02020603050405020304"/>
                  <a:cs typeface="Times New Roman" panose="02020603050405020304"/>
                  <a:sym typeface="Times New Roman" panose="02020603050405020304"/>
                </a:rPr>
                <a:t>TIÊU CHÍ CHỌN GIẢI PHÁP</a:t>
              </a:r>
              <a:endParaRPr lang="en-US" sz="2000" b="1" spc="3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45" name="Group 45"/>
          <p:cNvGrpSpPr/>
          <p:nvPr/>
        </p:nvGrpSpPr>
        <p:grpSpPr>
          <a:xfrm rot="0">
            <a:off x="904875" y="7817739"/>
            <a:ext cx="3219450" cy="750570"/>
            <a:chOff x="0" y="0"/>
            <a:chExt cx="4292600" cy="1000760"/>
          </a:xfrm>
        </p:grpSpPr>
        <p:sp>
          <p:nvSpPr>
            <p:cNvPr id="46" name="Freeform 46"/>
            <p:cNvSpPr/>
            <p:nvPr/>
          </p:nvSpPr>
          <p:spPr>
            <a:xfrm>
              <a:off x="0" y="0"/>
              <a:ext cx="4292600" cy="1000760"/>
            </a:xfrm>
            <a:custGeom>
              <a:avLst/>
              <a:gdLst/>
              <a:ahLst/>
              <a:cxnLst/>
              <a:rect l="l" t="t" r="r" b="b"/>
              <a:pathLst>
                <a:path w="4292600" h="1000760">
                  <a:moveTo>
                    <a:pt x="0" y="500380"/>
                  </a:moveTo>
                  <a:cubicBezTo>
                    <a:pt x="0" y="224028"/>
                    <a:pt x="224028" y="0"/>
                    <a:pt x="500380" y="0"/>
                  </a:cubicBezTo>
                  <a:lnTo>
                    <a:pt x="3792220" y="0"/>
                  </a:lnTo>
                  <a:cubicBezTo>
                    <a:pt x="4068572" y="0"/>
                    <a:pt x="4292600" y="224028"/>
                    <a:pt x="4292600" y="500380"/>
                  </a:cubicBezTo>
                  <a:cubicBezTo>
                    <a:pt x="4292600" y="776732"/>
                    <a:pt x="4068572" y="1000760"/>
                    <a:pt x="3792220" y="1000760"/>
                  </a:cubicBezTo>
                  <a:lnTo>
                    <a:pt x="500380" y="1000760"/>
                  </a:lnTo>
                  <a:cubicBezTo>
                    <a:pt x="224028" y="1000760"/>
                    <a:pt x="0" y="776732"/>
                    <a:pt x="0" y="500380"/>
                  </a:cubicBezTo>
                  <a:close/>
                </a:path>
              </a:pathLst>
            </a:custGeom>
            <a:solidFill>
              <a:srgbClr val="00897B"/>
            </a:solidFill>
            <a:ln w="19050" cap="sq">
              <a:solidFill>
                <a:srgbClr val="00897B"/>
              </a:solidFill>
              <a:prstDash val="solid"/>
              <a:miter/>
            </a:ln>
          </p:spPr>
        </p:sp>
      </p:grpSp>
      <p:grpSp>
        <p:nvGrpSpPr>
          <p:cNvPr id="47" name="Group 47"/>
          <p:cNvGrpSpPr/>
          <p:nvPr/>
        </p:nvGrpSpPr>
        <p:grpSpPr>
          <a:xfrm rot="0">
            <a:off x="914400" y="7827264"/>
            <a:ext cx="3200400" cy="731520"/>
            <a:chOff x="0" y="0"/>
            <a:chExt cx="4267200" cy="975360"/>
          </a:xfrm>
        </p:grpSpPr>
        <p:sp>
          <p:nvSpPr>
            <p:cNvPr id="48" name="Freeform 48"/>
            <p:cNvSpPr/>
            <p:nvPr/>
          </p:nvSpPr>
          <p:spPr>
            <a:xfrm>
              <a:off x="0" y="0"/>
              <a:ext cx="4267200" cy="975360"/>
            </a:xfrm>
            <a:custGeom>
              <a:avLst/>
              <a:gdLst/>
              <a:ahLst/>
              <a:cxnLst/>
              <a:rect l="l" t="t" r="r" b="b"/>
              <a:pathLst>
                <a:path w="4267200" h="975360">
                  <a:moveTo>
                    <a:pt x="0" y="0"/>
                  </a:moveTo>
                  <a:lnTo>
                    <a:pt x="4267200" y="0"/>
                  </a:lnTo>
                  <a:lnTo>
                    <a:pt x="4267200" y="975360"/>
                  </a:lnTo>
                  <a:lnTo>
                    <a:pt x="0" y="975360"/>
                  </a:lnTo>
                  <a:close/>
                </a:path>
              </a:pathLst>
            </a:custGeom>
            <a:blipFill>
              <a:blip r:embed="rId1">
                <a:alphaModFix amt="0"/>
              </a:blip>
              <a:stretch>
                <a:fillRect t="-35247" b="-35247"/>
              </a:stretch>
            </a:blipFill>
          </p:spPr>
        </p:sp>
        <p:sp>
          <p:nvSpPr>
            <p:cNvPr id="49" name="TextBox 49"/>
            <p:cNvSpPr txBox="1"/>
            <p:nvPr/>
          </p:nvSpPr>
          <p:spPr>
            <a:xfrm>
              <a:off x="0" y="-38100"/>
              <a:ext cx="4267200" cy="1013460"/>
            </a:xfrm>
            <a:prstGeom prst="rect">
              <a:avLst/>
            </a:prstGeom>
          </p:spPr>
          <p:txBody>
            <a:bodyPr lIns="0" tIns="0" rIns="0" bIns="0" rtlCol="0" anchor="ctr"/>
            <a:lstStyle/>
            <a:p>
              <a:pPr algn="ctr">
                <a:lnSpc>
                  <a:spcPts val="2880"/>
                </a:lnSpc>
              </a:pPr>
              <a:r>
                <a:rPr lang="en-US" sz="2400" b="1">
                  <a:solidFill>
                    <a:srgbClr val="FFFFFF"/>
                  </a:solidFill>
                  <a:latin typeface="Times New Roman" panose="02020603050405020304"/>
                  <a:ea typeface="Times New Roman" panose="02020603050405020304"/>
                  <a:cs typeface="Times New Roman" panose="02020603050405020304"/>
                  <a:sym typeface="Times New Roman" panose="02020603050405020304"/>
                </a:rPr>
                <a:t>Phản hồi · ưu tiên</a:t>
              </a:r>
              <a:endParaRPr lang="en-US" sz="24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50" name="Group 50"/>
          <p:cNvGrpSpPr/>
          <p:nvPr/>
        </p:nvGrpSpPr>
        <p:grpSpPr>
          <a:xfrm rot="0">
            <a:off x="4379595" y="7817739"/>
            <a:ext cx="3310890" cy="750570"/>
            <a:chOff x="0" y="0"/>
            <a:chExt cx="4414520" cy="1000760"/>
          </a:xfrm>
        </p:grpSpPr>
        <p:sp>
          <p:nvSpPr>
            <p:cNvPr id="51" name="Freeform 51"/>
            <p:cNvSpPr/>
            <p:nvPr/>
          </p:nvSpPr>
          <p:spPr>
            <a:xfrm>
              <a:off x="0" y="0"/>
              <a:ext cx="4414520" cy="1000760"/>
            </a:xfrm>
            <a:custGeom>
              <a:avLst/>
              <a:gdLst/>
              <a:ahLst/>
              <a:cxnLst/>
              <a:rect l="l" t="t" r="r" b="b"/>
              <a:pathLst>
                <a:path w="4414520" h="1000760">
                  <a:moveTo>
                    <a:pt x="0" y="500380"/>
                  </a:moveTo>
                  <a:cubicBezTo>
                    <a:pt x="0" y="224028"/>
                    <a:pt x="224028" y="0"/>
                    <a:pt x="500380" y="0"/>
                  </a:cubicBezTo>
                  <a:lnTo>
                    <a:pt x="3914140" y="0"/>
                  </a:lnTo>
                  <a:cubicBezTo>
                    <a:pt x="4190492" y="0"/>
                    <a:pt x="4414520" y="224028"/>
                    <a:pt x="4414520" y="500380"/>
                  </a:cubicBezTo>
                  <a:cubicBezTo>
                    <a:pt x="4414520" y="776732"/>
                    <a:pt x="4190492" y="1000760"/>
                    <a:pt x="3914140" y="1000760"/>
                  </a:cubicBezTo>
                  <a:lnTo>
                    <a:pt x="500380" y="1000760"/>
                  </a:lnTo>
                  <a:cubicBezTo>
                    <a:pt x="224028" y="1000760"/>
                    <a:pt x="0" y="776732"/>
                    <a:pt x="0" y="500380"/>
                  </a:cubicBezTo>
                  <a:close/>
                </a:path>
              </a:pathLst>
            </a:custGeom>
            <a:solidFill>
              <a:srgbClr val="00897B"/>
            </a:solidFill>
            <a:ln w="19050" cap="sq">
              <a:solidFill>
                <a:srgbClr val="00897B"/>
              </a:solidFill>
              <a:prstDash val="solid"/>
              <a:miter/>
            </a:ln>
          </p:spPr>
        </p:sp>
      </p:grpSp>
      <p:grpSp>
        <p:nvGrpSpPr>
          <p:cNvPr id="52" name="Group 52"/>
          <p:cNvGrpSpPr/>
          <p:nvPr/>
        </p:nvGrpSpPr>
        <p:grpSpPr>
          <a:xfrm rot="0">
            <a:off x="4389120" y="7827264"/>
            <a:ext cx="3291840" cy="731520"/>
            <a:chOff x="0" y="0"/>
            <a:chExt cx="4389120" cy="975360"/>
          </a:xfrm>
        </p:grpSpPr>
        <p:sp>
          <p:nvSpPr>
            <p:cNvPr id="53" name="Freeform 53"/>
            <p:cNvSpPr/>
            <p:nvPr/>
          </p:nvSpPr>
          <p:spPr>
            <a:xfrm>
              <a:off x="0" y="0"/>
              <a:ext cx="4389120" cy="975360"/>
            </a:xfrm>
            <a:custGeom>
              <a:avLst/>
              <a:gdLst/>
              <a:ahLst/>
              <a:cxnLst/>
              <a:rect l="l" t="t" r="r" b="b"/>
              <a:pathLst>
                <a:path w="4389120" h="975360">
                  <a:moveTo>
                    <a:pt x="0" y="0"/>
                  </a:moveTo>
                  <a:lnTo>
                    <a:pt x="4389120" y="0"/>
                  </a:lnTo>
                  <a:lnTo>
                    <a:pt x="4389120" y="975360"/>
                  </a:lnTo>
                  <a:lnTo>
                    <a:pt x="0" y="975360"/>
                  </a:lnTo>
                  <a:close/>
                </a:path>
              </a:pathLst>
            </a:custGeom>
            <a:blipFill>
              <a:blip r:embed="rId1">
                <a:alphaModFix amt="0"/>
              </a:blip>
              <a:stretch>
                <a:fillRect t="-37682" b="-37682"/>
              </a:stretch>
            </a:blipFill>
          </p:spPr>
        </p:sp>
        <p:sp>
          <p:nvSpPr>
            <p:cNvPr id="54" name="TextBox 54"/>
            <p:cNvSpPr txBox="1"/>
            <p:nvPr/>
          </p:nvSpPr>
          <p:spPr>
            <a:xfrm>
              <a:off x="0" y="-38100"/>
              <a:ext cx="4389120" cy="1013460"/>
            </a:xfrm>
            <a:prstGeom prst="rect">
              <a:avLst/>
            </a:prstGeom>
          </p:spPr>
          <p:txBody>
            <a:bodyPr lIns="0" tIns="0" rIns="0" bIns="0" rtlCol="0" anchor="ctr"/>
            <a:lstStyle/>
            <a:p>
              <a:pPr algn="ctr">
                <a:lnSpc>
                  <a:spcPts val="2880"/>
                </a:lnSpc>
              </a:pPr>
              <a:r>
                <a:rPr lang="en-US" sz="2400" b="1">
                  <a:solidFill>
                    <a:srgbClr val="FFFFFF"/>
                  </a:solidFill>
                  <a:latin typeface="Times New Roman" panose="02020603050405020304"/>
                  <a:ea typeface="Times New Roman" panose="02020603050405020304"/>
                  <a:cs typeface="Times New Roman" panose="02020603050405020304"/>
                  <a:sym typeface="Times New Roman" panose="02020603050405020304"/>
                </a:rPr>
                <a:t>Nhất quán · ưu tiên</a:t>
              </a:r>
              <a:endParaRPr lang="en-US" sz="24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55" name="Group 55"/>
          <p:cNvGrpSpPr/>
          <p:nvPr/>
        </p:nvGrpSpPr>
        <p:grpSpPr>
          <a:xfrm rot="0">
            <a:off x="7945755" y="7817739"/>
            <a:ext cx="2670810" cy="750570"/>
            <a:chOff x="0" y="0"/>
            <a:chExt cx="3561080" cy="1000760"/>
          </a:xfrm>
        </p:grpSpPr>
        <p:sp>
          <p:nvSpPr>
            <p:cNvPr id="56" name="Freeform 56"/>
            <p:cNvSpPr/>
            <p:nvPr/>
          </p:nvSpPr>
          <p:spPr>
            <a:xfrm>
              <a:off x="0" y="0"/>
              <a:ext cx="3561080" cy="1000760"/>
            </a:xfrm>
            <a:custGeom>
              <a:avLst/>
              <a:gdLst/>
              <a:ahLst/>
              <a:cxnLst/>
              <a:rect l="l" t="t" r="r" b="b"/>
              <a:pathLst>
                <a:path w="3561080" h="1000760">
                  <a:moveTo>
                    <a:pt x="0" y="500380"/>
                  </a:moveTo>
                  <a:cubicBezTo>
                    <a:pt x="0" y="224028"/>
                    <a:pt x="224028" y="0"/>
                    <a:pt x="500380" y="0"/>
                  </a:cubicBezTo>
                  <a:lnTo>
                    <a:pt x="3060700" y="0"/>
                  </a:lnTo>
                  <a:cubicBezTo>
                    <a:pt x="3337052" y="0"/>
                    <a:pt x="3561080" y="224028"/>
                    <a:pt x="3561080" y="500380"/>
                  </a:cubicBezTo>
                  <a:cubicBezTo>
                    <a:pt x="3561080" y="776732"/>
                    <a:pt x="3337052" y="1000760"/>
                    <a:pt x="3060700" y="1000760"/>
                  </a:cubicBezTo>
                  <a:lnTo>
                    <a:pt x="500380" y="1000760"/>
                  </a:lnTo>
                  <a:cubicBezTo>
                    <a:pt x="224028" y="1000760"/>
                    <a:pt x="0" y="776732"/>
                    <a:pt x="0" y="500380"/>
                  </a:cubicBezTo>
                  <a:close/>
                </a:path>
              </a:pathLst>
            </a:custGeom>
            <a:solidFill>
              <a:srgbClr val="EEF3F8"/>
            </a:solidFill>
            <a:ln w="19050" cap="sq">
              <a:solidFill>
                <a:srgbClr val="5B6B82"/>
              </a:solidFill>
              <a:prstDash val="solid"/>
              <a:miter/>
            </a:ln>
          </p:spPr>
        </p:sp>
      </p:grpSp>
      <p:grpSp>
        <p:nvGrpSpPr>
          <p:cNvPr id="57" name="Group 57"/>
          <p:cNvGrpSpPr/>
          <p:nvPr/>
        </p:nvGrpSpPr>
        <p:grpSpPr>
          <a:xfrm rot="0">
            <a:off x="7955280" y="7827264"/>
            <a:ext cx="2651760" cy="731520"/>
            <a:chOff x="0" y="0"/>
            <a:chExt cx="3535680" cy="975360"/>
          </a:xfrm>
        </p:grpSpPr>
        <p:sp>
          <p:nvSpPr>
            <p:cNvPr id="58" name="Freeform 58"/>
            <p:cNvSpPr/>
            <p:nvPr/>
          </p:nvSpPr>
          <p:spPr>
            <a:xfrm>
              <a:off x="0" y="0"/>
              <a:ext cx="3535680" cy="975360"/>
            </a:xfrm>
            <a:custGeom>
              <a:avLst/>
              <a:gdLst/>
              <a:ahLst/>
              <a:cxnLst/>
              <a:rect l="l" t="t" r="r" b="b"/>
              <a:pathLst>
                <a:path w="3535680" h="975360">
                  <a:moveTo>
                    <a:pt x="0" y="0"/>
                  </a:moveTo>
                  <a:lnTo>
                    <a:pt x="3535680" y="0"/>
                  </a:lnTo>
                  <a:lnTo>
                    <a:pt x="3535680" y="975360"/>
                  </a:lnTo>
                  <a:lnTo>
                    <a:pt x="0" y="975360"/>
                  </a:lnTo>
                  <a:close/>
                </a:path>
              </a:pathLst>
            </a:custGeom>
            <a:blipFill>
              <a:blip r:embed="rId1">
                <a:alphaModFix amt="0"/>
              </a:blip>
              <a:stretch>
                <a:fillRect t="-20633" b="-20633"/>
              </a:stretch>
            </a:blipFill>
          </p:spPr>
        </p:sp>
        <p:sp>
          <p:nvSpPr>
            <p:cNvPr id="59" name="TextBox 59"/>
            <p:cNvSpPr txBox="1"/>
            <p:nvPr/>
          </p:nvSpPr>
          <p:spPr>
            <a:xfrm>
              <a:off x="0" y="-38100"/>
              <a:ext cx="3535680" cy="1013460"/>
            </a:xfrm>
            <a:prstGeom prst="rect">
              <a:avLst/>
            </a:prstGeom>
          </p:spPr>
          <p:txBody>
            <a:bodyPr lIns="0" tIns="0" rIns="0" bIns="0" rtlCol="0" anchor="ctr"/>
            <a:lstStyle/>
            <a:p>
              <a:pPr algn="ctr">
                <a:lnSpc>
                  <a:spcPts val="2880"/>
                </a:lnSpc>
              </a:pPr>
              <a:r>
                <a:rPr lang="en-US" sz="2400">
                  <a:solidFill>
                    <a:srgbClr val="14213D"/>
                  </a:solidFill>
                  <a:latin typeface="Times New Roman" panose="02020603050405020304"/>
                  <a:ea typeface="Times New Roman" panose="02020603050405020304"/>
                  <a:cs typeface="Times New Roman" panose="02020603050405020304"/>
                  <a:sym typeface="Times New Roman" panose="02020603050405020304"/>
                </a:rPr>
                <a:t>Chịu mạng xấu</a:t>
              </a:r>
              <a:endParaRPr lang="en-US" sz="24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60" name="Group 60"/>
          <p:cNvGrpSpPr/>
          <p:nvPr/>
        </p:nvGrpSpPr>
        <p:grpSpPr>
          <a:xfrm rot="0">
            <a:off x="10871835" y="7817739"/>
            <a:ext cx="2396490" cy="750570"/>
            <a:chOff x="0" y="0"/>
            <a:chExt cx="3195320" cy="1000760"/>
          </a:xfrm>
        </p:grpSpPr>
        <p:sp>
          <p:nvSpPr>
            <p:cNvPr id="61" name="Freeform 61"/>
            <p:cNvSpPr/>
            <p:nvPr/>
          </p:nvSpPr>
          <p:spPr>
            <a:xfrm>
              <a:off x="0" y="0"/>
              <a:ext cx="3195320" cy="1000760"/>
            </a:xfrm>
            <a:custGeom>
              <a:avLst/>
              <a:gdLst/>
              <a:ahLst/>
              <a:cxnLst/>
              <a:rect l="l" t="t" r="r" b="b"/>
              <a:pathLst>
                <a:path w="3195320" h="1000760">
                  <a:moveTo>
                    <a:pt x="0" y="500380"/>
                  </a:moveTo>
                  <a:cubicBezTo>
                    <a:pt x="0" y="224028"/>
                    <a:pt x="224028" y="0"/>
                    <a:pt x="500380" y="0"/>
                  </a:cubicBezTo>
                  <a:lnTo>
                    <a:pt x="2694940" y="0"/>
                  </a:lnTo>
                  <a:cubicBezTo>
                    <a:pt x="2971292" y="0"/>
                    <a:pt x="3195320" y="224028"/>
                    <a:pt x="3195320" y="500380"/>
                  </a:cubicBezTo>
                  <a:cubicBezTo>
                    <a:pt x="3195320" y="776732"/>
                    <a:pt x="2971292" y="1000760"/>
                    <a:pt x="2694940" y="1000760"/>
                  </a:cubicBezTo>
                  <a:lnTo>
                    <a:pt x="500380" y="1000760"/>
                  </a:lnTo>
                  <a:cubicBezTo>
                    <a:pt x="224028" y="1000760"/>
                    <a:pt x="0" y="776732"/>
                    <a:pt x="0" y="500380"/>
                  </a:cubicBezTo>
                  <a:close/>
                </a:path>
              </a:pathLst>
            </a:custGeom>
            <a:solidFill>
              <a:srgbClr val="EEF3F8"/>
            </a:solidFill>
            <a:ln w="19050" cap="sq">
              <a:solidFill>
                <a:srgbClr val="5B6B82"/>
              </a:solidFill>
              <a:prstDash val="solid"/>
              <a:miter/>
            </a:ln>
          </p:spPr>
        </p:sp>
      </p:grpSp>
      <p:grpSp>
        <p:nvGrpSpPr>
          <p:cNvPr id="62" name="Group 62"/>
          <p:cNvGrpSpPr/>
          <p:nvPr/>
        </p:nvGrpSpPr>
        <p:grpSpPr>
          <a:xfrm rot="0">
            <a:off x="10881360" y="7827264"/>
            <a:ext cx="2377440" cy="731520"/>
            <a:chOff x="0" y="0"/>
            <a:chExt cx="3169920" cy="975360"/>
          </a:xfrm>
        </p:grpSpPr>
        <p:sp>
          <p:nvSpPr>
            <p:cNvPr id="63" name="Freeform 63"/>
            <p:cNvSpPr/>
            <p:nvPr/>
          </p:nvSpPr>
          <p:spPr>
            <a:xfrm>
              <a:off x="0" y="0"/>
              <a:ext cx="3169920" cy="975360"/>
            </a:xfrm>
            <a:custGeom>
              <a:avLst/>
              <a:gdLst/>
              <a:ahLst/>
              <a:cxnLst/>
              <a:rect l="l" t="t" r="r" b="b"/>
              <a:pathLst>
                <a:path w="3169920" h="975360">
                  <a:moveTo>
                    <a:pt x="0" y="0"/>
                  </a:moveTo>
                  <a:lnTo>
                    <a:pt x="3169920" y="0"/>
                  </a:lnTo>
                  <a:lnTo>
                    <a:pt x="3169920" y="975360"/>
                  </a:lnTo>
                  <a:lnTo>
                    <a:pt x="0" y="975360"/>
                  </a:lnTo>
                  <a:close/>
                </a:path>
              </a:pathLst>
            </a:custGeom>
            <a:blipFill>
              <a:blip r:embed="rId1">
                <a:alphaModFix amt="0"/>
              </a:blip>
              <a:stretch>
                <a:fillRect t="-13326" b="-13326"/>
              </a:stretch>
            </a:blipFill>
          </p:spPr>
        </p:sp>
        <p:sp>
          <p:nvSpPr>
            <p:cNvPr id="64" name="TextBox 64"/>
            <p:cNvSpPr txBox="1"/>
            <p:nvPr/>
          </p:nvSpPr>
          <p:spPr>
            <a:xfrm>
              <a:off x="0" y="-38100"/>
              <a:ext cx="3169920" cy="1013460"/>
            </a:xfrm>
            <a:prstGeom prst="rect">
              <a:avLst/>
            </a:prstGeom>
          </p:spPr>
          <p:txBody>
            <a:bodyPr lIns="0" tIns="0" rIns="0" bIns="0" rtlCol="0" anchor="ctr"/>
            <a:lstStyle/>
            <a:p>
              <a:pPr algn="ctr">
                <a:lnSpc>
                  <a:spcPts val="2880"/>
                </a:lnSpc>
              </a:pPr>
              <a:r>
                <a:rPr lang="en-US" sz="2400">
                  <a:solidFill>
                    <a:srgbClr val="14213D"/>
                  </a:solidFill>
                  <a:latin typeface="Times New Roman" panose="02020603050405020304"/>
                  <a:ea typeface="Times New Roman" panose="02020603050405020304"/>
                  <a:cs typeface="Times New Roman" panose="02020603050405020304"/>
                  <a:sym typeface="Times New Roman" panose="02020603050405020304"/>
                </a:rPr>
                <a:t>Độ phức tạp</a:t>
              </a:r>
              <a:endParaRPr lang="en-US" sz="24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65" name="Group 65"/>
          <p:cNvGrpSpPr/>
          <p:nvPr/>
        </p:nvGrpSpPr>
        <p:grpSpPr>
          <a:xfrm rot="0">
            <a:off x="13523595" y="7817739"/>
            <a:ext cx="3128010" cy="750570"/>
            <a:chOff x="0" y="0"/>
            <a:chExt cx="4170680" cy="1000760"/>
          </a:xfrm>
        </p:grpSpPr>
        <p:sp>
          <p:nvSpPr>
            <p:cNvPr id="66" name="Freeform 66"/>
            <p:cNvSpPr/>
            <p:nvPr/>
          </p:nvSpPr>
          <p:spPr>
            <a:xfrm>
              <a:off x="0" y="0"/>
              <a:ext cx="4170680" cy="1000760"/>
            </a:xfrm>
            <a:custGeom>
              <a:avLst/>
              <a:gdLst/>
              <a:ahLst/>
              <a:cxnLst/>
              <a:rect l="l" t="t" r="r" b="b"/>
              <a:pathLst>
                <a:path w="4170680" h="1000760">
                  <a:moveTo>
                    <a:pt x="0" y="500380"/>
                  </a:moveTo>
                  <a:cubicBezTo>
                    <a:pt x="0" y="224028"/>
                    <a:pt x="224028" y="0"/>
                    <a:pt x="500380" y="0"/>
                  </a:cubicBezTo>
                  <a:lnTo>
                    <a:pt x="3670300" y="0"/>
                  </a:lnTo>
                  <a:cubicBezTo>
                    <a:pt x="3946652" y="0"/>
                    <a:pt x="4170680" y="224028"/>
                    <a:pt x="4170680" y="500380"/>
                  </a:cubicBezTo>
                  <a:cubicBezTo>
                    <a:pt x="4170680" y="776732"/>
                    <a:pt x="3946652" y="1000760"/>
                    <a:pt x="3670300" y="1000760"/>
                  </a:cubicBezTo>
                  <a:lnTo>
                    <a:pt x="500380" y="1000760"/>
                  </a:lnTo>
                  <a:cubicBezTo>
                    <a:pt x="224028" y="1000760"/>
                    <a:pt x="0" y="776732"/>
                    <a:pt x="0" y="500380"/>
                  </a:cubicBezTo>
                  <a:close/>
                </a:path>
              </a:pathLst>
            </a:custGeom>
            <a:solidFill>
              <a:srgbClr val="EEF3F8"/>
            </a:solidFill>
            <a:ln w="19050" cap="sq">
              <a:solidFill>
                <a:srgbClr val="5B6B82"/>
              </a:solidFill>
              <a:prstDash val="solid"/>
              <a:miter/>
            </a:ln>
          </p:spPr>
        </p:sp>
      </p:grpSp>
      <p:grpSp>
        <p:nvGrpSpPr>
          <p:cNvPr id="67" name="Group 67"/>
          <p:cNvGrpSpPr/>
          <p:nvPr/>
        </p:nvGrpSpPr>
        <p:grpSpPr>
          <a:xfrm rot="0">
            <a:off x="13533120" y="7827264"/>
            <a:ext cx="3108960" cy="731520"/>
            <a:chOff x="0" y="0"/>
            <a:chExt cx="4145280" cy="975360"/>
          </a:xfrm>
        </p:grpSpPr>
        <p:sp>
          <p:nvSpPr>
            <p:cNvPr id="68" name="Freeform 68"/>
            <p:cNvSpPr/>
            <p:nvPr/>
          </p:nvSpPr>
          <p:spPr>
            <a:xfrm>
              <a:off x="0" y="0"/>
              <a:ext cx="4145280" cy="975360"/>
            </a:xfrm>
            <a:custGeom>
              <a:avLst/>
              <a:gdLst/>
              <a:ahLst/>
              <a:cxnLst/>
              <a:rect l="l" t="t" r="r" b="b"/>
              <a:pathLst>
                <a:path w="4145280" h="975360">
                  <a:moveTo>
                    <a:pt x="0" y="0"/>
                  </a:moveTo>
                  <a:lnTo>
                    <a:pt x="4145280" y="0"/>
                  </a:lnTo>
                  <a:lnTo>
                    <a:pt x="4145280" y="975360"/>
                  </a:lnTo>
                  <a:lnTo>
                    <a:pt x="0" y="975360"/>
                  </a:lnTo>
                  <a:close/>
                </a:path>
              </a:pathLst>
            </a:custGeom>
            <a:blipFill>
              <a:blip r:embed="rId1">
                <a:alphaModFix amt="0"/>
              </a:blip>
              <a:stretch>
                <a:fillRect t="-32811" b="-32811"/>
              </a:stretch>
            </a:blipFill>
          </p:spPr>
        </p:sp>
        <p:sp>
          <p:nvSpPr>
            <p:cNvPr id="69" name="TextBox 69"/>
            <p:cNvSpPr txBox="1"/>
            <p:nvPr/>
          </p:nvSpPr>
          <p:spPr>
            <a:xfrm>
              <a:off x="0" y="-38100"/>
              <a:ext cx="4145280" cy="1013460"/>
            </a:xfrm>
            <a:prstGeom prst="rect">
              <a:avLst/>
            </a:prstGeom>
          </p:spPr>
          <p:txBody>
            <a:bodyPr lIns="0" tIns="0" rIns="0" bIns="0" rtlCol="0" anchor="ctr"/>
            <a:lstStyle/>
            <a:p>
              <a:pPr algn="ctr">
                <a:lnSpc>
                  <a:spcPts val="2880"/>
                </a:lnSpc>
              </a:pPr>
              <a:r>
                <a:rPr lang="en-US" sz="2400">
                  <a:solidFill>
                    <a:srgbClr val="14213D"/>
                  </a:solidFill>
                  <a:latin typeface="Times New Roman" panose="02020603050405020304"/>
                  <a:ea typeface="Times New Roman" panose="02020603050405020304"/>
                  <a:cs typeface="Times New Roman" panose="02020603050405020304"/>
                  <a:sym typeface="Times New Roman" panose="02020603050405020304"/>
                </a:rPr>
                <a:t>Phù hợp loại game</a:t>
              </a:r>
              <a:endParaRPr lang="en-US" sz="2400">
                <a:solidFill>
                  <a:srgbClr val="14213D"/>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70" name="TextBox 70"/>
          <p:cNvSpPr txBox="1"/>
          <p:nvPr/>
        </p:nvSpPr>
        <p:spPr>
          <a:xfrm>
            <a:off x="16550640" y="9517380"/>
            <a:ext cx="731520" cy="495300"/>
          </a:xfrm>
          <a:prstGeom prst="rect">
            <a:avLst/>
          </a:prstGeom>
        </p:spPr>
        <p:txBody>
          <a:bodyPr lIns="0" tIns="0" rIns="0" bIns="0" rtlCol="0" anchor="t">
            <a:spAutoFit/>
          </a:bodyPr>
          <a:lstStyle/>
          <a:p>
            <a:pPr algn="r">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22</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0" name="Header band"/>
          <p:cNvSpPr/>
          <p:nvPr/>
        </p:nvSpPr>
        <p:spPr>
          <a:xfrm>
            <a:off x="0" y="0"/>
            <a:ext cx="18288000" cy="2103120"/>
          </a:xfrm>
          <a:prstGeom prst="rect">
            <a:avLst/>
          </a:prstGeom>
          <a:solidFill>
            <a:srgbClr val="14213D"/>
          </a:solidFill>
          <a:ln>
            <a:noFill/>
          </a:ln>
        </p:spPr>
      </p:sp>
      <p:sp>
        <p:nvSpPr>
          <p:cNvPr id="9011" name="Header rule"/>
          <p:cNvSpPr/>
          <p:nvPr/>
        </p:nvSpPr>
        <p:spPr>
          <a:xfrm>
            <a:off x="0" y="2103120"/>
            <a:ext cx="18288000" cy="64008"/>
          </a:xfrm>
          <a:prstGeom prst="rect">
            <a:avLst/>
          </a:prstGeom>
          <a:solidFill>
            <a:srgbClr val="00897B"/>
          </a:solidFill>
          <a:ln>
            <a:noFill/>
          </a:ln>
        </p:spPr>
      </p:sp>
      <p:grpSp>
        <p:nvGrpSpPr>
          <p:cNvPr id="2" name="Group 2"/>
          <p:cNvGrpSpPr/>
          <p:nvPr/>
        </p:nvGrpSpPr>
        <p:grpSpPr>
          <a:xfrm rot="0">
            <a:off x="914400" y="9509760"/>
            <a:ext cx="12801600" cy="548640"/>
            <a:chOff x="0" y="0"/>
            <a:chExt cx="17068800" cy="731520"/>
          </a:xfrm>
        </p:grpSpPr>
        <p:sp>
          <p:nvSpPr>
            <p:cNvPr id="3" name="Freeform 3"/>
            <p:cNvSpPr/>
            <p:nvPr/>
          </p:nvSpPr>
          <p:spPr>
            <a:xfrm>
              <a:off x="0" y="0"/>
              <a:ext cx="17068800" cy="731520"/>
            </a:xfrm>
            <a:custGeom>
              <a:avLst/>
              <a:gdLst/>
              <a:ahLst/>
              <a:cxnLst/>
              <a:rect l="l" t="t" r="r" b="b"/>
              <a:pathLst>
                <a:path w="17068800" h="731520">
                  <a:moveTo>
                    <a:pt x="0" y="0"/>
                  </a:moveTo>
                  <a:lnTo>
                    <a:pt x="17068800" y="0"/>
                  </a:lnTo>
                  <a:lnTo>
                    <a:pt x="17068800" y="731520"/>
                  </a:lnTo>
                  <a:lnTo>
                    <a:pt x="0" y="731520"/>
                  </a:lnTo>
                  <a:close/>
                </a:path>
              </a:pathLst>
            </a:custGeom>
            <a:blipFill>
              <a:blip r:embed="rId1">
                <a:alphaModFix amt="0"/>
              </a:blip>
              <a:stretch>
                <a:fillRect t="-404650" b="-404650"/>
              </a:stretch>
            </a:blipFill>
          </p:spPr>
        </p:sp>
        <p:sp>
          <p:nvSpPr>
            <p:cNvPr id="4" name="TextBox 4"/>
            <p:cNvSpPr txBox="1"/>
            <p:nvPr/>
          </p:nvSpPr>
          <p:spPr>
            <a:xfrm>
              <a:off x="0" y="-38100"/>
              <a:ext cx="17068800" cy="769620"/>
            </a:xfrm>
            <a:prstGeom prst="rect">
              <a:avLst/>
            </a:prstGeom>
          </p:spPr>
          <p:txBody>
            <a:bodyPr lIns="0" tIns="0" rIns="0" bIns="0" rtlCol="0" anchor="ctr"/>
            <a:lstStyle/>
            <a:p>
              <a:pPr algn="l">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T47 · Kỹ thuật mạng cho game thời gian thực · Lập trình mạng</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5" name="TextBox 5"/>
          <p:cNvSpPr txBox="1"/>
          <p:nvPr/>
        </p:nvSpPr>
        <p:spPr>
          <a:xfrm>
            <a:off x="914400" y="384048"/>
            <a:ext cx="13898880" cy="559689"/>
          </a:xfrm>
          <a:prstGeom prst="rect">
            <a:avLst/>
          </a:prstGeom>
        </p:spPr>
        <p:txBody>
          <a:bodyPr lIns="0" tIns="0" rIns="0" bIns="0" rtlCol="0" anchor="t">
            <a:spAutoFit/>
          </a:bodyPr>
          <a:lstStyle/>
          <a:p>
            <a:pPr algn="l">
              <a:lnSpc>
                <a:spcPts val="2640"/>
              </a:lnSpc>
            </a:pPr>
            <a:r>
              <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DỰ PHÒNG D1 · NGUỒN: MỤC 2.1</a:t>
            </a:r>
            <a:endPar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6" name="Group 6"/>
          <p:cNvGrpSpPr/>
          <p:nvPr/>
        </p:nvGrpSpPr>
        <p:grpSpPr>
          <a:xfrm rot="0">
            <a:off x="914400" y="768096"/>
            <a:ext cx="14081760" cy="1097280"/>
            <a:chOff x="0" y="0"/>
            <a:chExt cx="18775680" cy="1463040"/>
          </a:xfrm>
        </p:grpSpPr>
        <p:sp>
          <p:nvSpPr>
            <p:cNvPr id="7" name="Freeform 7"/>
            <p:cNvSpPr/>
            <p:nvPr/>
          </p:nvSpPr>
          <p:spPr>
            <a:xfrm>
              <a:off x="0" y="0"/>
              <a:ext cx="18775680" cy="1463040"/>
            </a:xfrm>
            <a:custGeom>
              <a:avLst/>
              <a:gdLst/>
              <a:ahLst/>
              <a:cxnLst/>
              <a:rect l="l" t="t" r="r" b="b"/>
              <a:pathLst>
                <a:path w="18775680" h="1463040">
                  <a:moveTo>
                    <a:pt x="0" y="0"/>
                  </a:moveTo>
                  <a:lnTo>
                    <a:pt x="18775680" y="0"/>
                  </a:lnTo>
                  <a:lnTo>
                    <a:pt x="18775680" y="1463040"/>
                  </a:lnTo>
                  <a:lnTo>
                    <a:pt x="0" y="1463040"/>
                  </a:lnTo>
                  <a:close/>
                </a:path>
              </a:pathLst>
            </a:custGeom>
            <a:blipFill>
              <a:blip r:embed="rId1">
                <a:alphaModFix amt="0"/>
              </a:blip>
              <a:stretch>
                <a:fillRect t="-200057" b="-200057"/>
              </a:stretch>
            </a:blipFill>
          </p:spPr>
        </p:sp>
        <p:sp>
          <p:nvSpPr>
            <p:cNvPr id="8" name="TextBox 8"/>
            <p:cNvSpPr txBox="1"/>
            <p:nvPr/>
          </p:nvSpPr>
          <p:spPr>
            <a:xfrm>
              <a:off x="0" y="-9525"/>
              <a:ext cx="18775680" cy="1472565"/>
            </a:xfrm>
            <a:prstGeom prst="rect">
              <a:avLst/>
            </a:prstGeom>
          </p:spPr>
          <p:txBody>
            <a:bodyPr lIns="0" tIns="0" rIns="0" bIns="0" rtlCol="0" anchor="ctr"/>
            <a:lstStyle/>
            <a:p>
              <a:pPr algn="l">
                <a:lnSpc>
                  <a:spcPts val="6900"/>
                </a:lnSpc>
              </a:pPr>
              <a:r>
                <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rPr>
                <a:t>Thành phần của độ trễ</a:t>
              </a:r>
              <a:endPar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9" name="Group 9"/>
          <p:cNvGrpSpPr/>
          <p:nvPr/>
        </p:nvGrpSpPr>
        <p:grpSpPr>
          <a:xfrm rot="0">
            <a:off x="15257783" y="682247"/>
            <a:ext cx="2128523" cy="647195"/>
            <a:chOff x="0" y="0"/>
            <a:chExt cx="2838031" cy="862927"/>
          </a:xfrm>
        </p:grpSpPr>
        <p:sp>
          <p:nvSpPr>
            <p:cNvPr id="10" name="Freeform 10"/>
            <p:cNvSpPr/>
            <p:nvPr/>
          </p:nvSpPr>
          <p:spPr>
            <a:xfrm>
              <a:off x="0" y="0"/>
              <a:ext cx="2837942" cy="862838"/>
            </a:xfrm>
            <a:custGeom>
              <a:avLst/>
              <a:gdLst/>
              <a:ahLst/>
              <a:cxnLst/>
              <a:rect l="l" t="t" r="r" b="b"/>
              <a:pathLst>
                <a:path w="2837942" h="862838">
                  <a:moveTo>
                    <a:pt x="0" y="431419"/>
                  </a:moveTo>
                  <a:cubicBezTo>
                    <a:pt x="0" y="193167"/>
                    <a:pt x="193167" y="0"/>
                    <a:pt x="431419" y="0"/>
                  </a:cubicBezTo>
                  <a:lnTo>
                    <a:pt x="2406523" y="0"/>
                  </a:lnTo>
                  <a:cubicBezTo>
                    <a:pt x="2644775" y="0"/>
                    <a:pt x="2837942" y="193167"/>
                    <a:pt x="2837942" y="431419"/>
                  </a:cubicBezTo>
                  <a:cubicBezTo>
                    <a:pt x="2837942" y="669671"/>
                    <a:pt x="2644775" y="862838"/>
                    <a:pt x="2406523" y="862838"/>
                  </a:cubicBezTo>
                  <a:lnTo>
                    <a:pt x="431419" y="862838"/>
                  </a:lnTo>
                  <a:cubicBezTo>
                    <a:pt x="193167" y="862965"/>
                    <a:pt x="0" y="669798"/>
                    <a:pt x="0" y="431419"/>
                  </a:cubicBezTo>
                  <a:close/>
                </a:path>
              </a:pathLst>
            </a:custGeom>
            <a:solidFill>
              <a:srgbClr val="5B6B82"/>
            </a:solidFill>
            <a:ln w="25400" cap="sq">
              <a:solidFill>
                <a:srgbClr val="5B6B82"/>
              </a:solidFill>
              <a:prstDash val="solid"/>
              <a:miter/>
            </a:ln>
          </p:spPr>
        </p:sp>
      </p:grpSp>
      <p:grpSp>
        <p:nvGrpSpPr>
          <p:cNvPr id="11" name="Group 11"/>
          <p:cNvGrpSpPr/>
          <p:nvPr/>
        </p:nvGrpSpPr>
        <p:grpSpPr>
          <a:xfrm rot="0">
            <a:off x="15270480" y="694944"/>
            <a:ext cx="2103120" cy="621792"/>
            <a:chOff x="0" y="0"/>
            <a:chExt cx="2804160" cy="829056"/>
          </a:xfrm>
        </p:grpSpPr>
        <p:sp>
          <p:nvSpPr>
            <p:cNvPr id="12" name="Freeform 12"/>
            <p:cNvSpPr/>
            <p:nvPr/>
          </p:nvSpPr>
          <p:spPr>
            <a:xfrm>
              <a:off x="0" y="0"/>
              <a:ext cx="2804160" cy="829056"/>
            </a:xfrm>
            <a:custGeom>
              <a:avLst/>
              <a:gdLst/>
              <a:ahLst/>
              <a:cxnLst/>
              <a:rect l="l" t="t" r="r" b="b"/>
              <a:pathLst>
                <a:path w="2804160" h="829056">
                  <a:moveTo>
                    <a:pt x="0" y="0"/>
                  </a:moveTo>
                  <a:lnTo>
                    <a:pt x="2804160" y="0"/>
                  </a:lnTo>
                  <a:lnTo>
                    <a:pt x="2804160" y="829056"/>
                  </a:lnTo>
                  <a:lnTo>
                    <a:pt x="0" y="829056"/>
                  </a:lnTo>
                  <a:close/>
                </a:path>
              </a:pathLst>
            </a:custGeom>
            <a:blipFill>
              <a:blip r:embed="rId1">
                <a:alphaModFix amt="0"/>
              </a:blip>
              <a:stretch>
                <a:fillRect t="-15905" b="-15905"/>
              </a:stretch>
            </a:blipFill>
          </p:spPr>
        </p:sp>
        <p:sp>
          <p:nvSpPr>
            <p:cNvPr id="13" name="TextBox 13"/>
            <p:cNvSpPr txBox="1"/>
            <p:nvPr/>
          </p:nvSpPr>
          <p:spPr>
            <a:xfrm>
              <a:off x="0" y="-47625"/>
              <a:ext cx="2804160" cy="876681"/>
            </a:xfrm>
            <a:prstGeom prst="rect">
              <a:avLst/>
            </a:prstGeom>
          </p:spPr>
          <p:txBody>
            <a:bodyPr lIns="0" tIns="0" rIns="0" bIns="0" rtlCol="0" anchor="ctr"/>
            <a:lstStyle/>
            <a:p>
              <a:pPr algn="ctr">
                <a:lnSpc>
                  <a:spcPts val="2640"/>
                </a:lnSpc>
              </a:pPr>
              <a:r>
                <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rPr>
                <a:t>Q&amp;A</a:t>
              </a:r>
              <a:endPar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4" name="Group 14"/>
          <p:cNvGrpSpPr/>
          <p:nvPr/>
        </p:nvGrpSpPr>
        <p:grpSpPr>
          <a:xfrm rot="0">
            <a:off x="901703" y="2456183"/>
            <a:ext cx="16484603" cy="1488443"/>
            <a:chOff x="0" y="0"/>
            <a:chExt cx="21979471" cy="1984591"/>
          </a:xfrm>
        </p:grpSpPr>
        <p:sp>
          <p:nvSpPr>
            <p:cNvPr id="15" name="Freeform 15"/>
            <p:cNvSpPr/>
            <p:nvPr/>
          </p:nvSpPr>
          <p:spPr>
            <a:xfrm>
              <a:off x="0" y="0"/>
              <a:ext cx="21979382" cy="1984502"/>
            </a:xfrm>
            <a:custGeom>
              <a:avLst/>
              <a:gdLst/>
              <a:ahLst/>
              <a:cxnLst/>
              <a:rect l="l" t="t" r="r" b="b"/>
              <a:pathLst>
                <a:path w="21979382" h="1984502">
                  <a:moveTo>
                    <a:pt x="0" y="248031"/>
                  </a:moveTo>
                  <a:cubicBezTo>
                    <a:pt x="0" y="111125"/>
                    <a:pt x="111125" y="0"/>
                    <a:pt x="248031" y="0"/>
                  </a:cubicBezTo>
                  <a:lnTo>
                    <a:pt x="21731351" y="0"/>
                  </a:lnTo>
                  <a:cubicBezTo>
                    <a:pt x="21868383" y="0"/>
                    <a:pt x="21979382" y="111125"/>
                    <a:pt x="21979382" y="248031"/>
                  </a:cubicBezTo>
                  <a:lnTo>
                    <a:pt x="21979382" y="1736471"/>
                  </a:lnTo>
                  <a:cubicBezTo>
                    <a:pt x="21979382" y="1873504"/>
                    <a:pt x="21868257" y="1984502"/>
                    <a:pt x="21731351" y="1984502"/>
                  </a:cubicBezTo>
                  <a:lnTo>
                    <a:pt x="248031" y="1984502"/>
                  </a:lnTo>
                  <a:cubicBezTo>
                    <a:pt x="111125" y="1984629"/>
                    <a:pt x="0" y="1873504"/>
                    <a:pt x="0" y="1736471"/>
                  </a:cubicBezTo>
                  <a:close/>
                </a:path>
              </a:pathLst>
            </a:custGeom>
            <a:solidFill>
              <a:srgbClr val="14213D"/>
            </a:solidFill>
            <a:ln w="25400" cap="sq">
              <a:solidFill>
                <a:srgbClr val="14213D"/>
              </a:solidFill>
              <a:prstDash val="solid"/>
              <a:miter/>
            </a:ln>
          </p:spPr>
        </p:sp>
      </p:grpSp>
      <p:grpSp>
        <p:nvGrpSpPr>
          <p:cNvPr id="16" name="Group 16"/>
          <p:cNvGrpSpPr/>
          <p:nvPr/>
        </p:nvGrpSpPr>
        <p:grpSpPr>
          <a:xfrm rot="0">
            <a:off x="1371600" y="2468880"/>
            <a:ext cx="2377440" cy="1463040"/>
            <a:chOff x="0" y="0"/>
            <a:chExt cx="3169920" cy="1950720"/>
          </a:xfrm>
        </p:grpSpPr>
        <p:sp>
          <p:nvSpPr>
            <p:cNvPr id="17" name="Freeform 17"/>
            <p:cNvSpPr/>
            <p:nvPr/>
          </p:nvSpPr>
          <p:spPr>
            <a:xfrm>
              <a:off x="0" y="0"/>
              <a:ext cx="3169920" cy="1950720"/>
            </a:xfrm>
            <a:custGeom>
              <a:avLst/>
              <a:gdLst/>
              <a:ahLst/>
              <a:cxnLst/>
              <a:rect l="l" t="t" r="r" b="b"/>
              <a:pathLst>
                <a:path w="3169920" h="1950720">
                  <a:moveTo>
                    <a:pt x="0" y="0"/>
                  </a:moveTo>
                  <a:lnTo>
                    <a:pt x="3169920" y="0"/>
                  </a:lnTo>
                  <a:lnTo>
                    <a:pt x="3169920" y="1950720"/>
                  </a:lnTo>
                  <a:lnTo>
                    <a:pt x="0" y="1950720"/>
                  </a:lnTo>
                  <a:close/>
                </a:path>
              </a:pathLst>
            </a:custGeom>
            <a:blipFill>
              <a:blip r:embed="rId1">
                <a:alphaModFix amt="0"/>
              </a:blip>
              <a:stretch>
                <a:fillRect l="-28956" r="-28956"/>
              </a:stretch>
            </a:blipFill>
          </p:spPr>
        </p:sp>
        <p:sp>
          <p:nvSpPr>
            <p:cNvPr id="18" name="TextBox 18"/>
            <p:cNvSpPr txBox="1"/>
            <p:nvPr/>
          </p:nvSpPr>
          <p:spPr>
            <a:xfrm>
              <a:off x="0" y="-38100"/>
              <a:ext cx="3169920" cy="1988820"/>
            </a:xfrm>
            <a:prstGeom prst="rect">
              <a:avLst/>
            </a:prstGeom>
          </p:spPr>
          <p:txBody>
            <a:bodyPr lIns="0" tIns="0" rIns="0" bIns="0" rtlCol="0" anchor="ctr"/>
            <a:lstStyle/>
            <a:p>
              <a:pPr algn="l">
                <a:lnSpc>
                  <a:spcPts val="2400"/>
                </a:lnSpc>
              </a:pPr>
              <a:r>
                <a:rPr lang="en-US" sz="20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KHI BỊ HỎI</a:t>
              </a:r>
              <a:endParaRPr lang="en-US" sz="20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9" name="Group 19"/>
          <p:cNvGrpSpPr/>
          <p:nvPr/>
        </p:nvGrpSpPr>
        <p:grpSpPr>
          <a:xfrm rot="0">
            <a:off x="3749040" y="2468880"/>
            <a:ext cx="13167360" cy="1463040"/>
            <a:chOff x="0" y="0"/>
            <a:chExt cx="17556480" cy="1950720"/>
          </a:xfrm>
        </p:grpSpPr>
        <p:sp>
          <p:nvSpPr>
            <p:cNvPr id="20" name="Freeform 20"/>
            <p:cNvSpPr/>
            <p:nvPr/>
          </p:nvSpPr>
          <p:spPr>
            <a:xfrm>
              <a:off x="0" y="0"/>
              <a:ext cx="17556480" cy="1950720"/>
            </a:xfrm>
            <a:custGeom>
              <a:avLst/>
              <a:gdLst/>
              <a:ahLst/>
              <a:cxnLst/>
              <a:rect l="l" t="t" r="r" b="b"/>
              <a:pathLst>
                <a:path w="17556480" h="1950720">
                  <a:moveTo>
                    <a:pt x="0" y="0"/>
                  </a:moveTo>
                  <a:lnTo>
                    <a:pt x="17556480" y="0"/>
                  </a:lnTo>
                  <a:lnTo>
                    <a:pt x="17556480" y="1950720"/>
                  </a:lnTo>
                  <a:lnTo>
                    <a:pt x="0" y="1950720"/>
                  </a:lnTo>
                  <a:close/>
                </a:path>
              </a:pathLst>
            </a:custGeom>
            <a:blipFill>
              <a:blip r:embed="rId1">
                <a:alphaModFix amt="0"/>
              </a:blip>
              <a:stretch>
                <a:fillRect t="-125365" b="-125365"/>
              </a:stretch>
            </a:blipFill>
          </p:spPr>
        </p:sp>
        <p:sp>
          <p:nvSpPr>
            <p:cNvPr id="21" name="TextBox 21"/>
            <p:cNvSpPr txBox="1"/>
            <p:nvPr/>
          </p:nvSpPr>
          <p:spPr>
            <a:xfrm>
              <a:off x="0" y="-57150"/>
              <a:ext cx="17556480" cy="2007870"/>
            </a:xfrm>
            <a:prstGeom prst="rect">
              <a:avLst/>
            </a:prstGeom>
          </p:spPr>
          <p:txBody>
            <a:bodyPr lIns="0" tIns="0" rIns="0" bIns="0" rtlCol="0" anchor="ctr"/>
            <a:lstStyle/>
            <a:p>
              <a:pPr algn="l">
                <a:lnSpc>
                  <a:spcPts val="3840"/>
                </a:lnSpc>
              </a:pPr>
              <a:r>
                <a:rPr lang="en-US" sz="3200" i="1">
                  <a:solidFill>
                    <a:srgbClr val="FFFFFF"/>
                  </a:solidFill>
                  <a:latin typeface="Times New Roman" panose="02020603050405020304"/>
                  <a:ea typeface="Times New Roman" panose="02020603050405020304"/>
                  <a:cs typeface="Times New Roman" panose="02020603050405020304"/>
                  <a:sym typeface="Times New Roman" panose="02020603050405020304"/>
                </a:rPr>
                <a:t>“Độ trễ đến từ đâu, giảm được không?”</a:t>
              </a:r>
              <a:endParaRPr lang="en-US" sz="3200" i="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2" name="Group 22"/>
          <p:cNvGrpSpPr/>
          <p:nvPr/>
        </p:nvGrpSpPr>
        <p:grpSpPr>
          <a:xfrm rot="0">
            <a:off x="898522" y="4373242"/>
            <a:ext cx="16490947" cy="4786627"/>
            <a:chOff x="0" y="0"/>
            <a:chExt cx="21987929" cy="6382169"/>
          </a:xfrm>
        </p:grpSpPr>
        <p:sp>
          <p:nvSpPr>
            <p:cNvPr id="23" name="Freeform 23"/>
            <p:cNvSpPr/>
            <p:nvPr/>
          </p:nvSpPr>
          <p:spPr>
            <a:xfrm>
              <a:off x="0" y="0"/>
              <a:ext cx="21987890" cy="6382131"/>
            </a:xfrm>
            <a:custGeom>
              <a:avLst/>
              <a:gdLst/>
              <a:ahLst/>
              <a:cxnLst/>
              <a:rect l="l" t="t" r="r" b="b"/>
              <a:pathLst>
                <a:path w="21987890" h="6382131">
                  <a:moveTo>
                    <a:pt x="0" y="196342"/>
                  </a:moveTo>
                  <a:cubicBezTo>
                    <a:pt x="0" y="87884"/>
                    <a:pt x="87884" y="0"/>
                    <a:pt x="196342" y="0"/>
                  </a:cubicBezTo>
                  <a:lnTo>
                    <a:pt x="21791549" y="0"/>
                  </a:lnTo>
                  <a:cubicBezTo>
                    <a:pt x="21900007" y="0"/>
                    <a:pt x="21987890" y="87884"/>
                    <a:pt x="21987890" y="196342"/>
                  </a:cubicBezTo>
                  <a:lnTo>
                    <a:pt x="21987890" y="6185789"/>
                  </a:lnTo>
                  <a:cubicBezTo>
                    <a:pt x="21987890" y="6294247"/>
                    <a:pt x="21900007" y="6382131"/>
                    <a:pt x="21791549" y="6382131"/>
                  </a:cubicBezTo>
                  <a:lnTo>
                    <a:pt x="196342" y="6382131"/>
                  </a:lnTo>
                  <a:cubicBezTo>
                    <a:pt x="87884" y="6382131"/>
                    <a:pt x="0" y="6294247"/>
                    <a:pt x="0" y="6185789"/>
                  </a:cubicBezTo>
                  <a:close/>
                </a:path>
              </a:pathLst>
            </a:custGeom>
            <a:solidFill>
              <a:srgbClr val="EEF3F8"/>
            </a:solidFill>
            <a:ln w="31750" cap="sq">
              <a:solidFill>
                <a:srgbClr val="00897B"/>
              </a:solidFill>
              <a:prstDash val="dash"/>
              <a:miter/>
            </a:ln>
          </p:spPr>
        </p:sp>
      </p:grpSp>
      <p:grpSp>
        <p:nvGrpSpPr>
          <p:cNvPr id="24" name="Group 24"/>
          <p:cNvGrpSpPr/>
          <p:nvPr/>
        </p:nvGrpSpPr>
        <p:grpSpPr>
          <a:xfrm rot="0">
            <a:off x="1280160" y="4663440"/>
            <a:ext cx="15727680" cy="512064"/>
            <a:chOff x="0" y="0"/>
            <a:chExt cx="20970240" cy="682752"/>
          </a:xfrm>
        </p:grpSpPr>
        <p:sp>
          <p:nvSpPr>
            <p:cNvPr id="25" name="Freeform 25"/>
            <p:cNvSpPr/>
            <p:nvPr/>
          </p:nvSpPr>
          <p:spPr>
            <a:xfrm>
              <a:off x="0" y="0"/>
              <a:ext cx="20970239" cy="682752"/>
            </a:xfrm>
            <a:custGeom>
              <a:avLst/>
              <a:gdLst/>
              <a:ahLst/>
              <a:cxnLst/>
              <a:rect l="l" t="t" r="r" b="b"/>
              <a:pathLst>
                <a:path w="20970239" h="682752">
                  <a:moveTo>
                    <a:pt x="0" y="0"/>
                  </a:moveTo>
                  <a:lnTo>
                    <a:pt x="20970239" y="0"/>
                  </a:lnTo>
                  <a:lnTo>
                    <a:pt x="20970239" y="682752"/>
                  </a:lnTo>
                  <a:lnTo>
                    <a:pt x="0" y="682752"/>
                  </a:lnTo>
                  <a:close/>
                </a:path>
              </a:pathLst>
            </a:custGeom>
            <a:blipFill>
              <a:blip r:embed="rId1">
                <a:alphaModFix amt="0"/>
              </a:blip>
              <a:stretch>
                <a:fillRect t="-548469" b="-548469"/>
              </a:stretch>
            </a:blipFill>
          </p:spPr>
        </p:sp>
        <p:sp>
          <p:nvSpPr>
            <p:cNvPr id="26" name="TextBox 26"/>
            <p:cNvSpPr txBox="1"/>
            <p:nvPr/>
          </p:nvSpPr>
          <p:spPr>
            <a:xfrm>
              <a:off x="0" y="-38100"/>
              <a:ext cx="20970240" cy="720852"/>
            </a:xfrm>
            <a:prstGeom prst="rect">
              <a:avLst/>
            </a:prstGeom>
          </p:spPr>
          <p:txBody>
            <a:bodyPr lIns="0" tIns="0" rIns="0" bIns="0" rtlCol="0" anchor="ctr"/>
            <a:lstStyle/>
            <a:p>
              <a:pPr algn="l">
                <a:lnSpc>
                  <a:spcPts val="2400"/>
                </a:lnSpc>
              </a:pPr>
              <a:r>
                <a:rPr lang="en-US" sz="2000" b="1" spc="300">
                  <a:solidFill>
                    <a:srgbClr val="00897B"/>
                  </a:solidFill>
                  <a:latin typeface="Times New Roman" panose="02020603050405020304"/>
                  <a:ea typeface="Times New Roman" panose="02020603050405020304"/>
                  <a:cs typeface="Times New Roman" panose="02020603050405020304"/>
                  <a:sym typeface="Times New Roman" panose="02020603050405020304"/>
                </a:rPr>
                <a:t>NỘI DUNG CẦN ĐIỀN</a:t>
              </a:r>
              <a:endParaRPr lang="en-US" sz="2000" b="1" spc="300">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7" name="TextBox 27"/>
          <p:cNvSpPr txBox="1"/>
          <p:nvPr/>
        </p:nvSpPr>
        <p:spPr>
          <a:xfrm>
            <a:off x="1280160" y="5265420"/>
            <a:ext cx="15727680" cy="3604260"/>
          </a:xfrm>
          <a:prstGeom prst="rect">
            <a:avLst/>
          </a:prstGeom>
        </p:spPr>
        <p:txBody>
          <a:bodyPr lIns="0" tIns="0" rIns="0" bIns="0" rtlCol="0" anchor="t">
            <a:spAutoFit/>
          </a:bodyPr>
          <a:lstStyle/>
          <a:p>
            <a:pPr algn="l">
              <a:lnSpc>
                <a:spcPts val="2880"/>
              </a:lnSpc>
            </a:pPr>
            <a:r>
              <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rPr>
              <a:t>Phạm vi: lan truyền, truyền, xếp hàng, xử lý</a:t>
            </a:r>
            <a:endPar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2880"/>
              </a:lnSpc>
            </a:pPr>
            <a:r>
              <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rPr>
              <a:t>Lấy từ NoiDung_ChiTiet.md, Mục 2.1. Câu trả lời mẫu: phụ lục A.</a:t>
            </a:r>
            <a:endPar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 name="TextBox 28"/>
          <p:cNvSpPr txBox="1"/>
          <p:nvPr/>
        </p:nvSpPr>
        <p:spPr>
          <a:xfrm>
            <a:off x="16550640" y="9517380"/>
            <a:ext cx="731520" cy="495300"/>
          </a:xfrm>
          <a:prstGeom prst="rect">
            <a:avLst/>
          </a:prstGeom>
        </p:spPr>
        <p:txBody>
          <a:bodyPr lIns="0" tIns="0" rIns="0" bIns="0" rtlCol="0" anchor="t">
            <a:spAutoFit/>
          </a:bodyPr>
          <a:lstStyle/>
          <a:p>
            <a:pPr algn="r">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23</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2" name="Header band"/>
          <p:cNvSpPr/>
          <p:nvPr/>
        </p:nvSpPr>
        <p:spPr>
          <a:xfrm>
            <a:off x="0" y="0"/>
            <a:ext cx="18288000" cy="2103120"/>
          </a:xfrm>
          <a:prstGeom prst="rect">
            <a:avLst/>
          </a:prstGeom>
          <a:solidFill>
            <a:srgbClr val="14213D"/>
          </a:solidFill>
          <a:ln>
            <a:noFill/>
          </a:ln>
        </p:spPr>
      </p:sp>
      <p:sp>
        <p:nvSpPr>
          <p:cNvPr id="9013" name="Header rule"/>
          <p:cNvSpPr/>
          <p:nvPr/>
        </p:nvSpPr>
        <p:spPr>
          <a:xfrm>
            <a:off x="0" y="2103120"/>
            <a:ext cx="18288000" cy="64008"/>
          </a:xfrm>
          <a:prstGeom prst="rect">
            <a:avLst/>
          </a:prstGeom>
          <a:solidFill>
            <a:srgbClr val="00897B"/>
          </a:solidFill>
          <a:ln>
            <a:noFill/>
          </a:ln>
        </p:spPr>
      </p:sp>
      <p:grpSp>
        <p:nvGrpSpPr>
          <p:cNvPr id="2" name="Group 2"/>
          <p:cNvGrpSpPr/>
          <p:nvPr/>
        </p:nvGrpSpPr>
        <p:grpSpPr>
          <a:xfrm rot="0">
            <a:off x="914400" y="9509760"/>
            <a:ext cx="12801600" cy="548640"/>
            <a:chOff x="0" y="0"/>
            <a:chExt cx="17068800" cy="731520"/>
          </a:xfrm>
        </p:grpSpPr>
        <p:sp>
          <p:nvSpPr>
            <p:cNvPr id="3" name="Freeform 3"/>
            <p:cNvSpPr/>
            <p:nvPr/>
          </p:nvSpPr>
          <p:spPr>
            <a:xfrm>
              <a:off x="0" y="0"/>
              <a:ext cx="17068800" cy="731520"/>
            </a:xfrm>
            <a:custGeom>
              <a:avLst/>
              <a:gdLst/>
              <a:ahLst/>
              <a:cxnLst/>
              <a:rect l="l" t="t" r="r" b="b"/>
              <a:pathLst>
                <a:path w="17068800" h="731520">
                  <a:moveTo>
                    <a:pt x="0" y="0"/>
                  </a:moveTo>
                  <a:lnTo>
                    <a:pt x="17068800" y="0"/>
                  </a:lnTo>
                  <a:lnTo>
                    <a:pt x="17068800" y="731520"/>
                  </a:lnTo>
                  <a:lnTo>
                    <a:pt x="0" y="731520"/>
                  </a:lnTo>
                  <a:close/>
                </a:path>
              </a:pathLst>
            </a:custGeom>
            <a:blipFill>
              <a:blip r:embed="rId1">
                <a:alphaModFix amt="0"/>
              </a:blip>
              <a:stretch>
                <a:fillRect t="-404650" b="-404650"/>
              </a:stretch>
            </a:blipFill>
          </p:spPr>
        </p:sp>
        <p:sp>
          <p:nvSpPr>
            <p:cNvPr id="4" name="TextBox 4"/>
            <p:cNvSpPr txBox="1"/>
            <p:nvPr/>
          </p:nvSpPr>
          <p:spPr>
            <a:xfrm>
              <a:off x="0" y="-38100"/>
              <a:ext cx="17068800" cy="769620"/>
            </a:xfrm>
            <a:prstGeom prst="rect">
              <a:avLst/>
            </a:prstGeom>
          </p:spPr>
          <p:txBody>
            <a:bodyPr lIns="0" tIns="0" rIns="0" bIns="0" rtlCol="0" anchor="ctr"/>
            <a:lstStyle/>
            <a:p>
              <a:pPr algn="l">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T47 · Kỹ thuật mạng cho game thời gian thực · Lập trình mạng</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5" name="TextBox 5"/>
          <p:cNvSpPr txBox="1"/>
          <p:nvPr/>
        </p:nvSpPr>
        <p:spPr>
          <a:xfrm>
            <a:off x="914400" y="384048"/>
            <a:ext cx="13898880" cy="559689"/>
          </a:xfrm>
          <a:prstGeom prst="rect">
            <a:avLst/>
          </a:prstGeom>
        </p:spPr>
        <p:txBody>
          <a:bodyPr lIns="0" tIns="0" rIns="0" bIns="0" rtlCol="0" anchor="t">
            <a:spAutoFit/>
          </a:bodyPr>
          <a:lstStyle/>
          <a:p>
            <a:pPr algn="l">
              <a:lnSpc>
                <a:spcPts val="2640"/>
              </a:lnSpc>
            </a:pPr>
            <a:r>
              <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DỰ PHÒNG D2 · NGUỒN: MỤC 2.3</a:t>
            </a:r>
            <a:endPar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6" name="Group 6"/>
          <p:cNvGrpSpPr/>
          <p:nvPr/>
        </p:nvGrpSpPr>
        <p:grpSpPr>
          <a:xfrm rot="0">
            <a:off x="914400" y="768096"/>
            <a:ext cx="14081760" cy="1097280"/>
            <a:chOff x="0" y="0"/>
            <a:chExt cx="18775680" cy="1463040"/>
          </a:xfrm>
        </p:grpSpPr>
        <p:sp>
          <p:nvSpPr>
            <p:cNvPr id="7" name="Freeform 7"/>
            <p:cNvSpPr/>
            <p:nvPr/>
          </p:nvSpPr>
          <p:spPr>
            <a:xfrm>
              <a:off x="0" y="0"/>
              <a:ext cx="18775680" cy="1463040"/>
            </a:xfrm>
            <a:custGeom>
              <a:avLst/>
              <a:gdLst/>
              <a:ahLst/>
              <a:cxnLst/>
              <a:rect l="l" t="t" r="r" b="b"/>
              <a:pathLst>
                <a:path w="18775680" h="1463040">
                  <a:moveTo>
                    <a:pt x="0" y="0"/>
                  </a:moveTo>
                  <a:lnTo>
                    <a:pt x="18775680" y="0"/>
                  </a:lnTo>
                  <a:lnTo>
                    <a:pt x="18775680" y="1463040"/>
                  </a:lnTo>
                  <a:lnTo>
                    <a:pt x="0" y="1463040"/>
                  </a:lnTo>
                  <a:close/>
                </a:path>
              </a:pathLst>
            </a:custGeom>
            <a:blipFill>
              <a:blip r:embed="rId1">
                <a:alphaModFix amt="0"/>
              </a:blip>
              <a:stretch>
                <a:fillRect t="-200057" b="-200057"/>
              </a:stretch>
            </a:blipFill>
          </p:spPr>
        </p:sp>
        <p:sp>
          <p:nvSpPr>
            <p:cNvPr id="8" name="TextBox 8"/>
            <p:cNvSpPr txBox="1"/>
            <p:nvPr/>
          </p:nvSpPr>
          <p:spPr>
            <a:xfrm>
              <a:off x="0" y="-9525"/>
              <a:ext cx="18775680" cy="1472565"/>
            </a:xfrm>
            <a:prstGeom prst="rect">
              <a:avLst/>
            </a:prstGeom>
          </p:spPr>
          <p:txBody>
            <a:bodyPr lIns="0" tIns="0" rIns="0" bIns="0" rtlCol="0" anchor="ctr"/>
            <a:lstStyle/>
            <a:p>
              <a:pPr algn="l">
                <a:lnSpc>
                  <a:spcPts val="6900"/>
                </a:lnSpc>
              </a:pPr>
              <a:r>
                <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rPr>
                <a:t>TCP chi tiết</a:t>
              </a:r>
              <a:endPar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9" name="Group 9"/>
          <p:cNvGrpSpPr/>
          <p:nvPr/>
        </p:nvGrpSpPr>
        <p:grpSpPr>
          <a:xfrm rot="0">
            <a:off x="15257783" y="682247"/>
            <a:ext cx="2128523" cy="647195"/>
            <a:chOff x="0" y="0"/>
            <a:chExt cx="2838031" cy="862927"/>
          </a:xfrm>
        </p:grpSpPr>
        <p:sp>
          <p:nvSpPr>
            <p:cNvPr id="10" name="Freeform 10"/>
            <p:cNvSpPr/>
            <p:nvPr/>
          </p:nvSpPr>
          <p:spPr>
            <a:xfrm>
              <a:off x="0" y="0"/>
              <a:ext cx="2837942" cy="862838"/>
            </a:xfrm>
            <a:custGeom>
              <a:avLst/>
              <a:gdLst/>
              <a:ahLst/>
              <a:cxnLst/>
              <a:rect l="l" t="t" r="r" b="b"/>
              <a:pathLst>
                <a:path w="2837942" h="862838">
                  <a:moveTo>
                    <a:pt x="0" y="431419"/>
                  </a:moveTo>
                  <a:cubicBezTo>
                    <a:pt x="0" y="193167"/>
                    <a:pt x="193167" y="0"/>
                    <a:pt x="431419" y="0"/>
                  </a:cubicBezTo>
                  <a:lnTo>
                    <a:pt x="2406523" y="0"/>
                  </a:lnTo>
                  <a:cubicBezTo>
                    <a:pt x="2644775" y="0"/>
                    <a:pt x="2837942" y="193167"/>
                    <a:pt x="2837942" y="431419"/>
                  </a:cubicBezTo>
                  <a:cubicBezTo>
                    <a:pt x="2837942" y="669671"/>
                    <a:pt x="2644775" y="862838"/>
                    <a:pt x="2406523" y="862838"/>
                  </a:cubicBezTo>
                  <a:lnTo>
                    <a:pt x="431419" y="862838"/>
                  </a:lnTo>
                  <a:cubicBezTo>
                    <a:pt x="193167" y="862965"/>
                    <a:pt x="0" y="669798"/>
                    <a:pt x="0" y="431419"/>
                  </a:cubicBezTo>
                  <a:close/>
                </a:path>
              </a:pathLst>
            </a:custGeom>
            <a:solidFill>
              <a:srgbClr val="5B6B82"/>
            </a:solidFill>
            <a:ln w="25400" cap="sq">
              <a:solidFill>
                <a:srgbClr val="5B6B82"/>
              </a:solidFill>
              <a:prstDash val="solid"/>
              <a:miter/>
            </a:ln>
          </p:spPr>
        </p:sp>
      </p:grpSp>
      <p:grpSp>
        <p:nvGrpSpPr>
          <p:cNvPr id="11" name="Group 11"/>
          <p:cNvGrpSpPr/>
          <p:nvPr/>
        </p:nvGrpSpPr>
        <p:grpSpPr>
          <a:xfrm rot="0">
            <a:off x="15270480" y="694944"/>
            <a:ext cx="2103120" cy="621792"/>
            <a:chOff x="0" y="0"/>
            <a:chExt cx="2804160" cy="829056"/>
          </a:xfrm>
        </p:grpSpPr>
        <p:sp>
          <p:nvSpPr>
            <p:cNvPr id="12" name="Freeform 12"/>
            <p:cNvSpPr/>
            <p:nvPr/>
          </p:nvSpPr>
          <p:spPr>
            <a:xfrm>
              <a:off x="0" y="0"/>
              <a:ext cx="2804160" cy="829056"/>
            </a:xfrm>
            <a:custGeom>
              <a:avLst/>
              <a:gdLst/>
              <a:ahLst/>
              <a:cxnLst/>
              <a:rect l="l" t="t" r="r" b="b"/>
              <a:pathLst>
                <a:path w="2804160" h="829056">
                  <a:moveTo>
                    <a:pt x="0" y="0"/>
                  </a:moveTo>
                  <a:lnTo>
                    <a:pt x="2804160" y="0"/>
                  </a:lnTo>
                  <a:lnTo>
                    <a:pt x="2804160" y="829056"/>
                  </a:lnTo>
                  <a:lnTo>
                    <a:pt x="0" y="829056"/>
                  </a:lnTo>
                  <a:close/>
                </a:path>
              </a:pathLst>
            </a:custGeom>
            <a:blipFill>
              <a:blip r:embed="rId1">
                <a:alphaModFix amt="0"/>
              </a:blip>
              <a:stretch>
                <a:fillRect t="-15905" b="-15905"/>
              </a:stretch>
            </a:blipFill>
          </p:spPr>
        </p:sp>
        <p:sp>
          <p:nvSpPr>
            <p:cNvPr id="13" name="TextBox 13"/>
            <p:cNvSpPr txBox="1"/>
            <p:nvPr/>
          </p:nvSpPr>
          <p:spPr>
            <a:xfrm>
              <a:off x="0" y="-47625"/>
              <a:ext cx="2804160" cy="876681"/>
            </a:xfrm>
            <a:prstGeom prst="rect">
              <a:avLst/>
            </a:prstGeom>
          </p:spPr>
          <p:txBody>
            <a:bodyPr lIns="0" tIns="0" rIns="0" bIns="0" rtlCol="0" anchor="ctr"/>
            <a:lstStyle/>
            <a:p>
              <a:pPr algn="ctr">
                <a:lnSpc>
                  <a:spcPts val="2640"/>
                </a:lnSpc>
              </a:pPr>
              <a:r>
                <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rPr>
                <a:t>Q&amp;A</a:t>
              </a:r>
              <a:endPar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4" name="Group 14"/>
          <p:cNvGrpSpPr/>
          <p:nvPr/>
        </p:nvGrpSpPr>
        <p:grpSpPr>
          <a:xfrm rot="0">
            <a:off x="901703" y="2456183"/>
            <a:ext cx="16484603" cy="1488443"/>
            <a:chOff x="0" y="0"/>
            <a:chExt cx="21979471" cy="1984591"/>
          </a:xfrm>
        </p:grpSpPr>
        <p:sp>
          <p:nvSpPr>
            <p:cNvPr id="15" name="Freeform 15"/>
            <p:cNvSpPr/>
            <p:nvPr/>
          </p:nvSpPr>
          <p:spPr>
            <a:xfrm>
              <a:off x="0" y="0"/>
              <a:ext cx="21979382" cy="1984502"/>
            </a:xfrm>
            <a:custGeom>
              <a:avLst/>
              <a:gdLst/>
              <a:ahLst/>
              <a:cxnLst/>
              <a:rect l="l" t="t" r="r" b="b"/>
              <a:pathLst>
                <a:path w="21979382" h="1984502">
                  <a:moveTo>
                    <a:pt x="0" y="248031"/>
                  </a:moveTo>
                  <a:cubicBezTo>
                    <a:pt x="0" y="111125"/>
                    <a:pt x="111125" y="0"/>
                    <a:pt x="248031" y="0"/>
                  </a:cubicBezTo>
                  <a:lnTo>
                    <a:pt x="21731351" y="0"/>
                  </a:lnTo>
                  <a:cubicBezTo>
                    <a:pt x="21868383" y="0"/>
                    <a:pt x="21979382" y="111125"/>
                    <a:pt x="21979382" y="248031"/>
                  </a:cubicBezTo>
                  <a:lnTo>
                    <a:pt x="21979382" y="1736471"/>
                  </a:lnTo>
                  <a:cubicBezTo>
                    <a:pt x="21979382" y="1873504"/>
                    <a:pt x="21868257" y="1984502"/>
                    <a:pt x="21731351" y="1984502"/>
                  </a:cubicBezTo>
                  <a:lnTo>
                    <a:pt x="248031" y="1984502"/>
                  </a:lnTo>
                  <a:cubicBezTo>
                    <a:pt x="111125" y="1984629"/>
                    <a:pt x="0" y="1873504"/>
                    <a:pt x="0" y="1736471"/>
                  </a:cubicBezTo>
                  <a:close/>
                </a:path>
              </a:pathLst>
            </a:custGeom>
            <a:solidFill>
              <a:srgbClr val="14213D"/>
            </a:solidFill>
            <a:ln w="25400" cap="sq">
              <a:solidFill>
                <a:srgbClr val="14213D"/>
              </a:solidFill>
              <a:prstDash val="solid"/>
              <a:miter/>
            </a:ln>
          </p:spPr>
        </p:sp>
      </p:grpSp>
      <p:grpSp>
        <p:nvGrpSpPr>
          <p:cNvPr id="16" name="Group 16"/>
          <p:cNvGrpSpPr/>
          <p:nvPr/>
        </p:nvGrpSpPr>
        <p:grpSpPr>
          <a:xfrm rot="0">
            <a:off x="1371600" y="2468880"/>
            <a:ext cx="2377440" cy="1463040"/>
            <a:chOff x="0" y="0"/>
            <a:chExt cx="3169920" cy="1950720"/>
          </a:xfrm>
        </p:grpSpPr>
        <p:sp>
          <p:nvSpPr>
            <p:cNvPr id="17" name="Freeform 17"/>
            <p:cNvSpPr/>
            <p:nvPr/>
          </p:nvSpPr>
          <p:spPr>
            <a:xfrm>
              <a:off x="0" y="0"/>
              <a:ext cx="3169920" cy="1950720"/>
            </a:xfrm>
            <a:custGeom>
              <a:avLst/>
              <a:gdLst/>
              <a:ahLst/>
              <a:cxnLst/>
              <a:rect l="l" t="t" r="r" b="b"/>
              <a:pathLst>
                <a:path w="3169920" h="1950720">
                  <a:moveTo>
                    <a:pt x="0" y="0"/>
                  </a:moveTo>
                  <a:lnTo>
                    <a:pt x="3169920" y="0"/>
                  </a:lnTo>
                  <a:lnTo>
                    <a:pt x="3169920" y="1950720"/>
                  </a:lnTo>
                  <a:lnTo>
                    <a:pt x="0" y="1950720"/>
                  </a:lnTo>
                  <a:close/>
                </a:path>
              </a:pathLst>
            </a:custGeom>
            <a:blipFill>
              <a:blip r:embed="rId1">
                <a:alphaModFix amt="0"/>
              </a:blip>
              <a:stretch>
                <a:fillRect l="-28956" r="-28956"/>
              </a:stretch>
            </a:blipFill>
          </p:spPr>
        </p:sp>
        <p:sp>
          <p:nvSpPr>
            <p:cNvPr id="18" name="TextBox 18"/>
            <p:cNvSpPr txBox="1"/>
            <p:nvPr/>
          </p:nvSpPr>
          <p:spPr>
            <a:xfrm>
              <a:off x="0" y="-38100"/>
              <a:ext cx="3169920" cy="1988820"/>
            </a:xfrm>
            <a:prstGeom prst="rect">
              <a:avLst/>
            </a:prstGeom>
          </p:spPr>
          <p:txBody>
            <a:bodyPr lIns="0" tIns="0" rIns="0" bIns="0" rtlCol="0" anchor="ctr"/>
            <a:lstStyle/>
            <a:p>
              <a:pPr algn="l">
                <a:lnSpc>
                  <a:spcPts val="2400"/>
                </a:lnSpc>
              </a:pPr>
              <a:r>
                <a:rPr lang="en-US" sz="20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KHI BỊ HỎI</a:t>
              </a:r>
              <a:endParaRPr lang="en-US" sz="20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9" name="Group 19"/>
          <p:cNvGrpSpPr/>
          <p:nvPr/>
        </p:nvGrpSpPr>
        <p:grpSpPr>
          <a:xfrm rot="0">
            <a:off x="3749040" y="2468880"/>
            <a:ext cx="13167360" cy="1463040"/>
            <a:chOff x="0" y="0"/>
            <a:chExt cx="17556480" cy="1950720"/>
          </a:xfrm>
        </p:grpSpPr>
        <p:sp>
          <p:nvSpPr>
            <p:cNvPr id="20" name="Freeform 20"/>
            <p:cNvSpPr/>
            <p:nvPr/>
          </p:nvSpPr>
          <p:spPr>
            <a:xfrm>
              <a:off x="0" y="0"/>
              <a:ext cx="17556480" cy="1950720"/>
            </a:xfrm>
            <a:custGeom>
              <a:avLst/>
              <a:gdLst/>
              <a:ahLst/>
              <a:cxnLst/>
              <a:rect l="l" t="t" r="r" b="b"/>
              <a:pathLst>
                <a:path w="17556480" h="1950720">
                  <a:moveTo>
                    <a:pt x="0" y="0"/>
                  </a:moveTo>
                  <a:lnTo>
                    <a:pt x="17556480" y="0"/>
                  </a:lnTo>
                  <a:lnTo>
                    <a:pt x="17556480" y="1950720"/>
                  </a:lnTo>
                  <a:lnTo>
                    <a:pt x="0" y="1950720"/>
                  </a:lnTo>
                  <a:close/>
                </a:path>
              </a:pathLst>
            </a:custGeom>
            <a:blipFill>
              <a:blip r:embed="rId1">
                <a:alphaModFix amt="0"/>
              </a:blip>
              <a:stretch>
                <a:fillRect t="-125365" b="-125365"/>
              </a:stretch>
            </a:blipFill>
          </p:spPr>
        </p:sp>
        <p:sp>
          <p:nvSpPr>
            <p:cNvPr id="21" name="TextBox 21"/>
            <p:cNvSpPr txBox="1"/>
            <p:nvPr/>
          </p:nvSpPr>
          <p:spPr>
            <a:xfrm>
              <a:off x="0" y="-57150"/>
              <a:ext cx="17556480" cy="2007870"/>
            </a:xfrm>
            <a:prstGeom prst="rect">
              <a:avLst/>
            </a:prstGeom>
          </p:spPr>
          <p:txBody>
            <a:bodyPr lIns="0" tIns="0" rIns="0" bIns="0" rtlCol="0" anchor="ctr"/>
            <a:lstStyle/>
            <a:p>
              <a:pPr algn="l">
                <a:lnSpc>
                  <a:spcPts val="3840"/>
                </a:lnSpc>
              </a:pPr>
              <a:r>
                <a:rPr lang="en-US" sz="3200" i="1">
                  <a:solidFill>
                    <a:srgbClr val="FFFFFF"/>
                  </a:solidFill>
                  <a:latin typeface="Times New Roman" panose="02020603050405020304"/>
                  <a:ea typeface="Times New Roman" panose="02020603050405020304"/>
                  <a:cs typeface="Times New Roman" panose="02020603050405020304"/>
                  <a:sym typeface="Times New Roman" panose="02020603050405020304"/>
                </a:rPr>
                <a:t>“Sao không dùng TCP cho tất cả, tắt Nagle là xong?”</a:t>
              </a:r>
              <a:endParaRPr lang="en-US" sz="3200" i="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2" name="Group 22"/>
          <p:cNvGrpSpPr/>
          <p:nvPr/>
        </p:nvGrpSpPr>
        <p:grpSpPr>
          <a:xfrm rot="0">
            <a:off x="898522" y="4373242"/>
            <a:ext cx="16490947" cy="4786627"/>
            <a:chOff x="0" y="0"/>
            <a:chExt cx="21987929" cy="6382169"/>
          </a:xfrm>
        </p:grpSpPr>
        <p:sp>
          <p:nvSpPr>
            <p:cNvPr id="23" name="Freeform 23"/>
            <p:cNvSpPr/>
            <p:nvPr/>
          </p:nvSpPr>
          <p:spPr>
            <a:xfrm>
              <a:off x="0" y="0"/>
              <a:ext cx="21987890" cy="6382131"/>
            </a:xfrm>
            <a:custGeom>
              <a:avLst/>
              <a:gdLst/>
              <a:ahLst/>
              <a:cxnLst/>
              <a:rect l="l" t="t" r="r" b="b"/>
              <a:pathLst>
                <a:path w="21987890" h="6382131">
                  <a:moveTo>
                    <a:pt x="0" y="196342"/>
                  </a:moveTo>
                  <a:cubicBezTo>
                    <a:pt x="0" y="87884"/>
                    <a:pt x="87884" y="0"/>
                    <a:pt x="196342" y="0"/>
                  </a:cubicBezTo>
                  <a:lnTo>
                    <a:pt x="21791549" y="0"/>
                  </a:lnTo>
                  <a:cubicBezTo>
                    <a:pt x="21900007" y="0"/>
                    <a:pt x="21987890" y="87884"/>
                    <a:pt x="21987890" y="196342"/>
                  </a:cubicBezTo>
                  <a:lnTo>
                    <a:pt x="21987890" y="6185789"/>
                  </a:lnTo>
                  <a:cubicBezTo>
                    <a:pt x="21987890" y="6294247"/>
                    <a:pt x="21900007" y="6382131"/>
                    <a:pt x="21791549" y="6382131"/>
                  </a:cubicBezTo>
                  <a:lnTo>
                    <a:pt x="196342" y="6382131"/>
                  </a:lnTo>
                  <a:cubicBezTo>
                    <a:pt x="87884" y="6382131"/>
                    <a:pt x="0" y="6294247"/>
                    <a:pt x="0" y="6185789"/>
                  </a:cubicBezTo>
                  <a:close/>
                </a:path>
              </a:pathLst>
            </a:custGeom>
            <a:solidFill>
              <a:srgbClr val="EEF3F8"/>
            </a:solidFill>
            <a:ln w="31750" cap="sq">
              <a:solidFill>
                <a:srgbClr val="00897B"/>
              </a:solidFill>
              <a:prstDash val="dash"/>
              <a:miter/>
            </a:ln>
          </p:spPr>
        </p:sp>
      </p:grpSp>
      <p:grpSp>
        <p:nvGrpSpPr>
          <p:cNvPr id="24" name="Group 24"/>
          <p:cNvGrpSpPr/>
          <p:nvPr/>
        </p:nvGrpSpPr>
        <p:grpSpPr>
          <a:xfrm rot="0">
            <a:off x="1280160" y="4663440"/>
            <a:ext cx="15727680" cy="512064"/>
            <a:chOff x="0" y="0"/>
            <a:chExt cx="20970240" cy="682752"/>
          </a:xfrm>
        </p:grpSpPr>
        <p:sp>
          <p:nvSpPr>
            <p:cNvPr id="25" name="Freeform 25"/>
            <p:cNvSpPr/>
            <p:nvPr/>
          </p:nvSpPr>
          <p:spPr>
            <a:xfrm>
              <a:off x="0" y="0"/>
              <a:ext cx="20970239" cy="682752"/>
            </a:xfrm>
            <a:custGeom>
              <a:avLst/>
              <a:gdLst/>
              <a:ahLst/>
              <a:cxnLst/>
              <a:rect l="l" t="t" r="r" b="b"/>
              <a:pathLst>
                <a:path w="20970239" h="682752">
                  <a:moveTo>
                    <a:pt x="0" y="0"/>
                  </a:moveTo>
                  <a:lnTo>
                    <a:pt x="20970239" y="0"/>
                  </a:lnTo>
                  <a:lnTo>
                    <a:pt x="20970239" y="682752"/>
                  </a:lnTo>
                  <a:lnTo>
                    <a:pt x="0" y="682752"/>
                  </a:lnTo>
                  <a:close/>
                </a:path>
              </a:pathLst>
            </a:custGeom>
            <a:blipFill>
              <a:blip r:embed="rId1">
                <a:alphaModFix amt="0"/>
              </a:blip>
              <a:stretch>
                <a:fillRect t="-548469" b="-548469"/>
              </a:stretch>
            </a:blipFill>
          </p:spPr>
        </p:sp>
        <p:sp>
          <p:nvSpPr>
            <p:cNvPr id="26" name="TextBox 26"/>
            <p:cNvSpPr txBox="1"/>
            <p:nvPr/>
          </p:nvSpPr>
          <p:spPr>
            <a:xfrm>
              <a:off x="0" y="-38100"/>
              <a:ext cx="20970240" cy="720852"/>
            </a:xfrm>
            <a:prstGeom prst="rect">
              <a:avLst/>
            </a:prstGeom>
          </p:spPr>
          <p:txBody>
            <a:bodyPr lIns="0" tIns="0" rIns="0" bIns="0" rtlCol="0" anchor="ctr"/>
            <a:lstStyle/>
            <a:p>
              <a:pPr algn="l">
                <a:lnSpc>
                  <a:spcPts val="2400"/>
                </a:lnSpc>
              </a:pPr>
              <a:r>
                <a:rPr lang="en-US" sz="2000" b="1" spc="300">
                  <a:solidFill>
                    <a:srgbClr val="00897B"/>
                  </a:solidFill>
                  <a:latin typeface="Times New Roman" panose="02020603050405020304"/>
                  <a:ea typeface="Times New Roman" panose="02020603050405020304"/>
                  <a:cs typeface="Times New Roman" panose="02020603050405020304"/>
                  <a:sym typeface="Times New Roman" panose="02020603050405020304"/>
                </a:rPr>
                <a:t>NỘI DUNG CẦN ĐIỀN</a:t>
              </a:r>
              <a:endParaRPr lang="en-US" sz="2000" b="1" spc="300">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7" name="TextBox 27"/>
          <p:cNvSpPr txBox="1"/>
          <p:nvPr/>
        </p:nvSpPr>
        <p:spPr>
          <a:xfrm>
            <a:off x="1280160" y="5265420"/>
            <a:ext cx="15727680" cy="3604260"/>
          </a:xfrm>
          <a:prstGeom prst="rect">
            <a:avLst/>
          </a:prstGeom>
        </p:spPr>
        <p:txBody>
          <a:bodyPr lIns="0" tIns="0" rIns="0" bIns="0" rtlCol="0" anchor="t">
            <a:spAutoFit/>
          </a:bodyPr>
          <a:lstStyle/>
          <a:p>
            <a:pPr algn="l">
              <a:lnSpc>
                <a:spcPts val="2880"/>
              </a:lnSpc>
            </a:pPr>
            <a:r>
              <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rPr>
              <a:t>Phạm vi: thời gian chờ gửi lại, thuật toán Nagle</a:t>
            </a:r>
            <a:endPar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2880"/>
              </a:lnSpc>
            </a:pPr>
            <a:r>
              <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rPr>
              <a:t>Lấy từ NoiDung_ChiTiet.md, Mục 2.3. Câu trả lời mẫu: phụ lục A.</a:t>
            </a:r>
            <a:endPar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 name="TextBox 28"/>
          <p:cNvSpPr txBox="1"/>
          <p:nvPr/>
        </p:nvSpPr>
        <p:spPr>
          <a:xfrm>
            <a:off x="16550640" y="9517380"/>
            <a:ext cx="731520" cy="495300"/>
          </a:xfrm>
          <a:prstGeom prst="rect">
            <a:avLst/>
          </a:prstGeom>
        </p:spPr>
        <p:txBody>
          <a:bodyPr lIns="0" tIns="0" rIns="0" bIns="0" rtlCol="0" anchor="t">
            <a:spAutoFit/>
          </a:bodyPr>
          <a:lstStyle/>
          <a:p>
            <a:pPr algn="r">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24</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4" name="Header band"/>
          <p:cNvSpPr/>
          <p:nvPr/>
        </p:nvSpPr>
        <p:spPr>
          <a:xfrm>
            <a:off x="0" y="0"/>
            <a:ext cx="18288000" cy="2103120"/>
          </a:xfrm>
          <a:prstGeom prst="rect">
            <a:avLst/>
          </a:prstGeom>
          <a:solidFill>
            <a:srgbClr val="14213D"/>
          </a:solidFill>
          <a:ln>
            <a:noFill/>
          </a:ln>
        </p:spPr>
      </p:sp>
      <p:sp>
        <p:nvSpPr>
          <p:cNvPr id="9015" name="Header rule"/>
          <p:cNvSpPr/>
          <p:nvPr/>
        </p:nvSpPr>
        <p:spPr>
          <a:xfrm>
            <a:off x="0" y="2103120"/>
            <a:ext cx="18288000" cy="64008"/>
          </a:xfrm>
          <a:prstGeom prst="rect">
            <a:avLst/>
          </a:prstGeom>
          <a:solidFill>
            <a:srgbClr val="00897B"/>
          </a:solidFill>
          <a:ln>
            <a:noFill/>
          </a:ln>
        </p:spPr>
      </p:sp>
      <p:grpSp>
        <p:nvGrpSpPr>
          <p:cNvPr id="2" name="Group 2"/>
          <p:cNvGrpSpPr/>
          <p:nvPr/>
        </p:nvGrpSpPr>
        <p:grpSpPr>
          <a:xfrm rot="0">
            <a:off x="914400" y="9509760"/>
            <a:ext cx="12801600" cy="548640"/>
            <a:chOff x="0" y="0"/>
            <a:chExt cx="17068800" cy="731520"/>
          </a:xfrm>
        </p:grpSpPr>
        <p:sp>
          <p:nvSpPr>
            <p:cNvPr id="3" name="Freeform 3"/>
            <p:cNvSpPr/>
            <p:nvPr/>
          </p:nvSpPr>
          <p:spPr>
            <a:xfrm>
              <a:off x="0" y="0"/>
              <a:ext cx="17068800" cy="731520"/>
            </a:xfrm>
            <a:custGeom>
              <a:avLst/>
              <a:gdLst/>
              <a:ahLst/>
              <a:cxnLst/>
              <a:rect l="l" t="t" r="r" b="b"/>
              <a:pathLst>
                <a:path w="17068800" h="731520">
                  <a:moveTo>
                    <a:pt x="0" y="0"/>
                  </a:moveTo>
                  <a:lnTo>
                    <a:pt x="17068800" y="0"/>
                  </a:lnTo>
                  <a:lnTo>
                    <a:pt x="17068800" y="731520"/>
                  </a:lnTo>
                  <a:lnTo>
                    <a:pt x="0" y="731520"/>
                  </a:lnTo>
                  <a:close/>
                </a:path>
              </a:pathLst>
            </a:custGeom>
            <a:blipFill>
              <a:blip r:embed="rId1">
                <a:alphaModFix amt="0"/>
              </a:blip>
              <a:stretch>
                <a:fillRect t="-404650" b="-404650"/>
              </a:stretch>
            </a:blipFill>
          </p:spPr>
        </p:sp>
        <p:sp>
          <p:nvSpPr>
            <p:cNvPr id="4" name="TextBox 4"/>
            <p:cNvSpPr txBox="1"/>
            <p:nvPr/>
          </p:nvSpPr>
          <p:spPr>
            <a:xfrm>
              <a:off x="0" y="-38100"/>
              <a:ext cx="17068800" cy="769620"/>
            </a:xfrm>
            <a:prstGeom prst="rect">
              <a:avLst/>
            </a:prstGeom>
          </p:spPr>
          <p:txBody>
            <a:bodyPr lIns="0" tIns="0" rIns="0" bIns="0" rtlCol="0" anchor="ctr"/>
            <a:lstStyle/>
            <a:p>
              <a:pPr algn="l">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T47 · Kỹ thuật mạng cho game thời gian thực · Lập trình mạng</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5" name="TextBox 5"/>
          <p:cNvSpPr txBox="1"/>
          <p:nvPr/>
        </p:nvSpPr>
        <p:spPr>
          <a:xfrm>
            <a:off x="914400" y="384048"/>
            <a:ext cx="13898880" cy="559689"/>
          </a:xfrm>
          <a:prstGeom prst="rect">
            <a:avLst/>
          </a:prstGeom>
        </p:spPr>
        <p:txBody>
          <a:bodyPr lIns="0" tIns="0" rIns="0" bIns="0" rtlCol="0" anchor="t">
            <a:spAutoFit/>
          </a:bodyPr>
          <a:lstStyle/>
          <a:p>
            <a:pPr algn="l">
              <a:lnSpc>
                <a:spcPts val="2640"/>
              </a:lnSpc>
            </a:pPr>
            <a:r>
              <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DỰ PHÒNG D3 · NGUỒN: VĐ1</a:t>
            </a:r>
            <a:endPar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6" name="Group 6"/>
          <p:cNvGrpSpPr/>
          <p:nvPr/>
        </p:nvGrpSpPr>
        <p:grpSpPr>
          <a:xfrm rot="0">
            <a:off x="914400" y="768096"/>
            <a:ext cx="14081760" cy="1097280"/>
            <a:chOff x="0" y="0"/>
            <a:chExt cx="18775680" cy="1463040"/>
          </a:xfrm>
        </p:grpSpPr>
        <p:sp>
          <p:nvSpPr>
            <p:cNvPr id="7" name="Freeform 7"/>
            <p:cNvSpPr/>
            <p:nvPr/>
          </p:nvSpPr>
          <p:spPr>
            <a:xfrm>
              <a:off x="0" y="0"/>
              <a:ext cx="18775680" cy="1463040"/>
            </a:xfrm>
            <a:custGeom>
              <a:avLst/>
              <a:gdLst/>
              <a:ahLst/>
              <a:cxnLst/>
              <a:rect l="l" t="t" r="r" b="b"/>
              <a:pathLst>
                <a:path w="18775680" h="1463040">
                  <a:moveTo>
                    <a:pt x="0" y="0"/>
                  </a:moveTo>
                  <a:lnTo>
                    <a:pt x="18775680" y="0"/>
                  </a:lnTo>
                  <a:lnTo>
                    <a:pt x="18775680" y="1463040"/>
                  </a:lnTo>
                  <a:lnTo>
                    <a:pt x="0" y="1463040"/>
                  </a:lnTo>
                  <a:close/>
                </a:path>
              </a:pathLst>
            </a:custGeom>
            <a:blipFill>
              <a:blip r:embed="rId1">
                <a:alphaModFix amt="0"/>
              </a:blip>
              <a:stretch>
                <a:fillRect t="-200057" b="-200057"/>
              </a:stretch>
            </a:blipFill>
          </p:spPr>
        </p:sp>
        <p:sp>
          <p:nvSpPr>
            <p:cNvPr id="8" name="TextBox 8"/>
            <p:cNvSpPr txBox="1"/>
            <p:nvPr/>
          </p:nvSpPr>
          <p:spPr>
            <a:xfrm>
              <a:off x="0" y="-9525"/>
              <a:ext cx="18775680" cy="1472565"/>
            </a:xfrm>
            <a:prstGeom prst="rect">
              <a:avLst/>
            </a:prstGeom>
          </p:spPr>
          <p:txBody>
            <a:bodyPr lIns="0" tIns="0" rIns="0" bIns="0" rtlCol="0" anchor="ctr"/>
            <a:lstStyle/>
            <a:p>
              <a:pPr algn="l">
                <a:lnSpc>
                  <a:spcPts val="6900"/>
                </a:lnSpc>
              </a:pPr>
              <a:r>
                <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rPr>
                <a:t>Bộ tích luỹ thời gian</a:t>
              </a:r>
              <a:endPar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9" name="Group 9"/>
          <p:cNvGrpSpPr/>
          <p:nvPr/>
        </p:nvGrpSpPr>
        <p:grpSpPr>
          <a:xfrm rot="0">
            <a:off x="15257783" y="682247"/>
            <a:ext cx="2128523" cy="647195"/>
            <a:chOff x="0" y="0"/>
            <a:chExt cx="2838031" cy="862927"/>
          </a:xfrm>
        </p:grpSpPr>
        <p:sp>
          <p:nvSpPr>
            <p:cNvPr id="10" name="Freeform 10"/>
            <p:cNvSpPr/>
            <p:nvPr/>
          </p:nvSpPr>
          <p:spPr>
            <a:xfrm>
              <a:off x="0" y="0"/>
              <a:ext cx="2837942" cy="862838"/>
            </a:xfrm>
            <a:custGeom>
              <a:avLst/>
              <a:gdLst/>
              <a:ahLst/>
              <a:cxnLst/>
              <a:rect l="l" t="t" r="r" b="b"/>
              <a:pathLst>
                <a:path w="2837942" h="862838">
                  <a:moveTo>
                    <a:pt x="0" y="431419"/>
                  </a:moveTo>
                  <a:cubicBezTo>
                    <a:pt x="0" y="193167"/>
                    <a:pt x="193167" y="0"/>
                    <a:pt x="431419" y="0"/>
                  </a:cubicBezTo>
                  <a:lnTo>
                    <a:pt x="2406523" y="0"/>
                  </a:lnTo>
                  <a:cubicBezTo>
                    <a:pt x="2644775" y="0"/>
                    <a:pt x="2837942" y="193167"/>
                    <a:pt x="2837942" y="431419"/>
                  </a:cubicBezTo>
                  <a:cubicBezTo>
                    <a:pt x="2837942" y="669671"/>
                    <a:pt x="2644775" y="862838"/>
                    <a:pt x="2406523" y="862838"/>
                  </a:cubicBezTo>
                  <a:lnTo>
                    <a:pt x="431419" y="862838"/>
                  </a:lnTo>
                  <a:cubicBezTo>
                    <a:pt x="193167" y="862965"/>
                    <a:pt x="0" y="669798"/>
                    <a:pt x="0" y="431419"/>
                  </a:cubicBezTo>
                  <a:close/>
                </a:path>
              </a:pathLst>
            </a:custGeom>
            <a:solidFill>
              <a:srgbClr val="5B6B82"/>
            </a:solidFill>
            <a:ln w="25400" cap="sq">
              <a:solidFill>
                <a:srgbClr val="5B6B82"/>
              </a:solidFill>
              <a:prstDash val="solid"/>
              <a:miter/>
            </a:ln>
          </p:spPr>
        </p:sp>
      </p:grpSp>
      <p:grpSp>
        <p:nvGrpSpPr>
          <p:cNvPr id="11" name="Group 11"/>
          <p:cNvGrpSpPr/>
          <p:nvPr/>
        </p:nvGrpSpPr>
        <p:grpSpPr>
          <a:xfrm rot="0">
            <a:off x="15270480" y="694944"/>
            <a:ext cx="2103120" cy="621792"/>
            <a:chOff x="0" y="0"/>
            <a:chExt cx="2804160" cy="829056"/>
          </a:xfrm>
        </p:grpSpPr>
        <p:sp>
          <p:nvSpPr>
            <p:cNvPr id="12" name="Freeform 12"/>
            <p:cNvSpPr/>
            <p:nvPr/>
          </p:nvSpPr>
          <p:spPr>
            <a:xfrm>
              <a:off x="0" y="0"/>
              <a:ext cx="2804160" cy="829056"/>
            </a:xfrm>
            <a:custGeom>
              <a:avLst/>
              <a:gdLst/>
              <a:ahLst/>
              <a:cxnLst/>
              <a:rect l="l" t="t" r="r" b="b"/>
              <a:pathLst>
                <a:path w="2804160" h="829056">
                  <a:moveTo>
                    <a:pt x="0" y="0"/>
                  </a:moveTo>
                  <a:lnTo>
                    <a:pt x="2804160" y="0"/>
                  </a:lnTo>
                  <a:lnTo>
                    <a:pt x="2804160" y="829056"/>
                  </a:lnTo>
                  <a:lnTo>
                    <a:pt x="0" y="829056"/>
                  </a:lnTo>
                  <a:close/>
                </a:path>
              </a:pathLst>
            </a:custGeom>
            <a:blipFill>
              <a:blip r:embed="rId1">
                <a:alphaModFix amt="0"/>
              </a:blip>
              <a:stretch>
                <a:fillRect t="-15905" b="-15905"/>
              </a:stretch>
            </a:blipFill>
          </p:spPr>
        </p:sp>
        <p:sp>
          <p:nvSpPr>
            <p:cNvPr id="13" name="TextBox 13"/>
            <p:cNvSpPr txBox="1"/>
            <p:nvPr/>
          </p:nvSpPr>
          <p:spPr>
            <a:xfrm>
              <a:off x="0" y="-47625"/>
              <a:ext cx="2804160" cy="876681"/>
            </a:xfrm>
            <a:prstGeom prst="rect">
              <a:avLst/>
            </a:prstGeom>
          </p:spPr>
          <p:txBody>
            <a:bodyPr lIns="0" tIns="0" rIns="0" bIns="0" rtlCol="0" anchor="ctr"/>
            <a:lstStyle/>
            <a:p>
              <a:pPr algn="ctr">
                <a:lnSpc>
                  <a:spcPts val="2640"/>
                </a:lnSpc>
              </a:pPr>
              <a:r>
                <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rPr>
                <a:t>Q&amp;A</a:t>
              </a:r>
              <a:endPar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4" name="Group 14"/>
          <p:cNvGrpSpPr/>
          <p:nvPr/>
        </p:nvGrpSpPr>
        <p:grpSpPr>
          <a:xfrm rot="0">
            <a:off x="901703" y="2456183"/>
            <a:ext cx="16484603" cy="1488443"/>
            <a:chOff x="0" y="0"/>
            <a:chExt cx="21979471" cy="1984591"/>
          </a:xfrm>
        </p:grpSpPr>
        <p:sp>
          <p:nvSpPr>
            <p:cNvPr id="15" name="Freeform 15"/>
            <p:cNvSpPr/>
            <p:nvPr/>
          </p:nvSpPr>
          <p:spPr>
            <a:xfrm>
              <a:off x="0" y="0"/>
              <a:ext cx="21979382" cy="1984502"/>
            </a:xfrm>
            <a:custGeom>
              <a:avLst/>
              <a:gdLst/>
              <a:ahLst/>
              <a:cxnLst/>
              <a:rect l="l" t="t" r="r" b="b"/>
              <a:pathLst>
                <a:path w="21979382" h="1984502">
                  <a:moveTo>
                    <a:pt x="0" y="248031"/>
                  </a:moveTo>
                  <a:cubicBezTo>
                    <a:pt x="0" y="111125"/>
                    <a:pt x="111125" y="0"/>
                    <a:pt x="248031" y="0"/>
                  </a:cubicBezTo>
                  <a:lnTo>
                    <a:pt x="21731351" y="0"/>
                  </a:lnTo>
                  <a:cubicBezTo>
                    <a:pt x="21868383" y="0"/>
                    <a:pt x="21979382" y="111125"/>
                    <a:pt x="21979382" y="248031"/>
                  </a:cubicBezTo>
                  <a:lnTo>
                    <a:pt x="21979382" y="1736471"/>
                  </a:lnTo>
                  <a:cubicBezTo>
                    <a:pt x="21979382" y="1873504"/>
                    <a:pt x="21868257" y="1984502"/>
                    <a:pt x="21731351" y="1984502"/>
                  </a:cubicBezTo>
                  <a:lnTo>
                    <a:pt x="248031" y="1984502"/>
                  </a:lnTo>
                  <a:cubicBezTo>
                    <a:pt x="111125" y="1984629"/>
                    <a:pt x="0" y="1873504"/>
                    <a:pt x="0" y="1736471"/>
                  </a:cubicBezTo>
                  <a:close/>
                </a:path>
              </a:pathLst>
            </a:custGeom>
            <a:solidFill>
              <a:srgbClr val="14213D"/>
            </a:solidFill>
            <a:ln w="25400" cap="sq">
              <a:solidFill>
                <a:srgbClr val="14213D"/>
              </a:solidFill>
              <a:prstDash val="solid"/>
              <a:miter/>
            </a:ln>
          </p:spPr>
        </p:sp>
      </p:grpSp>
      <p:grpSp>
        <p:nvGrpSpPr>
          <p:cNvPr id="16" name="Group 16"/>
          <p:cNvGrpSpPr/>
          <p:nvPr/>
        </p:nvGrpSpPr>
        <p:grpSpPr>
          <a:xfrm rot="0">
            <a:off x="1371600" y="2468880"/>
            <a:ext cx="2377440" cy="1463040"/>
            <a:chOff x="0" y="0"/>
            <a:chExt cx="3169920" cy="1950720"/>
          </a:xfrm>
        </p:grpSpPr>
        <p:sp>
          <p:nvSpPr>
            <p:cNvPr id="17" name="Freeform 17"/>
            <p:cNvSpPr/>
            <p:nvPr/>
          </p:nvSpPr>
          <p:spPr>
            <a:xfrm>
              <a:off x="0" y="0"/>
              <a:ext cx="3169920" cy="1950720"/>
            </a:xfrm>
            <a:custGeom>
              <a:avLst/>
              <a:gdLst/>
              <a:ahLst/>
              <a:cxnLst/>
              <a:rect l="l" t="t" r="r" b="b"/>
              <a:pathLst>
                <a:path w="3169920" h="1950720">
                  <a:moveTo>
                    <a:pt x="0" y="0"/>
                  </a:moveTo>
                  <a:lnTo>
                    <a:pt x="3169920" y="0"/>
                  </a:lnTo>
                  <a:lnTo>
                    <a:pt x="3169920" y="1950720"/>
                  </a:lnTo>
                  <a:lnTo>
                    <a:pt x="0" y="1950720"/>
                  </a:lnTo>
                  <a:close/>
                </a:path>
              </a:pathLst>
            </a:custGeom>
            <a:blipFill>
              <a:blip r:embed="rId1">
                <a:alphaModFix amt="0"/>
              </a:blip>
              <a:stretch>
                <a:fillRect l="-28956" r="-28956"/>
              </a:stretch>
            </a:blipFill>
          </p:spPr>
        </p:sp>
        <p:sp>
          <p:nvSpPr>
            <p:cNvPr id="18" name="TextBox 18"/>
            <p:cNvSpPr txBox="1"/>
            <p:nvPr/>
          </p:nvSpPr>
          <p:spPr>
            <a:xfrm>
              <a:off x="0" y="-38100"/>
              <a:ext cx="3169920" cy="1988820"/>
            </a:xfrm>
            <a:prstGeom prst="rect">
              <a:avLst/>
            </a:prstGeom>
          </p:spPr>
          <p:txBody>
            <a:bodyPr lIns="0" tIns="0" rIns="0" bIns="0" rtlCol="0" anchor="ctr"/>
            <a:lstStyle/>
            <a:p>
              <a:pPr algn="l">
                <a:lnSpc>
                  <a:spcPts val="2400"/>
                </a:lnSpc>
              </a:pPr>
              <a:r>
                <a:rPr lang="en-US" sz="20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KHI BỊ HỎI</a:t>
              </a:r>
              <a:endParaRPr lang="en-US" sz="20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9" name="Group 19"/>
          <p:cNvGrpSpPr/>
          <p:nvPr/>
        </p:nvGrpSpPr>
        <p:grpSpPr>
          <a:xfrm rot="0">
            <a:off x="3749040" y="2468880"/>
            <a:ext cx="13167360" cy="1463040"/>
            <a:chOff x="0" y="0"/>
            <a:chExt cx="17556480" cy="1950720"/>
          </a:xfrm>
        </p:grpSpPr>
        <p:sp>
          <p:nvSpPr>
            <p:cNvPr id="20" name="Freeform 20"/>
            <p:cNvSpPr/>
            <p:nvPr/>
          </p:nvSpPr>
          <p:spPr>
            <a:xfrm>
              <a:off x="0" y="0"/>
              <a:ext cx="17556480" cy="1950720"/>
            </a:xfrm>
            <a:custGeom>
              <a:avLst/>
              <a:gdLst/>
              <a:ahLst/>
              <a:cxnLst/>
              <a:rect l="l" t="t" r="r" b="b"/>
              <a:pathLst>
                <a:path w="17556480" h="1950720">
                  <a:moveTo>
                    <a:pt x="0" y="0"/>
                  </a:moveTo>
                  <a:lnTo>
                    <a:pt x="17556480" y="0"/>
                  </a:lnTo>
                  <a:lnTo>
                    <a:pt x="17556480" y="1950720"/>
                  </a:lnTo>
                  <a:lnTo>
                    <a:pt x="0" y="1950720"/>
                  </a:lnTo>
                  <a:close/>
                </a:path>
              </a:pathLst>
            </a:custGeom>
            <a:blipFill>
              <a:blip r:embed="rId1">
                <a:alphaModFix amt="0"/>
              </a:blip>
              <a:stretch>
                <a:fillRect t="-125365" b="-125365"/>
              </a:stretch>
            </a:blipFill>
          </p:spPr>
        </p:sp>
        <p:sp>
          <p:nvSpPr>
            <p:cNvPr id="21" name="TextBox 21"/>
            <p:cNvSpPr txBox="1"/>
            <p:nvPr/>
          </p:nvSpPr>
          <p:spPr>
            <a:xfrm>
              <a:off x="0" y="-57150"/>
              <a:ext cx="17556480" cy="2007870"/>
            </a:xfrm>
            <a:prstGeom prst="rect">
              <a:avLst/>
            </a:prstGeom>
          </p:spPr>
          <p:txBody>
            <a:bodyPr lIns="0" tIns="0" rIns="0" bIns="0" rtlCol="0" anchor="ctr"/>
            <a:lstStyle/>
            <a:p>
              <a:pPr algn="l">
                <a:lnSpc>
                  <a:spcPts val="3840"/>
                </a:lnSpc>
              </a:pPr>
              <a:r>
                <a:rPr lang="en-US" sz="3200" i="1">
                  <a:solidFill>
                    <a:srgbClr val="FFFFFF"/>
                  </a:solidFill>
                  <a:latin typeface="Times New Roman" panose="02020603050405020304"/>
                  <a:ea typeface="Times New Roman" panose="02020603050405020304"/>
                  <a:cs typeface="Times New Roman" panose="02020603050405020304"/>
                  <a:sym typeface="Times New Roman" panose="02020603050405020304"/>
                </a:rPr>
                <a:t>“Chọn 30 nhịp/giây thế nào? Client 144 Hz thì sao?”</a:t>
              </a:r>
              <a:endParaRPr lang="en-US" sz="3200" i="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2" name="Group 22"/>
          <p:cNvGrpSpPr/>
          <p:nvPr/>
        </p:nvGrpSpPr>
        <p:grpSpPr>
          <a:xfrm rot="0">
            <a:off x="898522" y="4373242"/>
            <a:ext cx="16490947" cy="4786627"/>
            <a:chOff x="0" y="0"/>
            <a:chExt cx="21987929" cy="6382169"/>
          </a:xfrm>
        </p:grpSpPr>
        <p:sp>
          <p:nvSpPr>
            <p:cNvPr id="23" name="Freeform 23"/>
            <p:cNvSpPr/>
            <p:nvPr/>
          </p:nvSpPr>
          <p:spPr>
            <a:xfrm>
              <a:off x="0" y="0"/>
              <a:ext cx="21987890" cy="6382131"/>
            </a:xfrm>
            <a:custGeom>
              <a:avLst/>
              <a:gdLst/>
              <a:ahLst/>
              <a:cxnLst/>
              <a:rect l="l" t="t" r="r" b="b"/>
              <a:pathLst>
                <a:path w="21987890" h="6382131">
                  <a:moveTo>
                    <a:pt x="0" y="196342"/>
                  </a:moveTo>
                  <a:cubicBezTo>
                    <a:pt x="0" y="87884"/>
                    <a:pt x="87884" y="0"/>
                    <a:pt x="196342" y="0"/>
                  </a:cubicBezTo>
                  <a:lnTo>
                    <a:pt x="21791549" y="0"/>
                  </a:lnTo>
                  <a:cubicBezTo>
                    <a:pt x="21900007" y="0"/>
                    <a:pt x="21987890" y="87884"/>
                    <a:pt x="21987890" y="196342"/>
                  </a:cubicBezTo>
                  <a:lnTo>
                    <a:pt x="21987890" y="6185789"/>
                  </a:lnTo>
                  <a:cubicBezTo>
                    <a:pt x="21987890" y="6294247"/>
                    <a:pt x="21900007" y="6382131"/>
                    <a:pt x="21791549" y="6382131"/>
                  </a:cubicBezTo>
                  <a:lnTo>
                    <a:pt x="196342" y="6382131"/>
                  </a:lnTo>
                  <a:cubicBezTo>
                    <a:pt x="87884" y="6382131"/>
                    <a:pt x="0" y="6294247"/>
                    <a:pt x="0" y="6185789"/>
                  </a:cubicBezTo>
                  <a:close/>
                </a:path>
              </a:pathLst>
            </a:custGeom>
            <a:solidFill>
              <a:srgbClr val="EEF3F8"/>
            </a:solidFill>
            <a:ln w="31750" cap="sq">
              <a:solidFill>
                <a:srgbClr val="00897B"/>
              </a:solidFill>
              <a:prstDash val="dash"/>
              <a:miter/>
            </a:ln>
          </p:spPr>
        </p:sp>
      </p:grpSp>
      <p:grpSp>
        <p:nvGrpSpPr>
          <p:cNvPr id="24" name="Group 24"/>
          <p:cNvGrpSpPr/>
          <p:nvPr/>
        </p:nvGrpSpPr>
        <p:grpSpPr>
          <a:xfrm rot="0">
            <a:off x="1280160" y="4663440"/>
            <a:ext cx="15727680" cy="512064"/>
            <a:chOff x="0" y="0"/>
            <a:chExt cx="20970240" cy="682752"/>
          </a:xfrm>
        </p:grpSpPr>
        <p:sp>
          <p:nvSpPr>
            <p:cNvPr id="25" name="Freeform 25"/>
            <p:cNvSpPr/>
            <p:nvPr/>
          </p:nvSpPr>
          <p:spPr>
            <a:xfrm>
              <a:off x="0" y="0"/>
              <a:ext cx="20970239" cy="682752"/>
            </a:xfrm>
            <a:custGeom>
              <a:avLst/>
              <a:gdLst/>
              <a:ahLst/>
              <a:cxnLst/>
              <a:rect l="l" t="t" r="r" b="b"/>
              <a:pathLst>
                <a:path w="20970239" h="682752">
                  <a:moveTo>
                    <a:pt x="0" y="0"/>
                  </a:moveTo>
                  <a:lnTo>
                    <a:pt x="20970239" y="0"/>
                  </a:lnTo>
                  <a:lnTo>
                    <a:pt x="20970239" y="682752"/>
                  </a:lnTo>
                  <a:lnTo>
                    <a:pt x="0" y="682752"/>
                  </a:lnTo>
                  <a:close/>
                </a:path>
              </a:pathLst>
            </a:custGeom>
            <a:blipFill>
              <a:blip r:embed="rId1">
                <a:alphaModFix amt="0"/>
              </a:blip>
              <a:stretch>
                <a:fillRect t="-548469" b="-548469"/>
              </a:stretch>
            </a:blipFill>
          </p:spPr>
        </p:sp>
        <p:sp>
          <p:nvSpPr>
            <p:cNvPr id="26" name="TextBox 26"/>
            <p:cNvSpPr txBox="1"/>
            <p:nvPr/>
          </p:nvSpPr>
          <p:spPr>
            <a:xfrm>
              <a:off x="0" y="-38100"/>
              <a:ext cx="20970240" cy="720852"/>
            </a:xfrm>
            <a:prstGeom prst="rect">
              <a:avLst/>
            </a:prstGeom>
          </p:spPr>
          <p:txBody>
            <a:bodyPr lIns="0" tIns="0" rIns="0" bIns="0" rtlCol="0" anchor="ctr"/>
            <a:lstStyle/>
            <a:p>
              <a:pPr algn="l">
                <a:lnSpc>
                  <a:spcPts val="2400"/>
                </a:lnSpc>
              </a:pPr>
              <a:r>
                <a:rPr lang="en-US" sz="2000" b="1" spc="300">
                  <a:solidFill>
                    <a:srgbClr val="00897B"/>
                  </a:solidFill>
                  <a:latin typeface="Times New Roman" panose="02020603050405020304"/>
                  <a:ea typeface="Times New Roman" panose="02020603050405020304"/>
                  <a:cs typeface="Times New Roman" panose="02020603050405020304"/>
                  <a:sym typeface="Times New Roman" panose="02020603050405020304"/>
                </a:rPr>
                <a:t>NỘI DUNG CẦN ĐIỀN</a:t>
              </a:r>
              <a:endParaRPr lang="en-US" sz="2000" b="1" spc="300">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7" name="TextBox 27"/>
          <p:cNvSpPr txBox="1"/>
          <p:nvPr/>
        </p:nvSpPr>
        <p:spPr>
          <a:xfrm>
            <a:off x="1280160" y="5265420"/>
            <a:ext cx="15727680" cy="3604260"/>
          </a:xfrm>
          <a:prstGeom prst="rect">
            <a:avLst/>
          </a:prstGeom>
        </p:spPr>
        <p:txBody>
          <a:bodyPr lIns="0" tIns="0" rIns="0" bIns="0" rtlCol="0" anchor="t">
            <a:spAutoFit/>
          </a:bodyPr>
          <a:lstStyle/>
          <a:p>
            <a:pPr algn="l">
              <a:lnSpc>
                <a:spcPts val="2880"/>
              </a:lnSpc>
            </a:pPr>
            <a:r>
              <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rPr>
              <a:t>Phạm vi: tần số mô phỏng và tần số gửi ảnh</a:t>
            </a:r>
            <a:endPar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2880"/>
              </a:lnSpc>
            </a:pPr>
            <a:r>
              <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rPr>
              <a:t>Lấy từ NoiDung_ChiTiet.md, VĐ1. Câu trả lời mẫu: phụ lục A.</a:t>
            </a:r>
            <a:endPar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 name="TextBox 28"/>
          <p:cNvSpPr txBox="1"/>
          <p:nvPr/>
        </p:nvSpPr>
        <p:spPr>
          <a:xfrm>
            <a:off x="16550640" y="9517380"/>
            <a:ext cx="731520" cy="495300"/>
          </a:xfrm>
          <a:prstGeom prst="rect">
            <a:avLst/>
          </a:prstGeom>
        </p:spPr>
        <p:txBody>
          <a:bodyPr lIns="0" tIns="0" rIns="0" bIns="0" rtlCol="0" anchor="t">
            <a:spAutoFit/>
          </a:bodyPr>
          <a:lstStyle/>
          <a:p>
            <a:pPr algn="r">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25</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8" name="Header band"/>
          <p:cNvSpPr/>
          <p:nvPr/>
        </p:nvSpPr>
        <p:spPr>
          <a:xfrm>
            <a:off x="0" y="0"/>
            <a:ext cx="18288000" cy="2103120"/>
          </a:xfrm>
          <a:prstGeom prst="rect">
            <a:avLst/>
          </a:prstGeom>
          <a:solidFill>
            <a:srgbClr val="14213D"/>
          </a:solidFill>
          <a:ln>
            <a:noFill/>
          </a:ln>
        </p:spPr>
        <p:txBody>
          <a:bodyPr/>
          <a:p/>
        </p:txBody>
      </p:sp>
      <p:sp>
        <p:nvSpPr>
          <p:cNvPr id="9019" name="Header rule"/>
          <p:cNvSpPr/>
          <p:nvPr/>
        </p:nvSpPr>
        <p:spPr>
          <a:xfrm>
            <a:off x="0" y="2103120"/>
            <a:ext cx="18288000" cy="64008"/>
          </a:xfrm>
          <a:prstGeom prst="rect">
            <a:avLst/>
          </a:prstGeom>
          <a:solidFill>
            <a:srgbClr val="00897B"/>
          </a:solidFill>
          <a:ln>
            <a:noFill/>
          </a:ln>
        </p:spPr>
        <p:txBody>
          <a:bodyPr/>
          <a:p/>
        </p:txBody>
      </p:sp>
      <p:grpSp>
        <p:nvGrpSpPr>
          <p:cNvPr id="2" name="Group 2"/>
          <p:cNvGrpSpPr/>
          <p:nvPr/>
        </p:nvGrpSpPr>
        <p:grpSpPr>
          <a:xfrm rot="0">
            <a:off x="914400" y="9509760"/>
            <a:ext cx="12801600" cy="548640"/>
            <a:chOff x="0" y="0"/>
            <a:chExt cx="17068800" cy="731520"/>
          </a:xfrm>
        </p:grpSpPr>
        <p:sp>
          <p:nvSpPr>
            <p:cNvPr id="3" name="Freeform 3"/>
            <p:cNvSpPr/>
            <p:nvPr/>
          </p:nvSpPr>
          <p:spPr>
            <a:xfrm>
              <a:off x="0" y="0"/>
              <a:ext cx="17068800" cy="731520"/>
            </a:xfrm>
            <a:custGeom>
              <a:avLst/>
              <a:gdLst/>
              <a:ahLst/>
              <a:cxnLst/>
              <a:rect l="l" t="t" r="r" b="b"/>
              <a:pathLst>
                <a:path w="17068800" h="731520">
                  <a:moveTo>
                    <a:pt x="0" y="0"/>
                  </a:moveTo>
                  <a:lnTo>
                    <a:pt x="17068800" y="0"/>
                  </a:lnTo>
                  <a:lnTo>
                    <a:pt x="17068800" y="731520"/>
                  </a:lnTo>
                  <a:lnTo>
                    <a:pt x="0" y="731520"/>
                  </a:lnTo>
                  <a:close/>
                </a:path>
              </a:pathLst>
            </a:custGeom>
            <a:blipFill>
              <a:blip r:embed="rId1">
                <a:alphaModFix amt="0"/>
              </a:blip>
              <a:stretch>
                <a:fillRect t="-404650" b="-404650"/>
              </a:stretch>
            </a:blipFill>
          </p:spPr>
          <p:txBody>
            <a:bodyPr/>
            <a:p/>
          </p:txBody>
        </p:sp>
        <p:sp>
          <p:nvSpPr>
            <p:cNvPr id="4" name="TextBox 4"/>
            <p:cNvSpPr txBox="1"/>
            <p:nvPr/>
          </p:nvSpPr>
          <p:spPr>
            <a:xfrm>
              <a:off x="0" y="-38100"/>
              <a:ext cx="17068800" cy="769620"/>
            </a:xfrm>
            <a:prstGeom prst="rect">
              <a:avLst/>
            </a:prstGeom>
          </p:spPr>
          <p:txBody>
            <a:bodyPr lIns="0" tIns="0" rIns="0" bIns="0" rtlCol="0" anchor="ctr"/>
            <a:lstStyle/>
            <a:p>
              <a:pPr algn="l">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T47 · Kỹ thuật mạng cho game thời gian thực · Lập trình mạng</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5" name="TextBox 5"/>
          <p:cNvSpPr txBox="1"/>
          <p:nvPr/>
        </p:nvSpPr>
        <p:spPr>
          <a:xfrm>
            <a:off x="914400" y="384048"/>
            <a:ext cx="13898880" cy="559689"/>
          </a:xfrm>
          <a:prstGeom prst="rect">
            <a:avLst/>
          </a:prstGeom>
        </p:spPr>
        <p:txBody>
          <a:bodyPr lIns="0" tIns="0" rIns="0" bIns="0" rtlCol="0" anchor="t">
            <a:spAutoFit/>
          </a:bodyPr>
          <a:lstStyle/>
          <a:p>
            <a:pPr algn="l">
              <a:lnSpc>
                <a:spcPts val="2640"/>
              </a:lnSpc>
            </a:pPr>
            <a:r>
              <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DỰ PHÒNG D4 · NGUỒN: VĐ1</a:t>
            </a:r>
            <a:endPar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6" name="Group 6"/>
          <p:cNvGrpSpPr/>
          <p:nvPr/>
        </p:nvGrpSpPr>
        <p:grpSpPr>
          <a:xfrm rot="0">
            <a:off x="914400" y="768096"/>
            <a:ext cx="14081760" cy="1097280"/>
            <a:chOff x="0" y="0"/>
            <a:chExt cx="18775680" cy="1463040"/>
          </a:xfrm>
        </p:grpSpPr>
        <p:sp>
          <p:nvSpPr>
            <p:cNvPr id="7" name="Freeform 7"/>
            <p:cNvSpPr/>
            <p:nvPr/>
          </p:nvSpPr>
          <p:spPr>
            <a:xfrm>
              <a:off x="0" y="0"/>
              <a:ext cx="18775680" cy="1463040"/>
            </a:xfrm>
            <a:custGeom>
              <a:avLst/>
              <a:gdLst/>
              <a:ahLst/>
              <a:cxnLst/>
              <a:rect l="l" t="t" r="r" b="b"/>
              <a:pathLst>
                <a:path w="18775680" h="1463040">
                  <a:moveTo>
                    <a:pt x="0" y="0"/>
                  </a:moveTo>
                  <a:lnTo>
                    <a:pt x="18775680" y="0"/>
                  </a:lnTo>
                  <a:lnTo>
                    <a:pt x="18775680" y="1463040"/>
                  </a:lnTo>
                  <a:lnTo>
                    <a:pt x="0" y="1463040"/>
                  </a:lnTo>
                  <a:close/>
                </a:path>
              </a:pathLst>
            </a:custGeom>
            <a:blipFill>
              <a:blip r:embed="rId1">
                <a:alphaModFix amt="0"/>
              </a:blip>
              <a:stretch>
                <a:fillRect t="-200057" b="-200057"/>
              </a:stretch>
            </a:blipFill>
          </p:spPr>
          <p:txBody>
            <a:bodyPr/>
            <a:p/>
          </p:txBody>
        </p:sp>
        <p:sp>
          <p:nvSpPr>
            <p:cNvPr id="8" name="TextBox 8"/>
            <p:cNvSpPr txBox="1"/>
            <p:nvPr/>
          </p:nvSpPr>
          <p:spPr>
            <a:xfrm>
              <a:off x="0" y="-9525"/>
              <a:ext cx="18775680" cy="1472565"/>
            </a:xfrm>
            <a:prstGeom prst="rect">
              <a:avLst/>
            </a:prstGeom>
          </p:spPr>
          <p:txBody>
            <a:bodyPr lIns="0" tIns="0" rIns="0" bIns="0" rtlCol="0" anchor="ctr"/>
            <a:lstStyle/>
            <a:p>
              <a:pPr algn="l">
                <a:lnSpc>
                  <a:spcPts val="6900"/>
                </a:lnSpc>
              </a:pPr>
              <a:r>
                <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rPr>
                <a:t>Hàng đợi lệnh ở server</a:t>
              </a:r>
              <a:endPar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9" name="Group 9"/>
          <p:cNvGrpSpPr/>
          <p:nvPr/>
        </p:nvGrpSpPr>
        <p:grpSpPr>
          <a:xfrm rot="0">
            <a:off x="15257783" y="682247"/>
            <a:ext cx="2128523" cy="647195"/>
            <a:chOff x="0" y="0"/>
            <a:chExt cx="2838031" cy="862927"/>
          </a:xfrm>
        </p:grpSpPr>
        <p:sp>
          <p:nvSpPr>
            <p:cNvPr id="10" name="Freeform 10"/>
            <p:cNvSpPr/>
            <p:nvPr/>
          </p:nvSpPr>
          <p:spPr>
            <a:xfrm>
              <a:off x="0" y="0"/>
              <a:ext cx="2837942" cy="862838"/>
            </a:xfrm>
            <a:custGeom>
              <a:avLst/>
              <a:gdLst/>
              <a:ahLst/>
              <a:cxnLst/>
              <a:rect l="l" t="t" r="r" b="b"/>
              <a:pathLst>
                <a:path w="2837942" h="862838">
                  <a:moveTo>
                    <a:pt x="0" y="431419"/>
                  </a:moveTo>
                  <a:cubicBezTo>
                    <a:pt x="0" y="193167"/>
                    <a:pt x="193167" y="0"/>
                    <a:pt x="431419" y="0"/>
                  </a:cubicBezTo>
                  <a:lnTo>
                    <a:pt x="2406523" y="0"/>
                  </a:lnTo>
                  <a:cubicBezTo>
                    <a:pt x="2644775" y="0"/>
                    <a:pt x="2837942" y="193167"/>
                    <a:pt x="2837942" y="431419"/>
                  </a:cubicBezTo>
                  <a:cubicBezTo>
                    <a:pt x="2837942" y="669671"/>
                    <a:pt x="2644775" y="862838"/>
                    <a:pt x="2406523" y="862838"/>
                  </a:cubicBezTo>
                  <a:lnTo>
                    <a:pt x="431419" y="862838"/>
                  </a:lnTo>
                  <a:cubicBezTo>
                    <a:pt x="193167" y="862965"/>
                    <a:pt x="0" y="669798"/>
                    <a:pt x="0" y="431419"/>
                  </a:cubicBezTo>
                  <a:close/>
                </a:path>
              </a:pathLst>
            </a:custGeom>
            <a:solidFill>
              <a:srgbClr val="5B6B82"/>
            </a:solidFill>
            <a:ln w="25400" cap="sq">
              <a:solidFill>
                <a:srgbClr val="5B6B82"/>
              </a:solidFill>
              <a:prstDash val="solid"/>
              <a:miter/>
            </a:ln>
          </p:spPr>
          <p:txBody>
            <a:bodyPr/>
            <a:p/>
          </p:txBody>
        </p:sp>
      </p:grpSp>
      <p:grpSp>
        <p:nvGrpSpPr>
          <p:cNvPr id="11" name="Group 11"/>
          <p:cNvGrpSpPr/>
          <p:nvPr/>
        </p:nvGrpSpPr>
        <p:grpSpPr>
          <a:xfrm rot="0">
            <a:off x="15270480" y="694944"/>
            <a:ext cx="2103120" cy="621792"/>
            <a:chOff x="0" y="0"/>
            <a:chExt cx="2804160" cy="829056"/>
          </a:xfrm>
        </p:grpSpPr>
        <p:sp>
          <p:nvSpPr>
            <p:cNvPr id="12" name="Freeform 12"/>
            <p:cNvSpPr/>
            <p:nvPr/>
          </p:nvSpPr>
          <p:spPr>
            <a:xfrm>
              <a:off x="0" y="0"/>
              <a:ext cx="2804160" cy="829056"/>
            </a:xfrm>
            <a:custGeom>
              <a:avLst/>
              <a:gdLst/>
              <a:ahLst/>
              <a:cxnLst/>
              <a:rect l="l" t="t" r="r" b="b"/>
              <a:pathLst>
                <a:path w="2804160" h="829056">
                  <a:moveTo>
                    <a:pt x="0" y="0"/>
                  </a:moveTo>
                  <a:lnTo>
                    <a:pt x="2804160" y="0"/>
                  </a:lnTo>
                  <a:lnTo>
                    <a:pt x="2804160" y="829056"/>
                  </a:lnTo>
                  <a:lnTo>
                    <a:pt x="0" y="829056"/>
                  </a:lnTo>
                  <a:close/>
                </a:path>
              </a:pathLst>
            </a:custGeom>
            <a:blipFill>
              <a:blip r:embed="rId1">
                <a:alphaModFix amt="0"/>
              </a:blip>
              <a:stretch>
                <a:fillRect t="-15905" b="-15905"/>
              </a:stretch>
            </a:blipFill>
          </p:spPr>
          <p:txBody>
            <a:bodyPr/>
            <a:p/>
          </p:txBody>
        </p:sp>
        <p:sp>
          <p:nvSpPr>
            <p:cNvPr id="13" name="TextBox 13"/>
            <p:cNvSpPr txBox="1"/>
            <p:nvPr/>
          </p:nvSpPr>
          <p:spPr>
            <a:xfrm>
              <a:off x="0" y="-47625"/>
              <a:ext cx="2804160" cy="876681"/>
            </a:xfrm>
            <a:prstGeom prst="rect">
              <a:avLst/>
            </a:prstGeom>
          </p:spPr>
          <p:txBody>
            <a:bodyPr lIns="0" tIns="0" rIns="0" bIns="0" rtlCol="0" anchor="ctr"/>
            <a:lstStyle/>
            <a:p>
              <a:pPr algn="ctr">
                <a:lnSpc>
                  <a:spcPts val="2640"/>
                </a:lnSpc>
              </a:pPr>
              <a:r>
                <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rPr>
                <a:t>Q&amp;A</a:t>
              </a:r>
              <a:endPar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4" name="Group 14"/>
          <p:cNvGrpSpPr/>
          <p:nvPr/>
        </p:nvGrpSpPr>
        <p:grpSpPr>
          <a:xfrm rot="0">
            <a:off x="901703" y="2456183"/>
            <a:ext cx="16484603" cy="1488443"/>
            <a:chOff x="0" y="0"/>
            <a:chExt cx="21979471" cy="1984591"/>
          </a:xfrm>
        </p:grpSpPr>
        <p:sp>
          <p:nvSpPr>
            <p:cNvPr id="15" name="Freeform 15"/>
            <p:cNvSpPr/>
            <p:nvPr/>
          </p:nvSpPr>
          <p:spPr>
            <a:xfrm>
              <a:off x="0" y="0"/>
              <a:ext cx="21979382" cy="1984502"/>
            </a:xfrm>
            <a:custGeom>
              <a:avLst/>
              <a:gdLst/>
              <a:ahLst/>
              <a:cxnLst/>
              <a:rect l="l" t="t" r="r" b="b"/>
              <a:pathLst>
                <a:path w="21979382" h="1984502">
                  <a:moveTo>
                    <a:pt x="0" y="248031"/>
                  </a:moveTo>
                  <a:cubicBezTo>
                    <a:pt x="0" y="111125"/>
                    <a:pt x="111125" y="0"/>
                    <a:pt x="248031" y="0"/>
                  </a:cubicBezTo>
                  <a:lnTo>
                    <a:pt x="21731351" y="0"/>
                  </a:lnTo>
                  <a:cubicBezTo>
                    <a:pt x="21868383" y="0"/>
                    <a:pt x="21979382" y="111125"/>
                    <a:pt x="21979382" y="248031"/>
                  </a:cubicBezTo>
                  <a:lnTo>
                    <a:pt x="21979382" y="1736471"/>
                  </a:lnTo>
                  <a:cubicBezTo>
                    <a:pt x="21979382" y="1873504"/>
                    <a:pt x="21868257" y="1984502"/>
                    <a:pt x="21731351" y="1984502"/>
                  </a:cubicBezTo>
                  <a:lnTo>
                    <a:pt x="248031" y="1984502"/>
                  </a:lnTo>
                  <a:cubicBezTo>
                    <a:pt x="111125" y="1984629"/>
                    <a:pt x="0" y="1873504"/>
                    <a:pt x="0" y="1736471"/>
                  </a:cubicBezTo>
                  <a:close/>
                </a:path>
              </a:pathLst>
            </a:custGeom>
            <a:solidFill>
              <a:srgbClr val="14213D"/>
            </a:solidFill>
            <a:ln w="25400" cap="sq">
              <a:solidFill>
                <a:srgbClr val="14213D"/>
              </a:solidFill>
              <a:prstDash val="solid"/>
              <a:miter/>
            </a:ln>
          </p:spPr>
          <p:txBody>
            <a:bodyPr/>
            <a:p/>
          </p:txBody>
        </p:sp>
      </p:grpSp>
      <p:grpSp>
        <p:nvGrpSpPr>
          <p:cNvPr id="16" name="Group 16"/>
          <p:cNvGrpSpPr/>
          <p:nvPr/>
        </p:nvGrpSpPr>
        <p:grpSpPr>
          <a:xfrm rot="0">
            <a:off x="1371600" y="2468880"/>
            <a:ext cx="2377440" cy="1463040"/>
            <a:chOff x="0" y="0"/>
            <a:chExt cx="3169920" cy="1950720"/>
          </a:xfrm>
        </p:grpSpPr>
        <p:sp>
          <p:nvSpPr>
            <p:cNvPr id="17" name="Freeform 17"/>
            <p:cNvSpPr/>
            <p:nvPr/>
          </p:nvSpPr>
          <p:spPr>
            <a:xfrm>
              <a:off x="0" y="0"/>
              <a:ext cx="3169920" cy="1950720"/>
            </a:xfrm>
            <a:custGeom>
              <a:avLst/>
              <a:gdLst/>
              <a:ahLst/>
              <a:cxnLst/>
              <a:rect l="l" t="t" r="r" b="b"/>
              <a:pathLst>
                <a:path w="3169920" h="1950720">
                  <a:moveTo>
                    <a:pt x="0" y="0"/>
                  </a:moveTo>
                  <a:lnTo>
                    <a:pt x="3169920" y="0"/>
                  </a:lnTo>
                  <a:lnTo>
                    <a:pt x="3169920" y="1950720"/>
                  </a:lnTo>
                  <a:lnTo>
                    <a:pt x="0" y="1950720"/>
                  </a:lnTo>
                  <a:close/>
                </a:path>
              </a:pathLst>
            </a:custGeom>
            <a:blipFill>
              <a:blip r:embed="rId1">
                <a:alphaModFix amt="0"/>
              </a:blip>
              <a:stretch>
                <a:fillRect l="-28956" r="-28956"/>
              </a:stretch>
            </a:blipFill>
          </p:spPr>
          <p:txBody>
            <a:bodyPr/>
            <a:p/>
          </p:txBody>
        </p:sp>
        <p:sp>
          <p:nvSpPr>
            <p:cNvPr id="18" name="TextBox 18"/>
            <p:cNvSpPr txBox="1"/>
            <p:nvPr/>
          </p:nvSpPr>
          <p:spPr>
            <a:xfrm>
              <a:off x="0" y="-38100"/>
              <a:ext cx="3169920" cy="1988820"/>
            </a:xfrm>
            <a:prstGeom prst="rect">
              <a:avLst/>
            </a:prstGeom>
          </p:spPr>
          <p:txBody>
            <a:bodyPr lIns="0" tIns="0" rIns="0" bIns="0" rtlCol="0" anchor="ctr"/>
            <a:lstStyle/>
            <a:p>
              <a:pPr algn="l">
                <a:lnSpc>
                  <a:spcPts val="2400"/>
                </a:lnSpc>
              </a:pPr>
              <a:r>
                <a:rPr lang="en-US" sz="20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KHI BỊ HỎI</a:t>
              </a:r>
              <a:endParaRPr lang="en-US" sz="20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9" name="Group 19"/>
          <p:cNvGrpSpPr/>
          <p:nvPr/>
        </p:nvGrpSpPr>
        <p:grpSpPr>
          <a:xfrm rot="0">
            <a:off x="3749040" y="2468880"/>
            <a:ext cx="13167360" cy="1463040"/>
            <a:chOff x="0" y="0"/>
            <a:chExt cx="17556480" cy="1950720"/>
          </a:xfrm>
        </p:grpSpPr>
        <p:sp>
          <p:nvSpPr>
            <p:cNvPr id="20" name="Freeform 20"/>
            <p:cNvSpPr/>
            <p:nvPr/>
          </p:nvSpPr>
          <p:spPr>
            <a:xfrm>
              <a:off x="0" y="0"/>
              <a:ext cx="17556480" cy="1950720"/>
            </a:xfrm>
            <a:custGeom>
              <a:avLst/>
              <a:gdLst/>
              <a:ahLst/>
              <a:cxnLst/>
              <a:rect l="l" t="t" r="r" b="b"/>
              <a:pathLst>
                <a:path w="17556480" h="1950720">
                  <a:moveTo>
                    <a:pt x="0" y="0"/>
                  </a:moveTo>
                  <a:lnTo>
                    <a:pt x="17556480" y="0"/>
                  </a:lnTo>
                  <a:lnTo>
                    <a:pt x="17556480" y="1950720"/>
                  </a:lnTo>
                  <a:lnTo>
                    <a:pt x="0" y="1950720"/>
                  </a:lnTo>
                  <a:close/>
                </a:path>
              </a:pathLst>
            </a:custGeom>
            <a:blipFill>
              <a:blip r:embed="rId1">
                <a:alphaModFix amt="0"/>
              </a:blip>
              <a:stretch>
                <a:fillRect t="-125365" b="-125365"/>
              </a:stretch>
            </a:blipFill>
          </p:spPr>
          <p:txBody>
            <a:bodyPr/>
            <a:p/>
          </p:txBody>
        </p:sp>
        <p:sp>
          <p:nvSpPr>
            <p:cNvPr id="21" name="TextBox 21"/>
            <p:cNvSpPr txBox="1"/>
            <p:nvPr/>
          </p:nvSpPr>
          <p:spPr>
            <a:xfrm>
              <a:off x="0" y="-57150"/>
              <a:ext cx="17556480" cy="2007870"/>
            </a:xfrm>
            <a:prstGeom prst="rect">
              <a:avLst/>
            </a:prstGeom>
          </p:spPr>
          <p:txBody>
            <a:bodyPr lIns="0" tIns="0" rIns="0" bIns="0" rtlCol="0" anchor="ctr"/>
            <a:lstStyle/>
            <a:p>
              <a:pPr algn="l">
                <a:lnSpc>
                  <a:spcPts val="3840"/>
                </a:lnSpc>
              </a:pPr>
              <a:r>
                <a:rPr lang="en-US" sz="3200" i="1">
                  <a:solidFill>
                    <a:srgbClr val="FFFFFF"/>
                  </a:solidFill>
                  <a:latin typeface="Times New Roman" panose="02020603050405020304"/>
                  <a:ea typeface="Times New Roman" panose="02020603050405020304"/>
                  <a:cs typeface="Times New Roman" panose="02020603050405020304"/>
                  <a:sym typeface="Times New Roman" panose="02020603050405020304"/>
                </a:rPr>
                <a:t>“Lệnh đến không đều thì server làm gì?”</a:t>
              </a:r>
              <a:endParaRPr lang="en-US" sz="3200" i="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2" name="Group 22"/>
          <p:cNvGrpSpPr/>
          <p:nvPr/>
        </p:nvGrpSpPr>
        <p:grpSpPr>
          <a:xfrm rot="0">
            <a:off x="898522" y="4373242"/>
            <a:ext cx="16490947" cy="4786627"/>
            <a:chOff x="0" y="0"/>
            <a:chExt cx="21987929" cy="6382169"/>
          </a:xfrm>
        </p:grpSpPr>
        <p:sp>
          <p:nvSpPr>
            <p:cNvPr id="23" name="Freeform 23"/>
            <p:cNvSpPr/>
            <p:nvPr/>
          </p:nvSpPr>
          <p:spPr>
            <a:xfrm>
              <a:off x="0" y="0"/>
              <a:ext cx="21987890" cy="6382131"/>
            </a:xfrm>
            <a:custGeom>
              <a:avLst/>
              <a:gdLst/>
              <a:ahLst/>
              <a:cxnLst/>
              <a:rect l="l" t="t" r="r" b="b"/>
              <a:pathLst>
                <a:path w="21987890" h="6382131">
                  <a:moveTo>
                    <a:pt x="0" y="196342"/>
                  </a:moveTo>
                  <a:cubicBezTo>
                    <a:pt x="0" y="87884"/>
                    <a:pt x="87884" y="0"/>
                    <a:pt x="196342" y="0"/>
                  </a:cubicBezTo>
                  <a:lnTo>
                    <a:pt x="21791549" y="0"/>
                  </a:lnTo>
                  <a:cubicBezTo>
                    <a:pt x="21900007" y="0"/>
                    <a:pt x="21987890" y="87884"/>
                    <a:pt x="21987890" y="196342"/>
                  </a:cubicBezTo>
                  <a:lnTo>
                    <a:pt x="21987890" y="6185789"/>
                  </a:lnTo>
                  <a:cubicBezTo>
                    <a:pt x="21987890" y="6294247"/>
                    <a:pt x="21900007" y="6382131"/>
                    <a:pt x="21791549" y="6382131"/>
                  </a:cubicBezTo>
                  <a:lnTo>
                    <a:pt x="196342" y="6382131"/>
                  </a:lnTo>
                  <a:cubicBezTo>
                    <a:pt x="87884" y="6382131"/>
                    <a:pt x="0" y="6294247"/>
                    <a:pt x="0" y="6185789"/>
                  </a:cubicBezTo>
                  <a:close/>
                </a:path>
              </a:pathLst>
            </a:custGeom>
            <a:solidFill>
              <a:srgbClr val="EEF3F8"/>
            </a:solidFill>
            <a:ln w="31750" cap="sq">
              <a:solidFill>
                <a:srgbClr val="00897B"/>
              </a:solidFill>
              <a:prstDash val="dash"/>
              <a:miter/>
            </a:ln>
          </p:spPr>
          <p:txBody>
            <a:bodyPr/>
            <a:p/>
          </p:txBody>
        </p:sp>
      </p:grpSp>
      <p:grpSp>
        <p:nvGrpSpPr>
          <p:cNvPr id="24" name="Group 24"/>
          <p:cNvGrpSpPr/>
          <p:nvPr/>
        </p:nvGrpSpPr>
        <p:grpSpPr>
          <a:xfrm rot="0">
            <a:off x="1280160" y="4663440"/>
            <a:ext cx="15727680" cy="512064"/>
            <a:chOff x="0" y="0"/>
            <a:chExt cx="20970240" cy="682752"/>
          </a:xfrm>
        </p:grpSpPr>
        <p:sp>
          <p:nvSpPr>
            <p:cNvPr id="25" name="Freeform 25"/>
            <p:cNvSpPr/>
            <p:nvPr/>
          </p:nvSpPr>
          <p:spPr>
            <a:xfrm>
              <a:off x="0" y="0"/>
              <a:ext cx="20970239" cy="682752"/>
            </a:xfrm>
            <a:custGeom>
              <a:avLst/>
              <a:gdLst/>
              <a:ahLst/>
              <a:cxnLst/>
              <a:rect l="l" t="t" r="r" b="b"/>
              <a:pathLst>
                <a:path w="20970239" h="682752">
                  <a:moveTo>
                    <a:pt x="0" y="0"/>
                  </a:moveTo>
                  <a:lnTo>
                    <a:pt x="20970239" y="0"/>
                  </a:lnTo>
                  <a:lnTo>
                    <a:pt x="20970239" y="682752"/>
                  </a:lnTo>
                  <a:lnTo>
                    <a:pt x="0" y="682752"/>
                  </a:lnTo>
                  <a:close/>
                </a:path>
              </a:pathLst>
            </a:custGeom>
            <a:blipFill>
              <a:blip r:embed="rId1">
                <a:alphaModFix amt="0"/>
              </a:blip>
              <a:stretch>
                <a:fillRect t="-548469" b="-548469"/>
              </a:stretch>
            </a:blipFill>
          </p:spPr>
          <p:txBody>
            <a:bodyPr/>
            <a:p/>
          </p:txBody>
        </p:sp>
        <p:sp>
          <p:nvSpPr>
            <p:cNvPr id="26" name="TextBox 26"/>
            <p:cNvSpPr txBox="1"/>
            <p:nvPr/>
          </p:nvSpPr>
          <p:spPr>
            <a:xfrm>
              <a:off x="0" y="-38100"/>
              <a:ext cx="20970240" cy="720852"/>
            </a:xfrm>
            <a:prstGeom prst="rect">
              <a:avLst/>
            </a:prstGeom>
          </p:spPr>
          <p:txBody>
            <a:bodyPr lIns="0" tIns="0" rIns="0" bIns="0" rtlCol="0" anchor="ctr"/>
            <a:lstStyle/>
            <a:p>
              <a:pPr algn="l">
                <a:lnSpc>
                  <a:spcPts val="2400"/>
                </a:lnSpc>
              </a:pPr>
              <a:r>
                <a:rPr lang="en-US" sz="2000" b="1" spc="300">
                  <a:solidFill>
                    <a:srgbClr val="00897B"/>
                  </a:solidFill>
                  <a:latin typeface="Times New Roman" panose="02020603050405020304"/>
                  <a:ea typeface="Times New Roman" panose="02020603050405020304"/>
                  <a:cs typeface="Times New Roman" panose="02020603050405020304"/>
                  <a:sym typeface="Times New Roman" panose="02020603050405020304"/>
                </a:rPr>
                <a:t>NỘI DUNG CẦN ĐIỀN</a:t>
              </a:r>
              <a:endParaRPr lang="en-US" sz="2000" b="1" spc="300">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7" name="TextBox 27"/>
          <p:cNvSpPr txBox="1"/>
          <p:nvPr/>
        </p:nvSpPr>
        <p:spPr>
          <a:xfrm>
            <a:off x="1280160" y="5265420"/>
            <a:ext cx="15727680" cy="3604260"/>
          </a:xfrm>
          <a:prstGeom prst="rect">
            <a:avLst/>
          </a:prstGeom>
        </p:spPr>
        <p:txBody>
          <a:bodyPr lIns="0" tIns="0" rIns="0" bIns="0" rtlCol="0" anchor="t">
            <a:spAutoFit/>
          </a:bodyPr>
          <a:lstStyle/>
          <a:p>
            <a:pPr algn="l">
              <a:lnSpc>
                <a:spcPts val="2880"/>
              </a:lnSpc>
            </a:pPr>
            <a:r>
              <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rPr>
              <a:t>Phạm vi: quỹ lượt (1 lượt/nhịp, để dành tối đa 3), thiếu lệnh, dồn lệnh, chống hack tốc độ; vì sao không dùng lại lệnh trước</a:t>
            </a:r>
            <a:endPar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2880"/>
              </a:lnSpc>
            </a:pPr>
            <a:r>
              <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rPr>
              <a:t>Lấy từ NoiDung_ChiTiet.md, VĐ1. Câu trả lời mẫu: phụ lục A.</a:t>
            </a:r>
            <a:endPar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 name="TextBox 28"/>
          <p:cNvSpPr txBox="1"/>
          <p:nvPr/>
        </p:nvSpPr>
        <p:spPr>
          <a:xfrm>
            <a:off x="16550640" y="9517380"/>
            <a:ext cx="731520" cy="495300"/>
          </a:xfrm>
          <a:prstGeom prst="rect">
            <a:avLst/>
          </a:prstGeom>
        </p:spPr>
        <p:txBody>
          <a:bodyPr lIns="0" tIns="0" rIns="0" bIns="0" rtlCol="0" anchor="t">
            <a:spAutoFit/>
          </a:bodyPr>
          <a:lstStyle/>
          <a:p>
            <a:pPr algn="r">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26</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20" name="Header band"/>
          <p:cNvSpPr/>
          <p:nvPr/>
        </p:nvSpPr>
        <p:spPr>
          <a:xfrm>
            <a:off x="0" y="0"/>
            <a:ext cx="18288000" cy="2103120"/>
          </a:xfrm>
          <a:prstGeom prst="rect">
            <a:avLst/>
          </a:prstGeom>
          <a:solidFill>
            <a:srgbClr val="14213D"/>
          </a:solidFill>
          <a:ln>
            <a:noFill/>
          </a:ln>
        </p:spPr>
      </p:sp>
      <p:sp>
        <p:nvSpPr>
          <p:cNvPr id="9021" name="Header rule"/>
          <p:cNvSpPr/>
          <p:nvPr/>
        </p:nvSpPr>
        <p:spPr>
          <a:xfrm>
            <a:off x="0" y="2103120"/>
            <a:ext cx="18288000" cy="64008"/>
          </a:xfrm>
          <a:prstGeom prst="rect">
            <a:avLst/>
          </a:prstGeom>
          <a:solidFill>
            <a:srgbClr val="00897B"/>
          </a:solidFill>
          <a:ln>
            <a:noFill/>
          </a:ln>
        </p:spPr>
      </p:sp>
      <p:grpSp>
        <p:nvGrpSpPr>
          <p:cNvPr id="2" name="Group 2"/>
          <p:cNvGrpSpPr/>
          <p:nvPr/>
        </p:nvGrpSpPr>
        <p:grpSpPr>
          <a:xfrm rot="0">
            <a:off x="914400" y="9509760"/>
            <a:ext cx="12801600" cy="548640"/>
            <a:chOff x="0" y="0"/>
            <a:chExt cx="17068800" cy="731520"/>
          </a:xfrm>
        </p:grpSpPr>
        <p:sp>
          <p:nvSpPr>
            <p:cNvPr id="3" name="Freeform 3"/>
            <p:cNvSpPr/>
            <p:nvPr/>
          </p:nvSpPr>
          <p:spPr>
            <a:xfrm>
              <a:off x="0" y="0"/>
              <a:ext cx="17068800" cy="731520"/>
            </a:xfrm>
            <a:custGeom>
              <a:avLst/>
              <a:gdLst/>
              <a:ahLst/>
              <a:cxnLst/>
              <a:rect l="l" t="t" r="r" b="b"/>
              <a:pathLst>
                <a:path w="17068800" h="731520">
                  <a:moveTo>
                    <a:pt x="0" y="0"/>
                  </a:moveTo>
                  <a:lnTo>
                    <a:pt x="17068800" y="0"/>
                  </a:lnTo>
                  <a:lnTo>
                    <a:pt x="17068800" y="731520"/>
                  </a:lnTo>
                  <a:lnTo>
                    <a:pt x="0" y="731520"/>
                  </a:lnTo>
                  <a:close/>
                </a:path>
              </a:pathLst>
            </a:custGeom>
            <a:blipFill>
              <a:blip r:embed="rId1">
                <a:alphaModFix amt="0"/>
              </a:blip>
              <a:stretch>
                <a:fillRect t="-404650" b="-404650"/>
              </a:stretch>
            </a:blipFill>
          </p:spPr>
        </p:sp>
        <p:sp>
          <p:nvSpPr>
            <p:cNvPr id="4" name="TextBox 4"/>
            <p:cNvSpPr txBox="1"/>
            <p:nvPr/>
          </p:nvSpPr>
          <p:spPr>
            <a:xfrm>
              <a:off x="0" y="-38100"/>
              <a:ext cx="17068800" cy="769620"/>
            </a:xfrm>
            <a:prstGeom prst="rect">
              <a:avLst/>
            </a:prstGeom>
          </p:spPr>
          <p:txBody>
            <a:bodyPr lIns="0" tIns="0" rIns="0" bIns="0" rtlCol="0" anchor="ctr"/>
            <a:lstStyle/>
            <a:p>
              <a:pPr algn="l">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T47 · Kỹ thuật mạng cho game thời gian thực · Lập trình mạng</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5" name="TextBox 5"/>
          <p:cNvSpPr txBox="1"/>
          <p:nvPr/>
        </p:nvSpPr>
        <p:spPr>
          <a:xfrm>
            <a:off x="914400" y="384048"/>
            <a:ext cx="13898880" cy="559689"/>
          </a:xfrm>
          <a:prstGeom prst="rect">
            <a:avLst/>
          </a:prstGeom>
        </p:spPr>
        <p:txBody>
          <a:bodyPr lIns="0" tIns="0" rIns="0" bIns="0" rtlCol="0" anchor="t">
            <a:spAutoFit/>
          </a:bodyPr>
          <a:lstStyle/>
          <a:p>
            <a:pPr algn="l">
              <a:lnSpc>
                <a:spcPts val="2640"/>
              </a:lnSpc>
            </a:pPr>
            <a:r>
              <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DỰ PHÒNG D5 · NGUỒN: MỤC 5</a:t>
            </a:r>
            <a:endPar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6" name="Group 6"/>
          <p:cNvGrpSpPr/>
          <p:nvPr/>
        </p:nvGrpSpPr>
        <p:grpSpPr>
          <a:xfrm rot="0">
            <a:off x="914400" y="768096"/>
            <a:ext cx="14081760" cy="1097280"/>
            <a:chOff x="0" y="0"/>
            <a:chExt cx="18775680" cy="1463040"/>
          </a:xfrm>
        </p:grpSpPr>
        <p:sp>
          <p:nvSpPr>
            <p:cNvPr id="7" name="Freeform 7"/>
            <p:cNvSpPr/>
            <p:nvPr/>
          </p:nvSpPr>
          <p:spPr>
            <a:xfrm>
              <a:off x="0" y="0"/>
              <a:ext cx="18775680" cy="1463040"/>
            </a:xfrm>
            <a:custGeom>
              <a:avLst/>
              <a:gdLst/>
              <a:ahLst/>
              <a:cxnLst/>
              <a:rect l="l" t="t" r="r" b="b"/>
              <a:pathLst>
                <a:path w="18775680" h="1463040">
                  <a:moveTo>
                    <a:pt x="0" y="0"/>
                  </a:moveTo>
                  <a:lnTo>
                    <a:pt x="18775680" y="0"/>
                  </a:lnTo>
                  <a:lnTo>
                    <a:pt x="18775680" y="1463040"/>
                  </a:lnTo>
                  <a:lnTo>
                    <a:pt x="0" y="1463040"/>
                  </a:lnTo>
                  <a:close/>
                </a:path>
              </a:pathLst>
            </a:custGeom>
            <a:blipFill>
              <a:blip r:embed="rId1">
                <a:alphaModFix amt="0"/>
              </a:blip>
              <a:stretch>
                <a:fillRect t="-200057" b="-200057"/>
              </a:stretch>
            </a:blipFill>
          </p:spPr>
        </p:sp>
        <p:sp>
          <p:nvSpPr>
            <p:cNvPr id="8" name="TextBox 8"/>
            <p:cNvSpPr txBox="1"/>
            <p:nvPr/>
          </p:nvSpPr>
          <p:spPr>
            <a:xfrm>
              <a:off x="0" y="-9525"/>
              <a:ext cx="18775680" cy="1472565"/>
            </a:xfrm>
            <a:prstGeom prst="rect">
              <a:avLst/>
            </a:prstGeom>
          </p:spPr>
          <p:txBody>
            <a:bodyPr lIns="0" tIns="0" rIns="0" bIns="0" rtlCol="0" anchor="ctr"/>
            <a:lstStyle/>
            <a:p>
              <a:pPr algn="l">
                <a:lnSpc>
                  <a:spcPts val="6900"/>
                </a:lnSpc>
              </a:pPr>
              <a:r>
                <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rPr>
                <a:t>Bảng giao thức</a:t>
              </a:r>
              <a:endPar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9" name="Group 9"/>
          <p:cNvGrpSpPr/>
          <p:nvPr/>
        </p:nvGrpSpPr>
        <p:grpSpPr>
          <a:xfrm rot="0">
            <a:off x="15257783" y="682247"/>
            <a:ext cx="2128523" cy="647195"/>
            <a:chOff x="0" y="0"/>
            <a:chExt cx="2838031" cy="862927"/>
          </a:xfrm>
        </p:grpSpPr>
        <p:sp>
          <p:nvSpPr>
            <p:cNvPr id="10" name="Freeform 10"/>
            <p:cNvSpPr/>
            <p:nvPr/>
          </p:nvSpPr>
          <p:spPr>
            <a:xfrm>
              <a:off x="0" y="0"/>
              <a:ext cx="2837942" cy="862838"/>
            </a:xfrm>
            <a:custGeom>
              <a:avLst/>
              <a:gdLst/>
              <a:ahLst/>
              <a:cxnLst/>
              <a:rect l="l" t="t" r="r" b="b"/>
              <a:pathLst>
                <a:path w="2837942" h="862838">
                  <a:moveTo>
                    <a:pt x="0" y="431419"/>
                  </a:moveTo>
                  <a:cubicBezTo>
                    <a:pt x="0" y="193167"/>
                    <a:pt x="193167" y="0"/>
                    <a:pt x="431419" y="0"/>
                  </a:cubicBezTo>
                  <a:lnTo>
                    <a:pt x="2406523" y="0"/>
                  </a:lnTo>
                  <a:cubicBezTo>
                    <a:pt x="2644775" y="0"/>
                    <a:pt x="2837942" y="193167"/>
                    <a:pt x="2837942" y="431419"/>
                  </a:cubicBezTo>
                  <a:cubicBezTo>
                    <a:pt x="2837942" y="669671"/>
                    <a:pt x="2644775" y="862838"/>
                    <a:pt x="2406523" y="862838"/>
                  </a:cubicBezTo>
                  <a:lnTo>
                    <a:pt x="431419" y="862838"/>
                  </a:lnTo>
                  <a:cubicBezTo>
                    <a:pt x="193167" y="862965"/>
                    <a:pt x="0" y="669798"/>
                    <a:pt x="0" y="431419"/>
                  </a:cubicBezTo>
                  <a:close/>
                </a:path>
              </a:pathLst>
            </a:custGeom>
            <a:solidFill>
              <a:srgbClr val="5B6B82"/>
            </a:solidFill>
            <a:ln w="25400" cap="sq">
              <a:solidFill>
                <a:srgbClr val="5B6B82"/>
              </a:solidFill>
              <a:prstDash val="solid"/>
              <a:miter/>
            </a:ln>
          </p:spPr>
        </p:sp>
      </p:grpSp>
      <p:grpSp>
        <p:nvGrpSpPr>
          <p:cNvPr id="11" name="Group 11"/>
          <p:cNvGrpSpPr/>
          <p:nvPr/>
        </p:nvGrpSpPr>
        <p:grpSpPr>
          <a:xfrm rot="0">
            <a:off x="15270480" y="694944"/>
            <a:ext cx="2103120" cy="621792"/>
            <a:chOff x="0" y="0"/>
            <a:chExt cx="2804160" cy="829056"/>
          </a:xfrm>
        </p:grpSpPr>
        <p:sp>
          <p:nvSpPr>
            <p:cNvPr id="12" name="Freeform 12"/>
            <p:cNvSpPr/>
            <p:nvPr/>
          </p:nvSpPr>
          <p:spPr>
            <a:xfrm>
              <a:off x="0" y="0"/>
              <a:ext cx="2804160" cy="829056"/>
            </a:xfrm>
            <a:custGeom>
              <a:avLst/>
              <a:gdLst/>
              <a:ahLst/>
              <a:cxnLst/>
              <a:rect l="l" t="t" r="r" b="b"/>
              <a:pathLst>
                <a:path w="2804160" h="829056">
                  <a:moveTo>
                    <a:pt x="0" y="0"/>
                  </a:moveTo>
                  <a:lnTo>
                    <a:pt x="2804160" y="0"/>
                  </a:lnTo>
                  <a:lnTo>
                    <a:pt x="2804160" y="829056"/>
                  </a:lnTo>
                  <a:lnTo>
                    <a:pt x="0" y="829056"/>
                  </a:lnTo>
                  <a:close/>
                </a:path>
              </a:pathLst>
            </a:custGeom>
            <a:blipFill>
              <a:blip r:embed="rId1">
                <a:alphaModFix amt="0"/>
              </a:blip>
              <a:stretch>
                <a:fillRect t="-15905" b="-15905"/>
              </a:stretch>
            </a:blipFill>
          </p:spPr>
        </p:sp>
        <p:sp>
          <p:nvSpPr>
            <p:cNvPr id="13" name="TextBox 13"/>
            <p:cNvSpPr txBox="1"/>
            <p:nvPr/>
          </p:nvSpPr>
          <p:spPr>
            <a:xfrm>
              <a:off x="0" y="-47625"/>
              <a:ext cx="2804160" cy="876681"/>
            </a:xfrm>
            <a:prstGeom prst="rect">
              <a:avLst/>
            </a:prstGeom>
          </p:spPr>
          <p:txBody>
            <a:bodyPr lIns="0" tIns="0" rIns="0" bIns="0" rtlCol="0" anchor="ctr"/>
            <a:lstStyle/>
            <a:p>
              <a:pPr algn="ctr">
                <a:lnSpc>
                  <a:spcPts val="2640"/>
                </a:lnSpc>
              </a:pPr>
              <a:r>
                <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rPr>
                <a:t>Q&amp;A</a:t>
              </a:r>
              <a:endPar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4" name="Group 14"/>
          <p:cNvGrpSpPr/>
          <p:nvPr/>
        </p:nvGrpSpPr>
        <p:grpSpPr>
          <a:xfrm rot="0">
            <a:off x="901703" y="2456183"/>
            <a:ext cx="16484603" cy="1488443"/>
            <a:chOff x="0" y="0"/>
            <a:chExt cx="21979471" cy="1984591"/>
          </a:xfrm>
        </p:grpSpPr>
        <p:sp>
          <p:nvSpPr>
            <p:cNvPr id="15" name="Freeform 15"/>
            <p:cNvSpPr/>
            <p:nvPr/>
          </p:nvSpPr>
          <p:spPr>
            <a:xfrm>
              <a:off x="0" y="0"/>
              <a:ext cx="21979382" cy="1984502"/>
            </a:xfrm>
            <a:custGeom>
              <a:avLst/>
              <a:gdLst/>
              <a:ahLst/>
              <a:cxnLst/>
              <a:rect l="l" t="t" r="r" b="b"/>
              <a:pathLst>
                <a:path w="21979382" h="1984502">
                  <a:moveTo>
                    <a:pt x="0" y="248031"/>
                  </a:moveTo>
                  <a:cubicBezTo>
                    <a:pt x="0" y="111125"/>
                    <a:pt x="111125" y="0"/>
                    <a:pt x="248031" y="0"/>
                  </a:cubicBezTo>
                  <a:lnTo>
                    <a:pt x="21731351" y="0"/>
                  </a:lnTo>
                  <a:cubicBezTo>
                    <a:pt x="21868383" y="0"/>
                    <a:pt x="21979382" y="111125"/>
                    <a:pt x="21979382" y="248031"/>
                  </a:cubicBezTo>
                  <a:lnTo>
                    <a:pt x="21979382" y="1736471"/>
                  </a:lnTo>
                  <a:cubicBezTo>
                    <a:pt x="21979382" y="1873504"/>
                    <a:pt x="21868257" y="1984502"/>
                    <a:pt x="21731351" y="1984502"/>
                  </a:cubicBezTo>
                  <a:lnTo>
                    <a:pt x="248031" y="1984502"/>
                  </a:lnTo>
                  <a:cubicBezTo>
                    <a:pt x="111125" y="1984629"/>
                    <a:pt x="0" y="1873504"/>
                    <a:pt x="0" y="1736471"/>
                  </a:cubicBezTo>
                  <a:close/>
                </a:path>
              </a:pathLst>
            </a:custGeom>
            <a:solidFill>
              <a:srgbClr val="14213D"/>
            </a:solidFill>
            <a:ln w="25400" cap="sq">
              <a:solidFill>
                <a:srgbClr val="14213D"/>
              </a:solidFill>
              <a:prstDash val="solid"/>
              <a:miter/>
            </a:ln>
          </p:spPr>
        </p:sp>
      </p:grpSp>
      <p:grpSp>
        <p:nvGrpSpPr>
          <p:cNvPr id="16" name="Group 16"/>
          <p:cNvGrpSpPr/>
          <p:nvPr/>
        </p:nvGrpSpPr>
        <p:grpSpPr>
          <a:xfrm rot="0">
            <a:off x="1371600" y="2468880"/>
            <a:ext cx="2377440" cy="1463040"/>
            <a:chOff x="0" y="0"/>
            <a:chExt cx="3169920" cy="1950720"/>
          </a:xfrm>
        </p:grpSpPr>
        <p:sp>
          <p:nvSpPr>
            <p:cNvPr id="17" name="Freeform 17"/>
            <p:cNvSpPr/>
            <p:nvPr/>
          </p:nvSpPr>
          <p:spPr>
            <a:xfrm>
              <a:off x="0" y="0"/>
              <a:ext cx="3169920" cy="1950720"/>
            </a:xfrm>
            <a:custGeom>
              <a:avLst/>
              <a:gdLst/>
              <a:ahLst/>
              <a:cxnLst/>
              <a:rect l="l" t="t" r="r" b="b"/>
              <a:pathLst>
                <a:path w="3169920" h="1950720">
                  <a:moveTo>
                    <a:pt x="0" y="0"/>
                  </a:moveTo>
                  <a:lnTo>
                    <a:pt x="3169920" y="0"/>
                  </a:lnTo>
                  <a:lnTo>
                    <a:pt x="3169920" y="1950720"/>
                  </a:lnTo>
                  <a:lnTo>
                    <a:pt x="0" y="1950720"/>
                  </a:lnTo>
                  <a:close/>
                </a:path>
              </a:pathLst>
            </a:custGeom>
            <a:blipFill>
              <a:blip r:embed="rId1">
                <a:alphaModFix amt="0"/>
              </a:blip>
              <a:stretch>
                <a:fillRect l="-28956" r="-28956"/>
              </a:stretch>
            </a:blipFill>
          </p:spPr>
        </p:sp>
        <p:sp>
          <p:nvSpPr>
            <p:cNvPr id="18" name="TextBox 18"/>
            <p:cNvSpPr txBox="1"/>
            <p:nvPr/>
          </p:nvSpPr>
          <p:spPr>
            <a:xfrm>
              <a:off x="0" y="-38100"/>
              <a:ext cx="3169920" cy="1988820"/>
            </a:xfrm>
            <a:prstGeom prst="rect">
              <a:avLst/>
            </a:prstGeom>
          </p:spPr>
          <p:txBody>
            <a:bodyPr lIns="0" tIns="0" rIns="0" bIns="0" rtlCol="0" anchor="ctr"/>
            <a:lstStyle/>
            <a:p>
              <a:pPr algn="l">
                <a:lnSpc>
                  <a:spcPts val="2400"/>
                </a:lnSpc>
              </a:pPr>
              <a:r>
                <a:rPr lang="en-US" sz="20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KHI BỊ HỎI</a:t>
              </a:r>
              <a:endParaRPr lang="en-US" sz="20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9" name="Group 19"/>
          <p:cNvGrpSpPr/>
          <p:nvPr/>
        </p:nvGrpSpPr>
        <p:grpSpPr>
          <a:xfrm rot="0">
            <a:off x="3749040" y="2468880"/>
            <a:ext cx="13167360" cy="1463040"/>
            <a:chOff x="0" y="0"/>
            <a:chExt cx="17556480" cy="1950720"/>
          </a:xfrm>
        </p:grpSpPr>
        <p:sp>
          <p:nvSpPr>
            <p:cNvPr id="20" name="Freeform 20"/>
            <p:cNvSpPr/>
            <p:nvPr/>
          </p:nvSpPr>
          <p:spPr>
            <a:xfrm>
              <a:off x="0" y="0"/>
              <a:ext cx="17556480" cy="1950720"/>
            </a:xfrm>
            <a:custGeom>
              <a:avLst/>
              <a:gdLst/>
              <a:ahLst/>
              <a:cxnLst/>
              <a:rect l="l" t="t" r="r" b="b"/>
              <a:pathLst>
                <a:path w="17556480" h="1950720">
                  <a:moveTo>
                    <a:pt x="0" y="0"/>
                  </a:moveTo>
                  <a:lnTo>
                    <a:pt x="17556480" y="0"/>
                  </a:lnTo>
                  <a:lnTo>
                    <a:pt x="17556480" y="1950720"/>
                  </a:lnTo>
                  <a:lnTo>
                    <a:pt x="0" y="1950720"/>
                  </a:lnTo>
                  <a:close/>
                </a:path>
              </a:pathLst>
            </a:custGeom>
            <a:blipFill>
              <a:blip r:embed="rId1">
                <a:alphaModFix amt="0"/>
              </a:blip>
              <a:stretch>
                <a:fillRect t="-125365" b="-125365"/>
              </a:stretch>
            </a:blipFill>
          </p:spPr>
        </p:sp>
        <p:sp>
          <p:nvSpPr>
            <p:cNvPr id="21" name="TextBox 21"/>
            <p:cNvSpPr txBox="1"/>
            <p:nvPr/>
          </p:nvSpPr>
          <p:spPr>
            <a:xfrm>
              <a:off x="0" y="-57150"/>
              <a:ext cx="17556480" cy="2007870"/>
            </a:xfrm>
            <a:prstGeom prst="rect">
              <a:avLst/>
            </a:prstGeom>
          </p:spPr>
          <p:txBody>
            <a:bodyPr lIns="0" tIns="0" rIns="0" bIns="0" rtlCol="0" anchor="ctr"/>
            <a:lstStyle/>
            <a:p>
              <a:pPr algn="l">
                <a:lnSpc>
                  <a:spcPts val="3840"/>
                </a:lnSpc>
              </a:pPr>
              <a:r>
                <a:rPr lang="en-US" sz="3200" i="1">
                  <a:solidFill>
                    <a:srgbClr val="FFFFFF"/>
                  </a:solidFill>
                  <a:latin typeface="Times New Roman" panose="02020603050405020304"/>
                  <a:ea typeface="Times New Roman" panose="02020603050405020304"/>
                  <a:cs typeface="Times New Roman" panose="02020603050405020304"/>
                  <a:sym typeface="Times New Roman" panose="02020603050405020304"/>
                </a:rPr>
                <a:t>“Định dạng gói tin thế nào?”</a:t>
              </a:r>
              <a:endParaRPr lang="en-US" sz="3200" i="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2" name="Group 22"/>
          <p:cNvGrpSpPr/>
          <p:nvPr/>
        </p:nvGrpSpPr>
        <p:grpSpPr>
          <a:xfrm rot="0">
            <a:off x="898522" y="4373242"/>
            <a:ext cx="16490947" cy="4786627"/>
            <a:chOff x="0" y="0"/>
            <a:chExt cx="21987929" cy="6382169"/>
          </a:xfrm>
        </p:grpSpPr>
        <p:sp>
          <p:nvSpPr>
            <p:cNvPr id="23" name="Freeform 23"/>
            <p:cNvSpPr/>
            <p:nvPr/>
          </p:nvSpPr>
          <p:spPr>
            <a:xfrm>
              <a:off x="0" y="0"/>
              <a:ext cx="21987890" cy="6382131"/>
            </a:xfrm>
            <a:custGeom>
              <a:avLst/>
              <a:gdLst/>
              <a:ahLst/>
              <a:cxnLst/>
              <a:rect l="l" t="t" r="r" b="b"/>
              <a:pathLst>
                <a:path w="21987890" h="6382131">
                  <a:moveTo>
                    <a:pt x="0" y="196342"/>
                  </a:moveTo>
                  <a:cubicBezTo>
                    <a:pt x="0" y="87884"/>
                    <a:pt x="87884" y="0"/>
                    <a:pt x="196342" y="0"/>
                  </a:cubicBezTo>
                  <a:lnTo>
                    <a:pt x="21791549" y="0"/>
                  </a:lnTo>
                  <a:cubicBezTo>
                    <a:pt x="21900007" y="0"/>
                    <a:pt x="21987890" y="87884"/>
                    <a:pt x="21987890" y="196342"/>
                  </a:cubicBezTo>
                  <a:lnTo>
                    <a:pt x="21987890" y="6185789"/>
                  </a:lnTo>
                  <a:cubicBezTo>
                    <a:pt x="21987890" y="6294247"/>
                    <a:pt x="21900007" y="6382131"/>
                    <a:pt x="21791549" y="6382131"/>
                  </a:cubicBezTo>
                  <a:lnTo>
                    <a:pt x="196342" y="6382131"/>
                  </a:lnTo>
                  <a:cubicBezTo>
                    <a:pt x="87884" y="6382131"/>
                    <a:pt x="0" y="6294247"/>
                    <a:pt x="0" y="6185789"/>
                  </a:cubicBezTo>
                  <a:close/>
                </a:path>
              </a:pathLst>
            </a:custGeom>
            <a:solidFill>
              <a:srgbClr val="EEF3F8"/>
            </a:solidFill>
            <a:ln w="31750" cap="sq">
              <a:solidFill>
                <a:srgbClr val="00897B"/>
              </a:solidFill>
              <a:prstDash val="dash"/>
              <a:miter/>
            </a:ln>
          </p:spPr>
        </p:sp>
      </p:grpSp>
      <p:grpSp>
        <p:nvGrpSpPr>
          <p:cNvPr id="24" name="Group 24"/>
          <p:cNvGrpSpPr/>
          <p:nvPr/>
        </p:nvGrpSpPr>
        <p:grpSpPr>
          <a:xfrm rot="0">
            <a:off x="1280160" y="4663440"/>
            <a:ext cx="15727680" cy="512064"/>
            <a:chOff x="0" y="0"/>
            <a:chExt cx="20970240" cy="682752"/>
          </a:xfrm>
        </p:grpSpPr>
        <p:sp>
          <p:nvSpPr>
            <p:cNvPr id="25" name="Freeform 25"/>
            <p:cNvSpPr/>
            <p:nvPr/>
          </p:nvSpPr>
          <p:spPr>
            <a:xfrm>
              <a:off x="0" y="0"/>
              <a:ext cx="20970239" cy="682752"/>
            </a:xfrm>
            <a:custGeom>
              <a:avLst/>
              <a:gdLst/>
              <a:ahLst/>
              <a:cxnLst/>
              <a:rect l="l" t="t" r="r" b="b"/>
              <a:pathLst>
                <a:path w="20970239" h="682752">
                  <a:moveTo>
                    <a:pt x="0" y="0"/>
                  </a:moveTo>
                  <a:lnTo>
                    <a:pt x="20970239" y="0"/>
                  </a:lnTo>
                  <a:lnTo>
                    <a:pt x="20970239" y="682752"/>
                  </a:lnTo>
                  <a:lnTo>
                    <a:pt x="0" y="682752"/>
                  </a:lnTo>
                  <a:close/>
                </a:path>
              </a:pathLst>
            </a:custGeom>
            <a:blipFill>
              <a:blip r:embed="rId1">
                <a:alphaModFix amt="0"/>
              </a:blip>
              <a:stretch>
                <a:fillRect t="-548469" b="-548469"/>
              </a:stretch>
            </a:blipFill>
          </p:spPr>
        </p:sp>
        <p:sp>
          <p:nvSpPr>
            <p:cNvPr id="26" name="TextBox 26"/>
            <p:cNvSpPr txBox="1"/>
            <p:nvPr/>
          </p:nvSpPr>
          <p:spPr>
            <a:xfrm>
              <a:off x="0" y="-38100"/>
              <a:ext cx="20970240" cy="720852"/>
            </a:xfrm>
            <a:prstGeom prst="rect">
              <a:avLst/>
            </a:prstGeom>
          </p:spPr>
          <p:txBody>
            <a:bodyPr lIns="0" tIns="0" rIns="0" bIns="0" rtlCol="0" anchor="ctr"/>
            <a:lstStyle/>
            <a:p>
              <a:pPr algn="l">
                <a:lnSpc>
                  <a:spcPts val="2400"/>
                </a:lnSpc>
              </a:pPr>
              <a:r>
                <a:rPr lang="en-US" sz="2000" b="1" spc="300">
                  <a:solidFill>
                    <a:srgbClr val="00897B"/>
                  </a:solidFill>
                  <a:latin typeface="Times New Roman" panose="02020603050405020304"/>
                  <a:ea typeface="Times New Roman" panose="02020603050405020304"/>
                  <a:cs typeface="Times New Roman" panose="02020603050405020304"/>
                  <a:sym typeface="Times New Roman" panose="02020603050405020304"/>
                </a:rPr>
                <a:t>NỘI DUNG CẦN ĐIỀN</a:t>
              </a:r>
              <a:endParaRPr lang="en-US" sz="2000" b="1" spc="300">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7" name="TextBox 27"/>
          <p:cNvSpPr txBox="1"/>
          <p:nvPr/>
        </p:nvSpPr>
        <p:spPr>
          <a:xfrm>
            <a:off x="1280160" y="5293995"/>
            <a:ext cx="15727680" cy="3575685"/>
          </a:xfrm>
          <a:prstGeom prst="rect">
            <a:avLst/>
          </a:prstGeom>
        </p:spPr>
        <p:txBody>
          <a:bodyPr lIns="0" tIns="0" rIns="0" bIns="0" rtlCol="0" anchor="t">
            <a:spAutoFit/>
          </a:bodyPr>
          <a:lstStyle/>
          <a:p>
            <a:pPr algn="l">
              <a:lnSpc>
                <a:spcPts val="2880"/>
              </a:lnSpc>
            </a:pPr>
            <a:r>
              <a:rPr lang="en-US" sz="2400">
                <a:solidFill>
                  <a:srgbClr val="5B6B82"/>
                </a:solidFill>
                <a:latin typeface="Courier New" panose="02070309020205020404"/>
                <a:ea typeface="Courier New" panose="02070309020205020404"/>
                <a:cs typeface="Courier New" panose="02070309020205020404"/>
                <a:sym typeface="Courier New" panose="02070309020205020404"/>
              </a:rPr>
              <a:t>Phạm vi: INPUT, SNAPSHOT, ITEM_*</a:t>
            </a:r>
            <a:endParaRPr lang="en-US" sz="2400">
              <a:solidFill>
                <a:srgbClr val="5B6B82"/>
              </a:solidFill>
              <a:latin typeface="Courier New" panose="02070309020205020404"/>
              <a:ea typeface="Courier New" panose="02070309020205020404"/>
              <a:cs typeface="Courier New" panose="02070309020205020404"/>
              <a:sym typeface="Courier New" panose="02070309020205020404"/>
            </a:endParaRPr>
          </a:p>
          <a:p>
            <a:pPr algn="l">
              <a:lnSpc>
                <a:spcPts val="2880"/>
              </a:lnSpc>
            </a:pPr>
            <a:r>
              <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rPr>
              <a:t>Lấy từ NoiDung_ChiTiet.md, Mục 5. Câu trả lời mẫu: phụ lục A.</a:t>
            </a:r>
            <a:endPar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 name="TextBox 28"/>
          <p:cNvSpPr txBox="1"/>
          <p:nvPr/>
        </p:nvSpPr>
        <p:spPr>
          <a:xfrm>
            <a:off x="16550640" y="9517380"/>
            <a:ext cx="731520" cy="495300"/>
          </a:xfrm>
          <a:prstGeom prst="rect">
            <a:avLst/>
          </a:prstGeom>
        </p:spPr>
        <p:txBody>
          <a:bodyPr lIns="0" tIns="0" rIns="0" bIns="0" rtlCol="0" anchor="t">
            <a:spAutoFit/>
          </a:bodyPr>
          <a:lstStyle/>
          <a:p>
            <a:pPr algn="r">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27</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22" name="Header band"/>
          <p:cNvSpPr/>
          <p:nvPr/>
        </p:nvSpPr>
        <p:spPr>
          <a:xfrm>
            <a:off x="0" y="0"/>
            <a:ext cx="18288000" cy="2103120"/>
          </a:xfrm>
          <a:prstGeom prst="rect">
            <a:avLst/>
          </a:prstGeom>
          <a:solidFill>
            <a:srgbClr val="14213D"/>
          </a:solidFill>
          <a:ln>
            <a:noFill/>
          </a:ln>
        </p:spPr>
      </p:sp>
      <p:sp>
        <p:nvSpPr>
          <p:cNvPr id="9023" name="Header rule"/>
          <p:cNvSpPr/>
          <p:nvPr/>
        </p:nvSpPr>
        <p:spPr>
          <a:xfrm>
            <a:off x="0" y="2103120"/>
            <a:ext cx="18288000" cy="64008"/>
          </a:xfrm>
          <a:prstGeom prst="rect">
            <a:avLst/>
          </a:prstGeom>
          <a:solidFill>
            <a:srgbClr val="00897B"/>
          </a:solidFill>
          <a:ln>
            <a:noFill/>
          </a:ln>
        </p:spPr>
      </p:sp>
      <p:grpSp>
        <p:nvGrpSpPr>
          <p:cNvPr id="2" name="Group 2"/>
          <p:cNvGrpSpPr/>
          <p:nvPr/>
        </p:nvGrpSpPr>
        <p:grpSpPr>
          <a:xfrm rot="0">
            <a:off x="914400" y="9509760"/>
            <a:ext cx="12801600" cy="548640"/>
            <a:chOff x="0" y="0"/>
            <a:chExt cx="17068800" cy="731520"/>
          </a:xfrm>
        </p:grpSpPr>
        <p:sp>
          <p:nvSpPr>
            <p:cNvPr id="3" name="Freeform 3"/>
            <p:cNvSpPr/>
            <p:nvPr/>
          </p:nvSpPr>
          <p:spPr>
            <a:xfrm>
              <a:off x="0" y="0"/>
              <a:ext cx="17068800" cy="731520"/>
            </a:xfrm>
            <a:custGeom>
              <a:avLst/>
              <a:gdLst/>
              <a:ahLst/>
              <a:cxnLst/>
              <a:rect l="l" t="t" r="r" b="b"/>
              <a:pathLst>
                <a:path w="17068800" h="731520">
                  <a:moveTo>
                    <a:pt x="0" y="0"/>
                  </a:moveTo>
                  <a:lnTo>
                    <a:pt x="17068800" y="0"/>
                  </a:lnTo>
                  <a:lnTo>
                    <a:pt x="17068800" y="731520"/>
                  </a:lnTo>
                  <a:lnTo>
                    <a:pt x="0" y="731520"/>
                  </a:lnTo>
                  <a:close/>
                </a:path>
              </a:pathLst>
            </a:custGeom>
            <a:blipFill>
              <a:blip r:embed="rId1">
                <a:alphaModFix amt="0"/>
              </a:blip>
              <a:stretch>
                <a:fillRect t="-404650" b="-404650"/>
              </a:stretch>
            </a:blipFill>
          </p:spPr>
        </p:sp>
        <p:sp>
          <p:nvSpPr>
            <p:cNvPr id="4" name="TextBox 4"/>
            <p:cNvSpPr txBox="1"/>
            <p:nvPr/>
          </p:nvSpPr>
          <p:spPr>
            <a:xfrm>
              <a:off x="0" y="-38100"/>
              <a:ext cx="17068800" cy="769620"/>
            </a:xfrm>
            <a:prstGeom prst="rect">
              <a:avLst/>
            </a:prstGeom>
          </p:spPr>
          <p:txBody>
            <a:bodyPr lIns="0" tIns="0" rIns="0" bIns="0" rtlCol="0" anchor="ctr"/>
            <a:lstStyle/>
            <a:p>
              <a:pPr algn="l">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T47 · Kỹ thuật mạng cho game thời gian thực · Lập trình mạng</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5" name="TextBox 5"/>
          <p:cNvSpPr txBox="1"/>
          <p:nvPr/>
        </p:nvSpPr>
        <p:spPr>
          <a:xfrm>
            <a:off x="914400" y="384048"/>
            <a:ext cx="13898880" cy="559689"/>
          </a:xfrm>
          <a:prstGeom prst="rect">
            <a:avLst/>
          </a:prstGeom>
        </p:spPr>
        <p:txBody>
          <a:bodyPr lIns="0" tIns="0" rIns="0" bIns="0" rtlCol="0" anchor="t">
            <a:spAutoFit/>
          </a:bodyPr>
          <a:lstStyle/>
          <a:p>
            <a:pPr algn="l">
              <a:lnSpc>
                <a:spcPts val="2640"/>
              </a:lnSpc>
            </a:pPr>
            <a:r>
              <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DỰ PHÒNG D6 · NGUỒN: VĐ3</a:t>
            </a:r>
            <a:endPar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6" name="Group 6"/>
          <p:cNvGrpSpPr/>
          <p:nvPr/>
        </p:nvGrpSpPr>
        <p:grpSpPr>
          <a:xfrm rot="0">
            <a:off x="914400" y="768096"/>
            <a:ext cx="14081760" cy="1097280"/>
            <a:chOff x="0" y="0"/>
            <a:chExt cx="18775680" cy="1463040"/>
          </a:xfrm>
        </p:grpSpPr>
        <p:sp>
          <p:nvSpPr>
            <p:cNvPr id="7" name="Freeform 7"/>
            <p:cNvSpPr/>
            <p:nvPr/>
          </p:nvSpPr>
          <p:spPr>
            <a:xfrm>
              <a:off x="0" y="0"/>
              <a:ext cx="18775680" cy="1463040"/>
            </a:xfrm>
            <a:custGeom>
              <a:avLst/>
              <a:gdLst/>
              <a:ahLst/>
              <a:cxnLst/>
              <a:rect l="l" t="t" r="r" b="b"/>
              <a:pathLst>
                <a:path w="18775680" h="1463040">
                  <a:moveTo>
                    <a:pt x="0" y="0"/>
                  </a:moveTo>
                  <a:lnTo>
                    <a:pt x="18775680" y="0"/>
                  </a:lnTo>
                  <a:lnTo>
                    <a:pt x="18775680" y="1463040"/>
                  </a:lnTo>
                  <a:lnTo>
                    <a:pt x="0" y="1463040"/>
                  </a:lnTo>
                  <a:close/>
                </a:path>
              </a:pathLst>
            </a:custGeom>
            <a:blipFill>
              <a:blip r:embed="rId1">
                <a:alphaModFix amt="0"/>
              </a:blip>
              <a:stretch>
                <a:fillRect t="-200057" b="-200057"/>
              </a:stretch>
            </a:blipFill>
          </p:spPr>
        </p:sp>
        <p:sp>
          <p:nvSpPr>
            <p:cNvPr id="8" name="TextBox 8"/>
            <p:cNvSpPr txBox="1"/>
            <p:nvPr/>
          </p:nvSpPr>
          <p:spPr>
            <a:xfrm>
              <a:off x="0" y="-9525"/>
              <a:ext cx="18775680" cy="1472565"/>
            </a:xfrm>
            <a:prstGeom prst="rect">
              <a:avLst/>
            </a:prstGeom>
          </p:spPr>
          <p:txBody>
            <a:bodyPr lIns="0" tIns="0" rIns="0" bIns="0" rtlCol="0" anchor="ctr"/>
            <a:lstStyle/>
            <a:p>
              <a:pPr algn="l">
                <a:lnSpc>
                  <a:spcPts val="6900"/>
                </a:lnSpc>
              </a:pPr>
              <a:r>
                <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rPr>
                <a:t>Chọn độ trễ nội suy</a:t>
              </a:r>
              <a:endPar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9" name="Group 9"/>
          <p:cNvGrpSpPr/>
          <p:nvPr/>
        </p:nvGrpSpPr>
        <p:grpSpPr>
          <a:xfrm rot="0">
            <a:off x="15257783" y="682247"/>
            <a:ext cx="2128523" cy="647195"/>
            <a:chOff x="0" y="0"/>
            <a:chExt cx="2838031" cy="862927"/>
          </a:xfrm>
        </p:grpSpPr>
        <p:sp>
          <p:nvSpPr>
            <p:cNvPr id="10" name="Freeform 10"/>
            <p:cNvSpPr/>
            <p:nvPr/>
          </p:nvSpPr>
          <p:spPr>
            <a:xfrm>
              <a:off x="0" y="0"/>
              <a:ext cx="2837942" cy="862838"/>
            </a:xfrm>
            <a:custGeom>
              <a:avLst/>
              <a:gdLst/>
              <a:ahLst/>
              <a:cxnLst/>
              <a:rect l="l" t="t" r="r" b="b"/>
              <a:pathLst>
                <a:path w="2837942" h="862838">
                  <a:moveTo>
                    <a:pt x="0" y="431419"/>
                  </a:moveTo>
                  <a:cubicBezTo>
                    <a:pt x="0" y="193167"/>
                    <a:pt x="193167" y="0"/>
                    <a:pt x="431419" y="0"/>
                  </a:cubicBezTo>
                  <a:lnTo>
                    <a:pt x="2406523" y="0"/>
                  </a:lnTo>
                  <a:cubicBezTo>
                    <a:pt x="2644775" y="0"/>
                    <a:pt x="2837942" y="193167"/>
                    <a:pt x="2837942" y="431419"/>
                  </a:cubicBezTo>
                  <a:cubicBezTo>
                    <a:pt x="2837942" y="669671"/>
                    <a:pt x="2644775" y="862838"/>
                    <a:pt x="2406523" y="862838"/>
                  </a:cubicBezTo>
                  <a:lnTo>
                    <a:pt x="431419" y="862838"/>
                  </a:lnTo>
                  <a:cubicBezTo>
                    <a:pt x="193167" y="862965"/>
                    <a:pt x="0" y="669798"/>
                    <a:pt x="0" y="431419"/>
                  </a:cubicBezTo>
                  <a:close/>
                </a:path>
              </a:pathLst>
            </a:custGeom>
            <a:solidFill>
              <a:srgbClr val="5B6B82"/>
            </a:solidFill>
            <a:ln w="25400" cap="sq">
              <a:solidFill>
                <a:srgbClr val="5B6B82"/>
              </a:solidFill>
              <a:prstDash val="solid"/>
              <a:miter/>
            </a:ln>
          </p:spPr>
        </p:sp>
      </p:grpSp>
      <p:grpSp>
        <p:nvGrpSpPr>
          <p:cNvPr id="11" name="Group 11"/>
          <p:cNvGrpSpPr/>
          <p:nvPr/>
        </p:nvGrpSpPr>
        <p:grpSpPr>
          <a:xfrm rot="0">
            <a:off x="15270480" y="694944"/>
            <a:ext cx="2103120" cy="621792"/>
            <a:chOff x="0" y="0"/>
            <a:chExt cx="2804160" cy="829056"/>
          </a:xfrm>
        </p:grpSpPr>
        <p:sp>
          <p:nvSpPr>
            <p:cNvPr id="12" name="Freeform 12"/>
            <p:cNvSpPr/>
            <p:nvPr/>
          </p:nvSpPr>
          <p:spPr>
            <a:xfrm>
              <a:off x="0" y="0"/>
              <a:ext cx="2804160" cy="829056"/>
            </a:xfrm>
            <a:custGeom>
              <a:avLst/>
              <a:gdLst/>
              <a:ahLst/>
              <a:cxnLst/>
              <a:rect l="l" t="t" r="r" b="b"/>
              <a:pathLst>
                <a:path w="2804160" h="829056">
                  <a:moveTo>
                    <a:pt x="0" y="0"/>
                  </a:moveTo>
                  <a:lnTo>
                    <a:pt x="2804160" y="0"/>
                  </a:lnTo>
                  <a:lnTo>
                    <a:pt x="2804160" y="829056"/>
                  </a:lnTo>
                  <a:lnTo>
                    <a:pt x="0" y="829056"/>
                  </a:lnTo>
                  <a:close/>
                </a:path>
              </a:pathLst>
            </a:custGeom>
            <a:blipFill>
              <a:blip r:embed="rId1">
                <a:alphaModFix amt="0"/>
              </a:blip>
              <a:stretch>
                <a:fillRect t="-15905" b="-15905"/>
              </a:stretch>
            </a:blipFill>
          </p:spPr>
        </p:sp>
        <p:sp>
          <p:nvSpPr>
            <p:cNvPr id="13" name="TextBox 13"/>
            <p:cNvSpPr txBox="1"/>
            <p:nvPr/>
          </p:nvSpPr>
          <p:spPr>
            <a:xfrm>
              <a:off x="0" y="-47625"/>
              <a:ext cx="2804160" cy="876681"/>
            </a:xfrm>
            <a:prstGeom prst="rect">
              <a:avLst/>
            </a:prstGeom>
          </p:spPr>
          <p:txBody>
            <a:bodyPr lIns="0" tIns="0" rIns="0" bIns="0" rtlCol="0" anchor="ctr"/>
            <a:lstStyle/>
            <a:p>
              <a:pPr algn="ctr">
                <a:lnSpc>
                  <a:spcPts val="2640"/>
                </a:lnSpc>
              </a:pPr>
              <a:r>
                <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rPr>
                <a:t>Q&amp;A</a:t>
              </a:r>
              <a:endPar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4" name="Group 14"/>
          <p:cNvGrpSpPr/>
          <p:nvPr/>
        </p:nvGrpSpPr>
        <p:grpSpPr>
          <a:xfrm rot="0">
            <a:off x="901703" y="2456183"/>
            <a:ext cx="16484603" cy="1488443"/>
            <a:chOff x="0" y="0"/>
            <a:chExt cx="21979471" cy="1984591"/>
          </a:xfrm>
        </p:grpSpPr>
        <p:sp>
          <p:nvSpPr>
            <p:cNvPr id="15" name="Freeform 15"/>
            <p:cNvSpPr/>
            <p:nvPr/>
          </p:nvSpPr>
          <p:spPr>
            <a:xfrm>
              <a:off x="0" y="0"/>
              <a:ext cx="21979382" cy="1984502"/>
            </a:xfrm>
            <a:custGeom>
              <a:avLst/>
              <a:gdLst/>
              <a:ahLst/>
              <a:cxnLst/>
              <a:rect l="l" t="t" r="r" b="b"/>
              <a:pathLst>
                <a:path w="21979382" h="1984502">
                  <a:moveTo>
                    <a:pt x="0" y="248031"/>
                  </a:moveTo>
                  <a:cubicBezTo>
                    <a:pt x="0" y="111125"/>
                    <a:pt x="111125" y="0"/>
                    <a:pt x="248031" y="0"/>
                  </a:cubicBezTo>
                  <a:lnTo>
                    <a:pt x="21731351" y="0"/>
                  </a:lnTo>
                  <a:cubicBezTo>
                    <a:pt x="21868383" y="0"/>
                    <a:pt x="21979382" y="111125"/>
                    <a:pt x="21979382" y="248031"/>
                  </a:cubicBezTo>
                  <a:lnTo>
                    <a:pt x="21979382" y="1736471"/>
                  </a:lnTo>
                  <a:cubicBezTo>
                    <a:pt x="21979382" y="1873504"/>
                    <a:pt x="21868257" y="1984502"/>
                    <a:pt x="21731351" y="1984502"/>
                  </a:cubicBezTo>
                  <a:lnTo>
                    <a:pt x="248031" y="1984502"/>
                  </a:lnTo>
                  <a:cubicBezTo>
                    <a:pt x="111125" y="1984629"/>
                    <a:pt x="0" y="1873504"/>
                    <a:pt x="0" y="1736471"/>
                  </a:cubicBezTo>
                  <a:close/>
                </a:path>
              </a:pathLst>
            </a:custGeom>
            <a:solidFill>
              <a:srgbClr val="14213D"/>
            </a:solidFill>
            <a:ln w="25400" cap="sq">
              <a:solidFill>
                <a:srgbClr val="14213D"/>
              </a:solidFill>
              <a:prstDash val="solid"/>
              <a:miter/>
            </a:ln>
          </p:spPr>
        </p:sp>
      </p:grpSp>
      <p:grpSp>
        <p:nvGrpSpPr>
          <p:cNvPr id="16" name="Group 16"/>
          <p:cNvGrpSpPr/>
          <p:nvPr/>
        </p:nvGrpSpPr>
        <p:grpSpPr>
          <a:xfrm rot="0">
            <a:off x="1371600" y="2468880"/>
            <a:ext cx="2377440" cy="1463040"/>
            <a:chOff x="0" y="0"/>
            <a:chExt cx="3169920" cy="1950720"/>
          </a:xfrm>
        </p:grpSpPr>
        <p:sp>
          <p:nvSpPr>
            <p:cNvPr id="17" name="Freeform 17"/>
            <p:cNvSpPr/>
            <p:nvPr/>
          </p:nvSpPr>
          <p:spPr>
            <a:xfrm>
              <a:off x="0" y="0"/>
              <a:ext cx="3169920" cy="1950720"/>
            </a:xfrm>
            <a:custGeom>
              <a:avLst/>
              <a:gdLst/>
              <a:ahLst/>
              <a:cxnLst/>
              <a:rect l="l" t="t" r="r" b="b"/>
              <a:pathLst>
                <a:path w="3169920" h="1950720">
                  <a:moveTo>
                    <a:pt x="0" y="0"/>
                  </a:moveTo>
                  <a:lnTo>
                    <a:pt x="3169920" y="0"/>
                  </a:lnTo>
                  <a:lnTo>
                    <a:pt x="3169920" y="1950720"/>
                  </a:lnTo>
                  <a:lnTo>
                    <a:pt x="0" y="1950720"/>
                  </a:lnTo>
                  <a:close/>
                </a:path>
              </a:pathLst>
            </a:custGeom>
            <a:blipFill>
              <a:blip r:embed="rId1">
                <a:alphaModFix amt="0"/>
              </a:blip>
              <a:stretch>
                <a:fillRect l="-28956" r="-28956"/>
              </a:stretch>
            </a:blipFill>
          </p:spPr>
        </p:sp>
        <p:sp>
          <p:nvSpPr>
            <p:cNvPr id="18" name="TextBox 18"/>
            <p:cNvSpPr txBox="1"/>
            <p:nvPr/>
          </p:nvSpPr>
          <p:spPr>
            <a:xfrm>
              <a:off x="0" y="-38100"/>
              <a:ext cx="3169920" cy="1988820"/>
            </a:xfrm>
            <a:prstGeom prst="rect">
              <a:avLst/>
            </a:prstGeom>
          </p:spPr>
          <p:txBody>
            <a:bodyPr lIns="0" tIns="0" rIns="0" bIns="0" rtlCol="0" anchor="ctr"/>
            <a:lstStyle/>
            <a:p>
              <a:pPr algn="l">
                <a:lnSpc>
                  <a:spcPts val="2400"/>
                </a:lnSpc>
              </a:pPr>
              <a:r>
                <a:rPr lang="en-US" sz="20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KHI BỊ HỎI</a:t>
              </a:r>
              <a:endParaRPr lang="en-US" sz="20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9" name="Group 19"/>
          <p:cNvGrpSpPr/>
          <p:nvPr/>
        </p:nvGrpSpPr>
        <p:grpSpPr>
          <a:xfrm rot="0">
            <a:off x="3749040" y="2468880"/>
            <a:ext cx="13167360" cy="1463040"/>
            <a:chOff x="0" y="0"/>
            <a:chExt cx="17556480" cy="1950720"/>
          </a:xfrm>
        </p:grpSpPr>
        <p:sp>
          <p:nvSpPr>
            <p:cNvPr id="20" name="Freeform 20"/>
            <p:cNvSpPr/>
            <p:nvPr/>
          </p:nvSpPr>
          <p:spPr>
            <a:xfrm>
              <a:off x="0" y="0"/>
              <a:ext cx="17556480" cy="1950720"/>
            </a:xfrm>
            <a:custGeom>
              <a:avLst/>
              <a:gdLst/>
              <a:ahLst/>
              <a:cxnLst/>
              <a:rect l="l" t="t" r="r" b="b"/>
              <a:pathLst>
                <a:path w="17556480" h="1950720">
                  <a:moveTo>
                    <a:pt x="0" y="0"/>
                  </a:moveTo>
                  <a:lnTo>
                    <a:pt x="17556480" y="0"/>
                  </a:lnTo>
                  <a:lnTo>
                    <a:pt x="17556480" y="1950720"/>
                  </a:lnTo>
                  <a:lnTo>
                    <a:pt x="0" y="1950720"/>
                  </a:lnTo>
                  <a:close/>
                </a:path>
              </a:pathLst>
            </a:custGeom>
            <a:blipFill>
              <a:blip r:embed="rId1">
                <a:alphaModFix amt="0"/>
              </a:blip>
              <a:stretch>
                <a:fillRect t="-125365" b="-125365"/>
              </a:stretch>
            </a:blipFill>
          </p:spPr>
        </p:sp>
        <p:sp>
          <p:nvSpPr>
            <p:cNvPr id="21" name="TextBox 21"/>
            <p:cNvSpPr txBox="1"/>
            <p:nvPr/>
          </p:nvSpPr>
          <p:spPr>
            <a:xfrm>
              <a:off x="0" y="-57150"/>
              <a:ext cx="17556480" cy="2007870"/>
            </a:xfrm>
            <a:prstGeom prst="rect">
              <a:avLst/>
            </a:prstGeom>
          </p:spPr>
          <p:txBody>
            <a:bodyPr lIns="0" tIns="0" rIns="0" bIns="0" rtlCol="0" anchor="ctr"/>
            <a:lstStyle/>
            <a:p>
              <a:pPr algn="l">
                <a:lnSpc>
                  <a:spcPts val="3840"/>
                </a:lnSpc>
              </a:pPr>
              <a:r>
                <a:rPr lang="en-US" sz="3200" i="1">
                  <a:solidFill>
                    <a:srgbClr val="FFFFFF"/>
                  </a:solidFill>
                  <a:latin typeface="Times New Roman" panose="02020603050405020304"/>
                  <a:ea typeface="Times New Roman" panose="02020603050405020304"/>
                  <a:cs typeface="Times New Roman" panose="02020603050405020304"/>
                  <a:sym typeface="Times New Roman" panose="02020603050405020304"/>
                </a:rPr>
                <a:t>“Độ trễ nội suy chọn bao nhiêu? Mất nhiều gói thì sao?”</a:t>
              </a:r>
              <a:endParaRPr lang="en-US" sz="3200" i="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2" name="Group 22"/>
          <p:cNvGrpSpPr/>
          <p:nvPr/>
        </p:nvGrpSpPr>
        <p:grpSpPr>
          <a:xfrm rot="0">
            <a:off x="898522" y="4373242"/>
            <a:ext cx="16490947" cy="4786627"/>
            <a:chOff x="0" y="0"/>
            <a:chExt cx="21987929" cy="6382169"/>
          </a:xfrm>
        </p:grpSpPr>
        <p:sp>
          <p:nvSpPr>
            <p:cNvPr id="23" name="Freeform 23"/>
            <p:cNvSpPr/>
            <p:nvPr/>
          </p:nvSpPr>
          <p:spPr>
            <a:xfrm>
              <a:off x="0" y="0"/>
              <a:ext cx="21987890" cy="6382131"/>
            </a:xfrm>
            <a:custGeom>
              <a:avLst/>
              <a:gdLst/>
              <a:ahLst/>
              <a:cxnLst/>
              <a:rect l="l" t="t" r="r" b="b"/>
              <a:pathLst>
                <a:path w="21987890" h="6382131">
                  <a:moveTo>
                    <a:pt x="0" y="196342"/>
                  </a:moveTo>
                  <a:cubicBezTo>
                    <a:pt x="0" y="87884"/>
                    <a:pt x="87884" y="0"/>
                    <a:pt x="196342" y="0"/>
                  </a:cubicBezTo>
                  <a:lnTo>
                    <a:pt x="21791549" y="0"/>
                  </a:lnTo>
                  <a:cubicBezTo>
                    <a:pt x="21900007" y="0"/>
                    <a:pt x="21987890" y="87884"/>
                    <a:pt x="21987890" y="196342"/>
                  </a:cubicBezTo>
                  <a:lnTo>
                    <a:pt x="21987890" y="6185789"/>
                  </a:lnTo>
                  <a:cubicBezTo>
                    <a:pt x="21987890" y="6294247"/>
                    <a:pt x="21900007" y="6382131"/>
                    <a:pt x="21791549" y="6382131"/>
                  </a:cubicBezTo>
                  <a:lnTo>
                    <a:pt x="196342" y="6382131"/>
                  </a:lnTo>
                  <a:cubicBezTo>
                    <a:pt x="87884" y="6382131"/>
                    <a:pt x="0" y="6294247"/>
                    <a:pt x="0" y="6185789"/>
                  </a:cubicBezTo>
                  <a:close/>
                </a:path>
              </a:pathLst>
            </a:custGeom>
            <a:solidFill>
              <a:srgbClr val="EEF3F8"/>
            </a:solidFill>
            <a:ln w="31750" cap="sq">
              <a:solidFill>
                <a:srgbClr val="00897B"/>
              </a:solidFill>
              <a:prstDash val="dash"/>
              <a:miter/>
            </a:ln>
          </p:spPr>
        </p:sp>
      </p:grpSp>
      <p:grpSp>
        <p:nvGrpSpPr>
          <p:cNvPr id="24" name="Group 24"/>
          <p:cNvGrpSpPr/>
          <p:nvPr/>
        </p:nvGrpSpPr>
        <p:grpSpPr>
          <a:xfrm rot="0">
            <a:off x="1280160" y="4663440"/>
            <a:ext cx="15727680" cy="512064"/>
            <a:chOff x="0" y="0"/>
            <a:chExt cx="20970240" cy="682752"/>
          </a:xfrm>
        </p:grpSpPr>
        <p:sp>
          <p:nvSpPr>
            <p:cNvPr id="25" name="Freeform 25"/>
            <p:cNvSpPr/>
            <p:nvPr/>
          </p:nvSpPr>
          <p:spPr>
            <a:xfrm>
              <a:off x="0" y="0"/>
              <a:ext cx="20970239" cy="682752"/>
            </a:xfrm>
            <a:custGeom>
              <a:avLst/>
              <a:gdLst/>
              <a:ahLst/>
              <a:cxnLst/>
              <a:rect l="l" t="t" r="r" b="b"/>
              <a:pathLst>
                <a:path w="20970239" h="682752">
                  <a:moveTo>
                    <a:pt x="0" y="0"/>
                  </a:moveTo>
                  <a:lnTo>
                    <a:pt x="20970239" y="0"/>
                  </a:lnTo>
                  <a:lnTo>
                    <a:pt x="20970239" y="682752"/>
                  </a:lnTo>
                  <a:lnTo>
                    <a:pt x="0" y="682752"/>
                  </a:lnTo>
                  <a:close/>
                </a:path>
              </a:pathLst>
            </a:custGeom>
            <a:blipFill>
              <a:blip r:embed="rId1">
                <a:alphaModFix amt="0"/>
              </a:blip>
              <a:stretch>
                <a:fillRect t="-548469" b="-548469"/>
              </a:stretch>
            </a:blipFill>
          </p:spPr>
        </p:sp>
        <p:sp>
          <p:nvSpPr>
            <p:cNvPr id="26" name="TextBox 26"/>
            <p:cNvSpPr txBox="1"/>
            <p:nvPr/>
          </p:nvSpPr>
          <p:spPr>
            <a:xfrm>
              <a:off x="0" y="-38100"/>
              <a:ext cx="20970240" cy="720852"/>
            </a:xfrm>
            <a:prstGeom prst="rect">
              <a:avLst/>
            </a:prstGeom>
          </p:spPr>
          <p:txBody>
            <a:bodyPr lIns="0" tIns="0" rIns="0" bIns="0" rtlCol="0" anchor="ctr"/>
            <a:lstStyle/>
            <a:p>
              <a:pPr algn="l">
                <a:lnSpc>
                  <a:spcPts val="2400"/>
                </a:lnSpc>
              </a:pPr>
              <a:r>
                <a:rPr lang="en-US" sz="2000" b="1" spc="300">
                  <a:solidFill>
                    <a:srgbClr val="00897B"/>
                  </a:solidFill>
                  <a:latin typeface="Times New Roman" panose="02020603050405020304"/>
                  <a:ea typeface="Times New Roman" panose="02020603050405020304"/>
                  <a:cs typeface="Times New Roman" panose="02020603050405020304"/>
                  <a:sym typeface="Times New Roman" panose="02020603050405020304"/>
                </a:rPr>
                <a:t>NỘI DUNG CẦN ĐIỀN</a:t>
              </a:r>
              <a:endParaRPr lang="en-US" sz="2000" b="1" spc="300">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7" name="TextBox 27"/>
          <p:cNvSpPr txBox="1"/>
          <p:nvPr/>
        </p:nvSpPr>
        <p:spPr>
          <a:xfrm>
            <a:off x="1280160" y="5265420"/>
            <a:ext cx="15727680" cy="3604260"/>
          </a:xfrm>
          <a:prstGeom prst="rect">
            <a:avLst/>
          </a:prstGeom>
        </p:spPr>
        <p:txBody>
          <a:bodyPr lIns="0" tIns="0" rIns="0" bIns="0" rtlCol="0" anchor="t">
            <a:spAutoFit/>
          </a:bodyPr>
          <a:lstStyle/>
          <a:p>
            <a:pPr algn="l">
              <a:lnSpc>
                <a:spcPts val="2880"/>
              </a:lnSpc>
            </a:pPr>
            <a:r>
              <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rPr>
              <a:t>Phạm vi: bảng theo tần số gửi ảnh, ngoại suy dự phòng</a:t>
            </a:r>
            <a:endPar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2880"/>
              </a:lnSpc>
            </a:pPr>
            <a:r>
              <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rPr>
              <a:t>Lấy từ NoiDung_ChiTiet.md, VĐ3. Câu trả lời mẫu: phụ lục A.</a:t>
            </a:r>
            <a:endPar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 name="TextBox 28"/>
          <p:cNvSpPr txBox="1"/>
          <p:nvPr/>
        </p:nvSpPr>
        <p:spPr>
          <a:xfrm>
            <a:off x="16550640" y="9517380"/>
            <a:ext cx="731520" cy="495300"/>
          </a:xfrm>
          <a:prstGeom prst="rect">
            <a:avLst/>
          </a:prstGeom>
        </p:spPr>
        <p:txBody>
          <a:bodyPr lIns="0" tIns="0" rIns="0" bIns="0" rtlCol="0" anchor="t">
            <a:spAutoFit/>
          </a:bodyPr>
          <a:lstStyle/>
          <a:p>
            <a:pPr algn="r">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28</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24" name="Header band"/>
          <p:cNvSpPr/>
          <p:nvPr/>
        </p:nvSpPr>
        <p:spPr>
          <a:xfrm>
            <a:off x="0" y="0"/>
            <a:ext cx="18288000" cy="2103120"/>
          </a:xfrm>
          <a:prstGeom prst="rect">
            <a:avLst/>
          </a:prstGeom>
          <a:solidFill>
            <a:srgbClr val="14213D"/>
          </a:solidFill>
          <a:ln>
            <a:noFill/>
          </a:ln>
        </p:spPr>
      </p:sp>
      <p:sp>
        <p:nvSpPr>
          <p:cNvPr id="9025" name="Header rule"/>
          <p:cNvSpPr/>
          <p:nvPr/>
        </p:nvSpPr>
        <p:spPr>
          <a:xfrm>
            <a:off x="0" y="2103120"/>
            <a:ext cx="18288000" cy="64008"/>
          </a:xfrm>
          <a:prstGeom prst="rect">
            <a:avLst/>
          </a:prstGeom>
          <a:solidFill>
            <a:srgbClr val="00897B"/>
          </a:solidFill>
          <a:ln>
            <a:noFill/>
          </a:ln>
        </p:spPr>
      </p:sp>
      <p:grpSp>
        <p:nvGrpSpPr>
          <p:cNvPr id="2" name="Group 2"/>
          <p:cNvGrpSpPr/>
          <p:nvPr/>
        </p:nvGrpSpPr>
        <p:grpSpPr>
          <a:xfrm rot="0">
            <a:off x="914400" y="9509760"/>
            <a:ext cx="12801600" cy="548640"/>
            <a:chOff x="0" y="0"/>
            <a:chExt cx="17068800" cy="731520"/>
          </a:xfrm>
        </p:grpSpPr>
        <p:sp>
          <p:nvSpPr>
            <p:cNvPr id="3" name="Freeform 3"/>
            <p:cNvSpPr/>
            <p:nvPr/>
          </p:nvSpPr>
          <p:spPr>
            <a:xfrm>
              <a:off x="0" y="0"/>
              <a:ext cx="17068800" cy="731520"/>
            </a:xfrm>
            <a:custGeom>
              <a:avLst/>
              <a:gdLst/>
              <a:ahLst/>
              <a:cxnLst/>
              <a:rect l="l" t="t" r="r" b="b"/>
              <a:pathLst>
                <a:path w="17068800" h="731520">
                  <a:moveTo>
                    <a:pt x="0" y="0"/>
                  </a:moveTo>
                  <a:lnTo>
                    <a:pt x="17068800" y="0"/>
                  </a:lnTo>
                  <a:lnTo>
                    <a:pt x="17068800" y="731520"/>
                  </a:lnTo>
                  <a:lnTo>
                    <a:pt x="0" y="731520"/>
                  </a:lnTo>
                  <a:close/>
                </a:path>
              </a:pathLst>
            </a:custGeom>
            <a:blipFill>
              <a:blip r:embed="rId1">
                <a:alphaModFix amt="0"/>
              </a:blip>
              <a:stretch>
                <a:fillRect t="-404650" b="-404650"/>
              </a:stretch>
            </a:blipFill>
          </p:spPr>
        </p:sp>
        <p:sp>
          <p:nvSpPr>
            <p:cNvPr id="4" name="TextBox 4"/>
            <p:cNvSpPr txBox="1"/>
            <p:nvPr/>
          </p:nvSpPr>
          <p:spPr>
            <a:xfrm>
              <a:off x="0" y="-38100"/>
              <a:ext cx="17068800" cy="769620"/>
            </a:xfrm>
            <a:prstGeom prst="rect">
              <a:avLst/>
            </a:prstGeom>
          </p:spPr>
          <p:txBody>
            <a:bodyPr lIns="0" tIns="0" rIns="0" bIns="0" rtlCol="0" anchor="ctr"/>
            <a:lstStyle/>
            <a:p>
              <a:pPr algn="l">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T47 · Kỹ thuật mạng cho game thời gian thực · Lập trình mạng</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5" name="TextBox 5"/>
          <p:cNvSpPr txBox="1"/>
          <p:nvPr/>
        </p:nvSpPr>
        <p:spPr>
          <a:xfrm>
            <a:off x="914400" y="384048"/>
            <a:ext cx="13898880" cy="559689"/>
          </a:xfrm>
          <a:prstGeom prst="rect">
            <a:avLst/>
          </a:prstGeom>
        </p:spPr>
        <p:txBody>
          <a:bodyPr lIns="0" tIns="0" rIns="0" bIns="0" rtlCol="0" anchor="t">
            <a:spAutoFit/>
          </a:bodyPr>
          <a:lstStyle/>
          <a:p>
            <a:pPr algn="l">
              <a:lnSpc>
                <a:spcPts val="2640"/>
              </a:lnSpc>
            </a:pPr>
            <a:r>
              <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DỰ PHÒNG D7 · NGUỒN: VĐ4</a:t>
            </a:r>
            <a:endPar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6" name="Group 6"/>
          <p:cNvGrpSpPr/>
          <p:nvPr/>
        </p:nvGrpSpPr>
        <p:grpSpPr>
          <a:xfrm rot="0">
            <a:off x="914400" y="768096"/>
            <a:ext cx="14081760" cy="1097280"/>
            <a:chOff x="0" y="0"/>
            <a:chExt cx="18775680" cy="1463040"/>
          </a:xfrm>
        </p:grpSpPr>
        <p:sp>
          <p:nvSpPr>
            <p:cNvPr id="7" name="Freeform 7"/>
            <p:cNvSpPr/>
            <p:nvPr/>
          </p:nvSpPr>
          <p:spPr>
            <a:xfrm>
              <a:off x="0" y="0"/>
              <a:ext cx="18775680" cy="1463040"/>
            </a:xfrm>
            <a:custGeom>
              <a:avLst/>
              <a:gdLst/>
              <a:ahLst/>
              <a:cxnLst/>
              <a:rect l="l" t="t" r="r" b="b"/>
              <a:pathLst>
                <a:path w="18775680" h="1463040">
                  <a:moveTo>
                    <a:pt x="0" y="0"/>
                  </a:moveTo>
                  <a:lnTo>
                    <a:pt x="18775680" y="0"/>
                  </a:lnTo>
                  <a:lnTo>
                    <a:pt x="18775680" y="1463040"/>
                  </a:lnTo>
                  <a:lnTo>
                    <a:pt x="0" y="1463040"/>
                  </a:lnTo>
                  <a:close/>
                </a:path>
              </a:pathLst>
            </a:custGeom>
            <a:blipFill>
              <a:blip r:embed="rId1">
                <a:alphaModFix amt="0"/>
              </a:blip>
              <a:stretch>
                <a:fillRect t="-200057" b="-200057"/>
              </a:stretch>
            </a:blipFill>
          </p:spPr>
        </p:sp>
        <p:sp>
          <p:nvSpPr>
            <p:cNvPr id="8" name="TextBox 8"/>
            <p:cNvSpPr txBox="1"/>
            <p:nvPr/>
          </p:nvSpPr>
          <p:spPr>
            <a:xfrm>
              <a:off x="0" y="-9525"/>
              <a:ext cx="18775680" cy="1472565"/>
            </a:xfrm>
            <a:prstGeom prst="rect">
              <a:avLst/>
            </a:prstGeom>
          </p:spPr>
          <p:txBody>
            <a:bodyPr lIns="0" tIns="0" rIns="0" bIns="0" rtlCol="0" anchor="ctr"/>
            <a:lstStyle/>
            <a:p>
              <a:pPr algn="l">
                <a:lnSpc>
                  <a:spcPts val="6900"/>
                </a:lnSpc>
              </a:pPr>
              <a:r>
                <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rPr>
                <a:t>Phân xử món hàng hiếm</a:t>
              </a:r>
              <a:endPar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9" name="Group 9"/>
          <p:cNvGrpSpPr/>
          <p:nvPr/>
        </p:nvGrpSpPr>
        <p:grpSpPr>
          <a:xfrm rot="0">
            <a:off x="15257783" y="682247"/>
            <a:ext cx="2128523" cy="647195"/>
            <a:chOff x="0" y="0"/>
            <a:chExt cx="2838031" cy="862927"/>
          </a:xfrm>
        </p:grpSpPr>
        <p:sp>
          <p:nvSpPr>
            <p:cNvPr id="10" name="Freeform 10"/>
            <p:cNvSpPr/>
            <p:nvPr/>
          </p:nvSpPr>
          <p:spPr>
            <a:xfrm>
              <a:off x="0" y="0"/>
              <a:ext cx="2837942" cy="862838"/>
            </a:xfrm>
            <a:custGeom>
              <a:avLst/>
              <a:gdLst/>
              <a:ahLst/>
              <a:cxnLst/>
              <a:rect l="l" t="t" r="r" b="b"/>
              <a:pathLst>
                <a:path w="2837942" h="862838">
                  <a:moveTo>
                    <a:pt x="0" y="431419"/>
                  </a:moveTo>
                  <a:cubicBezTo>
                    <a:pt x="0" y="193167"/>
                    <a:pt x="193167" y="0"/>
                    <a:pt x="431419" y="0"/>
                  </a:cubicBezTo>
                  <a:lnTo>
                    <a:pt x="2406523" y="0"/>
                  </a:lnTo>
                  <a:cubicBezTo>
                    <a:pt x="2644775" y="0"/>
                    <a:pt x="2837942" y="193167"/>
                    <a:pt x="2837942" y="431419"/>
                  </a:cubicBezTo>
                  <a:cubicBezTo>
                    <a:pt x="2837942" y="669671"/>
                    <a:pt x="2644775" y="862838"/>
                    <a:pt x="2406523" y="862838"/>
                  </a:cubicBezTo>
                  <a:lnTo>
                    <a:pt x="431419" y="862838"/>
                  </a:lnTo>
                  <a:cubicBezTo>
                    <a:pt x="193167" y="862965"/>
                    <a:pt x="0" y="669798"/>
                    <a:pt x="0" y="431419"/>
                  </a:cubicBezTo>
                  <a:close/>
                </a:path>
              </a:pathLst>
            </a:custGeom>
            <a:solidFill>
              <a:srgbClr val="5B6B82"/>
            </a:solidFill>
            <a:ln w="25400" cap="sq">
              <a:solidFill>
                <a:srgbClr val="5B6B82"/>
              </a:solidFill>
              <a:prstDash val="solid"/>
              <a:miter/>
            </a:ln>
          </p:spPr>
        </p:sp>
      </p:grpSp>
      <p:grpSp>
        <p:nvGrpSpPr>
          <p:cNvPr id="11" name="Group 11"/>
          <p:cNvGrpSpPr/>
          <p:nvPr/>
        </p:nvGrpSpPr>
        <p:grpSpPr>
          <a:xfrm rot="0">
            <a:off x="15270480" y="694944"/>
            <a:ext cx="2103120" cy="621792"/>
            <a:chOff x="0" y="0"/>
            <a:chExt cx="2804160" cy="829056"/>
          </a:xfrm>
        </p:grpSpPr>
        <p:sp>
          <p:nvSpPr>
            <p:cNvPr id="12" name="Freeform 12"/>
            <p:cNvSpPr/>
            <p:nvPr/>
          </p:nvSpPr>
          <p:spPr>
            <a:xfrm>
              <a:off x="0" y="0"/>
              <a:ext cx="2804160" cy="829056"/>
            </a:xfrm>
            <a:custGeom>
              <a:avLst/>
              <a:gdLst/>
              <a:ahLst/>
              <a:cxnLst/>
              <a:rect l="l" t="t" r="r" b="b"/>
              <a:pathLst>
                <a:path w="2804160" h="829056">
                  <a:moveTo>
                    <a:pt x="0" y="0"/>
                  </a:moveTo>
                  <a:lnTo>
                    <a:pt x="2804160" y="0"/>
                  </a:lnTo>
                  <a:lnTo>
                    <a:pt x="2804160" y="829056"/>
                  </a:lnTo>
                  <a:lnTo>
                    <a:pt x="0" y="829056"/>
                  </a:lnTo>
                  <a:close/>
                </a:path>
              </a:pathLst>
            </a:custGeom>
            <a:blipFill>
              <a:blip r:embed="rId1">
                <a:alphaModFix amt="0"/>
              </a:blip>
              <a:stretch>
                <a:fillRect t="-15905" b="-15905"/>
              </a:stretch>
            </a:blipFill>
          </p:spPr>
        </p:sp>
        <p:sp>
          <p:nvSpPr>
            <p:cNvPr id="13" name="TextBox 13"/>
            <p:cNvSpPr txBox="1"/>
            <p:nvPr/>
          </p:nvSpPr>
          <p:spPr>
            <a:xfrm>
              <a:off x="0" y="-47625"/>
              <a:ext cx="2804160" cy="876681"/>
            </a:xfrm>
            <a:prstGeom prst="rect">
              <a:avLst/>
            </a:prstGeom>
          </p:spPr>
          <p:txBody>
            <a:bodyPr lIns="0" tIns="0" rIns="0" bIns="0" rtlCol="0" anchor="ctr"/>
            <a:lstStyle/>
            <a:p>
              <a:pPr algn="ctr">
                <a:lnSpc>
                  <a:spcPts val="2640"/>
                </a:lnSpc>
              </a:pPr>
              <a:r>
                <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rPr>
                <a:t>Q&amp;A</a:t>
              </a:r>
              <a:endPar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4" name="Group 14"/>
          <p:cNvGrpSpPr/>
          <p:nvPr/>
        </p:nvGrpSpPr>
        <p:grpSpPr>
          <a:xfrm rot="0">
            <a:off x="901703" y="2456183"/>
            <a:ext cx="16484603" cy="1488443"/>
            <a:chOff x="0" y="0"/>
            <a:chExt cx="21979471" cy="1984591"/>
          </a:xfrm>
        </p:grpSpPr>
        <p:sp>
          <p:nvSpPr>
            <p:cNvPr id="15" name="Freeform 15"/>
            <p:cNvSpPr/>
            <p:nvPr/>
          </p:nvSpPr>
          <p:spPr>
            <a:xfrm>
              <a:off x="0" y="0"/>
              <a:ext cx="21979382" cy="1984502"/>
            </a:xfrm>
            <a:custGeom>
              <a:avLst/>
              <a:gdLst/>
              <a:ahLst/>
              <a:cxnLst/>
              <a:rect l="l" t="t" r="r" b="b"/>
              <a:pathLst>
                <a:path w="21979382" h="1984502">
                  <a:moveTo>
                    <a:pt x="0" y="248031"/>
                  </a:moveTo>
                  <a:cubicBezTo>
                    <a:pt x="0" y="111125"/>
                    <a:pt x="111125" y="0"/>
                    <a:pt x="248031" y="0"/>
                  </a:cubicBezTo>
                  <a:lnTo>
                    <a:pt x="21731351" y="0"/>
                  </a:lnTo>
                  <a:cubicBezTo>
                    <a:pt x="21868383" y="0"/>
                    <a:pt x="21979382" y="111125"/>
                    <a:pt x="21979382" y="248031"/>
                  </a:cubicBezTo>
                  <a:lnTo>
                    <a:pt x="21979382" y="1736471"/>
                  </a:lnTo>
                  <a:cubicBezTo>
                    <a:pt x="21979382" y="1873504"/>
                    <a:pt x="21868257" y="1984502"/>
                    <a:pt x="21731351" y="1984502"/>
                  </a:cubicBezTo>
                  <a:lnTo>
                    <a:pt x="248031" y="1984502"/>
                  </a:lnTo>
                  <a:cubicBezTo>
                    <a:pt x="111125" y="1984629"/>
                    <a:pt x="0" y="1873504"/>
                    <a:pt x="0" y="1736471"/>
                  </a:cubicBezTo>
                  <a:close/>
                </a:path>
              </a:pathLst>
            </a:custGeom>
            <a:solidFill>
              <a:srgbClr val="14213D"/>
            </a:solidFill>
            <a:ln w="25400" cap="sq">
              <a:solidFill>
                <a:srgbClr val="14213D"/>
              </a:solidFill>
              <a:prstDash val="solid"/>
              <a:miter/>
            </a:ln>
          </p:spPr>
        </p:sp>
      </p:grpSp>
      <p:grpSp>
        <p:nvGrpSpPr>
          <p:cNvPr id="16" name="Group 16"/>
          <p:cNvGrpSpPr/>
          <p:nvPr/>
        </p:nvGrpSpPr>
        <p:grpSpPr>
          <a:xfrm rot="0">
            <a:off x="1371600" y="2468880"/>
            <a:ext cx="2377440" cy="1463040"/>
            <a:chOff x="0" y="0"/>
            <a:chExt cx="3169920" cy="1950720"/>
          </a:xfrm>
        </p:grpSpPr>
        <p:sp>
          <p:nvSpPr>
            <p:cNvPr id="17" name="Freeform 17"/>
            <p:cNvSpPr/>
            <p:nvPr/>
          </p:nvSpPr>
          <p:spPr>
            <a:xfrm>
              <a:off x="0" y="0"/>
              <a:ext cx="3169920" cy="1950720"/>
            </a:xfrm>
            <a:custGeom>
              <a:avLst/>
              <a:gdLst/>
              <a:ahLst/>
              <a:cxnLst/>
              <a:rect l="l" t="t" r="r" b="b"/>
              <a:pathLst>
                <a:path w="3169920" h="1950720">
                  <a:moveTo>
                    <a:pt x="0" y="0"/>
                  </a:moveTo>
                  <a:lnTo>
                    <a:pt x="3169920" y="0"/>
                  </a:lnTo>
                  <a:lnTo>
                    <a:pt x="3169920" y="1950720"/>
                  </a:lnTo>
                  <a:lnTo>
                    <a:pt x="0" y="1950720"/>
                  </a:lnTo>
                  <a:close/>
                </a:path>
              </a:pathLst>
            </a:custGeom>
            <a:blipFill>
              <a:blip r:embed="rId1">
                <a:alphaModFix amt="0"/>
              </a:blip>
              <a:stretch>
                <a:fillRect l="-28956" r="-28956"/>
              </a:stretch>
            </a:blipFill>
          </p:spPr>
        </p:sp>
        <p:sp>
          <p:nvSpPr>
            <p:cNvPr id="18" name="TextBox 18"/>
            <p:cNvSpPr txBox="1"/>
            <p:nvPr/>
          </p:nvSpPr>
          <p:spPr>
            <a:xfrm>
              <a:off x="0" y="-38100"/>
              <a:ext cx="3169920" cy="1988820"/>
            </a:xfrm>
            <a:prstGeom prst="rect">
              <a:avLst/>
            </a:prstGeom>
          </p:spPr>
          <p:txBody>
            <a:bodyPr lIns="0" tIns="0" rIns="0" bIns="0" rtlCol="0" anchor="ctr"/>
            <a:lstStyle/>
            <a:p>
              <a:pPr algn="l">
                <a:lnSpc>
                  <a:spcPts val="2400"/>
                </a:lnSpc>
              </a:pPr>
              <a:r>
                <a:rPr lang="en-US" sz="20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KHI BỊ HỎI</a:t>
              </a:r>
              <a:endParaRPr lang="en-US" sz="20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9" name="Group 19"/>
          <p:cNvGrpSpPr/>
          <p:nvPr/>
        </p:nvGrpSpPr>
        <p:grpSpPr>
          <a:xfrm rot="0">
            <a:off x="3749040" y="2468880"/>
            <a:ext cx="13167360" cy="1463040"/>
            <a:chOff x="0" y="0"/>
            <a:chExt cx="17556480" cy="1950720"/>
          </a:xfrm>
        </p:grpSpPr>
        <p:sp>
          <p:nvSpPr>
            <p:cNvPr id="20" name="Freeform 20"/>
            <p:cNvSpPr/>
            <p:nvPr/>
          </p:nvSpPr>
          <p:spPr>
            <a:xfrm>
              <a:off x="0" y="0"/>
              <a:ext cx="17556480" cy="1950720"/>
            </a:xfrm>
            <a:custGeom>
              <a:avLst/>
              <a:gdLst/>
              <a:ahLst/>
              <a:cxnLst/>
              <a:rect l="l" t="t" r="r" b="b"/>
              <a:pathLst>
                <a:path w="17556480" h="1950720">
                  <a:moveTo>
                    <a:pt x="0" y="0"/>
                  </a:moveTo>
                  <a:lnTo>
                    <a:pt x="17556480" y="0"/>
                  </a:lnTo>
                  <a:lnTo>
                    <a:pt x="17556480" y="1950720"/>
                  </a:lnTo>
                  <a:lnTo>
                    <a:pt x="0" y="1950720"/>
                  </a:lnTo>
                  <a:close/>
                </a:path>
              </a:pathLst>
            </a:custGeom>
            <a:blipFill>
              <a:blip r:embed="rId1">
                <a:alphaModFix amt="0"/>
              </a:blip>
              <a:stretch>
                <a:fillRect t="-125365" b="-125365"/>
              </a:stretch>
            </a:blipFill>
          </p:spPr>
        </p:sp>
        <p:sp>
          <p:nvSpPr>
            <p:cNvPr id="21" name="TextBox 21"/>
            <p:cNvSpPr txBox="1"/>
            <p:nvPr/>
          </p:nvSpPr>
          <p:spPr>
            <a:xfrm>
              <a:off x="0" y="-57150"/>
              <a:ext cx="17556480" cy="2007870"/>
            </a:xfrm>
            <a:prstGeom prst="rect">
              <a:avLst/>
            </a:prstGeom>
          </p:spPr>
          <p:txBody>
            <a:bodyPr lIns="0" tIns="0" rIns="0" bIns="0" rtlCol="0" anchor="ctr"/>
            <a:lstStyle/>
            <a:p>
              <a:pPr algn="l">
                <a:lnSpc>
                  <a:spcPts val="3840"/>
                </a:lnSpc>
              </a:pPr>
              <a:r>
                <a:rPr lang="en-US" sz="3200" i="1">
                  <a:solidFill>
                    <a:srgbClr val="FFFFFF"/>
                  </a:solidFill>
                  <a:latin typeface="Times New Roman" panose="02020603050405020304"/>
                  <a:ea typeface="Times New Roman" panose="02020603050405020304"/>
                  <a:cs typeface="Times New Roman" panose="02020603050405020304"/>
                  <a:sym typeface="Times New Roman" panose="02020603050405020304"/>
                </a:rPr>
                <a:t>“Hai người cùng nhặt thì xử thế nào? Gửi nhịp giả thì sao?”</a:t>
              </a:r>
              <a:endParaRPr lang="en-US" sz="3200" i="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2" name="Group 22"/>
          <p:cNvGrpSpPr/>
          <p:nvPr/>
        </p:nvGrpSpPr>
        <p:grpSpPr>
          <a:xfrm rot="0">
            <a:off x="898522" y="4373242"/>
            <a:ext cx="16490947" cy="4786627"/>
            <a:chOff x="0" y="0"/>
            <a:chExt cx="21987929" cy="6382169"/>
          </a:xfrm>
        </p:grpSpPr>
        <p:sp>
          <p:nvSpPr>
            <p:cNvPr id="23" name="Freeform 23"/>
            <p:cNvSpPr/>
            <p:nvPr/>
          </p:nvSpPr>
          <p:spPr>
            <a:xfrm>
              <a:off x="0" y="0"/>
              <a:ext cx="21987890" cy="6382131"/>
            </a:xfrm>
            <a:custGeom>
              <a:avLst/>
              <a:gdLst/>
              <a:ahLst/>
              <a:cxnLst/>
              <a:rect l="l" t="t" r="r" b="b"/>
              <a:pathLst>
                <a:path w="21987890" h="6382131">
                  <a:moveTo>
                    <a:pt x="0" y="196342"/>
                  </a:moveTo>
                  <a:cubicBezTo>
                    <a:pt x="0" y="87884"/>
                    <a:pt x="87884" y="0"/>
                    <a:pt x="196342" y="0"/>
                  </a:cubicBezTo>
                  <a:lnTo>
                    <a:pt x="21791549" y="0"/>
                  </a:lnTo>
                  <a:cubicBezTo>
                    <a:pt x="21900007" y="0"/>
                    <a:pt x="21987890" y="87884"/>
                    <a:pt x="21987890" y="196342"/>
                  </a:cubicBezTo>
                  <a:lnTo>
                    <a:pt x="21987890" y="6185789"/>
                  </a:lnTo>
                  <a:cubicBezTo>
                    <a:pt x="21987890" y="6294247"/>
                    <a:pt x="21900007" y="6382131"/>
                    <a:pt x="21791549" y="6382131"/>
                  </a:cubicBezTo>
                  <a:lnTo>
                    <a:pt x="196342" y="6382131"/>
                  </a:lnTo>
                  <a:cubicBezTo>
                    <a:pt x="87884" y="6382131"/>
                    <a:pt x="0" y="6294247"/>
                    <a:pt x="0" y="6185789"/>
                  </a:cubicBezTo>
                  <a:close/>
                </a:path>
              </a:pathLst>
            </a:custGeom>
            <a:solidFill>
              <a:srgbClr val="EEF3F8"/>
            </a:solidFill>
            <a:ln w="31750" cap="sq">
              <a:solidFill>
                <a:srgbClr val="00897B"/>
              </a:solidFill>
              <a:prstDash val="dash"/>
              <a:miter/>
            </a:ln>
          </p:spPr>
        </p:sp>
      </p:grpSp>
      <p:grpSp>
        <p:nvGrpSpPr>
          <p:cNvPr id="24" name="Group 24"/>
          <p:cNvGrpSpPr/>
          <p:nvPr/>
        </p:nvGrpSpPr>
        <p:grpSpPr>
          <a:xfrm rot="0">
            <a:off x="1280160" y="4663440"/>
            <a:ext cx="15727680" cy="512064"/>
            <a:chOff x="0" y="0"/>
            <a:chExt cx="20970240" cy="682752"/>
          </a:xfrm>
        </p:grpSpPr>
        <p:sp>
          <p:nvSpPr>
            <p:cNvPr id="25" name="Freeform 25"/>
            <p:cNvSpPr/>
            <p:nvPr/>
          </p:nvSpPr>
          <p:spPr>
            <a:xfrm>
              <a:off x="0" y="0"/>
              <a:ext cx="20970239" cy="682752"/>
            </a:xfrm>
            <a:custGeom>
              <a:avLst/>
              <a:gdLst/>
              <a:ahLst/>
              <a:cxnLst/>
              <a:rect l="l" t="t" r="r" b="b"/>
              <a:pathLst>
                <a:path w="20970239" h="682752">
                  <a:moveTo>
                    <a:pt x="0" y="0"/>
                  </a:moveTo>
                  <a:lnTo>
                    <a:pt x="20970239" y="0"/>
                  </a:lnTo>
                  <a:lnTo>
                    <a:pt x="20970239" y="682752"/>
                  </a:lnTo>
                  <a:lnTo>
                    <a:pt x="0" y="682752"/>
                  </a:lnTo>
                  <a:close/>
                </a:path>
              </a:pathLst>
            </a:custGeom>
            <a:blipFill>
              <a:blip r:embed="rId1">
                <a:alphaModFix amt="0"/>
              </a:blip>
              <a:stretch>
                <a:fillRect t="-548469" b="-548469"/>
              </a:stretch>
            </a:blipFill>
          </p:spPr>
        </p:sp>
        <p:sp>
          <p:nvSpPr>
            <p:cNvPr id="26" name="TextBox 26"/>
            <p:cNvSpPr txBox="1"/>
            <p:nvPr/>
          </p:nvSpPr>
          <p:spPr>
            <a:xfrm>
              <a:off x="0" y="-38100"/>
              <a:ext cx="20970240" cy="720852"/>
            </a:xfrm>
            <a:prstGeom prst="rect">
              <a:avLst/>
            </a:prstGeom>
          </p:spPr>
          <p:txBody>
            <a:bodyPr lIns="0" tIns="0" rIns="0" bIns="0" rtlCol="0" anchor="ctr"/>
            <a:lstStyle/>
            <a:p>
              <a:pPr algn="l">
                <a:lnSpc>
                  <a:spcPts val="2400"/>
                </a:lnSpc>
              </a:pPr>
              <a:r>
                <a:rPr lang="en-US" sz="2000" b="1" spc="300">
                  <a:solidFill>
                    <a:srgbClr val="00897B"/>
                  </a:solidFill>
                  <a:latin typeface="Times New Roman" panose="02020603050405020304"/>
                  <a:ea typeface="Times New Roman" panose="02020603050405020304"/>
                  <a:cs typeface="Times New Roman" panose="02020603050405020304"/>
                  <a:sym typeface="Times New Roman" panose="02020603050405020304"/>
                </a:rPr>
                <a:t>NỘI DUNG CẦN ĐIỀN</a:t>
              </a:r>
              <a:endParaRPr lang="en-US" sz="2000" b="1" spc="300">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7" name="TextBox 27"/>
          <p:cNvSpPr txBox="1"/>
          <p:nvPr/>
        </p:nvSpPr>
        <p:spPr>
          <a:xfrm>
            <a:off x="1280160" y="5265420"/>
            <a:ext cx="15727680" cy="3604260"/>
          </a:xfrm>
          <a:prstGeom prst="rect">
            <a:avLst/>
          </a:prstGeom>
        </p:spPr>
        <p:txBody>
          <a:bodyPr lIns="0" tIns="0" rIns="0" bIns="0" rtlCol="0" anchor="t">
            <a:spAutoFit/>
          </a:bodyPr>
          <a:lstStyle/>
          <a:p>
            <a:pPr algn="l">
              <a:lnSpc>
                <a:spcPts val="2880"/>
              </a:lnSpc>
            </a:pPr>
            <a:r>
              <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rPr>
              <a:t>Phạm vi: cửa sổ phân xử, kiểm tra số nhịp giả</a:t>
            </a:r>
            <a:endPar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2880"/>
              </a:lnSpc>
            </a:pPr>
            <a:r>
              <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rPr>
              <a:t>Lấy từ NoiDung_ChiTiet.md, VĐ4. Câu trả lời mẫu: phụ lục A.</a:t>
            </a:r>
            <a:endPar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 name="TextBox 28"/>
          <p:cNvSpPr txBox="1"/>
          <p:nvPr/>
        </p:nvSpPr>
        <p:spPr>
          <a:xfrm>
            <a:off x="16550640" y="9517380"/>
            <a:ext cx="731520" cy="495300"/>
          </a:xfrm>
          <a:prstGeom prst="rect">
            <a:avLst/>
          </a:prstGeom>
        </p:spPr>
        <p:txBody>
          <a:bodyPr lIns="0" tIns="0" rIns="0" bIns="0" rtlCol="0" anchor="t">
            <a:spAutoFit/>
          </a:bodyPr>
          <a:lstStyle/>
          <a:p>
            <a:pPr algn="r">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29</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26" name="Header band"/>
          <p:cNvSpPr/>
          <p:nvPr/>
        </p:nvSpPr>
        <p:spPr>
          <a:xfrm>
            <a:off x="0" y="0"/>
            <a:ext cx="18288000" cy="2103120"/>
          </a:xfrm>
          <a:prstGeom prst="rect">
            <a:avLst/>
          </a:prstGeom>
          <a:solidFill>
            <a:srgbClr val="14213D"/>
          </a:solidFill>
          <a:ln>
            <a:noFill/>
          </a:ln>
        </p:spPr>
      </p:sp>
      <p:sp>
        <p:nvSpPr>
          <p:cNvPr id="9027" name="Header rule"/>
          <p:cNvSpPr/>
          <p:nvPr/>
        </p:nvSpPr>
        <p:spPr>
          <a:xfrm>
            <a:off x="0" y="2103120"/>
            <a:ext cx="18288000" cy="64008"/>
          </a:xfrm>
          <a:prstGeom prst="rect">
            <a:avLst/>
          </a:prstGeom>
          <a:solidFill>
            <a:srgbClr val="00897B"/>
          </a:solidFill>
          <a:ln>
            <a:noFill/>
          </a:ln>
        </p:spPr>
      </p:sp>
      <p:grpSp>
        <p:nvGrpSpPr>
          <p:cNvPr id="2" name="Group 2"/>
          <p:cNvGrpSpPr/>
          <p:nvPr/>
        </p:nvGrpSpPr>
        <p:grpSpPr>
          <a:xfrm rot="0">
            <a:off x="914400" y="9509760"/>
            <a:ext cx="12801600" cy="548640"/>
            <a:chOff x="0" y="0"/>
            <a:chExt cx="17068800" cy="731520"/>
          </a:xfrm>
        </p:grpSpPr>
        <p:sp>
          <p:nvSpPr>
            <p:cNvPr id="3" name="Freeform 3"/>
            <p:cNvSpPr/>
            <p:nvPr/>
          </p:nvSpPr>
          <p:spPr>
            <a:xfrm>
              <a:off x="0" y="0"/>
              <a:ext cx="17068800" cy="731520"/>
            </a:xfrm>
            <a:custGeom>
              <a:avLst/>
              <a:gdLst/>
              <a:ahLst/>
              <a:cxnLst/>
              <a:rect l="l" t="t" r="r" b="b"/>
              <a:pathLst>
                <a:path w="17068800" h="731520">
                  <a:moveTo>
                    <a:pt x="0" y="0"/>
                  </a:moveTo>
                  <a:lnTo>
                    <a:pt x="17068800" y="0"/>
                  </a:lnTo>
                  <a:lnTo>
                    <a:pt x="17068800" y="731520"/>
                  </a:lnTo>
                  <a:lnTo>
                    <a:pt x="0" y="731520"/>
                  </a:lnTo>
                  <a:close/>
                </a:path>
              </a:pathLst>
            </a:custGeom>
            <a:blipFill>
              <a:blip r:embed="rId1">
                <a:alphaModFix amt="0"/>
              </a:blip>
              <a:stretch>
                <a:fillRect t="-404650" b="-404650"/>
              </a:stretch>
            </a:blipFill>
          </p:spPr>
        </p:sp>
        <p:sp>
          <p:nvSpPr>
            <p:cNvPr id="4" name="TextBox 4"/>
            <p:cNvSpPr txBox="1"/>
            <p:nvPr/>
          </p:nvSpPr>
          <p:spPr>
            <a:xfrm>
              <a:off x="0" y="-38100"/>
              <a:ext cx="17068800" cy="769620"/>
            </a:xfrm>
            <a:prstGeom prst="rect">
              <a:avLst/>
            </a:prstGeom>
          </p:spPr>
          <p:txBody>
            <a:bodyPr lIns="0" tIns="0" rIns="0" bIns="0" rtlCol="0" anchor="ctr"/>
            <a:lstStyle/>
            <a:p>
              <a:pPr algn="l">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T47 · Kỹ thuật mạng cho game thời gian thực · Lập trình mạng</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5" name="TextBox 5"/>
          <p:cNvSpPr txBox="1"/>
          <p:nvPr/>
        </p:nvSpPr>
        <p:spPr>
          <a:xfrm>
            <a:off x="914400" y="384048"/>
            <a:ext cx="13898880" cy="559689"/>
          </a:xfrm>
          <a:prstGeom prst="rect">
            <a:avLst/>
          </a:prstGeom>
        </p:spPr>
        <p:txBody>
          <a:bodyPr lIns="0" tIns="0" rIns="0" bIns="0" rtlCol="0" anchor="t">
            <a:spAutoFit/>
          </a:bodyPr>
          <a:lstStyle/>
          <a:p>
            <a:pPr algn="l">
              <a:lnSpc>
                <a:spcPts val="2640"/>
              </a:lnSpc>
            </a:pPr>
            <a:r>
              <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DỰ PHÒNG D8 · NGUỒN: VĐ5</a:t>
            </a:r>
            <a:endPar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6" name="Group 6"/>
          <p:cNvGrpSpPr/>
          <p:nvPr/>
        </p:nvGrpSpPr>
        <p:grpSpPr>
          <a:xfrm rot="0">
            <a:off x="914400" y="768096"/>
            <a:ext cx="14081760" cy="1097280"/>
            <a:chOff x="0" y="0"/>
            <a:chExt cx="18775680" cy="1463040"/>
          </a:xfrm>
        </p:grpSpPr>
        <p:sp>
          <p:nvSpPr>
            <p:cNvPr id="7" name="Freeform 7"/>
            <p:cNvSpPr/>
            <p:nvPr/>
          </p:nvSpPr>
          <p:spPr>
            <a:xfrm>
              <a:off x="0" y="0"/>
              <a:ext cx="18775680" cy="1463040"/>
            </a:xfrm>
            <a:custGeom>
              <a:avLst/>
              <a:gdLst/>
              <a:ahLst/>
              <a:cxnLst/>
              <a:rect l="l" t="t" r="r" b="b"/>
              <a:pathLst>
                <a:path w="18775680" h="1463040">
                  <a:moveTo>
                    <a:pt x="0" y="0"/>
                  </a:moveTo>
                  <a:lnTo>
                    <a:pt x="18775680" y="0"/>
                  </a:lnTo>
                  <a:lnTo>
                    <a:pt x="18775680" y="1463040"/>
                  </a:lnTo>
                  <a:lnTo>
                    <a:pt x="0" y="1463040"/>
                  </a:lnTo>
                  <a:close/>
                </a:path>
              </a:pathLst>
            </a:custGeom>
            <a:blipFill>
              <a:blip r:embed="rId1">
                <a:alphaModFix amt="0"/>
              </a:blip>
              <a:stretch>
                <a:fillRect t="-200057" b="-200057"/>
              </a:stretch>
            </a:blipFill>
          </p:spPr>
        </p:sp>
        <p:sp>
          <p:nvSpPr>
            <p:cNvPr id="8" name="TextBox 8"/>
            <p:cNvSpPr txBox="1"/>
            <p:nvPr/>
          </p:nvSpPr>
          <p:spPr>
            <a:xfrm>
              <a:off x="0" y="-9525"/>
              <a:ext cx="18775680" cy="1472565"/>
            </a:xfrm>
            <a:prstGeom prst="rect">
              <a:avLst/>
            </a:prstGeom>
          </p:spPr>
          <p:txBody>
            <a:bodyPr lIns="0" tIns="0" rIns="0" bIns="0" rtlCol="0" anchor="ctr"/>
            <a:lstStyle/>
            <a:p>
              <a:pPr algn="l">
                <a:lnSpc>
                  <a:spcPts val="6900"/>
                </a:lnSpc>
              </a:pPr>
              <a:r>
                <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rPr>
                <a:t>Các nguồn phá tính tất định</a:t>
              </a:r>
              <a:endPar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9" name="Group 9"/>
          <p:cNvGrpSpPr/>
          <p:nvPr/>
        </p:nvGrpSpPr>
        <p:grpSpPr>
          <a:xfrm rot="0">
            <a:off x="15257783" y="682247"/>
            <a:ext cx="2128523" cy="647195"/>
            <a:chOff x="0" y="0"/>
            <a:chExt cx="2838031" cy="862927"/>
          </a:xfrm>
        </p:grpSpPr>
        <p:sp>
          <p:nvSpPr>
            <p:cNvPr id="10" name="Freeform 10"/>
            <p:cNvSpPr/>
            <p:nvPr/>
          </p:nvSpPr>
          <p:spPr>
            <a:xfrm>
              <a:off x="0" y="0"/>
              <a:ext cx="2837942" cy="862838"/>
            </a:xfrm>
            <a:custGeom>
              <a:avLst/>
              <a:gdLst/>
              <a:ahLst/>
              <a:cxnLst/>
              <a:rect l="l" t="t" r="r" b="b"/>
              <a:pathLst>
                <a:path w="2837942" h="862838">
                  <a:moveTo>
                    <a:pt x="0" y="431419"/>
                  </a:moveTo>
                  <a:cubicBezTo>
                    <a:pt x="0" y="193167"/>
                    <a:pt x="193167" y="0"/>
                    <a:pt x="431419" y="0"/>
                  </a:cubicBezTo>
                  <a:lnTo>
                    <a:pt x="2406523" y="0"/>
                  </a:lnTo>
                  <a:cubicBezTo>
                    <a:pt x="2644775" y="0"/>
                    <a:pt x="2837942" y="193167"/>
                    <a:pt x="2837942" y="431419"/>
                  </a:cubicBezTo>
                  <a:cubicBezTo>
                    <a:pt x="2837942" y="669671"/>
                    <a:pt x="2644775" y="862838"/>
                    <a:pt x="2406523" y="862838"/>
                  </a:cubicBezTo>
                  <a:lnTo>
                    <a:pt x="431419" y="862838"/>
                  </a:lnTo>
                  <a:cubicBezTo>
                    <a:pt x="193167" y="862965"/>
                    <a:pt x="0" y="669798"/>
                    <a:pt x="0" y="431419"/>
                  </a:cubicBezTo>
                  <a:close/>
                </a:path>
              </a:pathLst>
            </a:custGeom>
            <a:solidFill>
              <a:srgbClr val="5B6B82"/>
            </a:solidFill>
            <a:ln w="25400" cap="sq">
              <a:solidFill>
                <a:srgbClr val="5B6B82"/>
              </a:solidFill>
              <a:prstDash val="solid"/>
              <a:miter/>
            </a:ln>
          </p:spPr>
        </p:sp>
      </p:grpSp>
      <p:grpSp>
        <p:nvGrpSpPr>
          <p:cNvPr id="11" name="Group 11"/>
          <p:cNvGrpSpPr/>
          <p:nvPr/>
        </p:nvGrpSpPr>
        <p:grpSpPr>
          <a:xfrm rot="0">
            <a:off x="15270480" y="694944"/>
            <a:ext cx="2103120" cy="621792"/>
            <a:chOff x="0" y="0"/>
            <a:chExt cx="2804160" cy="829056"/>
          </a:xfrm>
        </p:grpSpPr>
        <p:sp>
          <p:nvSpPr>
            <p:cNvPr id="12" name="Freeform 12"/>
            <p:cNvSpPr/>
            <p:nvPr/>
          </p:nvSpPr>
          <p:spPr>
            <a:xfrm>
              <a:off x="0" y="0"/>
              <a:ext cx="2804160" cy="829056"/>
            </a:xfrm>
            <a:custGeom>
              <a:avLst/>
              <a:gdLst/>
              <a:ahLst/>
              <a:cxnLst/>
              <a:rect l="l" t="t" r="r" b="b"/>
              <a:pathLst>
                <a:path w="2804160" h="829056">
                  <a:moveTo>
                    <a:pt x="0" y="0"/>
                  </a:moveTo>
                  <a:lnTo>
                    <a:pt x="2804160" y="0"/>
                  </a:lnTo>
                  <a:lnTo>
                    <a:pt x="2804160" y="829056"/>
                  </a:lnTo>
                  <a:lnTo>
                    <a:pt x="0" y="829056"/>
                  </a:lnTo>
                  <a:close/>
                </a:path>
              </a:pathLst>
            </a:custGeom>
            <a:blipFill>
              <a:blip r:embed="rId1">
                <a:alphaModFix amt="0"/>
              </a:blip>
              <a:stretch>
                <a:fillRect t="-15905" b="-15905"/>
              </a:stretch>
            </a:blipFill>
          </p:spPr>
        </p:sp>
        <p:sp>
          <p:nvSpPr>
            <p:cNvPr id="13" name="TextBox 13"/>
            <p:cNvSpPr txBox="1"/>
            <p:nvPr/>
          </p:nvSpPr>
          <p:spPr>
            <a:xfrm>
              <a:off x="0" y="-47625"/>
              <a:ext cx="2804160" cy="876681"/>
            </a:xfrm>
            <a:prstGeom prst="rect">
              <a:avLst/>
            </a:prstGeom>
          </p:spPr>
          <p:txBody>
            <a:bodyPr lIns="0" tIns="0" rIns="0" bIns="0" rtlCol="0" anchor="ctr"/>
            <a:lstStyle/>
            <a:p>
              <a:pPr algn="ctr">
                <a:lnSpc>
                  <a:spcPts val="2640"/>
                </a:lnSpc>
              </a:pPr>
              <a:r>
                <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rPr>
                <a:t>Q&amp;A</a:t>
              </a:r>
              <a:endPar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4" name="Group 14"/>
          <p:cNvGrpSpPr/>
          <p:nvPr/>
        </p:nvGrpSpPr>
        <p:grpSpPr>
          <a:xfrm rot="0">
            <a:off x="901703" y="2456183"/>
            <a:ext cx="16484603" cy="1488443"/>
            <a:chOff x="0" y="0"/>
            <a:chExt cx="21979471" cy="1984591"/>
          </a:xfrm>
        </p:grpSpPr>
        <p:sp>
          <p:nvSpPr>
            <p:cNvPr id="15" name="Freeform 15"/>
            <p:cNvSpPr/>
            <p:nvPr/>
          </p:nvSpPr>
          <p:spPr>
            <a:xfrm>
              <a:off x="0" y="0"/>
              <a:ext cx="21979382" cy="1984502"/>
            </a:xfrm>
            <a:custGeom>
              <a:avLst/>
              <a:gdLst/>
              <a:ahLst/>
              <a:cxnLst/>
              <a:rect l="l" t="t" r="r" b="b"/>
              <a:pathLst>
                <a:path w="21979382" h="1984502">
                  <a:moveTo>
                    <a:pt x="0" y="248031"/>
                  </a:moveTo>
                  <a:cubicBezTo>
                    <a:pt x="0" y="111125"/>
                    <a:pt x="111125" y="0"/>
                    <a:pt x="248031" y="0"/>
                  </a:cubicBezTo>
                  <a:lnTo>
                    <a:pt x="21731351" y="0"/>
                  </a:lnTo>
                  <a:cubicBezTo>
                    <a:pt x="21868383" y="0"/>
                    <a:pt x="21979382" y="111125"/>
                    <a:pt x="21979382" y="248031"/>
                  </a:cubicBezTo>
                  <a:lnTo>
                    <a:pt x="21979382" y="1736471"/>
                  </a:lnTo>
                  <a:cubicBezTo>
                    <a:pt x="21979382" y="1873504"/>
                    <a:pt x="21868257" y="1984502"/>
                    <a:pt x="21731351" y="1984502"/>
                  </a:cubicBezTo>
                  <a:lnTo>
                    <a:pt x="248031" y="1984502"/>
                  </a:lnTo>
                  <a:cubicBezTo>
                    <a:pt x="111125" y="1984629"/>
                    <a:pt x="0" y="1873504"/>
                    <a:pt x="0" y="1736471"/>
                  </a:cubicBezTo>
                  <a:close/>
                </a:path>
              </a:pathLst>
            </a:custGeom>
            <a:solidFill>
              <a:srgbClr val="14213D"/>
            </a:solidFill>
            <a:ln w="25400" cap="sq">
              <a:solidFill>
                <a:srgbClr val="14213D"/>
              </a:solidFill>
              <a:prstDash val="solid"/>
              <a:miter/>
            </a:ln>
          </p:spPr>
        </p:sp>
      </p:grpSp>
      <p:grpSp>
        <p:nvGrpSpPr>
          <p:cNvPr id="16" name="Group 16"/>
          <p:cNvGrpSpPr/>
          <p:nvPr/>
        </p:nvGrpSpPr>
        <p:grpSpPr>
          <a:xfrm rot="0">
            <a:off x="1371600" y="2468880"/>
            <a:ext cx="2377440" cy="1463040"/>
            <a:chOff x="0" y="0"/>
            <a:chExt cx="3169920" cy="1950720"/>
          </a:xfrm>
        </p:grpSpPr>
        <p:sp>
          <p:nvSpPr>
            <p:cNvPr id="17" name="Freeform 17"/>
            <p:cNvSpPr/>
            <p:nvPr/>
          </p:nvSpPr>
          <p:spPr>
            <a:xfrm>
              <a:off x="0" y="0"/>
              <a:ext cx="3169920" cy="1950720"/>
            </a:xfrm>
            <a:custGeom>
              <a:avLst/>
              <a:gdLst/>
              <a:ahLst/>
              <a:cxnLst/>
              <a:rect l="l" t="t" r="r" b="b"/>
              <a:pathLst>
                <a:path w="3169920" h="1950720">
                  <a:moveTo>
                    <a:pt x="0" y="0"/>
                  </a:moveTo>
                  <a:lnTo>
                    <a:pt x="3169920" y="0"/>
                  </a:lnTo>
                  <a:lnTo>
                    <a:pt x="3169920" y="1950720"/>
                  </a:lnTo>
                  <a:lnTo>
                    <a:pt x="0" y="1950720"/>
                  </a:lnTo>
                  <a:close/>
                </a:path>
              </a:pathLst>
            </a:custGeom>
            <a:blipFill>
              <a:blip r:embed="rId1">
                <a:alphaModFix amt="0"/>
              </a:blip>
              <a:stretch>
                <a:fillRect l="-28956" r="-28956"/>
              </a:stretch>
            </a:blipFill>
          </p:spPr>
        </p:sp>
        <p:sp>
          <p:nvSpPr>
            <p:cNvPr id="18" name="TextBox 18"/>
            <p:cNvSpPr txBox="1"/>
            <p:nvPr/>
          </p:nvSpPr>
          <p:spPr>
            <a:xfrm>
              <a:off x="0" y="-38100"/>
              <a:ext cx="3169920" cy="1988820"/>
            </a:xfrm>
            <a:prstGeom prst="rect">
              <a:avLst/>
            </a:prstGeom>
          </p:spPr>
          <p:txBody>
            <a:bodyPr lIns="0" tIns="0" rIns="0" bIns="0" rtlCol="0" anchor="ctr"/>
            <a:lstStyle/>
            <a:p>
              <a:pPr algn="l">
                <a:lnSpc>
                  <a:spcPts val="2400"/>
                </a:lnSpc>
              </a:pPr>
              <a:r>
                <a:rPr lang="en-US" sz="20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KHI BỊ HỎI</a:t>
              </a:r>
              <a:endParaRPr lang="en-US" sz="20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9" name="Group 19"/>
          <p:cNvGrpSpPr/>
          <p:nvPr/>
        </p:nvGrpSpPr>
        <p:grpSpPr>
          <a:xfrm rot="0">
            <a:off x="3749040" y="2468880"/>
            <a:ext cx="13167360" cy="1463040"/>
            <a:chOff x="0" y="0"/>
            <a:chExt cx="17556480" cy="1950720"/>
          </a:xfrm>
        </p:grpSpPr>
        <p:sp>
          <p:nvSpPr>
            <p:cNvPr id="20" name="Freeform 20"/>
            <p:cNvSpPr/>
            <p:nvPr/>
          </p:nvSpPr>
          <p:spPr>
            <a:xfrm>
              <a:off x="0" y="0"/>
              <a:ext cx="17556480" cy="1950720"/>
            </a:xfrm>
            <a:custGeom>
              <a:avLst/>
              <a:gdLst/>
              <a:ahLst/>
              <a:cxnLst/>
              <a:rect l="l" t="t" r="r" b="b"/>
              <a:pathLst>
                <a:path w="17556480" h="1950720">
                  <a:moveTo>
                    <a:pt x="0" y="0"/>
                  </a:moveTo>
                  <a:lnTo>
                    <a:pt x="17556480" y="0"/>
                  </a:lnTo>
                  <a:lnTo>
                    <a:pt x="17556480" y="1950720"/>
                  </a:lnTo>
                  <a:lnTo>
                    <a:pt x="0" y="1950720"/>
                  </a:lnTo>
                  <a:close/>
                </a:path>
              </a:pathLst>
            </a:custGeom>
            <a:blipFill>
              <a:blip r:embed="rId1">
                <a:alphaModFix amt="0"/>
              </a:blip>
              <a:stretch>
                <a:fillRect t="-125365" b="-125365"/>
              </a:stretch>
            </a:blipFill>
          </p:spPr>
        </p:sp>
        <p:sp>
          <p:nvSpPr>
            <p:cNvPr id="21" name="TextBox 21"/>
            <p:cNvSpPr txBox="1"/>
            <p:nvPr/>
          </p:nvSpPr>
          <p:spPr>
            <a:xfrm>
              <a:off x="0" y="-57150"/>
              <a:ext cx="17556480" cy="2007870"/>
            </a:xfrm>
            <a:prstGeom prst="rect">
              <a:avLst/>
            </a:prstGeom>
          </p:spPr>
          <p:txBody>
            <a:bodyPr lIns="0" tIns="0" rIns="0" bIns="0" rtlCol="0" anchor="ctr"/>
            <a:lstStyle/>
            <a:p>
              <a:pPr algn="l">
                <a:lnSpc>
                  <a:spcPts val="3840"/>
                </a:lnSpc>
              </a:pPr>
              <a:r>
                <a:rPr lang="en-US" sz="3200" i="1">
                  <a:solidFill>
                    <a:srgbClr val="FFFFFF"/>
                  </a:solidFill>
                  <a:latin typeface="Times New Roman" panose="02020603050405020304"/>
                  <a:ea typeface="Times New Roman" panose="02020603050405020304"/>
                  <a:cs typeface="Times New Roman" panose="02020603050405020304"/>
                  <a:sym typeface="Times New Roman" panose="02020603050405020304"/>
                </a:rPr>
                <a:t>“Tính tất định ảnh hưởng thế nào?”</a:t>
              </a:r>
              <a:endParaRPr lang="en-US" sz="3200" i="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2" name="Group 22"/>
          <p:cNvGrpSpPr/>
          <p:nvPr/>
        </p:nvGrpSpPr>
        <p:grpSpPr>
          <a:xfrm rot="0">
            <a:off x="898522" y="4373242"/>
            <a:ext cx="16490947" cy="4786627"/>
            <a:chOff x="0" y="0"/>
            <a:chExt cx="21987929" cy="6382169"/>
          </a:xfrm>
        </p:grpSpPr>
        <p:sp>
          <p:nvSpPr>
            <p:cNvPr id="23" name="Freeform 23"/>
            <p:cNvSpPr/>
            <p:nvPr/>
          </p:nvSpPr>
          <p:spPr>
            <a:xfrm>
              <a:off x="0" y="0"/>
              <a:ext cx="21987890" cy="6382131"/>
            </a:xfrm>
            <a:custGeom>
              <a:avLst/>
              <a:gdLst/>
              <a:ahLst/>
              <a:cxnLst/>
              <a:rect l="l" t="t" r="r" b="b"/>
              <a:pathLst>
                <a:path w="21987890" h="6382131">
                  <a:moveTo>
                    <a:pt x="0" y="196342"/>
                  </a:moveTo>
                  <a:cubicBezTo>
                    <a:pt x="0" y="87884"/>
                    <a:pt x="87884" y="0"/>
                    <a:pt x="196342" y="0"/>
                  </a:cubicBezTo>
                  <a:lnTo>
                    <a:pt x="21791549" y="0"/>
                  </a:lnTo>
                  <a:cubicBezTo>
                    <a:pt x="21900007" y="0"/>
                    <a:pt x="21987890" y="87884"/>
                    <a:pt x="21987890" y="196342"/>
                  </a:cubicBezTo>
                  <a:lnTo>
                    <a:pt x="21987890" y="6185789"/>
                  </a:lnTo>
                  <a:cubicBezTo>
                    <a:pt x="21987890" y="6294247"/>
                    <a:pt x="21900007" y="6382131"/>
                    <a:pt x="21791549" y="6382131"/>
                  </a:cubicBezTo>
                  <a:lnTo>
                    <a:pt x="196342" y="6382131"/>
                  </a:lnTo>
                  <a:cubicBezTo>
                    <a:pt x="87884" y="6382131"/>
                    <a:pt x="0" y="6294247"/>
                    <a:pt x="0" y="6185789"/>
                  </a:cubicBezTo>
                  <a:close/>
                </a:path>
              </a:pathLst>
            </a:custGeom>
            <a:solidFill>
              <a:srgbClr val="EEF3F8"/>
            </a:solidFill>
            <a:ln w="31750" cap="sq">
              <a:solidFill>
                <a:srgbClr val="00897B"/>
              </a:solidFill>
              <a:prstDash val="dash"/>
              <a:miter/>
            </a:ln>
          </p:spPr>
        </p:sp>
      </p:grpSp>
      <p:grpSp>
        <p:nvGrpSpPr>
          <p:cNvPr id="24" name="Group 24"/>
          <p:cNvGrpSpPr/>
          <p:nvPr/>
        </p:nvGrpSpPr>
        <p:grpSpPr>
          <a:xfrm rot="0">
            <a:off x="1280160" y="4663440"/>
            <a:ext cx="15727680" cy="512064"/>
            <a:chOff x="0" y="0"/>
            <a:chExt cx="20970240" cy="682752"/>
          </a:xfrm>
        </p:grpSpPr>
        <p:sp>
          <p:nvSpPr>
            <p:cNvPr id="25" name="Freeform 25"/>
            <p:cNvSpPr/>
            <p:nvPr/>
          </p:nvSpPr>
          <p:spPr>
            <a:xfrm>
              <a:off x="0" y="0"/>
              <a:ext cx="20970239" cy="682752"/>
            </a:xfrm>
            <a:custGeom>
              <a:avLst/>
              <a:gdLst/>
              <a:ahLst/>
              <a:cxnLst/>
              <a:rect l="l" t="t" r="r" b="b"/>
              <a:pathLst>
                <a:path w="20970239" h="682752">
                  <a:moveTo>
                    <a:pt x="0" y="0"/>
                  </a:moveTo>
                  <a:lnTo>
                    <a:pt x="20970239" y="0"/>
                  </a:lnTo>
                  <a:lnTo>
                    <a:pt x="20970239" y="682752"/>
                  </a:lnTo>
                  <a:lnTo>
                    <a:pt x="0" y="682752"/>
                  </a:lnTo>
                  <a:close/>
                </a:path>
              </a:pathLst>
            </a:custGeom>
            <a:blipFill>
              <a:blip r:embed="rId1">
                <a:alphaModFix amt="0"/>
              </a:blip>
              <a:stretch>
                <a:fillRect t="-548469" b="-548469"/>
              </a:stretch>
            </a:blipFill>
          </p:spPr>
        </p:sp>
        <p:sp>
          <p:nvSpPr>
            <p:cNvPr id="26" name="TextBox 26"/>
            <p:cNvSpPr txBox="1"/>
            <p:nvPr/>
          </p:nvSpPr>
          <p:spPr>
            <a:xfrm>
              <a:off x="0" y="-38100"/>
              <a:ext cx="20970240" cy="720852"/>
            </a:xfrm>
            <a:prstGeom prst="rect">
              <a:avLst/>
            </a:prstGeom>
          </p:spPr>
          <p:txBody>
            <a:bodyPr lIns="0" tIns="0" rIns="0" bIns="0" rtlCol="0" anchor="ctr"/>
            <a:lstStyle/>
            <a:p>
              <a:pPr algn="l">
                <a:lnSpc>
                  <a:spcPts val="2400"/>
                </a:lnSpc>
              </a:pPr>
              <a:r>
                <a:rPr lang="en-US" sz="2000" b="1" spc="300">
                  <a:solidFill>
                    <a:srgbClr val="00897B"/>
                  </a:solidFill>
                  <a:latin typeface="Times New Roman" panose="02020603050405020304"/>
                  <a:ea typeface="Times New Roman" panose="02020603050405020304"/>
                  <a:cs typeface="Times New Roman" panose="02020603050405020304"/>
                  <a:sym typeface="Times New Roman" panose="02020603050405020304"/>
                </a:rPr>
                <a:t>NỘI DUNG CẦN ĐIỀN</a:t>
              </a:r>
              <a:endParaRPr lang="en-US" sz="2000" b="1" spc="300">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7" name="TextBox 27"/>
          <p:cNvSpPr txBox="1"/>
          <p:nvPr/>
        </p:nvSpPr>
        <p:spPr>
          <a:xfrm>
            <a:off x="1280160" y="5265420"/>
            <a:ext cx="15727680" cy="3604260"/>
          </a:xfrm>
          <a:prstGeom prst="rect">
            <a:avLst/>
          </a:prstGeom>
        </p:spPr>
        <p:txBody>
          <a:bodyPr lIns="0" tIns="0" rIns="0" bIns="0" rtlCol="0" anchor="t">
            <a:spAutoFit/>
          </a:bodyPr>
          <a:lstStyle/>
          <a:p>
            <a:pPr algn="l">
              <a:lnSpc>
                <a:spcPts val="2880"/>
              </a:lnSpc>
            </a:pPr>
            <a:r>
              <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rPr>
              <a:t>Phạm vi: số thực, thứ tự duyệt, số ngẫu nhiên</a:t>
            </a:r>
            <a:endPar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2880"/>
              </a:lnSpc>
            </a:pPr>
            <a:r>
              <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rPr>
              <a:t>Lấy từ NoiDung_ChiTiet.md, VĐ5. Câu trả lời mẫu: phụ lục A.</a:t>
            </a:r>
            <a:endPar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 name="TextBox 28"/>
          <p:cNvSpPr txBox="1"/>
          <p:nvPr/>
        </p:nvSpPr>
        <p:spPr>
          <a:xfrm>
            <a:off x="16550640" y="9517380"/>
            <a:ext cx="731520" cy="495300"/>
          </a:xfrm>
          <a:prstGeom prst="rect">
            <a:avLst/>
          </a:prstGeom>
        </p:spPr>
        <p:txBody>
          <a:bodyPr lIns="0" tIns="0" rIns="0" bIns="0" rtlCol="0" anchor="t">
            <a:spAutoFit/>
          </a:bodyPr>
          <a:lstStyle/>
          <a:p>
            <a:pPr algn="r">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30</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28" name="Header band"/>
          <p:cNvSpPr/>
          <p:nvPr/>
        </p:nvSpPr>
        <p:spPr>
          <a:xfrm>
            <a:off x="0" y="0"/>
            <a:ext cx="18288000" cy="2103120"/>
          </a:xfrm>
          <a:prstGeom prst="rect">
            <a:avLst/>
          </a:prstGeom>
          <a:solidFill>
            <a:srgbClr val="14213D"/>
          </a:solidFill>
          <a:ln>
            <a:noFill/>
          </a:ln>
        </p:spPr>
      </p:sp>
      <p:sp>
        <p:nvSpPr>
          <p:cNvPr id="9029" name="Header rule"/>
          <p:cNvSpPr/>
          <p:nvPr/>
        </p:nvSpPr>
        <p:spPr>
          <a:xfrm>
            <a:off x="0" y="2103120"/>
            <a:ext cx="18288000" cy="64008"/>
          </a:xfrm>
          <a:prstGeom prst="rect">
            <a:avLst/>
          </a:prstGeom>
          <a:solidFill>
            <a:srgbClr val="00897B"/>
          </a:solidFill>
          <a:ln>
            <a:noFill/>
          </a:ln>
        </p:spPr>
      </p:sp>
      <p:grpSp>
        <p:nvGrpSpPr>
          <p:cNvPr id="2" name="Group 2"/>
          <p:cNvGrpSpPr/>
          <p:nvPr/>
        </p:nvGrpSpPr>
        <p:grpSpPr>
          <a:xfrm rot="0">
            <a:off x="914400" y="9509760"/>
            <a:ext cx="12801600" cy="548640"/>
            <a:chOff x="0" y="0"/>
            <a:chExt cx="17068800" cy="731520"/>
          </a:xfrm>
        </p:grpSpPr>
        <p:sp>
          <p:nvSpPr>
            <p:cNvPr id="3" name="Freeform 3"/>
            <p:cNvSpPr/>
            <p:nvPr/>
          </p:nvSpPr>
          <p:spPr>
            <a:xfrm>
              <a:off x="0" y="0"/>
              <a:ext cx="17068800" cy="731520"/>
            </a:xfrm>
            <a:custGeom>
              <a:avLst/>
              <a:gdLst/>
              <a:ahLst/>
              <a:cxnLst/>
              <a:rect l="l" t="t" r="r" b="b"/>
              <a:pathLst>
                <a:path w="17068800" h="731520">
                  <a:moveTo>
                    <a:pt x="0" y="0"/>
                  </a:moveTo>
                  <a:lnTo>
                    <a:pt x="17068800" y="0"/>
                  </a:lnTo>
                  <a:lnTo>
                    <a:pt x="17068800" y="731520"/>
                  </a:lnTo>
                  <a:lnTo>
                    <a:pt x="0" y="731520"/>
                  </a:lnTo>
                  <a:close/>
                </a:path>
              </a:pathLst>
            </a:custGeom>
            <a:blipFill>
              <a:blip r:embed="rId1">
                <a:alphaModFix amt="0"/>
              </a:blip>
              <a:stretch>
                <a:fillRect t="-404650" b="-404650"/>
              </a:stretch>
            </a:blipFill>
          </p:spPr>
        </p:sp>
        <p:sp>
          <p:nvSpPr>
            <p:cNvPr id="4" name="TextBox 4"/>
            <p:cNvSpPr txBox="1"/>
            <p:nvPr/>
          </p:nvSpPr>
          <p:spPr>
            <a:xfrm>
              <a:off x="0" y="-38100"/>
              <a:ext cx="17068800" cy="769620"/>
            </a:xfrm>
            <a:prstGeom prst="rect">
              <a:avLst/>
            </a:prstGeom>
          </p:spPr>
          <p:txBody>
            <a:bodyPr lIns="0" tIns="0" rIns="0" bIns="0" rtlCol="0" anchor="ctr"/>
            <a:lstStyle/>
            <a:p>
              <a:pPr algn="l">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T47 · Kỹ thuật mạng cho game thời gian thực · Lập trình mạng</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5" name="TextBox 5"/>
          <p:cNvSpPr txBox="1"/>
          <p:nvPr/>
        </p:nvSpPr>
        <p:spPr>
          <a:xfrm>
            <a:off x="914400" y="384048"/>
            <a:ext cx="13898880" cy="559689"/>
          </a:xfrm>
          <a:prstGeom prst="rect">
            <a:avLst/>
          </a:prstGeom>
        </p:spPr>
        <p:txBody>
          <a:bodyPr lIns="0" tIns="0" rIns="0" bIns="0" rtlCol="0" anchor="t">
            <a:spAutoFit/>
          </a:bodyPr>
          <a:lstStyle/>
          <a:p>
            <a:pPr algn="l">
              <a:lnSpc>
                <a:spcPts val="2640"/>
              </a:lnSpc>
            </a:pPr>
            <a:r>
              <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DỰ PHÒNG D9 · NGUỒN: VĐ1, VĐ5</a:t>
            </a:r>
            <a:endPar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6" name="Group 6"/>
          <p:cNvGrpSpPr/>
          <p:nvPr/>
        </p:nvGrpSpPr>
        <p:grpSpPr>
          <a:xfrm rot="0">
            <a:off x="914400" y="768096"/>
            <a:ext cx="14081760" cy="1097280"/>
            <a:chOff x="0" y="0"/>
            <a:chExt cx="18775680" cy="1463040"/>
          </a:xfrm>
        </p:grpSpPr>
        <p:sp>
          <p:nvSpPr>
            <p:cNvPr id="7" name="Freeform 7"/>
            <p:cNvSpPr/>
            <p:nvPr/>
          </p:nvSpPr>
          <p:spPr>
            <a:xfrm>
              <a:off x="0" y="0"/>
              <a:ext cx="18775680" cy="1463040"/>
            </a:xfrm>
            <a:custGeom>
              <a:avLst/>
              <a:gdLst/>
              <a:ahLst/>
              <a:cxnLst/>
              <a:rect l="l" t="t" r="r" b="b"/>
              <a:pathLst>
                <a:path w="18775680" h="1463040">
                  <a:moveTo>
                    <a:pt x="0" y="0"/>
                  </a:moveTo>
                  <a:lnTo>
                    <a:pt x="18775680" y="0"/>
                  </a:lnTo>
                  <a:lnTo>
                    <a:pt x="18775680" y="1463040"/>
                  </a:lnTo>
                  <a:lnTo>
                    <a:pt x="0" y="1463040"/>
                  </a:lnTo>
                  <a:close/>
                </a:path>
              </a:pathLst>
            </a:custGeom>
            <a:blipFill>
              <a:blip r:embed="rId1">
                <a:alphaModFix amt="0"/>
              </a:blip>
              <a:stretch>
                <a:fillRect t="-200057" b="-200057"/>
              </a:stretch>
            </a:blipFill>
          </p:spPr>
        </p:sp>
        <p:sp>
          <p:nvSpPr>
            <p:cNvPr id="8" name="TextBox 8"/>
            <p:cNvSpPr txBox="1"/>
            <p:nvPr/>
          </p:nvSpPr>
          <p:spPr>
            <a:xfrm>
              <a:off x="0" y="-9525"/>
              <a:ext cx="18775680" cy="1472565"/>
            </a:xfrm>
            <a:prstGeom prst="rect">
              <a:avLst/>
            </a:prstGeom>
          </p:spPr>
          <p:txBody>
            <a:bodyPr lIns="0" tIns="0" rIns="0" bIns="0" rtlCol="0" anchor="ctr"/>
            <a:lstStyle/>
            <a:p>
              <a:pPr algn="l">
                <a:lnSpc>
                  <a:spcPts val="5750"/>
                </a:lnSpc>
              </a:pPr>
              <a:r>
                <a:rPr lang="en-US" sz="5000" b="1">
                  <a:solidFill>
                    <a:srgbClr val="FFFFFF"/>
                  </a:solidFill>
                  <a:latin typeface="Times New Roman" panose="02020603050405020304"/>
                  <a:ea typeface="Times New Roman" panose="02020603050405020304"/>
                  <a:cs typeface="Times New Roman" panose="02020603050405020304"/>
                  <a:sym typeface="Times New Roman" panose="02020603050405020304"/>
                </a:rPr>
                <a:t>Đồng bộ theo bước / GGPO vs mô hình của nhóm</a:t>
              </a:r>
              <a:endParaRPr lang="en-US" sz="50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9" name="Group 9"/>
          <p:cNvGrpSpPr/>
          <p:nvPr/>
        </p:nvGrpSpPr>
        <p:grpSpPr>
          <a:xfrm rot="0">
            <a:off x="15257783" y="682247"/>
            <a:ext cx="2128523" cy="647195"/>
            <a:chOff x="0" y="0"/>
            <a:chExt cx="2838031" cy="862927"/>
          </a:xfrm>
        </p:grpSpPr>
        <p:sp>
          <p:nvSpPr>
            <p:cNvPr id="10" name="Freeform 10"/>
            <p:cNvSpPr/>
            <p:nvPr/>
          </p:nvSpPr>
          <p:spPr>
            <a:xfrm>
              <a:off x="0" y="0"/>
              <a:ext cx="2837942" cy="862838"/>
            </a:xfrm>
            <a:custGeom>
              <a:avLst/>
              <a:gdLst/>
              <a:ahLst/>
              <a:cxnLst/>
              <a:rect l="l" t="t" r="r" b="b"/>
              <a:pathLst>
                <a:path w="2837942" h="862838">
                  <a:moveTo>
                    <a:pt x="0" y="431419"/>
                  </a:moveTo>
                  <a:cubicBezTo>
                    <a:pt x="0" y="193167"/>
                    <a:pt x="193167" y="0"/>
                    <a:pt x="431419" y="0"/>
                  </a:cubicBezTo>
                  <a:lnTo>
                    <a:pt x="2406523" y="0"/>
                  </a:lnTo>
                  <a:cubicBezTo>
                    <a:pt x="2644775" y="0"/>
                    <a:pt x="2837942" y="193167"/>
                    <a:pt x="2837942" y="431419"/>
                  </a:cubicBezTo>
                  <a:cubicBezTo>
                    <a:pt x="2837942" y="669671"/>
                    <a:pt x="2644775" y="862838"/>
                    <a:pt x="2406523" y="862838"/>
                  </a:cubicBezTo>
                  <a:lnTo>
                    <a:pt x="431419" y="862838"/>
                  </a:lnTo>
                  <a:cubicBezTo>
                    <a:pt x="193167" y="862965"/>
                    <a:pt x="0" y="669798"/>
                    <a:pt x="0" y="431419"/>
                  </a:cubicBezTo>
                  <a:close/>
                </a:path>
              </a:pathLst>
            </a:custGeom>
            <a:solidFill>
              <a:srgbClr val="5B6B82"/>
            </a:solidFill>
            <a:ln w="25400" cap="sq">
              <a:solidFill>
                <a:srgbClr val="5B6B82"/>
              </a:solidFill>
              <a:prstDash val="solid"/>
              <a:miter/>
            </a:ln>
          </p:spPr>
        </p:sp>
      </p:grpSp>
      <p:grpSp>
        <p:nvGrpSpPr>
          <p:cNvPr id="11" name="Group 11"/>
          <p:cNvGrpSpPr/>
          <p:nvPr/>
        </p:nvGrpSpPr>
        <p:grpSpPr>
          <a:xfrm rot="0">
            <a:off x="15270480" y="694944"/>
            <a:ext cx="2103120" cy="621792"/>
            <a:chOff x="0" y="0"/>
            <a:chExt cx="2804160" cy="829056"/>
          </a:xfrm>
        </p:grpSpPr>
        <p:sp>
          <p:nvSpPr>
            <p:cNvPr id="12" name="Freeform 12"/>
            <p:cNvSpPr/>
            <p:nvPr/>
          </p:nvSpPr>
          <p:spPr>
            <a:xfrm>
              <a:off x="0" y="0"/>
              <a:ext cx="2804160" cy="829056"/>
            </a:xfrm>
            <a:custGeom>
              <a:avLst/>
              <a:gdLst/>
              <a:ahLst/>
              <a:cxnLst/>
              <a:rect l="l" t="t" r="r" b="b"/>
              <a:pathLst>
                <a:path w="2804160" h="829056">
                  <a:moveTo>
                    <a:pt x="0" y="0"/>
                  </a:moveTo>
                  <a:lnTo>
                    <a:pt x="2804160" y="0"/>
                  </a:lnTo>
                  <a:lnTo>
                    <a:pt x="2804160" y="829056"/>
                  </a:lnTo>
                  <a:lnTo>
                    <a:pt x="0" y="829056"/>
                  </a:lnTo>
                  <a:close/>
                </a:path>
              </a:pathLst>
            </a:custGeom>
            <a:blipFill>
              <a:blip r:embed="rId1">
                <a:alphaModFix amt="0"/>
              </a:blip>
              <a:stretch>
                <a:fillRect t="-15905" b="-15905"/>
              </a:stretch>
            </a:blipFill>
          </p:spPr>
        </p:sp>
        <p:sp>
          <p:nvSpPr>
            <p:cNvPr id="13" name="TextBox 13"/>
            <p:cNvSpPr txBox="1"/>
            <p:nvPr/>
          </p:nvSpPr>
          <p:spPr>
            <a:xfrm>
              <a:off x="0" y="-47625"/>
              <a:ext cx="2804160" cy="876681"/>
            </a:xfrm>
            <a:prstGeom prst="rect">
              <a:avLst/>
            </a:prstGeom>
          </p:spPr>
          <p:txBody>
            <a:bodyPr lIns="0" tIns="0" rIns="0" bIns="0" rtlCol="0" anchor="ctr"/>
            <a:lstStyle/>
            <a:p>
              <a:pPr algn="ctr">
                <a:lnSpc>
                  <a:spcPts val="2640"/>
                </a:lnSpc>
              </a:pPr>
              <a:r>
                <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rPr>
                <a:t>Q&amp;A</a:t>
              </a:r>
              <a:endPar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4" name="Group 14"/>
          <p:cNvGrpSpPr/>
          <p:nvPr/>
        </p:nvGrpSpPr>
        <p:grpSpPr>
          <a:xfrm rot="0">
            <a:off x="901703" y="2456183"/>
            <a:ext cx="16484603" cy="1488443"/>
            <a:chOff x="0" y="0"/>
            <a:chExt cx="21979471" cy="1984591"/>
          </a:xfrm>
        </p:grpSpPr>
        <p:sp>
          <p:nvSpPr>
            <p:cNvPr id="15" name="Freeform 15"/>
            <p:cNvSpPr/>
            <p:nvPr/>
          </p:nvSpPr>
          <p:spPr>
            <a:xfrm>
              <a:off x="0" y="0"/>
              <a:ext cx="21979382" cy="1984502"/>
            </a:xfrm>
            <a:custGeom>
              <a:avLst/>
              <a:gdLst/>
              <a:ahLst/>
              <a:cxnLst/>
              <a:rect l="l" t="t" r="r" b="b"/>
              <a:pathLst>
                <a:path w="21979382" h="1984502">
                  <a:moveTo>
                    <a:pt x="0" y="248031"/>
                  </a:moveTo>
                  <a:cubicBezTo>
                    <a:pt x="0" y="111125"/>
                    <a:pt x="111125" y="0"/>
                    <a:pt x="248031" y="0"/>
                  </a:cubicBezTo>
                  <a:lnTo>
                    <a:pt x="21731351" y="0"/>
                  </a:lnTo>
                  <a:cubicBezTo>
                    <a:pt x="21868383" y="0"/>
                    <a:pt x="21979382" y="111125"/>
                    <a:pt x="21979382" y="248031"/>
                  </a:cubicBezTo>
                  <a:lnTo>
                    <a:pt x="21979382" y="1736471"/>
                  </a:lnTo>
                  <a:cubicBezTo>
                    <a:pt x="21979382" y="1873504"/>
                    <a:pt x="21868257" y="1984502"/>
                    <a:pt x="21731351" y="1984502"/>
                  </a:cubicBezTo>
                  <a:lnTo>
                    <a:pt x="248031" y="1984502"/>
                  </a:lnTo>
                  <a:cubicBezTo>
                    <a:pt x="111125" y="1984629"/>
                    <a:pt x="0" y="1873504"/>
                    <a:pt x="0" y="1736471"/>
                  </a:cubicBezTo>
                  <a:close/>
                </a:path>
              </a:pathLst>
            </a:custGeom>
            <a:solidFill>
              <a:srgbClr val="14213D"/>
            </a:solidFill>
            <a:ln w="25400" cap="sq">
              <a:solidFill>
                <a:srgbClr val="14213D"/>
              </a:solidFill>
              <a:prstDash val="solid"/>
              <a:miter/>
            </a:ln>
          </p:spPr>
        </p:sp>
      </p:grpSp>
      <p:grpSp>
        <p:nvGrpSpPr>
          <p:cNvPr id="16" name="Group 16"/>
          <p:cNvGrpSpPr/>
          <p:nvPr/>
        </p:nvGrpSpPr>
        <p:grpSpPr>
          <a:xfrm rot="0">
            <a:off x="1371600" y="2468880"/>
            <a:ext cx="2377440" cy="1463040"/>
            <a:chOff x="0" y="0"/>
            <a:chExt cx="3169920" cy="1950720"/>
          </a:xfrm>
        </p:grpSpPr>
        <p:sp>
          <p:nvSpPr>
            <p:cNvPr id="17" name="Freeform 17"/>
            <p:cNvSpPr/>
            <p:nvPr/>
          </p:nvSpPr>
          <p:spPr>
            <a:xfrm>
              <a:off x="0" y="0"/>
              <a:ext cx="3169920" cy="1950720"/>
            </a:xfrm>
            <a:custGeom>
              <a:avLst/>
              <a:gdLst/>
              <a:ahLst/>
              <a:cxnLst/>
              <a:rect l="l" t="t" r="r" b="b"/>
              <a:pathLst>
                <a:path w="3169920" h="1950720">
                  <a:moveTo>
                    <a:pt x="0" y="0"/>
                  </a:moveTo>
                  <a:lnTo>
                    <a:pt x="3169920" y="0"/>
                  </a:lnTo>
                  <a:lnTo>
                    <a:pt x="3169920" y="1950720"/>
                  </a:lnTo>
                  <a:lnTo>
                    <a:pt x="0" y="1950720"/>
                  </a:lnTo>
                  <a:close/>
                </a:path>
              </a:pathLst>
            </a:custGeom>
            <a:blipFill>
              <a:blip r:embed="rId1">
                <a:alphaModFix amt="0"/>
              </a:blip>
              <a:stretch>
                <a:fillRect l="-28956" r="-28956"/>
              </a:stretch>
            </a:blipFill>
          </p:spPr>
        </p:sp>
        <p:sp>
          <p:nvSpPr>
            <p:cNvPr id="18" name="TextBox 18"/>
            <p:cNvSpPr txBox="1"/>
            <p:nvPr/>
          </p:nvSpPr>
          <p:spPr>
            <a:xfrm>
              <a:off x="0" y="-38100"/>
              <a:ext cx="3169920" cy="1988820"/>
            </a:xfrm>
            <a:prstGeom prst="rect">
              <a:avLst/>
            </a:prstGeom>
          </p:spPr>
          <p:txBody>
            <a:bodyPr lIns="0" tIns="0" rIns="0" bIns="0" rtlCol="0" anchor="ctr"/>
            <a:lstStyle/>
            <a:p>
              <a:pPr algn="l">
                <a:lnSpc>
                  <a:spcPts val="2400"/>
                </a:lnSpc>
              </a:pPr>
              <a:r>
                <a:rPr lang="en-US" sz="20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KHI BỊ HỎI</a:t>
              </a:r>
              <a:endParaRPr lang="en-US" sz="20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9" name="Group 19"/>
          <p:cNvGrpSpPr/>
          <p:nvPr/>
        </p:nvGrpSpPr>
        <p:grpSpPr>
          <a:xfrm rot="0">
            <a:off x="3749040" y="2468880"/>
            <a:ext cx="13167360" cy="1463040"/>
            <a:chOff x="0" y="0"/>
            <a:chExt cx="17556480" cy="1950720"/>
          </a:xfrm>
        </p:grpSpPr>
        <p:sp>
          <p:nvSpPr>
            <p:cNvPr id="20" name="Freeform 20"/>
            <p:cNvSpPr/>
            <p:nvPr/>
          </p:nvSpPr>
          <p:spPr>
            <a:xfrm>
              <a:off x="0" y="0"/>
              <a:ext cx="17556480" cy="1950720"/>
            </a:xfrm>
            <a:custGeom>
              <a:avLst/>
              <a:gdLst/>
              <a:ahLst/>
              <a:cxnLst/>
              <a:rect l="l" t="t" r="r" b="b"/>
              <a:pathLst>
                <a:path w="17556480" h="1950720">
                  <a:moveTo>
                    <a:pt x="0" y="0"/>
                  </a:moveTo>
                  <a:lnTo>
                    <a:pt x="17556480" y="0"/>
                  </a:lnTo>
                  <a:lnTo>
                    <a:pt x="17556480" y="1950720"/>
                  </a:lnTo>
                  <a:lnTo>
                    <a:pt x="0" y="1950720"/>
                  </a:lnTo>
                  <a:close/>
                </a:path>
              </a:pathLst>
            </a:custGeom>
            <a:blipFill>
              <a:blip r:embed="rId1">
                <a:alphaModFix amt="0"/>
              </a:blip>
              <a:stretch>
                <a:fillRect t="-125365" b="-125365"/>
              </a:stretch>
            </a:blipFill>
          </p:spPr>
        </p:sp>
        <p:sp>
          <p:nvSpPr>
            <p:cNvPr id="21" name="TextBox 21"/>
            <p:cNvSpPr txBox="1"/>
            <p:nvPr/>
          </p:nvSpPr>
          <p:spPr>
            <a:xfrm>
              <a:off x="0" y="-57150"/>
              <a:ext cx="17556480" cy="2007870"/>
            </a:xfrm>
            <a:prstGeom prst="rect">
              <a:avLst/>
            </a:prstGeom>
          </p:spPr>
          <p:txBody>
            <a:bodyPr lIns="0" tIns="0" rIns="0" bIns="0" rtlCol="0" anchor="ctr"/>
            <a:lstStyle/>
            <a:p>
              <a:pPr algn="l">
                <a:lnSpc>
                  <a:spcPts val="3840"/>
                </a:lnSpc>
              </a:pPr>
              <a:r>
                <a:rPr lang="en-US" sz="3200" i="1">
                  <a:solidFill>
                    <a:srgbClr val="FFFFFF"/>
                  </a:solidFill>
                  <a:latin typeface="Times New Roman" panose="02020603050405020304"/>
                  <a:ea typeface="Times New Roman" panose="02020603050405020304"/>
                  <a:cs typeface="Times New Roman" panose="02020603050405020304"/>
                  <a:sym typeface="Times New Roman" panose="02020603050405020304"/>
                </a:rPr>
                <a:t>“Sao không làm ngang hàng?”</a:t>
              </a:r>
              <a:endParaRPr lang="en-US" sz="3200" i="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2" name="Group 22"/>
          <p:cNvGrpSpPr/>
          <p:nvPr/>
        </p:nvGrpSpPr>
        <p:grpSpPr>
          <a:xfrm rot="0">
            <a:off x="898522" y="4373242"/>
            <a:ext cx="16490947" cy="4786627"/>
            <a:chOff x="0" y="0"/>
            <a:chExt cx="21987929" cy="6382169"/>
          </a:xfrm>
        </p:grpSpPr>
        <p:sp>
          <p:nvSpPr>
            <p:cNvPr id="23" name="Freeform 23"/>
            <p:cNvSpPr/>
            <p:nvPr/>
          </p:nvSpPr>
          <p:spPr>
            <a:xfrm>
              <a:off x="0" y="0"/>
              <a:ext cx="21987890" cy="6382131"/>
            </a:xfrm>
            <a:custGeom>
              <a:avLst/>
              <a:gdLst/>
              <a:ahLst/>
              <a:cxnLst/>
              <a:rect l="l" t="t" r="r" b="b"/>
              <a:pathLst>
                <a:path w="21987890" h="6382131">
                  <a:moveTo>
                    <a:pt x="0" y="196342"/>
                  </a:moveTo>
                  <a:cubicBezTo>
                    <a:pt x="0" y="87884"/>
                    <a:pt x="87884" y="0"/>
                    <a:pt x="196342" y="0"/>
                  </a:cubicBezTo>
                  <a:lnTo>
                    <a:pt x="21791549" y="0"/>
                  </a:lnTo>
                  <a:cubicBezTo>
                    <a:pt x="21900007" y="0"/>
                    <a:pt x="21987890" y="87884"/>
                    <a:pt x="21987890" y="196342"/>
                  </a:cubicBezTo>
                  <a:lnTo>
                    <a:pt x="21987890" y="6185789"/>
                  </a:lnTo>
                  <a:cubicBezTo>
                    <a:pt x="21987890" y="6294247"/>
                    <a:pt x="21900007" y="6382131"/>
                    <a:pt x="21791549" y="6382131"/>
                  </a:cubicBezTo>
                  <a:lnTo>
                    <a:pt x="196342" y="6382131"/>
                  </a:lnTo>
                  <a:cubicBezTo>
                    <a:pt x="87884" y="6382131"/>
                    <a:pt x="0" y="6294247"/>
                    <a:pt x="0" y="6185789"/>
                  </a:cubicBezTo>
                  <a:close/>
                </a:path>
              </a:pathLst>
            </a:custGeom>
            <a:solidFill>
              <a:srgbClr val="EEF3F8"/>
            </a:solidFill>
            <a:ln w="31750" cap="sq">
              <a:solidFill>
                <a:srgbClr val="00897B"/>
              </a:solidFill>
              <a:prstDash val="dash"/>
              <a:miter/>
            </a:ln>
          </p:spPr>
        </p:sp>
      </p:grpSp>
      <p:grpSp>
        <p:nvGrpSpPr>
          <p:cNvPr id="24" name="Group 24"/>
          <p:cNvGrpSpPr/>
          <p:nvPr/>
        </p:nvGrpSpPr>
        <p:grpSpPr>
          <a:xfrm rot="0">
            <a:off x="1280160" y="4663440"/>
            <a:ext cx="15727680" cy="512064"/>
            <a:chOff x="0" y="0"/>
            <a:chExt cx="20970240" cy="682752"/>
          </a:xfrm>
        </p:grpSpPr>
        <p:sp>
          <p:nvSpPr>
            <p:cNvPr id="25" name="Freeform 25"/>
            <p:cNvSpPr/>
            <p:nvPr/>
          </p:nvSpPr>
          <p:spPr>
            <a:xfrm>
              <a:off x="0" y="0"/>
              <a:ext cx="20970239" cy="682752"/>
            </a:xfrm>
            <a:custGeom>
              <a:avLst/>
              <a:gdLst/>
              <a:ahLst/>
              <a:cxnLst/>
              <a:rect l="l" t="t" r="r" b="b"/>
              <a:pathLst>
                <a:path w="20970239" h="682752">
                  <a:moveTo>
                    <a:pt x="0" y="0"/>
                  </a:moveTo>
                  <a:lnTo>
                    <a:pt x="20970239" y="0"/>
                  </a:lnTo>
                  <a:lnTo>
                    <a:pt x="20970239" y="682752"/>
                  </a:lnTo>
                  <a:lnTo>
                    <a:pt x="0" y="682752"/>
                  </a:lnTo>
                  <a:close/>
                </a:path>
              </a:pathLst>
            </a:custGeom>
            <a:blipFill>
              <a:blip r:embed="rId1">
                <a:alphaModFix amt="0"/>
              </a:blip>
              <a:stretch>
                <a:fillRect t="-548469" b="-548469"/>
              </a:stretch>
            </a:blipFill>
          </p:spPr>
        </p:sp>
        <p:sp>
          <p:nvSpPr>
            <p:cNvPr id="26" name="TextBox 26"/>
            <p:cNvSpPr txBox="1"/>
            <p:nvPr/>
          </p:nvSpPr>
          <p:spPr>
            <a:xfrm>
              <a:off x="0" y="-38100"/>
              <a:ext cx="20970240" cy="720852"/>
            </a:xfrm>
            <a:prstGeom prst="rect">
              <a:avLst/>
            </a:prstGeom>
          </p:spPr>
          <p:txBody>
            <a:bodyPr lIns="0" tIns="0" rIns="0" bIns="0" rtlCol="0" anchor="ctr"/>
            <a:lstStyle/>
            <a:p>
              <a:pPr algn="l">
                <a:lnSpc>
                  <a:spcPts val="2400"/>
                </a:lnSpc>
              </a:pPr>
              <a:r>
                <a:rPr lang="en-US" sz="2000" b="1" spc="300">
                  <a:solidFill>
                    <a:srgbClr val="00897B"/>
                  </a:solidFill>
                  <a:latin typeface="Times New Roman" panose="02020603050405020304"/>
                  <a:ea typeface="Times New Roman" panose="02020603050405020304"/>
                  <a:cs typeface="Times New Roman" panose="02020603050405020304"/>
                  <a:sym typeface="Times New Roman" panose="02020603050405020304"/>
                </a:rPr>
                <a:t>NỘI DUNG CẦN ĐIỀN</a:t>
              </a:r>
              <a:endParaRPr lang="en-US" sz="2000" b="1" spc="300">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7" name="TextBox 27"/>
          <p:cNvSpPr txBox="1"/>
          <p:nvPr/>
        </p:nvSpPr>
        <p:spPr>
          <a:xfrm>
            <a:off x="1280160" y="5265420"/>
            <a:ext cx="15727680" cy="3604260"/>
          </a:xfrm>
          <a:prstGeom prst="rect">
            <a:avLst/>
          </a:prstGeom>
        </p:spPr>
        <p:txBody>
          <a:bodyPr lIns="0" tIns="0" rIns="0" bIns="0" rtlCol="0" anchor="t">
            <a:spAutoFit/>
          </a:bodyPr>
          <a:lstStyle/>
          <a:p>
            <a:pPr algn="l">
              <a:lnSpc>
                <a:spcPts val="2880"/>
              </a:lnSpc>
            </a:pPr>
            <a:r>
              <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rPr>
              <a:t>Phạm vi: so sánh hai mô hình</a:t>
            </a:r>
            <a:endPar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2880"/>
              </a:lnSpc>
            </a:pPr>
            <a:r>
              <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rPr>
              <a:t>Lấy từ NoiDung_ChiTiet.md, VĐ1, VĐ5. Câu trả lời mẫu: phụ lục A.</a:t>
            </a:r>
            <a:endPar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 name="TextBox 28"/>
          <p:cNvSpPr txBox="1"/>
          <p:nvPr/>
        </p:nvSpPr>
        <p:spPr>
          <a:xfrm>
            <a:off x="16550640" y="9517380"/>
            <a:ext cx="731520" cy="495300"/>
          </a:xfrm>
          <a:prstGeom prst="rect">
            <a:avLst/>
          </a:prstGeom>
        </p:spPr>
        <p:txBody>
          <a:bodyPr lIns="0" tIns="0" rIns="0" bIns="0" rtlCol="0" anchor="t">
            <a:spAutoFit/>
          </a:bodyPr>
          <a:lstStyle/>
          <a:p>
            <a:pPr algn="r">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31</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30" name="Header band"/>
          <p:cNvSpPr/>
          <p:nvPr/>
        </p:nvSpPr>
        <p:spPr>
          <a:xfrm>
            <a:off x="0" y="0"/>
            <a:ext cx="18288000" cy="2103120"/>
          </a:xfrm>
          <a:prstGeom prst="rect">
            <a:avLst/>
          </a:prstGeom>
          <a:solidFill>
            <a:srgbClr val="14213D"/>
          </a:solidFill>
          <a:ln>
            <a:noFill/>
          </a:ln>
        </p:spPr>
        <p:txBody>
          <a:bodyPr/>
          <a:p/>
        </p:txBody>
      </p:sp>
      <p:sp>
        <p:nvSpPr>
          <p:cNvPr id="9031" name="Header rule"/>
          <p:cNvSpPr/>
          <p:nvPr/>
        </p:nvSpPr>
        <p:spPr>
          <a:xfrm>
            <a:off x="0" y="2103120"/>
            <a:ext cx="18288000" cy="64008"/>
          </a:xfrm>
          <a:prstGeom prst="rect">
            <a:avLst/>
          </a:prstGeom>
          <a:solidFill>
            <a:srgbClr val="00897B"/>
          </a:solidFill>
          <a:ln>
            <a:noFill/>
          </a:ln>
        </p:spPr>
        <p:txBody>
          <a:bodyPr/>
          <a:p/>
        </p:txBody>
      </p:sp>
      <p:grpSp>
        <p:nvGrpSpPr>
          <p:cNvPr id="2" name="Group 2"/>
          <p:cNvGrpSpPr/>
          <p:nvPr/>
        </p:nvGrpSpPr>
        <p:grpSpPr>
          <a:xfrm rot="0">
            <a:off x="914400" y="9509760"/>
            <a:ext cx="12801600" cy="548640"/>
            <a:chOff x="0" y="0"/>
            <a:chExt cx="17068800" cy="731520"/>
          </a:xfrm>
        </p:grpSpPr>
        <p:sp>
          <p:nvSpPr>
            <p:cNvPr id="3" name="Freeform 3"/>
            <p:cNvSpPr/>
            <p:nvPr/>
          </p:nvSpPr>
          <p:spPr>
            <a:xfrm>
              <a:off x="0" y="0"/>
              <a:ext cx="17068800" cy="731520"/>
            </a:xfrm>
            <a:custGeom>
              <a:avLst/>
              <a:gdLst/>
              <a:ahLst/>
              <a:cxnLst/>
              <a:rect l="l" t="t" r="r" b="b"/>
              <a:pathLst>
                <a:path w="17068800" h="731520">
                  <a:moveTo>
                    <a:pt x="0" y="0"/>
                  </a:moveTo>
                  <a:lnTo>
                    <a:pt x="17068800" y="0"/>
                  </a:lnTo>
                  <a:lnTo>
                    <a:pt x="17068800" y="731520"/>
                  </a:lnTo>
                  <a:lnTo>
                    <a:pt x="0" y="731520"/>
                  </a:lnTo>
                  <a:close/>
                </a:path>
              </a:pathLst>
            </a:custGeom>
            <a:blipFill>
              <a:blip r:embed="rId1">
                <a:alphaModFix amt="0"/>
              </a:blip>
              <a:stretch>
                <a:fillRect t="-404650" b="-404650"/>
              </a:stretch>
            </a:blipFill>
          </p:spPr>
          <p:txBody>
            <a:bodyPr/>
            <a:p/>
          </p:txBody>
        </p:sp>
        <p:sp>
          <p:nvSpPr>
            <p:cNvPr id="4" name="TextBox 4"/>
            <p:cNvSpPr txBox="1"/>
            <p:nvPr/>
          </p:nvSpPr>
          <p:spPr>
            <a:xfrm>
              <a:off x="0" y="-38100"/>
              <a:ext cx="17068800" cy="769620"/>
            </a:xfrm>
            <a:prstGeom prst="rect">
              <a:avLst/>
            </a:prstGeom>
          </p:spPr>
          <p:txBody>
            <a:bodyPr lIns="0" tIns="0" rIns="0" bIns="0" rtlCol="0" anchor="ctr"/>
            <a:lstStyle/>
            <a:p>
              <a:pPr algn="l">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T47 · Kỹ thuật mạng cho game thời gian thực · Lập trình mạng</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5" name="TextBox 5"/>
          <p:cNvSpPr txBox="1"/>
          <p:nvPr/>
        </p:nvSpPr>
        <p:spPr>
          <a:xfrm>
            <a:off x="914400" y="384048"/>
            <a:ext cx="13898880" cy="559689"/>
          </a:xfrm>
          <a:prstGeom prst="rect">
            <a:avLst/>
          </a:prstGeom>
        </p:spPr>
        <p:txBody>
          <a:bodyPr lIns="0" tIns="0" rIns="0" bIns="0" rtlCol="0" anchor="t">
            <a:spAutoFit/>
          </a:bodyPr>
          <a:lstStyle/>
          <a:p>
            <a:pPr algn="l">
              <a:lnSpc>
                <a:spcPts val="2640"/>
              </a:lnSpc>
            </a:pPr>
            <a:r>
              <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DỰ PHÒNG D10 · NGUỒN: MỤC 7.2, 7.4</a:t>
            </a:r>
            <a:endParaRPr lang="en-US" sz="22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6" name="Group 6"/>
          <p:cNvGrpSpPr/>
          <p:nvPr/>
        </p:nvGrpSpPr>
        <p:grpSpPr>
          <a:xfrm rot="0">
            <a:off x="914400" y="768096"/>
            <a:ext cx="14081760" cy="1097280"/>
            <a:chOff x="0" y="0"/>
            <a:chExt cx="18775680" cy="1463040"/>
          </a:xfrm>
        </p:grpSpPr>
        <p:sp>
          <p:nvSpPr>
            <p:cNvPr id="7" name="Freeform 7"/>
            <p:cNvSpPr/>
            <p:nvPr/>
          </p:nvSpPr>
          <p:spPr>
            <a:xfrm>
              <a:off x="0" y="0"/>
              <a:ext cx="18775680" cy="1463040"/>
            </a:xfrm>
            <a:custGeom>
              <a:avLst/>
              <a:gdLst/>
              <a:ahLst/>
              <a:cxnLst/>
              <a:rect l="l" t="t" r="r" b="b"/>
              <a:pathLst>
                <a:path w="18775680" h="1463040">
                  <a:moveTo>
                    <a:pt x="0" y="0"/>
                  </a:moveTo>
                  <a:lnTo>
                    <a:pt x="18775680" y="0"/>
                  </a:lnTo>
                  <a:lnTo>
                    <a:pt x="18775680" y="1463040"/>
                  </a:lnTo>
                  <a:lnTo>
                    <a:pt x="0" y="1463040"/>
                  </a:lnTo>
                  <a:close/>
                </a:path>
              </a:pathLst>
            </a:custGeom>
            <a:blipFill>
              <a:blip r:embed="rId1">
                <a:alphaModFix amt="0"/>
              </a:blip>
              <a:stretch>
                <a:fillRect t="-200057" b="-200057"/>
              </a:stretch>
            </a:blipFill>
          </p:spPr>
          <p:txBody>
            <a:bodyPr/>
            <a:p/>
          </p:txBody>
        </p:sp>
        <p:sp>
          <p:nvSpPr>
            <p:cNvPr id="8" name="TextBox 8"/>
            <p:cNvSpPr txBox="1"/>
            <p:nvPr/>
          </p:nvSpPr>
          <p:spPr>
            <a:xfrm>
              <a:off x="0" y="-9525"/>
              <a:ext cx="18775680" cy="1472565"/>
            </a:xfrm>
            <a:prstGeom prst="rect">
              <a:avLst/>
            </a:prstGeom>
          </p:spPr>
          <p:txBody>
            <a:bodyPr lIns="0" tIns="0" rIns="0" bIns="0" rtlCol="0" anchor="ctr"/>
            <a:lstStyle/>
            <a:p>
              <a:pPr algn="l">
                <a:lnSpc>
                  <a:spcPts val="6900"/>
                </a:lnSpc>
              </a:pPr>
              <a:r>
                <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rPr>
                <a:t>Mạng giả lập</a:t>
              </a:r>
              <a:endParaRPr lang="en-US" sz="60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9" name="Group 9"/>
          <p:cNvGrpSpPr/>
          <p:nvPr/>
        </p:nvGrpSpPr>
        <p:grpSpPr>
          <a:xfrm rot="0">
            <a:off x="15257783" y="682247"/>
            <a:ext cx="2128523" cy="647195"/>
            <a:chOff x="0" y="0"/>
            <a:chExt cx="2838031" cy="862927"/>
          </a:xfrm>
        </p:grpSpPr>
        <p:sp>
          <p:nvSpPr>
            <p:cNvPr id="10" name="Freeform 10"/>
            <p:cNvSpPr/>
            <p:nvPr/>
          </p:nvSpPr>
          <p:spPr>
            <a:xfrm>
              <a:off x="0" y="0"/>
              <a:ext cx="2837942" cy="862838"/>
            </a:xfrm>
            <a:custGeom>
              <a:avLst/>
              <a:gdLst/>
              <a:ahLst/>
              <a:cxnLst/>
              <a:rect l="l" t="t" r="r" b="b"/>
              <a:pathLst>
                <a:path w="2837942" h="862838">
                  <a:moveTo>
                    <a:pt x="0" y="431419"/>
                  </a:moveTo>
                  <a:cubicBezTo>
                    <a:pt x="0" y="193167"/>
                    <a:pt x="193167" y="0"/>
                    <a:pt x="431419" y="0"/>
                  </a:cubicBezTo>
                  <a:lnTo>
                    <a:pt x="2406523" y="0"/>
                  </a:lnTo>
                  <a:cubicBezTo>
                    <a:pt x="2644775" y="0"/>
                    <a:pt x="2837942" y="193167"/>
                    <a:pt x="2837942" y="431419"/>
                  </a:cubicBezTo>
                  <a:cubicBezTo>
                    <a:pt x="2837942" y="669671"/>
                    <a:pt x="2644775" y="862838"/>
                    <a:pt x="2406523" y="862838"/>
                  </a:cubicBezTo>
                  <a:lnTo>
                    <a:pt x="431419" y="862838"/>
                  </a:lnTo>
                  <a:cubicBezTo>
                    <a:pt x="193167" y="862965"/>
                    <a:pt x="0" y="669798"/>
                    <a:pt x="0" y="431419"/>
                  </a:cubicBezTo>
                  <a:close/>
                </a:path>
              </a:pathLst>
            </a:custGeom>
            <a:solidFill>
              <a:srgbClr val="5B6B82"/>
            </a:solidFill>
            <a:ln w="25400" cap="sq">
              <a:solidFill>
                <a:srgbClr val="5B6B82"/>
              </a:solidFill>
              <a:prstDash val="solid"/>
              <a:miter/>
            </a:ln>
          </p:spPr>
          <p:txBody>
            <a:bodyPr/>
            <a:p/>
          </p:txBody>
        </p:sp>
      </p:grpSp>
      <p:grpSp>
        <p:nvGrpSpPr>
          <p:cNvPr id="11" name="Group 11"/>
          <p:cNvGrpSpPr/>
          <p:nvPr/>
        </p:nvGrpSpPr>
        <p:grpSpPr>
          <a:xfrm rot="0">
            <a:off x="15270480" y="694944"/>
            <a:ext cx="2103120" cy="621792"/>
            <a:chOff x="0" y="0"/>
            <a:chExt cx="2804160" cy="829056"/>
          </a:xfrm>
        </p:grpSpPr>
        <p:sp>
          <p:nvSpPr>
            <p:cNvPr id="12" name="Freeform 12"/>
            <p:cNvSpPr/>
            <p:nvPr/>
          </p:nvSpPr>
          <p:spPr>
            <a:xfrm>
              <a:off x="0" y="0"/>
              <a:ext cx="2804160" cy="829056"/>
            </a:xfrm>
            <a:custGeom>
              <a:avLst/>
              <a:gdLst/>
              <a:ahLst/>
              <a:cxnLst/>
              <a:rect l="l" t="t" r="r" b="b"/>
              <a:pathLst>
                <a:path w="2804160" h="829056">
                  <a:moveTo>
                    <a:pt x="0" y="0"/>
                  </a:moveTo>
                  <a:lnTo>
                    <a:pt x="2804160" y="0"/>
                  </a:lnTo>
                  <a:lnTo>
                    <a:pt x="2804160" y="829056"/>
                  </a:lnTo>
                  <a:lnTo>
                    <a:pt x="0" y="829056"/>
                  </a:lnTo>
                  <a:close/>
                </a:path>
              </a:pathLst>
            </a:custGeom>
            <a:blipFill>
              <a:blip r:embed="rId1">
                <a:alphaModFix amt="0"/>
              </a:blip>
              <a:stretch>
                <a:fillRect t="-15905" b="-15905"/>
              </a:stretch>
            </a:blipFill>
          </p:spPr>
          <p:txBody>
            <a:bodyPr/>
            <a:p/>
          </p:txBody>
        </p:sp>
        <p:sp>
          <p:nvSpPr>
            <p:cNvPr id="13" name="TextBox 13"/>
            <p:cNvSpPr txBox="1"/>
            <p:nvPr/>
          </p:nvSpPr>
          <p:spPr>
            <a:xfrm>
              <a:off x="0" y="-47625"/>
              <a:ext cx="2804160" cy="876681"/>
            </a:xfrm>
            <a:prstGeom prst="rect">
              <a:avLst/>
            </a:prstGeom>
          </p:spPr>
          <p:txBody>
            <a:bodyPr lIns="0" tIns="0" rIns="0" bIns="0" rtlCol="0" anchor="ctr"/>
            <a:lstStyle/>
            <a:p>
              <a:pPr algn="ctr">
                <a:lnSpc>
                  <a:spcPts val="2640"/>
                </a:lnSpc>
              </a:pPr>
              <a:r>
                <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rPr>
                <a:t>Q&amp;A</a:t>
              </a:r>
              <a:endParaRPr lang="en-US" sz="2200" b="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4" name="Group 14"/>
          <p:cNvGrpSpPr/>
          <p:nvPr/>
        </p:nvGrpSpPr>
        <p:grpSpPr>
          <a:xfrm rot="0">
            <a:off x="901703" y="2456183"/>
            <a:ext cx="16484603" cy="1488443"/>
            <a:chOff x="0" y="0"/>
            <a:chExt cx="21979471" cy="1984591"/>
          </a:xfrm>
        </p:grpSpPr>
        <p:sp>
          <p:nvSpPr>
            <p:cNvPr id="15" name="Freeform 15"/>
            <p:cNvSpPr/>
            <p:nvPr/>
          </p:nvSpPr>
          <p:spPr>
            <a:xfrm>
              <a:off x="0" y="0"/>
              <a:ext cx="21979382" cy="1984502"/>
            </a:xfrm>
            <a:custGeom>
              <a:avLst/>
              <a:gdLst/>
              <a:ahLst/>
              <a:cxnLst/>
              <a:rect l="l" t="t" r="r" b="b"/>
              <a:pathLst>
                <a:path w="21979382" h="1984502">
                  <a:moveTo>
                    <a:pt x="0" y="248031"/>
                  </a:moveTo>
                  <a:cubicBezTo>
                    <a:pt x="0" y="111125"/>
                    <a:pt x="111125" y="0"/>
                    <a:pt x="248031" y="0"/>
                  </a:cubicBezTo>
                  <a:lnTo>
                    <a:pt x="21731351" y="0"/>
                  </a:lnTo>
                  <a:cubicBezTo>
                    <a:pt x="21868383" y="0"/>
                    <a:pt x="21979382" y="111125"/>
                    <a:pt x="21979382" y="248031"/>
                  </a:cubicBezTo>
                  <a:lnTo>
                    <a:pt x="21979382" y="1736471"/>
                  </a:lnTo>
                  <a:cubicBezTo>
                    <a:pt x="21979382" y="1873504"/>
                    <a:pt x="21868257" y="1984502"/>
                    <a:pt x="21731351" y="1984502"/>
                  </a:cubicBezTo>
                  <a:lnTo>
                    <a:pt x="248031" y="1984502"/>
                  </a:lnTo>
                  <a:cubicBezTo>
                    <a:pt x="111125" y="1984629"/>
                    <a:pt x="0" y="1873504"/>
                    <a:pt x="0" y="1736471"/>
                  </a:cubicBezTo>
                  <a:close/>
                </a:path>
              </a:pathLst>
            </a:custGeom>
            <a:solidFill>
              <a:srgbClr val="14213D"/>
            </a:solidFill>
            <a:ln w="25400" cap="sq">
              <a:solidFill>
                <a:srgbClr val="14213D"/>
              </a:solidFill>
              <a:prstDash val="solid"/>
              <a:miter/>
            </a:ln>
          </p:spPr>
          <p:txBody>
            <a:bodyPr/>
            <a:p/>
          </p:txBody>
        </p:sp>
      </p:grpSp>
      <p:grpSp>
        <p:nvGrpSpPr>
          <p:cNvPr id="16" name="Group 16"/>
          <p:cNvGrpSpPr/>
          <p:nvPr/>
        </p:nvGrpSpPr>
        <p:grpSpPr>
          <a:xfrm rot="0">
            <a:off x="1371600" y="2468880"/>
            <a:ext cx="2377440" cy="1463040"/>
            <a:chOff x="0" y="0"/>
            <a:chExt cx="3169920" cy="1950720"/>
          </a:xfrm>
        </p:grpSpPr>
        <p:sp>
          <p:nvSpPr>
            <p:cNvPr id="17" name="Freeform 17"/>
            <p:cNvSpPr/>
            <p:nvPr/>
          </p:nvSpPr>
          <p:spPr>
            <a:xfrm>
              <a:off x="0" y="0"/>
              <a:ext cx="3169920" cy="1950720"/>
            </a:xfrm>
            <a:custGeom>
              <a:avLst/>
              <a:gdLst/>
              <a:ahLst/>
              <a:cxnLst/>
              <a:rect l="l" t="t" r="r" b="b"/>
              <a:pathLst>
                <a:path w="3169920" h="1950720">
                  <a:moveTo>
                    <a:pt x="0" y="0"/>
                  </a:moveTo>
                  <a:lnTo>
                    <a:pt x="3169920" y="0"/>
                  </a:lnTo>
                  <a:lnTo>
                    <a:pt x="3169920" y="1950720"/>
                  </a:lnTo>
                  <a:lnTo>
                    <a:pt x="0" y="1950720"/>
                  </a:lnTo>
                  <a:close/>
                </a:path>
              </a:pathLst>
            </a:custGeom>
            <a:blipFill>
              <a:blip r:embed="rId1">
                <a:alphaModFix amt="0"/>
              </a:blip>
              <a:stretch>
                <a:fillRect l="-28956" r="-28956"/>
              </a:stretch>
            </a:blipFill>
          </p:spPr>
          <p:txBody>
            <a:bodyPr/>
            <a:p/>
          </p:txBody>
        </p:sp>
        <p:sp>
          <p:nvSpPr>
            <p:cNvPr id="18" name="TextBox 18"/>
            <p:cNvSpPr txBox="1"/>
            <p:nvPr/>
          </p:nvSpPr>
          <p:spPr>
            <a:xfrm>
              <a:off x="0" y="-38100"/>
              <a:ext cx="3169920" cy="1988820"/>
            </a:xfrm>
            <a:prstGeom prst="rect">
              <a:avLst/>
            </a:prstGeom>
          </p:spPr>
          <p:txBody>
            <a:bodyPr lIns="0" tIns="0" rIns="0" bIns="0" rtlCol="0" anchor="ctr"/>
            <a:lstStyle/>
            <a:p>
              <a:pPr algn="l">
                <a:lnSpc>
                  <a:spcPts val="2400"/>
                </a:lnSpc>
              </a:pPr>
              <a:r>
                <a:rPr lang="en-US" sz="2000" b="1" spc="300">
                  <a:solidFill>
                    <a:srgbClr val="BFE8E3"/>
                  </a:solidFill>
                  <a:latin typeface="Times New Roman" panose="02020603050405020304"/>
                  <a:ea typeface="Times New Roman" panose="02020603050405020304"/>
                  <a:cs typeface="Times New Roman" panose="02020603050405020304"/>
                  <a:sym typeface="Times New Roman" panose="02020603050405020304"/>
                </a:rPr>
                <a:t>KHI BỊ HỎI</a:t>
              </a:r>
              <a:endParaRPr lang="en-US" sz="2000" b="1" spc="300">
                <a:solidFill>
                  <a:srgbClr val="BFE8E3"/>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9" name="Group 19"/>
          <p:cNvGrpSpPr/>
          <p:nvPr/>
        </p:nvGrpSpPr>
        <p:grpSpPr>
          <a:xfrm rot="0">
            <a:off x="3749040" y="2468880"/>
            <a:ext cx="13167360" cy="1463040"/>
            <a:chOff x="0" y="0"/>
            <a:chExt cx="17556480" cy="1950720"/>
          </a:xfrm>
        </p:grpSpPr>
        <p:sp>
          <p:nvSpPr>
            <p:cNvPr id="20" name="Freeform 20"/>
            <p:cNvSpPr/>
            <p:nvPr/>
          </p:nvSpPr>
          <p:spPr>
            <a:xfrm>
              <a:off x="0" y="0"/>
              <a:ext cx="17556480" cy="1950720"/>
            </a:xfrm>
            <a:custGeom>
              <a:avLst/>
              <a:gdLst/>
              <a:ahLst/>
              <a:cxnLst/>
              <a:rect l="l" t="t" r="r" b="b"/>
              <a:pathLst>
                <a:path w="17556480" h="1950720">
                  <a:moveTo>
                    <a:pt x="0" y="0"/>
                  </a:moveTo>
                  <a:lnTo>
                    <a:pt x="17556480" y="0"/>
                  </a:lnTo>
                  <a:lnTo>
                    <a:pt x="17556480" y="1950720"/>
                  </a:lnTo>
                  <a:lnTo>
                    <a:pt x="0" y="1950720"/>
                  </a:lnTo>
                  <a:close/>
                </a:path>
              </a:pathLst>
            </a:custGeom>
            <a:blipFill>
              <a:blip r:embed="rId1">
                <a:alphaModFix amt="0"/>
              </a:blip>
              <a:stretch>
                <a:fillRect t="-125365" b="-125365"/>
              </a:stretch>
            </a:blipFill>
          </p:spPr>
          <p:txBody>
            <a:bodyPr/>
            <a:p/>
          </p:txBody>
        </p:sp>
        <p:sp>
          <p:nvSpPr>
            <p:cNvPr id="21" name="TextBox 21"/>
            <p:cNvSpPr txBox="1"/>
            <p:nvPr/>
          </p:nvSpPr>
          <p:spPr>
            <a:xfrm>
              <a:off x="0" y="-57150"/>
              <a:ext cx="17556480" cy="2007870"/>
            </a:xfrm>
            <a:prstGeom prst="rect">
              <a:avLst/>
            </a:prstGeom>
          </p:spPr>
          <p:txBody>
            <a:bodyPr lIns="0" tIns="0" rIns="0" bIns="0" rtlCol="0" anchor="ctr"/>
            <a:lstStyle/>
            <a:p>
              <a:pPr algn="l">
                <a:lnSpc>
                  <a:spcPts val="3840"/>
                </a:lnSpc>
              </a:pPr>
              <a:r>
                <a:rPr lang="en-US" sz="3200" i="1">
                  <a:solidFill>
                    <a:srgbClr val="FFFFFF"/>
                  </a:solidFill>
                  <a:latin typeface="Times New Roman" panose="02020603050405020304"/>
                  <a:ea typeface="Times New Roman" panose="02020603050405020304"/>
                  <a:cs typeface="Times New Roman" panose="02020603050405020304"/>
                  <a:sym typeface="Times New Roman" panose="02020603050405020304"/>
                </a:rPr>
                <a:t>“Demo có phản ánh mạng thật không? Có chạy đúng không?”</a:t>
              </a:r>
              <a:endParaRPr lang="en-US" sz="3200" i="1">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2" name="Group 22"/>
          <p:cNvGrpSpPr/>
          <p:nvPr/>
        </p:nvGrpSpPr>
        <p:grpSpPr>
          <a:xfrm rot="0">
            <a:off x="898522" y="4373242"/>
            <a:ext cx="16490947" cy="4786627"/>
            <a:chOff x="0" y="0"/>
            <a:chExt cx="21987929" cy="6382169"/>
          </a:xfrm>
        </p:grpSpPr>
        <p:sp>
          <p:nvSpPr>
            <p:cNvPr id="23" name="Freeform 23"/>
            <p:cNvSpPr/>
            <p:nvPr/>
          </p:nvSpPr>
          <p:spPr>
            <a:xfrm>
              <a:off x="0" y="0"/>
              <a:ext cx="21987890" cy="6382131"/>
            </a:xfrm>
            <a:custGeom>
              <a:avLst/>
              <a:gdLst/>
              <a:ahLst/>
              <a:cxnLst/>
              <a:rect l="l" t="t" r="r" b="b"/>
              <a:pathLst>
                <a:path w="21987890" h="6382131">
                  <a:moveTo>
                    <a:pt x="0" y="196342"/>
                  </a:moveTo>
                  <a:cubicBezTo>
                    <a:pt x="0" y="87884"/>
                    <a:pt x="87884" y="0"/>
                    <a:pt x="196342" y="0"/>
                  </a:cubicBezTo>
                  <a:lnTo>
                    <a:pt x="21791549" y="0"/>
                  </a:lnTo>
                  <a:cubicBezTo>
                    <a:pt x="21900007" y="0"/>
                    <a:pt x="21987890" y="87884"/>
                    <a:pt x="21987890" y="196342"/>
                  </a:cubicBezTo>
                  <a:lnTo>
                    <a:pt x="21987890" y="6185789"/>
                  </a:lnTo>
                  <a:cubicBezTo>
                    <a:pt x="21987890" y="6294247"/>
                    <a:pt x="21900007" y="6382131"/>
                    <a:pt x="21791549" y="6382131"/>
                  </a:cubicBezTo>
                  <a:lnTo>
                    <a:pt x="196342" y="6382131"/>
                  </a:lnTo>
                  <a:cubicBezTo>
                    <a:pt x="87884" y="6382131"/>
                    <a:pt x="0" y="6294247"/>
                    <a:pt x="0" y="6185789"/>
                  </a:cubicBezTo>
                  <a:close/>
                </a:path>
              </a:pathLst>
            </a:custGeom>
            <a:solidFill>
              <a:srgbClr val="EEF3F8"/>
            </a:solidFill>
            <a:ln w="31750" cap="sq">
              <a:solidFill>
                <a:srgbClr val="00897B"/>
              </a:solidFill>
              <a:prstDash val="dash"/>
              <a:miter/>
            </a:ln>
          </p:spPr>
          <p:txBody>
            <a:bodyPr/>
            <a:p/>
          </p:txBody>
        </p:sp>
      </p:grpSp>
      <p:grpSp>
        <p:nvGrpSpPr>
          <p:cNvPr id="24" name="Group 24"/>
          <p:cNvGrpSpPr/>
          <p:nvPr/>
        </p:nvGrpSpPr>
        <p:grpSpPr>
          <a:xfrm rot="0">
            <a:off x="1280160" y="4663440"/>
            <a:ext cx="15727680" cy="512064"/>
            <a:chOff x="0" y="0"/>
            <a:chExt cx="20970240" cy="682752"/>
          </a:xfrm>
        </p:grpSpPr>
        <p:sp>
          <p:nvSpPr>
            <p:cNvPr id="25" name="Freeform 25"/>
            <p:cNvSpPr/>
            <p:nvPr/>
          </p:nvSpPr>
          <p:spPr>
            <a:xfrm>
              <a:off x="0" y="0"/>
              <a:ext cx="20970239" cy="682752"/>
            </a:xfrm>
            <a:custGeom>
              <a:avLst/>
              <a:gdLst/>
              <a:ahLst/>
              <a:cxnLst/>
              <a:rect l="l" t="t" r="r" b="b"/>
              <a:pathLst>
                <a:path w="20970239" h="682752">
                  <a:moveTo>
                    <a:pt x="0" y="0"/>
                  </a:moveTo>
                  <a:lnTo>
                    <a:pt x="20970239" y="0"/>
                  </a:lnTo>
                  <a:lnTo>
                    <a:pt x="20970239" y="682752"/>
                  </a:lnTo>
                  <a:lnTo>
                    <a:pt x="0" y="682752"/>
                  </a:lnTo>
                  <a:close/>
                </a:path>
              </a:pathLst>
            </a:custGeom>
            <a:blipFill>
              <a:blip r:embed="rId1">
                <a:alphaModFix amt="0"/>
              </a:blip>
              <a:stretch>
                <a:fillRect t="-548469" b="-548469"/>
              </a:stretch>
            </a:blipFill>
          </p:spPr>
          <p:txBody>
            <a:bodyPr/>
            <a:p/>
          </p:txBody>
        </p:sp>
        <p:sp>
          <p:nvSpPr>
            <p:cNvPr id="26" name="TextBox 26"/>
            <p:cNvSpPr txBox="1"/>
            <p:nvPr/>
          </p:nvSpPr>
          <p:spPr>
            <a:xfrm>
              <a:off x="0" y="-38100"/>
              <a:ext cx="20970240" cy="720852"/>
            </a:xfrm>
            <a:prstGeom prst="rect">
              <a:avLst/>
            </a:prstGeom>
          </p:spPr>
          <p:txBody>
            <a:bodyPr lIns="0" tIns="0" rIns="0" bIns="0" rtlCol="0" anchor="ctr"/>
            <a:lstStyle/>
            <a:p>
              <a:pPr algn="l">
                <a:lnSpc>
                  <a:spcPts val="2400"/>
                </a:lnSpc>
              </a:pPr>
              <a:r>
                <a:rPr lang="en-US" sz="2000" b="1" spc="300">
                  <a:solidFill>
                    <a:srgbClr val="00897B"/>
                  </a:solidFill>
                  <a:latin typeface="Times New Roman" panose="02020603050405020304"/>
                  <a:ea typeface="Times New Roman" panose="02020603050405020304"/>
                  <a:cs typeface="Times New Roman" panose="02020603050405020304"/>
                  <a:sym typeface="Times New Roman" panose="02020603050405020304"/>
                </a:rPr>
                <a:t>NỘI DUNG CẦN ĐIỀN</a:t>
              </a:r>
              <a:endParaRPr lang="en-US" sz="2000" b="1" spc="300">
                <a:solidFill>
                  <a:srgbClr val="00897B"/>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7" name="TextBox 27"/>
          <p:cNvSpPr txBox="1"/>
          <p:nvPr/>
        </p:nvSpPr>
        <p:spPr>
          <a:xfrm>
            <a:off x="1280160" y="5265420"/>
            <a:ext cx="15727680" cy="3604260"/>
          </a:xfrm>
          <a:prstGeom prst="rect">
            <a:avLst/>
          </a:prstGeom>
        </p:spPr>
        <p:txBody>
          <a:bodyPr lIns="0" tIns="0" rIns="0" bIns="0" rtlCol="0" anchor="t">
            <a:spAutoFit/>
          </a:bodyPr>
          <a:lstStyle/>
          <a:p>
            <a:pPr algn="l">
              <a:lnSpc>
                <a:spcPts val="2880"/>
              </a:lnSpc>
            </a:pPr>
            <a:r>
              <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rPr>
              <a:t>Phạm vi: ITransport, SimulatedTransport (độ trễ, dao động độ trễ, mất gói, sai thứ tự); bảng kết quả kiểm tra tự động</a:t>
            </a:r>
            <a:endPar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2880"/>
              </a:lnSpc>
            </a:pPr>
            <a:r>
              <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rPr>
              <a:t>Lấy từ NoiDung_ChiTiet.md, Mục 7.2 và 7.4. Câu trả lời mẫu: phụ lục A.</a:t>
            </a:r>
            <a:endParaRPr lang="en-US" sz="24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 name="TextBox 28"/>
          <p:cNvSpPr txBox="1"/>
          <p:nvPr/>
        </p:nvSpPr>
        <p:spPr>
          <a:xfrm>
            <a:off x="16550640" y="9517380"/>
            <a:ext cx="731520" cy="495300"/>
          </a:xfrm>
          <a:prstGeom prst="rect">
            <a:avLst/>
          </a:prstGeom>
        </p:spPr>
        <p:txBody>
          <a:bodyPr lIns="0" tIns="0" rIns="0" bIns="0" rtlCol="0" anchor="t">
            <a:spAutoFit/>
          </a:bodyPr>
          <a:lstStyle/>
          <a:p>
            <a:pPr algn="r">
              <a:lnSpc>
                <a:spcPts val="2400"/>
              </a:lnSpc>
            </a:pPr>
            <a:r>
              <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rPr>
              <a:t>32</a:t>
            </a:r>
            <a:endParaRPr lang="en-US" sz="2000">
              <a:solidFill>
                <a:srgbClr val="5B6B82"/>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Times New Roman"/>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Times New Roman"/>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Times New Roman"/>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Times New Roman"/>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10253</Words>
  <Application>WPS Presentation</Application>
  <PresentationFormat>On-screen Show (4:3)</PresentationFormat>
  <Paragraphs>819</Paragraphs>
  <Slides>31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31</vt:i4>
      </vt:variant>
    </vt:vector>
  </HeadingPairs>
  <TitlesOfParts>
    <vt:vector size="40" baseType="lpstr">
      <vt:lpstr>Arial</vt:lpstr>
      <vt:lpstr>SimSun</vt:lpstr>
      <vt:lpstr>Wingdings</vt:lpstr>
      <vt:lpstr>Times New Roman</vt:lpstr>
      <vt:lpstr>Times New Roman</vt:lpstr>
      <vt:lpstr>Microsoft YaHei</vt:lpstr>
      <vt:lpstr>Arial Unicode MS</vt:lpstr>
      <vt:lpstr>Courier New</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T47_ThuyetTrinh_Khung.pptx</dc:title>
  <dc:creator/>
  <cp:lastModifiedBy>Ordaz Victor</cp:lastModifiedBy>
  <cp:revision>2</cp:revision>
  <dcterms:created xsi:type="dcterms:W3CDTF">2006-08-16T00:00:00Z</dcterms:created>
  <dcterms:modified xsi:type="dcterms:W3CDTF">2026-10-25T07:26:24Z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BCEE7EE40A0C4EFF8E0543346828E222_13</vt:lpwstr>
  </property>
  <property fmtid="{D5CDD505-2E9C-101B-9397-08002B2CF9AE}" pid="3" name="KSOProductBuildVer">
    <vt:lpwstr>1033-12.1.0.29162</vt:lpwstr>
  </property>
</Properties>
</file>